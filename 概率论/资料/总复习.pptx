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emf" ContentType="image/x-emf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59" r:id="rId3"/>
    <p:sldId id="260" r:id="rId4"/>
    <p:sldId id="261" r:id="rId5"/>
    <p:sldId id="262" r:id="rId6"/>
    <p:sldId id="263" r:id="rId7"/>
    <p:sldId id="264" r:id="rId8"/>
    <p:sldId id="256" r:id="rId9"/>
    <p:sldId id="257" r:id="rId10"/>
    <p:sldId id="265" r:id="rId1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4" d="100"/>
          <a:sy n="84" d="100"/>
        </p:scale>
        <p:origin x="581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40.wmf"/><Relationship Id="rId2" Type="http://schemas.openxmlformats.org/officeDocument/2006/relationships/image" Target="../media/image39.wmf"/><Relationship Id="rId1" Type="http://schemas.openxmlformats.org/officeDocument/2006/relationships/image" Target="../media/image38.wmf"/><Relationship Id="rId4" Type="http://schemas.openxmlformats.org/officeDocument/2006/relationships/image" Target="../media/image41.wmf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单击以编辑母版副标题样式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1C9DE6-EF03-4ACD-9DD2-6BB4E1BC0170}" type="datetimeFigureOut">
              <a:rPr lang="zh-CN" altLang="en-US" smtClean="0"/>
              <a:t>2022/5/23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426752-7B5A-4A48-8F58-606A05C7BBB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474455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1C9DE6-EF03-4ACD-9DD2-6BB4E1BC0170}" type="datetimeFigureOut">
              <a:rPr lang="zh-CN" altLang="en-US" smtClean="0"/>
              <a:t>2022/5/23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426752-7B5A-4A48-8F58-606A05C7BBB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407509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1C9DE6-EF03-4ACD-9DD2-6BB4E1BC0170}" type="datetimeFigureOut">
              <a:rPr lang="zh-CN" altLang="en-US" smtClean="0"/>
              <a:t>2022/5/23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426752-7B5A-4A48-8F58-606A05C7BBB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250173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1C9DE6-EF03-4ACD-9DD2-6BB4E1BC0170}" type="datetimeFigureOut">
              <a:rPr lang="zh-CN" altLang="en-US" smtClean="0"/>
              <a:t>2022/5/23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426752-7B5A-4A48-8F58-606A05C7BBB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170937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1C9DE6-EF03-4ACD-9DD2-6BB4E1BC0170}" type="datetimeFigureOut">
              <a:rPr lang="zh-CN" altLang="en-US" smtClean="0"/>
              <a:t>2022/5/23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426752-7B5A-4A48-8F58-606A05C7BBB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124454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1C9DE6-EF03-4ACD-9DD2-6BB4E1BC0170}" type="datetimeFigureOut">
              <a:rPr lang="zh-CN" altLang="en-US" smtClean="0"/>
              <a:t>2022/5/23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426752-7B5A-4A48-8F58-606A05C7BBB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419817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1C9DE6-EF03-4ACD-9DD2-6BB4E1BC0170}" type="datetimeFigureOut">
              <a:rPr lang="zh-CN" altLang="en-US" smtClean="0"/>
              <a:t>2022/5/23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426752-7B5A-4A48-8F58-606A05C7BBB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508516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1C9DE6-EF03-4ACD-9DD2-6BB4E1BC0170}" type="datetimeFigureOut">
              <a:rPr lang="zh-CN" altLang="en-US" smtClean="0"/>
              <a:t>2022/5/23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426752-7B5A-4A48-8F58-606A05C7BBB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290686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1C9DE6-EF03-4ACD-9DD2-6BB4E1BC0170}" type="datetimeFigureOut">
              <a:rPr lang="zh-CN" altLang="en-US" smtClean="0"/>
              <a:t>2022/5/23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426752-7B5A-4A48-8F58-606A05C7BBB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559254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1C9DE6-EF03-4ACD-9DD2-6BB4E1BC0170}" type="datetimeFigureOut">
              <a:rPr lang="zh-CN" altLang="en-US" smtClean="0"/>
              <a:t>2022/5/23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426752-7B5A-4A48-8F58-606A05C7BBB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094728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1C9DE6-EF03-4ACD-9DD2-6BB4E1BC0170}" type="datetimeFigureOut">
              <a:rPr lang="zh-CN" altLang="en-US" smtClean="0"/>
              <a:t>2022/5/23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426752-7B5A-4A48-8F58-606A05C7BBB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671145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1C9DE6-EF03-4ACD-9DD2-6BB4E1BC0170}" type="datetimeFigureOut">
              <a:rPr lang="zh-CN" altLang="en-US" smtClean="0"/>
              <a:t>2022/5/23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426752-7B5A-4A48-8F58-606A05C7BBB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898981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4.emf"/><Relationship Id="rId7" Type="http://schemas.openxmlformats.org/officeDocument/2006/relationships/image" Target="../media/image18.png"/><Relationship Id="rId2" Type="http://schemas.openxmlformats.org/officeDocument/2006/relationships/image" Target="../media/image13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emf"/><Relationship Id="rId9" Type="http://schemas.openxmlformats.org/officeDocument/2006/relationships/image" Target="../media/image2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emf"/><Relationship Id="rId5" Type="http://schemas.openxmlformats.org/officeDocument/2006/relationships/image" Target="../media/image24.emf"/><Relationship Id="rId4" Type="http://schemas.openxmlformats.org/officeDocument/2006/relationships/image" Target="../media/image2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emf"/><Relationship Id="rId3" Type="http://schemas.openxmlformats.org/officeDocument/2006/relationships/image" Target="../media/image28.emf"/><Relationship Id="rId7" Type="http://schemas.openxmlformats.org/officeDocument/2006/relationships/image" Target="../media/image32.emf"/><Relationship Id="rId2" Type="http://schemas.openxmlformats.org/officeDocument/2006/relationships/image" Target="../media/image27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.emf"/><Relationship Id="rId5" Type="http://schemas.openxmlformats.org/officeDocument/2006/relationships/image" Target="../media/image30.emf"/><Relationship Id="rId10" Type="http://schemas.openxmlformats.org/officeDocument/2006/relationships/image" Target="../media/image35.png"/><Relationship Id="rId4" Type="http://schemas.openxmlformats.org/officeDocument/2006/relationships/image" Target="../media/image29.emf"/><Relationship Id="rId9" Type="http://schemas.openxmlformats.org/officeDocument/2006/relationships/image" Target="../media/image34.e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wmf"/><Relationship Id="rId13" Type="http://schemas.openxmlformats.org/officeDocument/2006/relationships/image" Target="../media/image70.png"/><Relationship Id="rId18" Type="http://schemas.openxmlformats.org/officeDocument/2006/relationships/image" Target="../media/image120.png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3.bin"/><Relationship Id="rId12" Type="http://schemas.openxmlformats.org/officeDocument/2006/relationships/image" Target="../media/image60.png"/><Relationship Id="rId17" Type="http://schemas.openxmlformats.org/officeDocument/2006/relationships/image" Target="../media/image110.png"/><Relationship Id="rId2" Type="http://schemas.openxmlformats.org/officeDocument/2006/relationships/slideLayout" Target="../slideLayouts/slideLayout1.xml"/><Relationship Id="rId16" Type="http://schemas.openxmlformats.org/officeDocument/2006/relationships/image" Target="../media/image100.png"/><Relationship Id="rId1" Type="http://schemas.openxmlformats.org/officeDocument/2006/relationships/vmlDrawing" Target="../drawings/vmlDrawing1.vml"/><Relationship Id="rId6" Type="http://schemas.openxmlformats.org/officeDocument/2006/relationships/image" Target="../media/image39.wmf"/><Relationship Id="rId11" Type="http://schemas.openxmlformats.org/officeDocument/2006/relationships/image" Target="../media/image50.png"/><Relationship Id="rId5" Type="http://schemas.openxmlformats.org/officeDocument/2006/relationships/oleObject" Target="../embeddings/oleObject2.bin"/><Relationship Id="rId15" Type="http://schemas.openxmlformats.org/officeDocument/2006/relationships/image" Target="../media/image90.png"/><Relationship Id="rId10" Type="http://schemas.openxmlformats.org/officeDocument/2006/relationships/image" Target="../media/image41.wmf"/><Relationship Id="rId19" Type="http://schemas.openxmlformats.org/officeDocument/2006/relationships/image" Target="../media/image13.png"/><Relationship Id="rId4" Type="http://schemas.openxmlformats.org/officeDocument/2006/relationships/image" Target="../media/image38.wmf"/><Relationship Id="rId9" Type="http://schemas.openxmlformats.org/officeDocument/2006/relationships/oleObject" Target="../embeddings/oleObject4.bin"/><Relationship Id="rId14" Type="http://schemas.openxmlformats.org/officeDocument/2006/relationships/image" Target="../media/image80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emf"/><Relationship Id="rId13" Type="http://schemas.openxmlformats.org/officeDocument/2006/relationships/image" Target="../media/image54.emf"/><Relationship Id="rId3" Type="http://schemas.openxmlformats.org/officeDocument/2006/relationships/image" Target="../media/image43.emf"/><Relationship Id="rId7" Type="http://schemas.openxmlformats.org/officeDocument/2006/relationships/image" Target="../media/image47.emf"/><Relationship Id="rId12" Type="http://schemas.openxmlformats.org/officeDocument/2006/relationships/image" Target="../media/image53.emf"/><Relationship Id="rId2" Type="http://schemas.openxmlformats.org/officeDocument/2006/relationships/image" Target="../media/image42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6.emf"/><Relationship Id="rId11" Type="http://schemas.openxmlformats.org/officeDocument/2006/relationships/image" Target="../media/image52.png"/><Relationship Id="rId5" Type="http://schemas.openxmlformats.org/officeDocument/2006/relationships/image" Target="../media/image45.emf"/><Relationship Id="rId15" Type="http://schemas.openxmlformats.org/officeDocument/2006/relationships/image" Target="../media/image56.png"/><Relationship Id="rId10" Type="http://schemas.openxmlformats.org/officeDocument/2006/relationships/image" Target="../media/image51.png"/><Relationship Id="rId4" Type="http://schemas.openxmlformats.org/officeDocument/2006/relationships/image" Target="../media/image44.emf"/><Relationship Id="rId9" Type="http://schemas.openxmlformats.org/officeDocument/2006/relationships/image" Target="../media/image49.emf"/><Relationship Id="rId14" Type="http://schemas.openxmlformats.org/officeDocument/2006/relationships/image" Target="../media/image55.emf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4.emf"/><Relationship Id="rId3" Type="http://schemas.openxmlformats.org/officeDocument/2006/relationships/image" Target="../media/image58.png"/><Relationship Id="rId7" Type="http://schemas.openxmlformats.org/officeDocument/2006/relationships/image" Target="../media/image63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2.png"/><Relationship Id="rId5" Type="http://schemas.openxmlformats.org/officeDocument/2006/relationships/image" Target="../media/image61.png"/><Relationship Id="rId4" Type="http://schemas.openxmlformats.org/officeDocument/2006/relationships/image" Target="../media/image59.emf"/><Relationship Id="rId9" Type="http://schemas.openxmlformats.org/officeDocument/2006/relationships/image" Target="../media/image6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112776" y="0"/>
            <a:ext cx="1199388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04165" indent="-304165" algn="just">
              <a:spcBef>
                <a:spcPts val="600"/>
              </a:spcBef>
              <a:spcAft>
                <a:spcPts val="0"/>
              </a:spcAft>
            </a:pPr>
            <a:r>
              <a:rPr lang="zh-CN" altLang="zh-CN" sz="2400" kern="100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三（</a:t>
            </a:r>
            <a:r>
              <a:rPr lang="en-US" altLang="zh-CN" sz="2400" kern="100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12</a:t>
            </a:r>
            <a:r>
              <a:rPr lang="zh-CN" altLang="zh-CN" sz="2400" kern="100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分）有三个形状相同的盒子，第一个盒子中有</a:t>
            </a:r>
            <a:r>
              <a:rPr lang="en-US" altLang="zh-CN" sz="2400" kern="100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3</a:t>
            </a:r>
            <a:r>
              <a:rPr lang="zh-CN" altLang="zh-CN" sz="2400" kern="100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个白球和</a:t>
            </a:r>
            <a:r>
              <a:rPr lang="en-US" altLang="zh-CN" sz="2400" kern="100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1</a:t>
            </a:r>
            <a:r>
              <a:rPr lang="zh-CN" altLang="zh-CN" sz="2400" kern="100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个黑球，第二个盒子中有</a:t>
            </a:r>
            <a:r>
              <a:rPr lang="en-US" altLang="zh-CN" sz="2400" kern="100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2</a:t>
            </a:r>
            <a:r>
              <a:rPr lang="zh-CN" altLang="zh-CN" sz="2400" kern="100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个白球和</a:t>
            </a:r>
            <a:r>
              <a:rPr lang="en-US" altLang="zh-CN" sz="2400" kern="100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1</a:t>
            </a:r>
            <a:r>
              <a:rPr lang="zh-CN" altLang="zh-CN" sz="2400" kern="100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个黑球，第三个盒子中有</a:t>
            </a:r>
            <a:r>
              <a:rPr lang="en-US" altLang="zh-CN" sz="2400" kern="100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2</a:t>
            </a:r>
            <a:r>
              <a:rPr lang="zh-CN" altLang="zh-CN" sz="2400" kern="100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个白球和</a:t>
            </a:r>
            <a:r>
              <a:rPr lang="en-US" altLang="zh-CN" sz="2400" kern="100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2</a:t>
            </a:r>
            <a:r>
              <a:rPr lang="zh-CN" altLang="zh-CN" sz="2400" kern="100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个黑球，现随机取一个盒子，再从盒子中任取</a:t>
            </a:r>
            <a:r>
              <a:rPr lang="en-US" altLang="zh-CN" sz="2400" kern="100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1</a:t>
            </a:r>
            <a:r>
              <a:rPr lang="zh-CN" altLang="zh-CN" sz="2400" kern="100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球。已知取出的</a:t>
            </a:r>
            <a:r>
              <a:rPr lang="en-US" altLang="zh-CN" sz="2400" kern="100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1</a:t>
            </a:r>
            <a:r>
              <a:rPr lang="zh-CN" altLang="zh-CN" sz="2400" kern="100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球是白球，求该球是来自第二个盒子的概率是多少？</a:t>
            </a:r>
            <a:endParaRPr lang="zh-CN" altLang="zh-CN" sz="2400" kern="100" dirty="0">
              <a:effectLst/>
              <a:latin typeface="楷体_GB2312" panose="02010609030101010101" pitchFamily="49" charset="-122"/>
              <a:ea typeface="楷体_GB2312" panose="02010609030101010101" pitchFamily="49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12776" y="1360670"/>
            <a:ext cx="80342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sz="2400" b="1" kern="100" dirty="0">
                <a:ea typeface="楷体_GB2312" panose="02010609030101010101" pitchFamily="49" charset="-122"/>
                <a:cs typeface="Times New Roman" panose="02020603050405020304" pitchFamily="18" charset="0"/>
              </a:rPr>
              <a:t>解：</a:t>
            </a:r>
            <a:endParaRPr lang="zh-CN" altLang="en-US" sz="2400" dirty="0"/>
          </a:p>
        </p:txBody>
      </p:sp>
      <p:sp>
        <p:nvSpPr>
          <p:cNvPr id="12" name="矩形 11"/>
          <p:cNvSpPr/>
          <p:nvPr/>
        </p:nvSpPr>
        <p:spPr>
          <a:xfrm>
            <a:off x="669979" y="1313164"/>
            <a:ext cx="49244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sz="24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设</a:t>
            </a:r>
            <a:endParaRPr lang="zh-CN" altLang="en-US" sz="2400" dirty="0"/>
          </a:p>
        </p:txBody>
      </p:sp>
      <p:sp>
        <p:nvSpPr>
          <p:cNvPr id="15" name="Rectangle 10"/>
          <p:cNvSpPr>
            <a:spLocks noChangeArrowheads="1"/>
          </p:cNvSpPr>
          <p:nvPr/>
        </p:nvSpPr>
        <p:spPr bwMode="auto">
          <a:xfrm>
            <a:off x="991283" y="1332390"/>
            <a:ext cx="25355071" cy="5655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pic>
        <p:nvPicPr>
          <p:cNvPr id="27" name="图片 2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2013" y="1353989"/>
            <a:ext cx="310982" cy="409187"/>
          </a:xfrm>
          <a:prstGeom prst="rect">
            <a:avLst/>
          </a:prstGeom>
        </p:spPr>
      </p:pic>
      <p:sp>
        <p:nvSpPr>
          <p:cNvPr id="29" name="矩形 28"/>
          <p:cNvSpPr/>
          <p:nvPr/>
        </p:nvSpPr>
        <p:spPr>
          <a:xfrm>
            <a:off x="1392995" y="1313163"/>
            <a:ext cx="301877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dirty="0"/>
              <a:t>表示“取到</a:t>
            </a:r>
            <a:r>
              <a:rPr lang="zh-CN" altLang="en-US" sz="2400" dirty="0" smtClean="0"/>
              <a:t>第</a:t>
            </a:r>
            <a:r>
              <a:rPr lang="en-US" altLang="zh-CN" sz="2400" dirty="0" err="1" smtClean="0"/>
              <a:t>i</a:t>
            </a:r>
            <a:r>
              <a:rPr lang="zh-CN" altLang="en-US" sz="2400" dirty="0" smtClean="0"/>
              <a:t> </a:t>
            </a:r>
            <a:r>
              <a:rPr lang="zh-CN" altLang="en-US" sz="2400" dirty="0"/>
              <a:t>个盒子”</a:t>
            </a:r>
          </a:p>
        </p:txBody>
      </p:sp>
      <p:pic>
        <p:nvPicPr>
          <p:cNvPr id="30" name="图片 2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11770" y="1408175"/>
            <a:ext cx="1156185" cy="422100"/>
          </a:xfrm>
          <a:prstGeom prst="rect">
            <a:avLst/>
          </a:prstGeom>
        </p:spPr>
      </p:pic>
      <p:pic>
        <p:nvPicPr>
          <p:cNvPr id="31" name="图片 3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37572" y="1409099"/>
            <a:ext cx="365729" cy="365729"/>
          </a:xfrm>
          <a:prstGeom prst="rect">
            <a:avLst/>
          </a:prstGeom>
        </p:spPr>
      </p:pic>
      <p:sp>
        <p:nvSpPr>
          <p:cNvPr id="32" name="矩形 31"/>
          <p:cNvSpPr/>
          <p:nvPr/>
        </p:nvSpPr>
        <p:spPr>
          <a:xfrm>
            <a:off x="6109716" y="1332390"/>
            <a:ext cx="333456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dirty="0"/>
              <a:t>表示“取出的</a:t>
            </a:r>
            <a:r>
              <a:rPr lang="en-US" altLang="zh-CN" sz="2400" dirty="0"/>
              <a:t>1</a:t>
            </a:r>
            <a:r>
              <a:rPr lang="zh-CN" altLang="en-US" sz="2400" dirty="0"/>
              <a:t>球是白球”</a:t>
            </a:r>
          </a:p>
        </p:txBody>
      </p:sp>
      <p:pic>
        <p:nvPicPr>
          <p:cNvPr id="33" name="图片 3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70312" y="2064924"/>
            <a:ext cx="3666486" cy="1210121"/>
          </a:xfrm>
          <a:prstGeom prst="rect">
            <a:avLst/>
          </a:prstGeom>
        </p:spPr>
      </p:pic>
      <p:pic>
        <p:nvPicPr>
          <p:cNvPr id="34" name="图片 3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02382" y="3442996"/>
            <a:ext cx="3093123" cy="13398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70174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12" grpId="0"/>
      <p:bldP spid="29" grpId="0"/>
      <p:bldP spid="3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67056" y="205847"/>
            <a:ext cx="11875008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四（</a:t>
            </a:r>
            <a:r>
              <a:rPr lang="en-US" altLang="zh-CN" sz="2400" b="1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12</a:t>
            </a:r>
            <a:r>
              <a:rPr lang="zh-CN" altLang="en-US" sz="2400" b="1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分）</a:t>
            </a:r>
            <a:r>
              <a:rPr lang="en-US" altLang="zh-CN" sz="2400" b="1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10</a:t>
            </a:r>
            <a:r>
              <a:rPr lang="zh-CN" altLang="en-US" sz="2400" b="1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件产品中有</a:t>
            </a:r>
            <a:r>
              <a:rPr lang="en-US" altLang="zh-CN" sz="2400" b="1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3</a:t>
            </a:r>
            <a:r>
              <a:rPr lang="zh-CN" altLang="en-US" sz="2400" b="1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个次品，现逐个取产品，直到取到正品为止，若每次从中取出一个产品的同时放入一个正品，试求此时抽取</a:t>
            </a:r>
            <a:r>
              <a:rPr lang="zh-CN" altLang="en-US" sz="2400" b="1" dirty="0" smtClean="0">
                <a:latin typeface="楷体_GB2312" panose="02010609030101010101" pitchFamily="49" charset="-122"/>
                <a:ea typeface="楷体_GB2312" panose="02010609030101010101" pitchFamily="49" charset="-122"/>
              </a:rPr>
              <a:t>次数的</a:t>
            </a:r>
            <a:r>
              <a:rPr lang="zh-CN" altLang="en-US" sz="2400" b="1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分布列和分布函数。</a:t>
            </a:r>
          </a:p>
        </p:txBody>
      </p:sp>
      <p:sp>
        <p:nvSpPr>
          <p:cNvPr id="5" name="矩形 4"/>
          <p:cNvSpPr/>
          <p:nvPr/>
        </p:nvSpPr>
        <p:spPr>
          <a:xfrm>
            <a:off x="67056" y="1250942"/>
            <a:ext cx="80021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解：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1630" y="1121118"/>
            <a:ext cx="2740963" cy="899706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18665" y="1121118"/>
            <a:ext cx="3210103" cy="826554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7275" y="2026677"/>
            <a:ext cx="4205601" cy="899706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18665" y="2234922"/>
            <a:ext cx="3768816" cy="707682"/>
          </a:xfrm>
          <a:prstGeom prst="rect">
            <a:avLst/>
          </a:prstGeom>
        </p:spPr>
      </p:pic>
      <p:sp>
        <p:nvSpPr>
          <p:cNvPr id="11" name="矩形 10"/>
          <p:cNvSpPr/>
          <p:nvPr/>
        </p:nvSpPr>
        <p:spPr>
          <a:xfrm>
            <a:off x="810347" y="3124685"/>
            <a:ext cx="49244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故</a:t>
            </a: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94894" y="3013388"/>
            <a:ext cx="3676651" cy="853820"/>
          </a:xfrm>
          <a:prstGeom prst="rect">
            <a:avLst/>
          </a:prstGeom>
        </p:spPr>
      </p:pic>
      <p:sp>
        <p:nvSpPr>
          <p:cNvPr id="13" name="矩形 12"/>
          <p:cNvSpPr/>
          <p:nvPr/>
        </p:nvSpPr>
        <p:spPr>
          <a:xfrm>
            <a:off x="745408" y="3997368"/>
            <a:ext cx="49244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由</a:t>
            </a:r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98565" y="3997368"/>
            <a:ext cx="3872980" cy="702541"/>
          </a:xfrm>
          <a:prstGeom prst="rect">
            <a:avLst/>
          </a:prstGeom>
        </p:spPr>
      </p:pic>
      <p:sp>
        <p:nvSpPr>
          <p:cNvPr id="15" name="矩形 14"/>
          <p:cNvSpPr/>
          <p:nvPr/>
        </p:nvSpPr>
        <p:spPr>
          <a:xfrm>
            <a:off x="621053" y="5197802"/>
            <a:ext cx="49244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得</a:t>
            </a:r>
          </a:p>
        </p:txBody>
      </p:sp>
      <p:pic>
        <p:nvPicPr>
          <p:cNvPr id="16" name="图片 15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973735" y="4700340"/>
            <a:ext cx="3307391" cy="22868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3205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11" grpId="0"/>
      <p:bldP spid="13" grpId="0"/>
      <p:bldP spid="15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685" y="0"/>
            <a:ext cx="11158467" cy="2587752"/>
          </a:xfrm>
          <a:prstGeom prst="rect">
            <a:avLst/>
          </a:prstGeom>
        </p:spPr>
      </p:pic>
      <p:sp>
        <p:nvSpPr>
          <p:cNvPr id="7" name="矩形 6"/>
          <p:cNvSpPr/>
          <p:nvPr/>
        </p:nvSpPr>
        <p:spPr>
          <a:xfrm>
            <a:off x="97854" y="2376871"/>
            <a:ext cx="80021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解：</a:t>
            </a: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921" y="1940915"/>
            <a:ext cx="11283696" cy="1353312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2607703"/>
            <a:ext cx="11859768" cy="848099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6901" y="3014449"/>
            <a:ext cx="7282757" cy="946566"/>
          </a:xfrm>
          <a:prstGeom prst="rect">
            <a:avLst/>
          </a:prstGeom>
        </p:spPr>
      </p:pic>
      <p:sp>
        <p:nvSpPr>
          <p:cNvPr id="11" name="矩形 10"/>
          <p:cNvSpPr/>
          <p:nvPr/>
        </p:nvSpPr>
        <p:spPr>
          <a:xfrm>
            <a:off x="861497" y="3994789"/>
            <a:ext cx="233910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再由已知条件有</a:t>
            </a: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6901" y="4367761"/>
            <a:ext cx="10089256" cy="874544"/>
          </a:xfrm>
          <a:prstGeom prst="rect">
            <a:avLst/>
          </a:prstGeom>
        </p:spPr>
      </p:pic>
      <p:sp>
        <p:nvSpPr>
          <p:cNvPr id="13" name="矩形 12"/>
          <p:cNvSpPr/>
          <p:nvPr/>
        </p:nvSpPr>
        <p:spPr>
          <a:xfrm>
            <a:off x="822600" y="5185336"/>
            <a:ext cx="80021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解得</a:t>
            </a:r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939608" y="5025430"/>
            <a:ext cx="821880" cy="821880"/>
          </a:xfrm>
          <a:prstGeom prst="rect">
            <a:avLst/>
          </a:prstGeom>
        </p:spPr>
      </p:pic>
      <p:sp>
        <p:nvSpPr>
          <p:cNvPr id="15" name="矩形 14"/>
          <p:cNvSpPr/>
          <p:nvPr/>
        </p:nvSpPr>
        <p:spPr>
          <a:xfrm>
            <a:off x="822600" y="5971187"/>
            <a:ext cx="49244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故</a:t>
            </a:r>
          </a:p>
        </p:txBody>
      </p:sp>
      <p:pic>
        <p:nvPicPr>
          <p:cNvPr id="16" name="图片 15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594994" y="5971187"/>
            <a:ext cx="1267077" cy="711646"/>
          </a:xfrm>
          <a:prstGeom prst="rect">
            <a:avLst/>
          </a:prstGeom>
        </p:spPr>
      </p:pic>
      <p:sp>
        <p:nvSpPr>
          <p:cNvPr id="17" name="矩形 16"/>
          <p:cNvSpPr/>
          <p:nvPr/>
        </p:nvSpPr>
        <p:spPr>
          <a:xfrm>
            <a:off x="3611024" y="6142344"/>
            <a:ext cx="95410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 解得</a:t>
            </a:r>
          </a:p>
        </p:txBody>
      </p:sp>
      <p:pic>
        <p:nvPicPr>
          <p:cNvPr id="18" name="图片 17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910328" y="6119014"/>
            <a:ext cx="1094470" cy="5638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20033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1" grpId="0"/>
      <p:bldP spid="13" grpId="0"/>
      <p:bldP spid="15" grpId="0"/>
      <p:bldP spid="17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" y="0"/>
            <a:ext cx="12118848" cy="2962655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73152" y="3098030"/>
            <a:ext cx="80021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/>
              <a:t>解：</a:t>
            </a:r>
          </a:p>
        </p:txBody>
      </p:sp>
      <p:sp>
        <p:nvSpPr>
          <p:cNvPr id="6" name="矩形 5"/>
          <p:cNvSpPr/>
          <p:nvPr/>
        </p:nvSpPr>
        <p:spPr>
          <a:xfrm>
            <a:off x="737584" y="3144196"/>
            <a:ext cx="96212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（</a:t>
            </a:r>
            <a:r>
              <a:rPr lang="en-US" altLang="zh-CN" sz="2400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1</a:t>
            </a:r>
            <a:r>
              <a:rPr lang="zh-CN" altLang="en-US" sz="2400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）</a:t>
            </a: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82789" y="2661350"/>
            <a:ext cx="9967251" cy="1335024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4466" y="4042540"/>
            <a:ext cx="10475534" cy="1581465"/>
          </a:xfrm>
          <a:prstGeom prst="rect">
            <a:avLst/>
          </a:prstGeom>
        </p:spPr>
      </p:pic>
      <p:sp>
        <p:nvSpPr>
          <p:cNvPr id="9" name="矩形 8"/>
          <p:cNvSpPr/>
          <p:nvPr/>
        </p:nvSpPr>
        <p:spPr>
          <a:xfrm>
            <a:off x="275918" y="5912594"/>
            <a:ext cx="188545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（</a:t>
            </a:r>
            <a:r>
              <a:rPr lang="en-US" altLang="zh-CN" sz="2400" b="1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2</a:t>
            </a:r>
            <a:r>
              <a:rPr lang="zh-CN" altLang="en-US" sz="2400" b="1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）易知，</a:t>
            </a: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26811" y="5727938"/>
            <a:ext cx="14367665" cy="979746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38881" y="5888511"/>
            <a:ext cx="17932855" cy="5098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86343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9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70072" y="327398"/>
            <a:ext cx="97174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/>
              <a:t>（</a:t>
            </a:r>
            <a:r>
              <a:rPr lang="en-US" altLang="zh-CN" sz="2400" b="1" dirty="0"/>
              <a:t>3</a:t>
            </a:r>
            <a:r>
              <a:rPr lang="zh-CN" altLang="en-US" sz="2400" b="1" dirty="0"/>
              <a:t>）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4501" y="0"/>
            <a:ext cx="8886932" cy="1390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26979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449" y="155448"/>
            <a:ext cx="11819479" cy="2388852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097457"/>
            <a:ext cx="15365445" cy="893685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0316" y="2991142"/>
            <a:ext cx="19100392" cy="543023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0316" y="3534165"/>
            <a:ext cx="9369994" cy="1171338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46041" y="3704821"/>
            <a:ext cx="9850887" cy="744733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01217" y="4412941"/>
            <a:ext cx="11595712" cy="1040420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396011" y="4564116"/>
            <a:ext cx="11017913" cy="624086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98725" y="5243116"/>
            <a:ext cx="10976925" cy="881424"/>
          </a:xfrm>
          <a:prstGeom prst="rect">
            <a:avLst/>
          </a:prstGeom>
        </p:spPr>
      </p:pic>
      <p:sp>
        <p:nvSpPr>
          <p:cNvPr id="2" name="矩形 1"/>
          <p:cNvSpPr/>
          <p:nvPr/>
        </p:nvSpPr>
        <p:spPr>
          <a:xfrm>
            <a:off x="401217" y="6179454"/>
            <a:ext cx="295465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由中心极限定理知：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450742" y="5981408"/>
            <a:ext cx="3864457" cy="10038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02581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397386" y="437126"/>
            <a:ext cx="172354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由题意有：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7233" y="270194"/>
            <a:ext cx="3681628" cy="795528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397386" y="1177790"/>
            <a:ext cx="172354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查表可得，</a:t>
            </a: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90350" y="1065722"/>
            <a:ext cx="6470969" cy="869235"/>
          </a:xfrm>
          <a:prstGeom prst="rect">
            <a:avLst/>
          </a:prstGeom>
        </p:spPr>
      </p:pic>
      <p:sp>
        <p:nvSpPr>
          <p:cNvPr id="8" name="矩形 7"/>
          <p:cNvSpPr/>
          <p:nvPr/>
        </p:nvSpPr>
        <p:spPr>
          <a:xfrm>
            <a:off x="487680" y="2213956"/>
            <a:ext cx="1139037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故则该小区用电负荷设计至少为</a:t>
            </a:r>
            <a:r>
              <a:rPr lang="en-US" altLang="zh-CN" sz="2400" b="1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623.3</a:t>
            </a:r>
            <a:r>
              <a:rPr lang="zh-CN" altLang="en-US" sz="2400" b="1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千瓦时，才能以</a:t>
            </a:r>
            <a:r>
              <a:rPr lang="en-US" altLang="zh-CN" sz="2400" b="1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0.99</a:t>
            </a:r>
            <a:r>
              <a:rPr lang="zh-CN" altLang="en-US" sz="2400" b="1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的概率保证居民正常用电。</a:t>
            </a:r>
          </a:p>
        </p:txBody>
      </p:sp>
    </p:spTree>
    <p:extLst>
      <p:ext uri="{BB962C8B-B14F-4D97-AF65-F5344CB8AC3E}">
        <p14:creationId xmlns:p14="http://schemas.microsoft.com/office/powerpoint/2010/main" val="33055985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/>
      <p:bldP spid="8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3855094" y="-34565"/>
            <a:ext cx="1826141" cy="7375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3200" kern="100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总复习题</a:t>
            </a:r>
            <a:endParaRPr lang="zh-CN" altLang="zh-CN" sz="3200" kern="100" dirty="0">
              <a:effectLst/>
              <a:latin typeface="楷体_GB2312" panose="02010609030101010101" pitchFamily="49" charset="-122"/>
              <a:ea typeface="楷体_GB2312" panose="02010609030101010101" pitchFamily="49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68573" y="669019"/>
            <a:ext cx="886663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b="1" kern="100" dirty="0">
                <a:latin typeface="楷体_GB2312" panose="02010609030101010101" pitchFamily="49" charset="-122"/>
                <a:ea typeface="楷体_GB2312" panose="02010609030101010101" pitchFamily="49" charset="-122"/>
                <a:cs typeface="Times New Roman" panose="02020603050405020304" pitchFamily="18" charset="0"/>
              </a:rPr>
              <a:t>1</a:t>
            </a:r>
            <a:r>
              <a:rPr lang="zh-CN" altLang="zh-CN" sz="2400" b="1" kern="100" dirty="0">
                <a:latin typeface="楷体_GB2312" panose="02010609030101010101" pitchFamily="49" charset="-122"/>
                <a:ea typeface="楷体_GB2312" panose="02010609030101010101" pitchFamily="49" charset="-122"/>
                <a:cs typeface="Times New Roman" panose="02020603050405020304" pitchFamily="18" charset="0"/>
              </a:rPr>
              <a:t>、设随机变量（</a:t>
            </a:r>
            <a:r>
              <a:rPr lang="en-US" altLang="zh-CN" sz="2400" b="1" kern="100" dirty="0">
                <a:latin typeface="楷体_GB2312" panose="02010609030101010101" pitchFamily="49" charset="-122"/>
                <a:ea typeface="楷体_GB2312" panose="02010609030101010101" pitchFamily="49" charset="-122"/>
                <a:cs typeface="Times New Roman" panose="02020603050405020304" pitchFamily="18" charset="0"/>
              </a:rPr>
              <a:t>X,Y</a:t>
            </a:r>
            <a:r>
              <a:rPr lang="zh-CN" altLang="zh-CN" sz="2400" b="1" kern="100" dirty="0">
                <a:latin typeface="楷体_GB2312" panose="02010609030101010101" pitchFamily="49" charset="-122"/>
                <a:ea typeface="楷体_GB2312" panose="02010609030101010101" pitchFamily="49" charset="-122"/>
                <a:cs typeface="Times New Roman" panose="02020603050405020304" pitchFamily="18" charset="0"/>
              </a:rPr>
              <a:t>）服从二维正态分布（</a:t>
            </a:r>
            <a:r>
              <a:rPr lang="en-US" altLang="zh-CN" sz="2400" b="1" kern="100" dirty="0">
                <a:latin typeface="楷体_GB2312" panose="02010609030101010101" pitchFamily="49" charset="-122"/>
                <a:ea typeface="楷体_GB2312" panose="02010609030101010101" pitchFamily="49" charset="-122"/>
                <a:cs typeface="Times New Roman" panose="02020603050405020304" pitchFamily="18" charset="0"/>
              </a:rPr>
              <a:t>0</a:t>
            </a:r>
            <a:r>
              <a:rPr lang="zh-CN" altLang="zh-CN" sz="2400" b="1" kern="100" dirty="0">
                <a:latin typeface="楷体_GB2312" panose="02010609030101010101" pitchFamily="49" charset="-122"/>
                <a:ea typeface="楷体_GB2312" panose="02010609030101010101" pitchFamily="49" charset="-122"/>
                <a:cs typeface="Times New Roman" panose="02020603050405020304" pitchFamily="18" charset="0"/>
              </a:rPr>
              <a:t>，</a:t>
            </a:r>
            <a:r>
              <a:rPr lang="en-US" altLang="zh-CN" sz="2400" b="1" kern="100" dirty="0">
                <a:latin typeface="楷体_GB2312" panose="02010609030101010101" pitchFamily="49" charset="-122"/>
                <a:ea typeface="楷体_GB2312" panose="02010609030101010101" pitchFamily="49" charset="-122"/>
                <a:cs typeface="Times New Roman" panose="02020603050405020304" pitchFamily="18" charset="0"/>
              </a:rPr>
              <a:t>0</a:t>
            </a:r>
            <a:r>
              <a:rPr lang="zh-CN" altLang="zh-CN" sz="2400" b="1" kern="100" dirty="0">
                <a:latin typeface="楷体_GB2312" panose="02010609030101010101" pitchFamily="49" charset="-122"/>
                <a:ea typeface="楷体_GB2312" panose="02010609030101010101" pitchFamily="49" charset="-122"/>
                <a:cs typeface="Times New Roman" panose="02020603050405020304" pitchFamily="18" charset="0"/>
              </a:rPr>
              <a:t>；</a:t>
            </a:r>
            <a:r>
              <a:rPr lang="en-US" altLang="zh-CN" sz="2400" b="1" kern="100" dirty="0">
                <a:latin typeface="楷体_GB2312" panose="02010609030101010101" pitchFamily="49" charset="-122"/>
                <a:ea typeface="楷体_GB2312" panose="02010609030101010101" pitchFamily="49" charset="-122"/>
                <a:cs typeface="Times New Roman" panose="02020603050405020304" pitchFamily="18" charset="0"/>
              </a:rPr>
              <a:t>1</a:t>
            </a:r>
            <a:r>
              <a:rPr lang="zh-CN" altLang="zh-CN" sz="2400" b="1" kern="100" dirty="0">
                <a:latin typeface="楷体_GB2312" panose="02010609030101010101" pitchFamily="49" charset="-122"/>
                <a:ea typeface="楷体_GB2312" panose="02010609030101010101" pitchFamily="49" charset="-122"/>
                <a:cs typeface="Times New Roman" panose="02020603050405020304" pitchFamily="18" charset="0"/>
              </a:rPr>
              <a:t>，</a:t>
            </a:r>
            <a:r>
              <a:rPr lang="en-US" altLang="zh-CN" sz="2400" b="1" kern="100" dirty="0">
                <a:latin typeface="楷体_GB2312" panose="02010609030101010101" pitchFamily="49" charset="-122"/>
                <a:ea typeface="楷体_GB2312" panose="02010609030101010101" pitchFamily="49" charset="-122"/>
                <a:cs typeface="Times New Roman" panose="02020603050405020304" pitchFamily="18" charset="0"/>
              </a:rPr>
              <a:t>4; -1/2</a:t>
            </a:r>
            <a:r>
              <a:rPr lang="zh-CN" altLang="zh-CN" sz="2400" b="1" kern="100" dirty="0">
                <a:latin typeface="楷体_GB2312" panose="02010609030101010101" pitchFamily="49" charset="-122"/>
                <a:ea typeface="楷体_GB2312" panose="02010609030101010101" pitchFamily="49" charset="-122"/>
                <a:cs typeface="Times New Roman" panose="02020603050405020304" pitchFamily="18" charset="0"/>
              </a:rPr>
              <a:t>）</a:t>
            </a:r>
            <a:r>
              <a:rPr lang="en-US" altLang="zh-CN" sz="2400" b="1" kern="100" dirty="0">
                <a:latin typeface="楷体_GB2312" panose="02010609030101010101" pitchFamily="49" charset="-122"/>
                <a:ea typeface="楷体_GB2312" panose="02010609030101010101" pitchFamily="49" charset="-122"/>
                <a:cs typeface="Times New Roman" panose="02020603050405020304" pitchFamily="18" charset="0"/>
              </a:rPr>
              <a:t>. </a:t>
            </a:r>
            <a:endParaRPr lang="zh-CN" altLang="en-US" sz="2400" b="1" dirty="0">
              <a:latin typeface="楷体_GB2312" panose="02010609030101010101" pitchFamily="49" charset="-122"/>
              <a:ea typeface="楷体_GB2312" panose="02010609030101010101" pitchFamily="49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8833723" y="669018"/>
            <a:ext cx="326243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sz="2400" b="1" kern="100" dirty="0">
                <a:latin typeface="楷体_GB2312" panose="02010609030101010101" pitchFamily="49" charset="-122"/>
                <a:ea typeface="楷体_GB2312" panose="02010609030101010101" pitchFamily="49" charset="-122"/>
                <a:cs typeface="Times New Roman" panose="02020603050405020304" pitchFamily="18" charset="0"/>
              </a:rPr>
              <a:t>下列随机变量中服从</a:t>
            </a:r>
            <a:r>
              <a:rPr lang="zh-CN" altLang="zh-CN" sz="2400" b="1" kern="100" dirty="0" smtClean="0">
                <a:latin typeface="楷体_GB2312" panose="02010609030101010101" pitchFamily="49" charset="-122"/>
                <a:ea typeface="楷体_GB2312" panose="02010609030101010101" pitchFamily="49" charset="-122"/>
                <a:cs typeface="Times New Roman" panose="02020603050405020304" pitchFamily="18" charset="0"/>
              </a:rPr>
              <a:t>标</a:t>
            </a:r>
            <a:endParaRPr lang="en-US" altLang="zh-CN" sz="2400" b="1" kern="100" dirty="0" smtClean="0">
              <a:latin typeface="楷体_GB2312" panose="02010609030101010101" pitchFamily="49" charset="-122"/>
              <a:ea typeface="楷体_GB2312" panose="0201060903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659385" y="1232418"/>
            <a:ext cx="467307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sz="2400" b="1" kern="100" dirty="0">
                <a:latin typeface="楷体_GB2312" panose="02010609030101010101" pitchFamily="49" charset="-122"/>
                <a:ea typeface="楷体_GB2312" panose="02010609030101010101" pitchFamily="49" charset="-122"/>
                <a:cs typeface="Times New Roman" panose="02020603050405020304" pitchFamily="18" charset="0"/>
              </a:rPr>
              <a:t>准正态分布且与</a:t>
            </a:r>
            <a:r>
              <a:rPr lang="en-US" altLang="zh-CN" sz="2400" b="1" kern="100" dirty="0">
                <a:latin typeface="楷体_GB2312" panose="02010609030101010101" pitchFamily="49" charset="-122"/>
                <a:ea typeface="楷体_GB2312" panose="02010609030101010101" pitchFamily="49" charset="-122"/>
                <a:cs typeface="Times New Roman" panose="02020603050405020304" pitchFamily="18" charset="0"/>
              </a:rPr>
              <a:t>X</a:t>
            </a:r>
            <a:r>
              <a:rPr lang="zh-CN" altLang="zh-CN" sz="2400" b="1" kern="100" dirty="0">
                <a:latin typeface="楷体_GB2312" panose="02010609030101010101" pitchFamily="49" charset="-122"/>
                <a:ea typeface="楷体_GB2312" panose="02010609030101010101" pitchFamily="49" charset="-122"/>
                <a:cs typeface="Times New Roman" panose="02020603050405020304" pitchFamily="18" charset="0"/>
              </a:rPr>
              <a:t>独立的是</a:t>
            </a:r>
            <a:r>
              <a:rPr lang="zh-CN" altLang="zh-CN" sz="2400" b="1" kern="100" dirty="0" smtClean="0">
                <a:latin typeface="楷体_GB2312" panose="02010609030101010101" pitchFamily="49" charset="-122"/>
                <a:ea typeface="楷体_GB2312" panose="02010609030101010101" pitchFamily="49" charset="-122"/>
                <a:cs typeface="Times New Roman" panose="02020603050405020304" pitchFamily="18" charset="0"/>
              </a:rPr>
              <a:t>（</a:t>
            </a:r>
            <a:r>
              <a:rPr lang="en-US" altLang="zh-CN" sz="2400" b="1" kern="100" dirty="0" smtClean="0">
                <a:latin typeface="楷体_GB2312" panose="02010609030101010101" pitchFamily="49" charset="-122"/>
                <a:ea typeface="楷体_GB2312" panose="02010609030101010101" pitchFamily="49" charset="-122"/>
                <a:cs typeface="Times New Roman" panose="02020603050405020304" pitchFamily="18" charset="0"/>
              </a:rPr>
              <a:t>  </a:t>
            </a:r>
            <a:r>
              <a:rPr lang="zh-CN" altLang="zh-CN" sz="2400" b="1" kern="100" dirty="0" smtClean="0">
                <a:latin typeface="楷体_GB2312" panose="02010609030101010101" pitchFamily="49" charset="-122"/>
                <a:ea typeface="楷体_GB2312" panose="02010609030101010101" pitchFamily="49" charset="-122"/>
                <a:cs typeface="Times New Roman" panose="02020603050405020304" pitchFamily="18" charset="0"/>
              </a:rPr>
              <a:t>）</a:t>
            </a:r>
            <a:endParaRPr lang="zh-CN" altLang="en-US" sz="2400" b="1" dirty="0">
              <a:latin typeface="楷体_GB2312" panose="02010609030101010101" pitchFamily="49" charset="-122"/>
              <a:ea typeface="楷体_GB2312" panose="02010609030101010101" pitchFamily="49" charset="-122"/>
            </a:endParaRPr>
          </a:p>
        </p:txBody>
      </p:sp>
      <p:graphicFrame>
        <p:nvGraphicFramePr>
          <p:cNvPr id="9" name="对象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46062507"/>
              </p:ext>
            </p:extLst>
          </p:nvPr>
        </p:nvGraphicFramePr>
        <p:xfrm>
          <a:off x="1156180" y="1708515"/>
          <a:ext cx="2004623" cy="64500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71" name="Equation" r:id="rId3" imgW="799753" imgH="444307" progId="Equation.DSMT4">
                  <p:embed/>
                </p:oleObj>
              </mc:Choice>
              <mc:Fallback>
                <p:oleObj name="Equation" r:id="rId3" imgW="799753" imgH="444307" progId="Equation.DSMT4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56180" y="1708515"/>
                        <a:ext cx="2004623" cy="645006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矩形 9"/>
          <p:cNvSpPr/>
          <p:nvPr/>
        </p:nvSpPr>
        <p:spPr>
          <a:xfrm>
            <a:off x="526746" y="1743034"/>
            <a:ext cx="40748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kern="100" dirty="0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A</a:t>
            </a:r>
            <a:endParaRPr lang="zh-CN" altLang="en-US" sz="2400" b="1" dirty="0">
              <a:latin typeface="Times New Roman" panose="02020603050405020304" pitchFamily="18" charset="0"/>
              <a:ea typeface="楷体_GB2312" panose="0201060903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5239020" y="1770492"/>
            <a:ext cx="38985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B</a:t>
            </a:r>
            <a:endParaRPr lang="zh-CN" altLang="en-US" sz="2400" dirty="0"/>
          </a:p>
        </p:txBody>
      </p:sp>
      <p:sp>
        <p:nvSpPr>
          <p:cNvPr id="12" name="Rectangle 4"/>
          <p:cNvSpPr>
            <a:spLocks noChangeArrowheads="1"/>
          </p:cNvSpPr>
          <p:nvPr/>
        </p:nvSpPr>
        <p:spPr bwMode="auto">
          <a:xfrm>
            <a:off x="7707087" y="2160663"/>
            <a:ext cx="20649328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14" name="对象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80722138"/>
              </p:ext>
            </p:extLst>
          </p:nvPr>
        </p:nvGraphicFramePr>
        <p:xfrm>
          <a:off x="6009900" y="1679061"/>
          <a:ext cx="1717675" cy="644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72" name="Equation" r:id="rId5" imgW="685800" imgH="444240" progId="Equation.DSMT4">
                  <p:embed/>
                </p:oleObj>
              </mc:Choice>
              <mc:Fallback>
                <p:oleObj name="Equation" r:id="rId5" imgW="685800" imgH="444240" progId="Equation.DSMT4">
                  <p:embed/>
                  <p:pic>
                    <p:nvPicPr>
                      <p:cNvPr id="9" name="对象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09900" y="1679061"/>
                        <a:ext cx="1717675" cy="64452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矩形 14"/>
          <p:cNvSpPr/>
          <p:nvPr/>
        </p:nvSpPr>
        <p:spPr>
          <a:xfrm>
            <a:off x="508499" y="2436931"/>
            <a:ext cx="48442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 C</a:t>
            </a:r>
            <a:endParaRPr lang="zh-CN" altLang="en-US" sz="2400" b="1" dirty="0"/>
          </a:p>
        </p:txBody>
      </p:sp>
      <p:sp>
        <p:nvSpPr>
          <p:cNvPr id="16" name="Rectangle 8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17" name="对象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37145791"/>
              </p:ext>
            </p:extLst>
          </p:nvPr>
        </p:nvGraphicFramePr>
        <p:xfrm>
          <a:off x="1296462" y="2372354"/>
          <a:ext cx="1213524" cy="78092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73" name="Equation" r:id="rId7" imgW="685502" imgH="444307" progId="Equation.DSMT4">
                  <p:embed/>
                </p:oleObj>
              </mc:Choice>
              <mc:Fallback>
                <p:oleObj name="Equation" r:id="rId7" imgW="685502" imgH="444307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96462" y="2372354"/>
                        <a:ext cx="1213524" cy="780926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矩形 17"/>
          <p:cNvSpPr/>
          <p:nvPr/>
        </p:nvSpPr>
        <p:spPr>
          <a:xfrm>
            <a:off x="5191731" y="2466487"/>
            <a:ext cx="48442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 D</a:t>
            </a:r>
            <a:endParaRPr lang="zh-CN" altLang="en-US" sz="2400" b="1" dirty="0"/>
          </a:p>
        </p:txBody>
      </p:sp>
      <p:graphicFrame>
        <p:nvGraphicFramePr>
          <p:cNvPr id="21" name="对象 2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75271364"/>
              </p:ext>
            </p:extLst>
          </p:nvPr>
        </p:nvGraphicFramePr>
        <p:xfrm>
          <a:off x="6096000" y="2362915"/>
          <a:ext cx="1213524" cy="78092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74" name="Equation" r:id="rId9" imgW="685800" imgH="444240" progId="Equation.DSMT4">
                  <p:embed/>
                </p:oleObj>
              </mc:Choice>
              <mc:Fallback>
                <p:oleObj name="Equation" r:id="rId9" imgW="685800" imgH="444240" progId="Equation.DSMT4">
                  <p:embed/>
                  <p:pic>
                    <p:nvPicPr>
                      <p:cNvPr id="17" name="对象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0" y="2362915"/>
                        <a:ext cx="1213524" cy="780926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" name="矩形 21"/>
          <p:cNvSpPr/>
          <p:nvPr/>
        </p:nvSpPr>
        <p:spPr>
          <a:xfrm>
            <a:off x="173704" y="3239749"/>
            <a:ext cx="126188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kern="100" dirty="0">
                <a:latin typeface="楷体_GB2312" panose="02010609030101010101" pitchFamily="49" charset="-122"/>
                <a:cs typeface="Times New Roman" panose="02020603050405020304" pitchFamily="18" charset="0"/>
              </a:rPr>
              <a:t>2</a:t>
            </a:r>
            <a:r>
              <a:rPr lang="zh-CN" altLang="zh-CN" sz="2400" kern="100" dirty="0">
                <a:ea typeface="楷体_GB2312" panose="02010609030101010101" pitchFamily="49" charset="-122"/>
                <a:cs typeface="Times New Roman" panose="02020603050405020304" pitchFamily="18" charset="0"/>
              </a:rPr>
              <a:t>、已知</a:t>
            </a:r>
            <a:endParaRPr lang="zh-CN" altLang="en-US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矩形 22"/>
              <p:cNvSpPr/>
              <p:nvPr/>
            </p:nvSpPr>
            <p:spPr>
              <a:xfrm>
                <a:off x="1288285" y="3232493"/>
                <a:ext cx="1511952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2400" b="1" i="1" smtClean="0">
                          <a:latin typeface="Cambria Math" panose="02040503050406030204" pitchFamily="18" charset="0"/>
                        </a:rPr>
                        <m:t>𝑿</m:t>
                      </m:r>
                      <m:r>
                        <a:rPr lang="zh-CN" altLang="en-US" sz="2400" b="1" i="0">
                          <a:latin typeface="Cambria Math" panose="02040503050406030204" pitchFamily="18" charset="0"/>
                        </a:rPr>
                        <m:t>∼</m:t>
                      </m:r>
                      <m:r>
                        <a:rPr lang="zh-CN" altLang="en-US" sz="2400" b="1" i="1">
                          <a:latin typeface="Cambria Math" panose="02040503050406030204" pitchFamily="18" charset="0"/>
                        </a:rPr>
                        <m:t>𝒕</m:t>
                      </m:r>
                      <m:d>
                        <m:dPr>
                          <m:ctrlPr>
                            <a:rPr lang="zh-CN" altLang="en-US" sz="24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2400" b="1" i="1">
                              <a:latin typeface="Cambria Math" panose="02040503050406030204" pitchFamily="18" charset="0"/>
                            </a:rPr>
                            <m:t>𝒏</m:t>
                          </m:r>
                        </m:e>
                      </m:d>
                      <m:r>
                        <a:rPr lang="zh-CN" altLang="en-US" sz="2400" b="1" i="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CN" altLang="en-US" sz="24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3" name="矩形 2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88285" y="3232493"/>
                <a:ext cx="1511952" cy="461665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矩形 23"/>
          <p:cNvSpPr/>
          <p:nvPr/>
        </p:nvSpPr>
        <p:spPr>
          <a:xfrm>
            <a:off x="2800237" y="3279311"/>
            <a:ext cx="80021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sz="2400" b="1" kern="100" dirty="0">
                <a:ea typeface="楷体_GB2312" panose="02010609030101010101" pitchFamily="49" charset="-122"/>
                <a:cs typeface="Times New Roman" panose="02020603050405020304" pitchFamily="18" charset="0"/>
              </a:rPr>
              <a:t>求证</a:t>
            </a:r>
            <a:endParaRPr lang="zh-CN" altLang="en-US" sz="24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矩形 24"/>
              <p:cNvSpPr/>
              <p:nvPr/>
            </p:nvSpPr>
            <p:spPr>
              <a:xfrm>
                <a:off x="3583492" y="3294608"/>
                <a:ext cx="2024850" cy="47000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zh-CN" altLang="en-US" sz="24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2400" b="1" i="1">
                              <a:latin typeface="Cambria Math" panose="02040503050406030204" pitchFamily="18" charset="0"/>
                            </a:rPr>
                            <m:t>𝑿</m:t>
                          </m:r>
                        </m:e>
                        <m:sup>
                          <m:r>
                            <a:rPr lang="zh-CN" altLang="en-US" sz="2400" b="1" i="0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zh-CN" altLang="en-US" sz="2400" b="1" i="0">
                          <a:latin typeface="Cambria Math" panose="02040503050406030204" pitchFamily="18" charset="0"/>
                        </a:rPr>
                        <m:t>∼</m:t>
                      </m:r>
                      <m:r>
                        <a:rPr lang="zh-CN" altLang="en-US" sz="2400" b="1" i="1">
                          <a:latin typeface="Cambria Math" panose="02040503050406030204" pitchFamily="18" charset="0"/>
                        </a:rPr>
                        <m:t>𝑭</m:t>
                      </m:r>
                      <m:d>
                        <m:dPr>
                          <m:ctrlPr>
                            <a:rPr lang="zh-CN" altLang="en-US" sz="24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2400" b="1" i="0"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zh-CN" altLang="en-US" sz="2400" b="1" i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zh-CN" altLang="en-US" sz="2400" b="1" i="1">
                              <a:latin typeface="Cambria Math" panose="02040503050406030204" pitchFamily="18" charset="0"/>
                            </a:rPr>
                            <m:t>𝒏</m:t>
                          </m:r>
                        </m:e>
                      </m:d>
                      <m:r>
                        <a:rPr lang="zh-CN" altLang="en-US" sz="2400" b="1" i="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CN" altLang="en-US" sz="24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5" name="矩形 2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83492" y="3294608"/>
                <a:ext cx="2024850" cy="470000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矩形 25"/>
          <p:cNvSpPr/>
          <p:nvPr/>
        </p:nvSpPr>
        <p:spPr>
          <a:xfrm>
            <a:off x="659385" y="3852099"/>
            <a:ext cx="80021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sz="2400" b="1" kern="100" dirty="0">
                <a:ea typeface="楷体_GB2312" panose="02010609030101010101" pitchFamily="49" charset="-122"/>
                <a:cs typeface="Times New Roman" panose="02020603050405020304" pitchFamily="18" charset="0"/>
              </a:rPr>
              <a:t>证明</a:t>
            </a:r>
            <a:endParaRPr lang="zh-CN" altLang="en-US" sz="2400" b="1" dirty="0"/>
          </a:p>
        </p:txBody>
      </p:sp>
      <p:sp>
        <p:nvSpPr>
          <p:cNvPr id="27" name="矩形 26"/>
          <p:cNvSpPr/>
          <p:nvPr/>
        </p:nvSpPr>
        <p:spPr>
          <a:xfrm>
            <a:off x="1435588" y="3837472"/>
            <a:ext cx="49244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sz="2400" b="1" kern="100" dirty="0">
                <a:ea typeface="楷体_GB2312" panose="02010609030101010101" pitchFamily="49" charset="-122"/>
                <a:cs typeface="Times New Roman" panose="02020603050405020304" pitchFamily="18" charset="0"/>
              </a:rPr>
              <a:t>因</a:t>
            </a:r>
            <a:endParaRPr lang="zh-CN" altLang="en-US" sz="24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矩形 27"/>
              <p:cNvSpPr/>
              <p:nvPr/>
            </p:nvSpPr>
            <p:spPr>
              <a:xfrm>
                <a:off x="1864100" y="3837472"/>
                <a:ext cx="1680268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zh-CN" altLang="en-US" sz="2400" b="1" i="1" smtClean="0">
                        <a:latin typeface="Cambria Math" panose="02040503050406030204" pitchFamily="18" charset="0"/>
                      </a:rPr>
                      <m:t>𝑿</m:t>
                    </m:r>
                    <m:r>
                      <a:rPr lang="zh-CN" altLang="en-US" sz="2400" b="1" i="0">
                        <a:latin typeface="Cambria Math" panose="02040503050406030204" pitchFamily="18" charset="0"/>
                      </a:rPr>
                      <m:t>∼</m:t>
                    </m:r>
                    <m:r>
                      <a:rPr lang="zh-CN" altLang="en-US" sz="2400" b="1" i="1">
                        <a:latin typeface="Cambria Math" panose="02040503050406030204" pitchFamily="18" charset="0"/>
                      </a:rPr>
                      <m:t>𝒕</m:t>
                    </m:r>
                    <m:d>
                      <m:dPr>
                        <m:ctrlPr>
                          <a:rPr lang="zh-CN" altLang="en-US" sz="2400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en-US" sz="2400" b="1" i="1">
                            <a:latin typeface="Cambria Math" panose="02040503050406030204" pitchFamily="18" charset="0"/>
                          </a:rPr>
                          <m:t>𝒏</m:t>
                        </m:r>
                      </m:e>
                    </m:d>
                  </m:oMath>
                </a14:m>
                <a:r>
                  <a:rPr lang="zh-CN" altLang="en-US" sz="2400" b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，</a:t>
                </a:r>
                <a:endParaRPr lang="zh-CN" altLang="en-US" sz="24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8" name="矩形 2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64100" y="3837472"/>
                <a:ext cx="1680268" cy="461665"/>
              </a:xfrm>
              <a:prstGeom prst="rect">
                <a:avLst/>
              </a:prstGeom>
              <a:blipFill>
                <a:blip r:embed="rId13"/>
                <a:stretch>
                  <a:fillRect l="-1091" t="-9333" r="-4727" b="-32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矩形 28"/>
          <p:cNvSpPr/>
          <p:nvPr/>
        </p:nvSpPr>
        <p:spPr>
          <a:xfrm>
            <a:off x="3305147" y="3901179"/>
            <a:ext cx="313258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sz="2400" b="1" kern="100" dirty="0">
                <a:ea typeface="楷体_GB2312" panose="02010609030101010101" pitchFamily="49" charset="-122"/>
                <a:cs typeface="Times New Roman" panose="02020603050405020304" pitchFamily="18" charset="0"/>
              </a:rPr>
              <a:t>所以</a:t>
            </a:r>
            <a:r>
              <a:rPr lang="en-US" altLang="zh-CN" sz="2400" b="1" kern="100" dirty="0">
                <a:ea typeface="楷体_GB2312" panose="02010609030101010101" pitchFamily="49" charset="-122"/>
                <a:cs typeface="Times New Roman" panose="02020603050405020304" pitchFamily="18" charset="0"/>
              </a:rPr>
              <a:t>X</a:t>
            </a:r>
            <a:r>
              <a:rPr lang="zh-CN" altLang="zh-CN" sz="2400" b="1" kern="100" dirty="0">
                <a:ea typeface="楷体_GB2312" panose="02010609030101010101" pitchFamily="49" charset="-122"/>
                <a:cs typeface="Times New Roman" panose="02020603050405020304" pitchFamily="18" charset="0"/>
              </a:rPr>
              <a:t>具有如下结构：</a:t>
            </a:r>
            <a:endParaRPr lang="zh-CN" altLang="en-US" sz="24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矩形 29"/>
              <p:cNvSpPr/>
              <p:nvPr/>
            </p:nvSpPr>
            <p:spPr>
              <a:xfrm>
                <a:off x="6590885" y="3660439"/>
                <a:ext cx="1782155" cy="93878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2400" b="1" i="1" smtClean="0">
                          <a:latin typeface="Cambria Math" panose="02040503050406030204" pitchFamily="18" charset="0"/>
                        </a:rPr>
                        <m:t>𝑿</m:t>
                      </m:r>
                      <m:r>
                        <a:rPr lang="zh-CN" altLang="en-US" sz="2400" b="1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sz="2400" b="1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400" b="1" i="1">
                              <a:latin typeface="Cambria Math" panose="02040503050406030204" pitchFamily="18" charset="0"/>
                            </a:rPr>
                            <m:t>𝑼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zh-CN" altLang="en-US" sz="2400" b="1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f>
                                <m:fPr>
                                  <m:type m:val="lin"/>
                                  <m:ctrlPr>
                                    <a:rPr lang="zh-CN" altLang="en-US" sz="2400" b="1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zh-CN" altLang="en-US" sz="2400" b="1" i="1">
                                      <a:latin typeface="Cambria Math" panose="02040503050406030204" pitchFamily="18" charset="0"/>
                                    </a:rPr>
                                    <m:t>𝒀</m:t>
                                  </m:r>
                                </m:num>
                                <m:den>
                                  <m:r>
                                    <a:rPr lang="zh-CN" altLang="en-US" sz="2400" b="1" i="1">
                                      <a:latin typeface="Cambria Math" panose="02040503050406030204" pitchFamily="18" charset="0"/>
                                    </a:rPr>
                                    <m:t>𝒏</m:t>
                                  </m:r>
                                </m:den>
                              </m:f>
                            </m:e>
                          </m:rad>
                        </m:den>
                      </m:f>
                      <m:r>
                        <a:rPr lang="zh-CN" altLang="en-US" sz="2400" b="1" i="0"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zh-CN" altLang="en-US" sz="24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0" name="矩形 2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90885" y="3660439"/>
                <a:ext cx="1782155" cy="938783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矩形 30"/>
          <p:cNvSpPr/>
          <p:nvPr/>
        </p:nvSpPr>
        <p:spPr>
          <a:xfrm>
            <a:off x="1503114" y="4418295"/>
            <a:ext cx="80021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sz="2400" b="1" kern="100" dirty="0">
                <a:ea typeface="楷体_GB2312" panose="02010609030101010101" pitchFamily="49" charset="-122"/>
                <a:cs typeface="Times New Roman" panose="02020603050405020304" pitchFamily="18" charset="0"/>
              </a:rPr>
              <a:t>其中</a:t>
            </a:r>
            <a:endParaRPr lang="zh-CN" altLang="en-US" sz="24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矩形 32"/>
              <p:cNvSpPr/>
              <p:nvPr/>
            </p:nvSpPr>
            <p:spPr>
              <a:xfrm>
                <a:off x="2221408" y="4414127"/>
                <a:ext cx="3422668" cy="47000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2400" b="1" i="1" smtClean="0">
                          <a:latin typeface="Cambria Math" panose="02040503050406030204" pitchFamily="18" charset="0"/>
                        </a:rPr>
                        <m:t>𝑼</m:t>
                      </m:r>
                      <m:r>
                        <a:rPr lang="zh-CN" altLang="en-US" sz="2400" b="1" i="0">
                          <a:latin typeface="Cambria Math" panose="02040503050406030204" pitchFamily="18" charset="0"/>
                        </a:rPr>
                        <m:t>∼</m:t>
                      </m:r>
                      <m:r>
                        <a:rPr lang="zh-CN" altLang="en-US" sz="2400" b="1" i="1">
                          <a:latin typeface="Cambria Math" panose="02040503050406030204" pitchFamily="18" charset="0"/>
                        </a:rPr>
                        <m:t>𝑵</m:t>
                      </m:r>
                      <m:d>
                        <m:dPr>
                          <m:ctrlPr>
                            <a:rPr lang="zh-CN" altLang="en-US" sz="24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2400" b="1" i="0">
                              <a:latin typeface="Cambria Math" panose="02040503050406030204" pitchFamily="18" charset="0"/>
                            </a:rPr>
                            <m:t>𝟎</m:t>
                          </m:r>
                          <m:r>
                            <a:rPr lang="zh-CN" altLang="en-US" sz="2400" b="1" i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zh-CN" altLang="en-US" sz="2400" b="1" i="0">
                              <a:latin typeface="Cambria Math" panose="02040503050406030204" pitchFamily="18" charset="0"/>
                            </a:rPr>
                            <m:t>𝟏</m:t>
                          </m:r>
                        </m:e>
                      </m:d>
                      <m:r>
                        <a:rPr lang="zh-CN" altLang="en-US" sz="2400" b="1" i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zh-CN" altLang="en-US" sz="2400" b="1" i="1">
                          <a:latin typeface="Cambria Math" panose="02040503050406030204" pitchFamily="18" charset="0"/>
                        </a:rPr>
                        <m:t>𝒀</m:t>
                      </m:r>
                      <m:r>
                        <a:rPr lang="zh-CN" altLang="en-US" sz="2400" b="1" i="0">
                          <a:latin typeface="Cambria Math" panose="02040503050406030204" pitchFamily="18" charset="0"/>
                        </a:rPr>
                        <m:t>∼</m:t>
                      </m:r>
                      <m:sSup>
                        <m:sSupPr>
                          <m:ctrlPr>
                            <a:rPr lang="zh-CN" altLang="en-US" sz="24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2400" b="1" i="1">
                              <a:latin typeface="Cambria Math" panose="02040503050406030204" pitchFamily="18" charset="0"/>
                            </a:rPr>
                            <m:t>𝝌</m:t>
                          </m:r>
                        </m:e>
                        <m:sup>
                          <m:r>
                            <a:rPr lang="zh-CN" altLang="en-US" sz="2400" b="1" i="0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d>
                        <m:dPr>
                          <m:ctrlPr>
                            <a:rPr lang="zh-CN" altLang="en-US" sz="24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2400" b="1" i="1">
                              <a:latin typeface="Cambria Math" panose="02040503050406030204" pitchFamily="18" charset="0"/>
                            </a:rPr>
                            <m:t>𝒏</m:t>
                          </m:r>
                        </m:e>
                      </m:d>
                      <m:r>
                        <a:rPr lang="zh-CN" altLang="en-US" sz="2400" b="1" i="0"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zh-CN" altLang="en-US" sz="2400" b="1" dirty="0"/>
              </a:p>
            </p:txBody>
          </p:sp>
        </mc:Choice>
        <mc:Fallback xmlns="">
          <p:sp>
            <p:nvSpPr>
              <p:cNvPr id="33" name="矩形 3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21408" y="4414127"/>
                <a:ext cx="3422668" cy="470000"/>
              </a:xfrm>
              <a:prstGeom prst="rect">
                <a:avLst/>
              </a:prstGeom>
              <a:blipFill>
                <a:blip r:embed="rId15"/>
                <a:stretch>
                  <a:fillRect b="-649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4" name="矩形 33"/>
          <p:cNvSpPr/>
          <p:nvPr/>
        </p:nvSpPr>
        <p:spPr>
          <a:xfrm>
            <a:off x="5608342" y="4515212"/>
            <a:ext cx="274466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sz="2400" b="1" kern="100" dirty="0">
                <a:ea typeface="楷体_GB2312" panose="02010609030101010101" pitchFamily="49" charset="-122"/>
                <a:cs typeface="Times New Roman" panose="02020603050405020304" pitchFamily="18" charset="0"/>
              </a:rPr>
              <a:t>且</a:t>
            </a:r>
            <a:r>
              <a:rPr lang="en-US" altLang="zh-CN" sz="2400" b="1" kern="100" dirty="0">
                <a:ea typeface="楷体_GB2312" panose="02010609030101010101" pitchFamily="49" charset="-122"/>
                <a:cs typeface="Times New Roman" panose="02020603050405020304" pitchFamily="18" charset="0"/>
              </a:rPr>
              <a:t>U</a:t>
            </a:r>
            <a:r>
              <a:rPr lang="zh-CN" altLang="zh-CN" sz="2400" b="1" kern="100" dirty="0">
                <a:ea typeface="楷体_GB2312" panose="02010609030101010101" pitchFamily="49" charset="-122"/>
                <a:cs typeface="Times New Roman" panose="02020603050405020304" pitchFamily="18" charset="0"/>
              </a:rPr>
              <a:t>与</a:t>
            </a:r>
            <a:r>
              <a:rPr lang="en-US" altLang="zh-CN" sz="2400" b="1" kern="100" dirty="0">
                <a:ea typeface="楷体_GB2312" panose="02010609030101010101" pitchFamily="49" charset="-122"/>
                <a:cs typeface="Times New Roman" panose="02020603050405020304" pitchFamily="18" charset="0"/>
              </a:rPr>
              <a:t>Y</a:t>
            </a:r>
            <a:r>
              <a:rPr lang="zh-CN" altLang="zh-CN" sz="2400" b="1" kern="100" dirty="0">
                <a:ea typeface="楷体_GB2312" panose="02010609030101010101" pitchFamily="49" charset="-122"/>
                <a:cs typeface="Times New Roman" panose="02020603050405020304" pitchFamily="18" charset="0"/>
              </a:rPr>
              <a:t>相互独立。</a:t>
            </a:r>
            <a:endParaRPr lang="zh-CN" altLang="en-US" sz="2400" b="1" dirty="0"/>
          </a:p>
        </p:txBody>
      </p:sp>
      <p:sp>
        <p:nvSpPr>
          <p:cNvPr id="35" name="矩形 34"/>
          <p:cNvSpPr/>
          <p:nvPr/>
        </p:nvSpPr>
        <p:spPr>
          <a:xfrm>
            <a:off x="1575821" y="5072717"/>
            <a:ext cx="80021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sz="2400" b="1" kern="100" dirty="0">
                <a:ea typeface="楷体_GB2312" panose="02010609030101010101" pitchFamily="49" charset="-122"/>
                <a:cs typeface="Times New Roman" panose="02020603050405020304" pitchFamily="18" charset="0"/>
              </a:rPr>
              <a:t>从而</a:t>
            </a:r>
            <a:endParaRPr lang="zh-CN" altLang="en-US" sz="24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矩形 35"/>
              <p:cNvSpPr/>
              <p:nvPr/>
            </p:nvSpPr>
            <p:spPr>
              <a:xfrm>
                <a:off x="2450650" y="4872357"/>
                <a:ext cx="1708993" cy="89242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zh-CN" altLang="en-US" sz="24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2400" b="1" i="1">
                              <a:latin typeface="Cambria Math" panose="02040503050406030204" pitchFamily="18" charset="0"/>
                            </a:rPr>
                            <m:t>𝑿</m:t>
                          </m:r>
                        </m:e>
                        <m:sup>
                          <m:r>
                            <a:rPr lang="zh-CN" altLang="en-US" sz="2400" b="1" i="0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zh-CN" altLang="en-US" sz="2400" b="1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sz="2400" b="1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zh-CN" altLang="en-US" sz="2400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2400" b="1" i="1">
                                  <a:latin typeface="Cambria Math" panose="02040503050406030204" pitchFamily="18" charset="0"/>
                                </a:rPr>
                                <m:t>𝑼</m:t>
                              </m:r>
                            </m:e>
                            <m:sup>
                              <m:r>
                                <a:rPr lang="zh-CN" altLang="en-US" sz="2400" b="1" i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</m:num>
                        <m:den>
                          <m:f>
                            <m:fPr>
                              <m:type m:val="lin"/>
                              <m:ctrlPr>
                                <a:rPr lang="zh-CN" altLang="en-US" sz="2400" b="1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CN" altLang="en-US" sz="2400" b="1" i="1">
                                  <a:latin typeface="Cambria Math" panose="02040503050406030204" pitchFamily="18" charset="0"/>
                                </a:rPr>
                                <m:t>𝒀</m:t>
                              </m:r>
                            </m:num>
                            <m:den>
                              <m:r>
                                <a:rPr lang="zh-CN" altLang="en-US" sz="2400" b="1" i="1"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</m:den>
                          </m:f>
                        </m:den>
                      </m:f>
                      <m:r>
                        <a:rPr lang="zh-CN" altLang="en-US" sz="2400" b="1" i="0"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zh-CN" altLang="en-US" sz="24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6" name="矩形 3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50650" y="4872357"/>
                <a:ext cx="1708993" cy="892424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7" name="矩形 36"/>
          <p:cNvSpPr/>
          <p:nvPr/>
        </p:nvSpPr>
        <p:spPr>
          <a:xfrm>
            <a:off x="1628124" y="5931550"/>
            <a:ext cx="49244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sz="2400" kern="100" dirty="0">
                <a:ea typeface="楷体_GB2312" panose="02010609030101010101" pitchFamily="49" charset="-122"/>
                <a:cs typeface="Times New Roman" panose="02020603050405020304" pitchFamily="18" charset="0"/>
              </a:rPr>
              <a:t>且</a:t>
            </a:r>
            <a:endParaRPr lang="zh-CN" altLang="en-US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8" name="矩形 37"/>
              <p:cNvSpPr/>
              <p:nvPr/>
            </p:nvSpPr>
            <p:spPr>
              <a:xfrm>
                <a:off x="2044261" y="5977283"/>
                <a:ext cx="1883721" cy="47000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zh-CN" altLang="en-US" sz="24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2400" b="1" i="1">
                              <a:latin typeface="Cambria Math" panose="02040503050406030204" pitchFamily="18" charset="0"/>
                            </a:rPr>
                            <m:t>𝑼</m:t>
                          </m:r>
                        </m:e>
                        <m:sup>
                          <m:r>
                            <a:rPr lang="zh-CN" altLang="en-US" sz="2400" b="1" i="0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zh-CN" altLang="en-US" sz="2400" b="1" i="0">
                          <a:latin typeface="Cambria Math" panose="02040503050406030204" pitchFamily="18" charset="0"/>
                        </a:rPr>
                        <m:t>∼</m:t>
                      </m:r>
                      <m:sSup>
                        <m:sSupPr>
                          <m:ctrlPr>
                            <a:rPr lang="zh-CN" altLang="en-US" sz="24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2400" b="1" i="1">
                              <a:latin typeface="Cambria Math" panose="02040503050406030204" pitchFamily="18" charset="0"/>
                            </a:rPr>
                            <m:t>𝝌</m:t>
                          </m:r>
                        </m:e>
                        <m:sup>
                          <m:r>
                            <a:rPr lang="zh-CN" altLang="en-US" sz="2400" b="1" i="0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d>
                        <m:dPr>
                          <m:ctrlPr>
                            <a:rPr lang="zh-CN" altLang="en-US" sz="24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2400" b="1" i="0">
                              <a:latin typeface="Cambria Math" panose="02040503050406030204" pitchFamily="18" charset="0"/>
                            </a:rPr>
                            <m:t>𝟏</m:t>
                          </m:r>
                        </m:e>
                      </m:d>
                      <m:r>
                        <a:rPr lang="zh-CN" altLang="en-US" sz="2400" b="1" i="0"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zh-CN" altLang="en-US" sz="24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8" name="矩形 3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44261" y="5977283"/>
                <a:ext cx="1883721" cy="470000"/>
              </a:xfrm>
              <a:prstGeom prst="rect">
                <a:avLst/>
              </a:prstGeom>
              <a:blipFill>
                <a:blip r:embed="rId17"/>
                <a:stretch>
                  <a:fillRect b="-909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矩形 38"/>
              <p:cNvSpPr/>
              <p:nvPr/>
            </p:nvSpPr>
            <p:spPr>
              <a:xfrm>
                <a:off x="3927982" y="5940437"/>
                <a:ext cx="950837" cy="47000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zh-CN" altLang="en-US" sz="24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2400" b="1" i="1">
                              <a:latin typeface="Cambria Math" panose="02040503050406030204" pitchFamily="18" charset="0"/>
                            </a:rPr>
                            <m:t>𝑼</m:t>
                          </m:r>
                        </m:e>
                        <m:sup>
                          <m:r>
                            <a:rPr lang="zh-CN" altLang="en-US" sz="2400" b="1" i="0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zh-CN" altLang="en-US" sz="2400" b="1" i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zh-CN" altLang="en-US" sz="2400" b="1" i="1">
                          <a:latin typeface="Cambria Math" panose="02040503050406030204" pitchFamily="18" charset="0"/>
                        </a:rPr>
                        <m:t>𝒀</m:t>
                      </m:r>
                    </m:oMath>
                  </m:oMathPara>
                </a14:m>
                <a:endParaRPr lang="zh-CN" altLang="en-US" sz="24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9" name="矩形 3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27982" y="5940437"/>
                <a:ext cx="950837" cy="470000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0" name="矩形 39"/>
          <p:cNvSpPr/>
          <p:nvPr/>
        </p:nvSpPr>
        <p:spPr>
          <a:xfrm>
            <a:off x="4737299" y="5948772"/>
            <a:ext cx="295465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sz="2400" b="1" kern="100" dirty="0">
                <a:ea typeface="楷体_GB2312" panose="02010609030101010101" pitchFamily="49" charset="-122"/>
                <a:cs typeface="Times New Roman" panose="02020603050405020304" pitchFamily="18" charset="0"/>
              </a:rPr>
              <a:t>也相互独立，由定义</a:t>
            </a:r>
            <a:endParaRPr lang="zh-CN" altLang="en-US" sz="24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1" name="矩形 40"/>
              <p:cNvSpPr/>
              <p:nvPr/>
            </p:nvSpPr>
            <p:spPr>
              <a:xfrm>
                <a:off x="7606277" y="5940437"/>
                <a:ext cx="2032864" cy="47000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zh-CN" altLang="en-US" sz="24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2400" b="1" i="1">
                              <a:latin typeface="Cambria Math" panose="02040503050406030204" pitchFamily="18" charset="0"/>
                            </a:rPr>
                            <m:t>𝑿</m:t>
                          </m:r>
                        </m:e>
                        <m:sup>
                          <m:r>
                            <a:rPr lang="zh-CN" altLang="en-US" sz="2400" b="1" i="0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zh-CN" altLang="en-US" sz="2400" b="1" i="0">
                          <a:latin typeface="Cambria Math" panose="02040503050406030204" pitchFamily="18" charset="0"/>
                        </a:rPr>
                        <m:t>∼</m:t>
                      </m:r>
                      <m:r>
                        <a:rPr lang="zh-CN" altLang="en-US" sz="2400" b="1" i="1">
                          <a:latin typeface="Cambria Math" panose="02040503050406030204" pitchFamily="18" charset="0"/>
                        </a:rPr>
                        <m:t>𝑭</m:t>
                      </m:r>
                      <m:d>
                        <m:dPr>
                          <m:ctrlPr>
                            <a:rPr lang="zh-CN" altLang="en-US" sz="24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2400" b="1" i="0"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zh-CN" altLang="en-US" sz="2400" b="1" i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zh-CN" altLang="en-US" sz="2400" b="1" i="1">
                              <a:latin typeface="Cambria Math" panose="02040503050406030204" pitchFamily="18" charset="0"/>
                            </a:rPr>
                            <m:t>𝒏</m:t>
                          </m:r>
                        </m:e>
                      </m:d>
                      <m:r>
                        <a:rPr lang="zh-CN" altLang="en-US" sz="2400" b="1" i="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CN" altLang="en-US" sz="2400" b="1" dirty="0"/>
              </a:p>
            </p:txBody>
          </p:sp>
        </mc:Choice>
        <mc:Fallback xmlns="">
          <p:sp>
            <p:nvSpPr>
              <p:cNvPr id="41" name="矩形 4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06277" y="5940437"/>
                <a:ext cx="2032864" cy="470000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605354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3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4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9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0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5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6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1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2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7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8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3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4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9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0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>
                      <p:stCondLst>
                        <p:cond delay="indefinite"/>
                      </p:stCondLst>
                      <p:childTnLst>
                        <p:par>
                          <p:cTn id="142" fill="hold">
                            <p:stCondLst>
                              <p:cond delay="0"/>
                            </p:stCondLst>
                            <p:childTnLst>
                              <p:par>
                                <p:cTn id="14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5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6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>
                      <p:stCondLst>
                        <p:cond delay="indefinite"/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1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2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3" fill="hold">
                      <p:stCondLst>
                        <p:cond delay="indefinite"/>
                      </p:stCondLst>
                      <p:childTnLst>
                        <p:par>
                          <p:cTn id="154" fill="hold">
                            <p:stCondLst>
                              <p:cond delay="0"/>
                            </p:stCondLst>
                            <p:childTnLst>
                              <p:par>
                                <p:cTn id="15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7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8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9" fill="hold">
                      <p:stCondLst>
                        <p:cond delay="indefinite"/>
                      </p:stCondLst>
                      <p:childTnLst>
                        <p:par>
                          <p:cTn id="160" fill="hold">
                            <p:stCondLst>
                              <p:cond delay="0"/>
                            </p:stCondLst>
                            <p:childTnLst>
                              <p:par>
                                <p:cTn id="16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3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4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5" fill="hold">
                      <p:stCondLst>
                        <p:cond delay="indefinite"/>
                      </p:stCondLst>
                      <p:childTnLst>
                        <p:par>
                          <p:cTn id="166" fill="hold">
                            <p:stCondLst>
                              <p:cond delay="0"/>
                            </p:stCondLst>
                            <p:childTnLst>
                              <p:par>
                                <p:cTn id="16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9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0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1" fill="hold">
                      <p:stCondLst>
                        <p:cond delay="indefinite"/>
                      </p:stCondLst>
                      <p:childTnLst>
                        <p:par>
                          <p:cTn id="172" fill="hold">
                            <p:stCondLst>
                              <p:cond delay="0"/>
                            </p:stCondLst>
                            <p:childTnLst>
                              <p:par>
                                <p:cTn id="17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5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6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7" fill="hold">
                      <p:stCondLst>
                        <p:cond delay="indefinite"/>
                      </p:stCondLst>
                      <p:childTnLst>
                        <p:par>
                          <p:cTn id="178" fill="hold">
                            <p:stCondLst>
                              <p:cond delay="0"/>
                            </p:stCondLst>
                            <p:childTnLst>
                              <p:par>
                                <p:cTn id="17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1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2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3" fill="hold">
                      <p:stCondLst>
                        <p:cond delay="indefinite"/>
                      </p:stCondLst>
                      <p:childTnLst>
                        <p:par>
                          <p:cTn id="184" fill="hold">
                            <p:stCondLst>
                              <p:cond delay="0"/>
                            </p:stCondLst>
                            <p:childTnLst>
                              <p:par>
                                <p:cTn id="18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7" dur="500" fill="hold"/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8" dur="500" fill="hold"/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7" grpId="0"/>
      <p:bldP spid="10" grpId="0"/>
      <p:bldP spid="11" grpId="0"/>
      <p:bldP spid="15" grpId="0"/>
      <p:bldP spid="18" grpId="0"/>
      <p:bldP spid="22" grpId="0"/>
      <p:bldP spid="23" grpId="0"/>
      <p:bldP spid="24" grpId="0"/>
      <p:bldP spid="25" grpId="0"/>
      <p:bldP spid="26" grpId="0"/>
      <p:bldP spid="27" grpId="0"/>
      <p:bldP spid="28" grpId="0"/>
      <p:bldP spid="29" grpId="0"/>
      <p:bldP spid="30" grpId="0"/>
      <p:bldP spid="31" grpId="0"/>
      <p:bldP spid="33" grpId="0"/>
      <p:bldP spid="34" grpId="0"/>
      <p:bldP spid="35" grpId="0"/>
      <p:bldP spid="36" grpId="0"/>
      <p:bldP spid="37" grpId="0"/>
      <p:bldP spid="38" grpId="0"/>
      <p:bldP spid="39" grpId="0"/>
      <p:bldP spid="40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121221" y="98798"/>
            <a:ext cx="360387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kern="100" dirty="0" smtClean="0">
                <a:latin typeface="楷体_GB2312" panose="02010609030101010101" pitchFamily="49" charset="-122"/>
                <a:ea typeface="楷体_GB2312" panose="02010609030101010101" pitchFamily="49" charset="-122"/>
                <a:cs typeface="Times New Roman" panose="02020603050405020304" pitchFamily="18" charset="0"/>
              </a:rPr>
              <a:t>3</a:t>
            </a:r>
            <a:r>
              <a:rPr lang="zh-CN" altLang="en-US" sz="2400" kern="100" dirty="0" smtClean="0">
                <a:latin typeface="楷体_GB2312" panose="02010609030101010101" pitchFamily="49" charset="-122"/>
                <a:ea typeface="楷体_GB2312" panose="02010609030101010101" pitchFamily="49" charset="-122"/>
                <a:cs typeface="Times New Roman" panose="02020603050405020304" pitchFamily="18" charset="0"/>
              </a:rPr>
              <a:t>、</a:t>
            </a:r>
            <a:r>
              <a:rPr lang="zh-CN" altLang="zh-CN" sz="2400" kern="100" dirty="0" smtClean="0">
                <a:latin typeface="楷体_GB2312" panose="02010609030101010101" pitchFamily="49" charset="-122"/>
                <a:ea typeface="楷体_GB2312" panose="02010609030101010101" pitchFamily="49" charset="-122"/>
                <a:cs typeface="Times New Roman" panose="02020603050405020304" pitchFamily="18" charset="0"/>
              </a:rPr>
              <a:t>设</a:t>
            </a:r>
            <a:r>
              <a:rPr lang="zh-CN" altLang="zh-CN" sz="2400" kern="100" dirty="0">
                <a:latin typeface="楷体_GB2312" panose="02010609030101010101" pitchFamily="49" charset="-122"/>
                <a:ea typeface="楷体_GB2312" panose="02010609030101010101" pitchFamily="49" charset="-122"/>
                <a:cs typeface="Times New Roman" panose="02020603050405020304" pitchFamily="18" charset="0"/>
              </a:rPr>
              <a:t>总体</a:t>
            </a:r>
            <a:r>
              <a:rPr lang="en-US" altLang="zh-CN" sz="2400" i="1" kern="100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X</a:t>
            </a:r>
            <a:r>
              <a:rPr lang="zh-CN" altLang="zh-CN" sz="2400" kern="100" dirty="0">
                <a:latin typeface="楷体_GB2312" panose="02010609030101010101" pitchFamily="49" charset="-122"/>
                <a:ea typeface="楷体_GB2312" panose="02010609030101010101" pitchFamily="49" charset="-122"/>
                <a:cs typeface="Times New Roman" panose="02020603050405020304" pitchFamily="18" charset="0"/>
              </a:rPr>
              <a:t>的概率密度为</a:t>
            </a:r>
            <a:endParaRPr lang="zh-CN" altLang="en-US" sz="2400" dirty="0">
              <a:latin typeface="楷体_GB2312" panose="02010609030101010101" pitchFamily="49" charset="-122"/>
              <a:ea typeface="楷体_GB2312" panose="02010609030101010101" pitchFamily="49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2134" y="503813"/>
            <a:ext cx="9965722" cy="1549578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2134" y="2152465"/>
            <a:ext cx="12786855" cy="483866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82312" y="2053391"/>
            <a:ext cx="7734713" cy="58294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00378" y="2040491"/>
            <a:ext cx="7229058" cy="576071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7448" y="2748305"/>
            <a:ext cx="8421714" cy="608337"/>
          </a:xfrm>
          <a:prstGeom prst="rect">
            <a:avLst/>
          </a:prstGeom>
        </p:spPr>
      </p:pic>
      <p:sp>
        <p:nvSpPr>
          <p:cNvPr id="10" name="矩形 9"/>
          <p:cNvSpPr/>
          <p:nvPr/>
        </p:nvSpPr>
        <p:spPr>
          <a:xfrm>
            <a:off x="2992312" y="2821640"/>
            <a:ext cx="80021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求：</a:t>
            </a: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12134" y="3391584"/>
            <a:ext cx="7642166" cy="571015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492340" y="3292272"/>
            <a:ext cx="7953187" cy="552354"/>
          </a:xfrm>
          <a:prstGeom prst="rect">
            <a:avLst/>
          </a:prstGeom>
        </p:spPr>
      </p:pic>
      <p:sp>
        <p:nvSpPr>
          <p:cNvPr id="13" name="矩形 12"/>
          <p:cNvSpPr/>
          <p:nvPr/>
        </p:nvSpPr>
        <p:spPr>
          <a:xfrm>
            <a:off x="138440" y="3997541"/>
            <a:ext cx="64953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解 </a:t>
            </a:r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14400" y="3905543"/>
            <a:ext cx="7884761" cy="586419"/>
          </a:xfrm>
          <a:prstGeom prst="rect">
            <a:avLst/>
          </a:prstGeom>
        </p:spPr>
      </p:pic>
      <p:pic>
        <p:nvPicPr>
          <p:cNvPr id="15" name="图片 14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095690" y="3997541"/>
            <a:ext cx="5373244" cy="655273"/>
          </a:xfrm>
          <a:prstGeom prst="rect">
            <a:avLst/>
          </a:prstGeom>
        </p:spPr>
      </p:pic>
      <p:pic>
        <p:nvPicPr>
          <p:cNvPr id="16" name="图片 15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468934" y="3962599"/>
            <a:ext cx="2673407" cy="741656"/>
          </a:xfrm>
          <a:prstGeom prst="rect">
            <a:avLst/>
          </a:prstGeom>
        </p:spPr>
      </p:pic>
      <p:pic>
        <p:nvPicPr>
          <p:cNvPr id="17" name="图片 16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87977" y="4717852"/>
            <a:ext cx="6238350" cy="772617"/>
          </a:xfrm>
          <a:prstGeom prst="rect">
            <a:avLst/>
          </a:prstGeom>
        </p:spPr>
      </p:pic>
      <p:pic>
        <p:nvPicPr>
          <p:cNvPr id="18" name="图片 17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239346" y="4613796"/>
            <a:ext cx="9181322" cy="910490"/>
          </a:xfrm>
          <a:prstGeom prst="rect">
            <a:avLst/>
          </a:prstGeom>
        </p:spPr>
      </p:pic>
      <p:pic>
        <p:nvPicPr>
          <p:cNvPr id="19" name="图片 18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38440" y="5716360"/>
            <a:ext cx="11814073" cy="686996"/>
          </a:xfrm>
          <a:prstGeom prst="rect">
            <a:avLst/>
          </a:prstGeom>
        </p:spPr>
      </p:pic>
      <p:pic>
        <p:nvPicPr>
          <p:cNvPr id="20" name="图片 19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114800" y="5493982"/>
            <a:ext cx="1679510" cy="10466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02835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3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4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10" grpId="0"/>
      <p:bldP spid="13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80353" y="71366"/>
            <a:ext cx="208262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lvl="0" indent="-342900" algn="just">
              <a:spcAft>
                <a:spcPts val="0"/>
              </a:spcAft>
              <a:buFont typeface="+mj-lt"/>
              <a:buAutoNum type="arabicParenBoth" startAt="2"/>
              <a:tabLst>
                <a:tab pos="295275" algn="l"/>
              </a:tabLst>
            </a:pPr>
            <a:r>
              <a:rPr lang="zh-CN" altLang="zh-CN" sz="2400" b="1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似然函数为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1240" y="438912"/>
            <a:ext cx="4099236" cy="896112"/>
          </a:xfrm>
          <a:prstGeom prst="rect">
            <a:avLst/>
          </a:prstGeom>
        </p:spPr>
      </p:pic>
      <p:sp>
        <p:nvSpPr>
          <p:cNvPr id="7" name="矩形 6"/>
          <p:cNvSpPr/>
          <p:nvPr/>
        </p:nvSpPr>
        <p:spPr>
          <a:xfrm>
            <a:off x="525066" y="1517904"/>
            <a:ext cx="172354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>
              <a:spcAft>
                <a:spcPts val="0"/>
              </a:spcAft>
            </a:pPr>
            <a:r>
              <a:rPr lang="zh-CN" altLang="zh-CN" sz="2400" b="1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取对数，得</a:t>
            </a: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88365" y="2075688"/>
            <a:ext cx="6824604" cy="703884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5066" y="2653639"/>
            <a:ext cx="11365992" cy="566163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34094" y="3386382"/>
            <a:ext cx="2666573" cy="759356"/>
          </a:xfrm>
          <a:prstGeom prst="rect">
            <a:avLst/>
          </a:prstGeom>
        </p:spPr>
      </p:pic>
      <p:sp>
        <p:nvSpPr>
          <p:cNvPr id="13" name="矩形 12"/>
          <p:cNvSpPr/>
          <p:nvPr/>
        </p:nvSpPr>
        <p:spPr>
          <a:xfrm>
            <a:off x="525066" y="4231886"/>
            <a:ext cx="49244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sz="2400" b="1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令</a:t>
            </a:r>
            <a:endParaRPr lang="zh-CN" altLang="en-US" sz="2400" b="1" dirty="0"/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52472" y="4245724"/>
            <a:ext cx="1481622" cy="700107"/>
          </a:xfrm>
          <a:prstGeom prst="rect">
            <a:avLst/>
          </a:prstGeom>
        </p:spPr>
      </p:pic>
      <p:sp>
        <p:nvSpPr>
          <p:cNvPr id="15" name="矩形 14"/>
          <p:cNvSpPr/>
          <p:nvPr/>
        </p:nvSpPr>
        <p:spPr>
          <a:xfrm>
            <a:off x="2961925" y="4364495"/>
            <a:ext cx="49244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sz="2400" b="1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得</a:t>
            </a:r>
            <a:endParaRPr lang="zh-CN" altLang="en-US" sz="2400" b="1" dirty="0"/>
          </a:p>
        </p:txBody>
      </p:sp>
      <p:pic>
        <p:nvPicPr>
          <p:cNvPr id="16" name="图片 15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05646" y="4288607"/>
            <a:ext cx="885226" cy="809888"/>
          </a:xfrm>
          <a:prstGeom prst="rect">
            <a:avLst/>
          </a:prstGeom>
        </p:spPr>
      </p:pic>
      <p:pic>
        <p:nvPicPr>
          <p:cNvPr id="17" name="图片 16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353" y="4945831"/>
            <a:ext cx="11810705" cy="604577"/>
          </a:xfrm>
          <a:prstGeom prst="rect">
            <a:avLst/>
          </a:prstGeom>
        </p:spPr>
      </p:pic>
      <p:pic>
        <p:nvPicPr>
          <p:cNvPr id="18" name="图片 17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686774" y="5693932"/>
            <a:ext cx="1122970" cy="10273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15412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  <p:bldP spid="13" grpId="0"/>
      <p:bldP spid="15" grpId="0"/>
    </p:bldLst>
  </p:timing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211</TotalTime>
  <Words>428</Words>
  <Application>Microsoft Office PowerPoint</Application>
  <PresentationFormat>宽屏</PresentationFormat>
  <Paragraphs>57</Paragraphs>
  <Slides>10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10</vt:i4>
      </vt:variant>
    </vt:vector>
  </HeadingPairs>
  <TitlesOfParts>
    <vt:vector size="20" baseType="lpstr">
      <vt:lpstr>等线</vt:lpstr>
      <vt:lpstr>等线 Light</vt:lpstr>
      <vt:lpstr>楷体_GB2312</vt:lpstr>
      <vt:lpstr>宋体</vt:lpstr>
      <vt:lpstr>Arial</vt:lpstr>
      <vt:lpstr>Cambria Math</vt:lpstr>
      <vt:lpstr>Times New Roman</vt:lpstr>
      <vt:lpstr>Office 主题​​</vt:lpstr>
      <vt:lpstr>Equation</vt:lpstr>
      <vt:lpstr>MathType 7.0 Equation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gdut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yanglp2020@outlook.com</dc:creator>
  <cp:lastModifiedBy>yanglp2020@outlook.com</cp:lastModifiedBy>
  <cp:revision>21</cp:revision>
  <dcterms:created xsi:type="dcterms:W3CDTF">2022-05-22T12:56:14Z</dcterms:created>
  <dcterms:modified xsi:type="dcterms:W3CDTF">2022-05-23T08:11:15Z</dcterms:modified>
</cp:coreProperties>
</file>