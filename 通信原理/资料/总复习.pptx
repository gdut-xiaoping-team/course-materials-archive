
<file path=[Content_Types].xml><?xml version="1.0" encoding="utf-8"?>
<Types xmlns="http://schemas.openxmlformats.org/package/2006/content-types">
  <Default Extension="vml" ContentType="application/vnd.openxmlformats-officedocument.vmlDrawing"/>
  <Default Extension="doc" ContentType="application/msword"/>
  <Default Extension="bin" ContentType="application/vnd.openxmlformats-officedocument.oleObject"/>
  <Default Extension="png" ContentType="image/png"/>
  <Default Extension="wmf" ContentType="image/x-wmf"/>
  <Default Extension="tiff" ContentType="image/tiff"/>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 id="2147483653" r:id="rId3"/>
  </p:sldMasterIdLst>
  <p:notesMasterIdLst>
    <p:notesMasterId r:id="rId5"/>
  </p:notesMasterIdLst>
  <p:handoutMasterIdLst>
    <p:handoutMasterId r:id="rId88"/>
  </p:handoutMasterIdLst>
  <p:sldIdLst>
    <p:sldId id="624" r:id="rId4"/>
    <p:sldId id="637" r:id="rId6"/>
    <p:sldId id="638" r:id="rId7"/>
    <p:sldId id="650" r:id="rId8"/>
    <p:sldId id="656" r:id="rId9"/>
    <p:sldId id="657" r:id="rId10"/>
    <p:sldId id="658" r:id="rId11"/>
    <p:sldId id="659" r:id="rId12"/>
    <p:sldId id="660" r:id="rId13"/>
    <p:sldId id="661" r:id="rId14"/>
    <p:sldId id="662" r:id="rId15"/>
    <p:sldId id="663" r:id="rId16"/>
    <p:sldId id="664" r:id="rId17"/>
    <p:sldId id="630" r:id="rId18"/>
    <p:sldId id="635" r:id="rId19"/>
    <p:sldId id="640" r:id="rId20"/>
    <p:sldId id="645" r:id="rId21"/>
    <p:sldId id="651" r:id="rId22"/>
    <p:sldId id="687" r:id="rId23"/>
    <p:sldId id="688" r:id="rId24"/>
    <p:sldId id="689" r:id="rId25"/>
    <p:sldId id="646" r:id="rId26"/>
    <p:sldId id="631" r:id="rId27"/>
    <p:sldId id="641" r:id="rId28"/>
    <p:sldId id="652" r:id="rId29"/>
    <p:sldId id="692" r:id="rId30"/>
    <p:sldId id="691" r:id="rId31"/>
    <p:sldId id="693" r:id="rId32"/>
    <p:sldId id="694" r:id="rId33"/>
    <p:sldId id="695" r:id="rId34"/>
    <p:sldId id="697" r:id="rId35"/>
    <p:sldId id="698" r:id="rId36"/>
    <p:sldId id="700" r:id="rId37"/>
    <p:sldId id="701" r:id="rId38"/>
    <p:sldId id="702" r:id="rId39"/>
    <p:sldId id="703" r:id="rId40"/>
    <p:sldId id="699" r:id="rId41"/>
    <p:sldId id="696" r:id="rId42"/>
    <p:sldId id="704" r:id="rId43"/>
    <p:sldId id="705" r:id="rId44"/>
    <p:sldId id="706" r:id="rId45"/>
    <p:sldId id="707" r:id="rId46"/>
    <p:sldId id="708" r:id="rId47"/>
    <p:sldId id="709" r:id="rId48"/>
    <p:sldId id="632" r:id="rId49"/>
    <p:sldId id="636" r:id="rId50"/>
    <p:sldId id="642" r:id="rId51"/>
    <p:sldId id="647" r:id="rId52"/>
    <p:sldId id="653" r:id="rId53"/>
    <p:sldId id="726" r:id="rId54"/>
    <p:sldId id="727" r:id="rId55"/>
    <p:sldId id="728" r:id="rId56"/>
    <p:sldId id="729" r:id="rId57"/>
    <p:sldId id="730" r:id="rId58"/>
    <p:sldId id="731" r:id="rId59"/>
    <p:sldId id="734" r:id="rId60"/>
    <p:sldId id="735" r:id="rId61"/>
    <p:sldId id="737" r:id="rId62"/>
    <p:sldId id="733" r:id="rId63"/>
    <p:sldId id="738" r:id="rId64"/>
    <p:sldId id="739" r:id="rId65"/>
    <p:sldId id="633" r:id="rId66"/>
    <p:sldId id="643" r:id="rId67"/>
    <p:sldId id="648" r:id="rId68"/>
    <p:sldId id="654" r:id="rId69"/>
    <p:sldId id="649" r:id="rId70"/>
    <p:sldId id="749" r:id="rId71"/>
    <p:sldId id="750" r:id="rId72"/>
    <p:sldId id="751" r:id="rId73"/>
    <p:sldId id="752" r:id="rId74"/>
    <p:sldId id="634" r:id="rId75"/>
    <p:sldId id="644" r:id="rId76"/>
    <p:sldId id="655" r:id="rId77"/>
    <p:sldId id="753" r:id="rId78"/>
    <p:sldId id="754" r:id="rId79"/>
    <p:sldId id="757" r:id="rId80"/>
    <p:sldId id="763" r:id="rId81"/>
    <p:sldId id="764" r:id="rId82"/>
    <p:sldId id="755" r:id="rId83"/>
    <p:sldId id="756" r:id="rId84"/>
    <p:sldId id="758" r:id="rId85"/>
    <p:sldId id="760" r:id="rId86"/>
    <p:sldId id="759" r:id="rId87"/>
  </p:sldIdLst>
  <p:sldSz cx="12192000" cy="6858000"/>
  <p:notesSz cx="7099300" cy="10234295"/>
  <p:custDataLst>
    <p:tags r:id="rId92"/>
  </p:custDataLst>
  <p:defaultTextStyle>
    <a:defPPr>
      <a:defRPr lang="zh-CN"/>
    </a:defPPr>
    <a:lvl1pPr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27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0F69FD"/>
    <a:srgbClr val="CC3300"/>
    <a:srgbClr val="B4C1DA"/>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86" autoAdjust="0"/>
    <p:restoredTop sz="99790" autoAdjust="0"/>
  </p:normalViewPr>
  <p:slideViewPr>
    <p:cSldViewPr showGuides="1">
      <p:cViewPr varScale="1">
        <p:scale>
          <a:sx n="77" d="100"/>
          <a:sy n="77" d="100"/>
        </p:scale>
        <p:origin x="154" y="30"/>
      </p:cViewPr>
      <p:guideLst>
        <p:guide orient="horz" pos="227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2310" y="-84"/>
      </p:cViewPr>
      <p:guideLst>
        <p:guide orient="horz" pos="3388"/>
        <p:guide pos="2236"/>
      </p:guideLst>
    </p:cSldViewPr>
  </p:notes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gs" Target="tags/tag771.xml"/><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5.xml"/><Relationship Id="rId89" Type="http://schemas.openxmlformats.org/officeDocument/2006/relationships/presProps" Target="presProps.xml"/><Relationship Id="rId88" Type="http://schemas.openxmlformats.org/officeDocument/2006/relationships/handoutMaster" Target="handoutMasters/handoutMaster1.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17.wmf"/><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image" Target="../media/image10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image" Target="../media/image11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16.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8.wmf"/></Relationships>
</file>

<file path=ppt/drawings/_rels/vmlDrawing20.vml.rels><?xml version="1.0" encoding="UTF-8" standalone="yes"?>
<Relationships xmlns="http://schemas.openxmlformats.org/package/2006/relationships"><Relationship Id="rId5" Type="http://schemas.openxmlformats.org/officeDocument/2006/relationships/image" Target="../media/image126.wmf"/><Relationship Id="rId4" Type="http://schemas.openxmlformats.org/officeDocument/2006/relationships/image" Target="../media/image125.wmf"/><Relationship Id="rId3" Type="http://schemas.openxmlformats.org/officeDocument/2006/relationships/image" Target="../media/image123.emf"/><Relationship Id="rId2" Type="http://schemas.openxmlformats.org/officeDocument/2006/relationships/image" Target="../media/image122.wmf"/><Relationship Id="rId1" Type="http://schemas.openxmlformats.org/officeDocument/2006/relationships/image" Target="../media/image121.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33.wmf"/><Relationship Id="rId1" Type="http://schemas.openxmlformats.org/officeDocument/2006/relationships/image" Target="../media/image132.wmf"/></Relationships>
</file>

<file path=ppt/drawings/_rels/vmlDrawing23.vml.rels><?xml version="1.0" encoding="UTF-8" standalone="yes"?>
<Relationships xmlns="http://schemas.openxmlformats.org/package/2006/relationships"><Relationship Id="rId6" Type="http://schemas.openxmlformats.org/officeDocument/2006/relationships/image" Target="../media/image141.wmf"/><Relationship Id="rId5" Type="http://schemas.openxmlformats.org/officeDocument/2006/relationships/image" Target="../media/image140.wmf"/><Relationship Id="rId4" Type="http://schemas.openxmlformats.org/officeDocument/2006/relationships/image" Target="../media/image139.wmf"/><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44.emf"/><Relationship Id="rId2" Type="http://schemas.openxmlformats.org/officeDocument/2006/relationships/image" Target="../media/image143.emf"/><Relationship Id="rId1" Type="http://schemas.openxmlformats.org/officeDocument/2006/relationships/image" Target="../media/image142.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image" Target="../media/image146.emf"/><Relationship Id="rId1" Type="http://schemas.openxmlformats.org/officeDocument/2006/relationships/image" Target="../media/image145.wmf"/></Relationships>
</file>

<file path=ppt/drawings/_rels/vmlDrawing26.vml.rels><?xml version="1.0" encoding="UTF-8" standalone="yes"?>
<Relationships xmlns="http://schemas.openxmlformats.org/package/2006/relationships"><Relationship Id="rId6" Type="http://schemas.openxmlformats.org/officeDocument/2006/relationships/image" Target="../media/image154.emf"/><Relationship Id="rId5" Type="http://schemas.openxmlformats.org/officeDocument/2006/relationships/image" Target="../media/image153.emf"/><Relationship Id="rId4" Type="http://schemas.openxmlformats.org/officeDocument/2006/relationships/image" Target="../media/image152.wmf"/><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s>
</file>

<file path=ppt/drawings/_rels/vmlDrawing27.vml.rels><?xml version="1.0" encoding="UTF-8" standalone="yes"?>
<Relationships xmlns="http://schemas.openxmlformats.org/package/2006/relationships"><Relationship Id="rId5" Type="http://schemas.openxmlformats.org/officeDocument/2006/relationships/image" Target="../media/image161.wmf"/><Relationship Id="rId4" Type="http://schemas.openxmlformats.org/officeDocument/2006/relationships/image" Target="../media/image160.emf"/><Relationship Id="rId3" Type="http://schemas.openxmlformats.org/officeDocument/2006/relationships/image" Target="../media/image159.wmf"/><Relationship Id="rId2" Type="http://schemas.openxmlformats.org/officeDocument/2006/relationships/image" Target="../media/image158.emf"/><Relationship Id="rId1" Type="http://schemas.openxmlformats.org/officeDocument/2006/relationships/image" Target="../media/image156.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171.wmf"/><Relationship Id="rId8" Type="http://schemas.openxmlformats.org/officeDocument/2006/relationships/image" Target="../media/image170.wmf"/><Relationship Id="rId7" Type="http://schemas.openxmlformats.org/officeDocument/2006/relationships/image" Target="../media/image169.wmf"/><Relationship Id="rId6" Type="http://schemas.openxmlformats.org/officeDocument/2006/relationships/image" Target="../media/image168.wmf"/><Relationship Id="rId5" Type="http://schemas.openxmlformats.org/officeDocument/2006/relationships/image" Target="../media/image167.wmf"/><Relationship Id="rId4" Type="http://schemas.openxmlformats.org/officeDocument/2006/relationships/image" Target="../media/image166.wmf"/><Relationship Id="rId3" Type="http://schemas.openxmlformats.org/officeDocument/2006/relationships/image" Target="../media/image165.wmf"/><Relationship Id="rId2" Type="http://schemas.openxmlformats.org/officeDocument/2006/relationships/image" Target="../media/image164.wmf"/><Relationship Id="rId13" Type="http://schemas.openxmlformats.org/officeDocument/2006/relationships/image" Target="../media/image175.wmf"/><Relationship Id="rId12" Type="http://schemas.openxmlformats.org/officeDocument/2006/relationships/image" Target="../media/image174.wmf"/><Relationship Id="rId11" Type="http://schemas.openxmlformats.org/officeDocument/2006/relationships/image" Target="../media/image173.wmf"/><Relationship Id="rId10" Type="http://schemas.openxmlformats.org/officeDocument/2006/relationships/image" Target="../media/image172.wmf"/><Relationship Id="rId1" Type="http://schemas.openxmlformats.org/officeDocument/2006/relationships/image" Target="../media/image163.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79.wmf"/><Relationship Id="rId1" Type="http://schemas.openxmlformats.org/officeDocument/2006/relationships/image" Target="../media/image177.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0.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95.e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7.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201.wmf"/><Relationship Id="rId1" Type="http://schemas.openxmlformats.org/officeDocument/2006/relationships/image" Target="../media/image200.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203.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207.wmf"/><Relationship Id="rId1" Type="http://schemas.openxmlformats.org/officeDocument/2006/relationships/image" Target="../media/image206.wmf"/></Relationships>
</file>

<file path=ppt/drawings/_rels/vmlDrawing36.vml.rels><?xml version="1.0" encoding="UTF-8" standalone="yes"?>
<Relationships xmlns="http://schemas.openxmlformats.org/package/2006/relationships"><Relationship Id="rId4" Type="http://schemas.openxmlformats.org/officeDocument/2006/relationships/image" Target="../media/image211.wmf"/><Relationship Id="rId3" Type="http://schemas.openxmlformats.org/officeDocument/2006/relationships/image" Target="../media/image210.wmf"/><Relationship Id="rId2" Type="http://schemas.openxmlformats.org/officeDocument/2006/relationships/image" Target="../media/image209.wmf"/><Relationship Id="rId1" Type="http://schemas.openxmlformats.org/officeDocument/2006/relationships/image" Target="../media/image20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fontAlgn="auto">
              <a:spcBef>
                <a:spcPts val="0"/>
              </a:spcBef>
              <a:spcAft>
                <a:spcPts val="0"/>
              </a:spcAft>
              <a:defRPr sz="1300">
                <a:latin typeface="+mn-lt"/>
                <a:ea typeface="+mn-ea"/>
              </a:defRPr>
            </a:lvl1pPr>
          </a:lstStyle>
          <a:p>
            <a:pPr>
              <a:defRPr/>
            </a:pPr>
            <a:endParaRPr lang="zh-CN" altLang="en-US"/>
          </a:p>
        </p:txBody>
      </p:sp>
      <p:sp>
        <p:nvSpPr>
          <p:cNvPr id="3" name="日期占位符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fontAlgn="auto">
              <a:spcBef>
                <a:spcPts val="0"/>
              </a:spcBef>
              <a:spcAft>
                <a:spcPts val="0"/>
              </a:spcAft>
              <a:defRPr sz="1300">
                <a:latin typeface="+mn-lt"/>
                <a:ea typeface="+mn-ea"/>
              </a:defRPr>
            </a:lvl1pPr>
          </a:lstStyle>
          <a:p>
            <a:pPr>
              <a:defRPr/>
            </a:pPr>
            <a:fld id="{006C1D5B-F218-475C-B412-6FB5D322AFAE}" type="datetimeFigureOut">
              <a:rPr lang="zh-CN" altLang="en-US"/>
            </a:fld>
            <a:endParaRPr lang="zh-CN" altLang="en-US"/>
          </a:p>
        </p:txBody>
      </p:sp>
      <p:sp>
        <p:nvSpPr>
          <p:cNvPr id="4" name="页脚占位符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fontAlgn="auto">
              <a:spcBef>
                <a:spcPts val="0"/>
              </a:spcBef>
              <a:spcAft>
                <a:spcPts val="0"/>
              </a:spcAft>
              <a:defRPr sz="13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fontAlgn="auto">
              <a:spcBef>
                <a:spcPts val="0"/>
              </a:spcBef>
              <a:spcAft>
                <a:spcPts val="0"/>
              </a:spcAft>
              <a:defRPr sz="1300">
                <a:latin typeface="+mn-lt"/>
                <a:ea typeface="+mn-ea"/>
              </a:defRPr>
            </a:lvl1pPr>
          </a:lstStyle>
          <a:p>
            <a:pPr>
              <a:defRPr/>
            </a:pPr>
            <a:fld id="{3B1F8AF2-FE36-4F6B-91CB-5B50D7DC027A}" type="slidenum">
              <a:rPr lang="zh-CN" altLang="en-US"/>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fontAlgn="auto">
              <a:spcBef>
                <a:spcPts val="0"/>
              </a:spcBef>
              <a:spcAft>
                <a:spcPts val="0"/>
              </a:spcAft>
              <a:defRPr sz="1300">
                <a:latin typeface="+mn-lt"/>
                <a:ea typeface="+mn-ea"/>
              </a:defRPr>
            </a:lvl1pPr>
          </a:lstStyle>
          <a:p>
            <a:pPr>
              <a:defRPr/>
            </a:pPr>
            <a:endParaRPr lang="zh-CN" altLang="en-US"/>
          </a:p>
        </p:txBody>
      </p:sp>
      <p:sp>
        <p:nvSpPr>
          <p:cNvPr id="3" name="日期占位符 2"/>
          <p:cNvSpPr>
            <a:spLocks noGrp="1"/>
          </p:cNvSpPr>
          <p:nvPr>
            <p:ph type="dt" idx="1"/>
          </p:nvPr>
        </p:nvSpPr>
        <p:spPr>
          <a:xfrm>
            <a:off x="4021294" y="0"/>
            <a:ext cx="3076363" cy="511731"/>
          </a:xfrm>
          <a:prstGeom prst="rect">
            <a:avLst/>
          </a:prstGeom>
        </p:spPr>
        <p:txBody>
          <a:bodyPr vert="horz" lIns="99048" tIns="49524" rIns="99048" bIns="49524" rtlCol="0"/>
          <a:lstStyle>
            <a:lvl1pPr algn="r" fontAlgn="auto">
              <a:spcBef>
                <a:spcPts val="0"/>
              </a:spcBef>
              <a:spcAft>
                <a:spcPts val="0"/>
              </a:spcAft>
              <a:defRPr sz="1300">
                <a:latin typeface="+mn-lt"/>
                <a:ea typeface="+mn-ea"/>
              </a:defRPr>
            </a:lvl1pPr>
          </a:lstStyle>
          <a:p>
            <a:pPr>
              <a:defRPr/>
            </a:pPr>
            <a:fld id="{64488200-5F3F-441C-A0BD-D9D48D390D33}" type="datetimeFigureOut">
              <a:rPr lang="zh-CN" altLang="en-US"/>
            </a:fld>
            <a:endParaRPr lang="zh-CN" altLang="en-US"/>
          </a:p>
        </p:txBody>
      </p:sp>
      <p:sp>
        <p:nvSpPr>
          <p:cNvPr id="4" name="幻灯片图像占位符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pPr lvl="0"/>
            <a:endParaRPr lang="zh-CN" altLang="en-US" noProof="0"/>
          </a:p>
        </p:txBody>
      </p:sp>
      <p:sp>
        <p:nvSpPr>
          <p:cNvPr id="5" name="备注占位符 4"/>
          <p:cNvSpPr>
            <a:spLocks noGrp="1"/>
          </p:cNvSpPr>
          <p:nvPr>
            <p:ph type="body" sz="quarter" idx="3"/>
          </p:nvPr>
        </p:nvSpPr>
        <p:spPr>
          <a:xfrm>
            <a:off x="709930" y="4861441"/>
            <a:ext cx="5679440" cy="4605576"/>
          </a:xfrm>
          <a:prstGeom prst="rect">
            <a:avLst/>
          </a:prstGeom>
        </p:spPr>
        <p:txBody>
          <a:bodyPr vert="horz" wrap="square" lIns="99048" tIns="49524" rIns="99048" bIns="49524" numCol="1" anchor="t" anchorCtr="0" compatLnSpc="1">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fontAlgn="auto">
              <a:spcBef>
                <a:spcPts val="0"/>
              </a:spcBef>
              <a:spcAft>
                <a:spcPts val="0"/>
              </a:spcAft>
              <a:defRPr sz="13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fontAlgn="auto">
              <a:spcBef>
                <a:spcPts val="0"/>
              </a:spcBef>
              <a:spcAft>
                <a:spcPts val="0"/>
              </a:spcAft>
              <a:defRPr sz="1300">
                <a:latin typeface="+mn-lt"/>
                <a:ea typeface="+mn-ea"/>
              </a:defRPr>
            </a:lvl1pPr>
          </a:lstStyle>
          <a:p>
            <a:pPr>
              <a:defRPr/>
            </a:pPr>
            <a:fld id="{C89CF7EF-6593-43DB-A0BB-1D0239A302F5}" type="slidenum">
              <a:rPr lang="zh-CN" altLang="en-US"/>
            </a:fld>
            <a:endParaRPr lang="zh-CN"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a:defRPr/>
            </a:pPr>
            <a:fld id="{C89CF7EF-6593-43DB-A0BB-1D0239A302F5}" type="slidenum">
              <a:rPr lang="zh-CN" altLang="en-US"/>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Rectangle 14"/>
          <p:cNvSpPr>
            <a:spLocks noChangeArrowheads="1"/>
          </p:cNvSpPr>
          <p:nvPr/>
        </p:nvSpPr>
        <p:spPr bwMode="auto">
          <a:xfrm>
            <a:off x="0" y="6572250"/>
            <a:ext cx="12192000" cy="285750"/>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endParaRPr lang="zh-CN" altLang="en-US">
              <a:latin typeface="Calibri" panose="020F0502020204030204" pitchFamily="34" charset="0"/>
            </a:endParaRPr>
          </a:p>
        </p:txBody>
      </p:sp>
      <p:sp>
        <p:nvSpPr>
          <p:cNvPr id="6" name="Rectangle 13"/>
          <p:cNvSpPr>
            <a:spLocks noChangeArrowheads="1"/>
          </p:cNvSpPr>
          <p:nvPr/>
        </p:nvSpPr>
        <p:spPr bwMode="auto">
          <a:xfrm>
            <a:off x="0" y="0"/>
            <a:ext cx="12192000" cy="260350"/>
          </a:xfrm>
          <a:prstGeom prst="rect">
            <a:avLst/>
          </a:prstGeom>
          <a:solidFill>
            <a:srgbClr val="61759B"/>
          </a:solidFill>
          <a:ln w="9525">
            <a:solidFill>
              <a:srgbClr val="002060"/>
            </a:solidFill>
            <a:miter lim="800000"/>
          </a:ln>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endParaRPr lang="zh-CN" altLang="en-US">
              <a:latin typeface="Calibri" panose="020F0502020204030204" pitchFamily="34" charset="0"/>
            </a:endParaRPr>
          </a:p>
        </p:txBody>
      </p:sp>
      <p:sp>
        <p:nvSpPr>
          <p:cNvPr id="7" name="Text Box 17"/>
          <p:cNvSpPr txBox="1">
            <a:spLocks noChangeArrowheads="1"/>
          </p:cNvSpPr>
          <p:nvPr/>
        </p:nvSpPr>
        <p:spPr bwMode="auto">
          <a:xfrm>
            <a:off x="6667501" y="1"/>
            <a:ext cx="5524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defRPr/>
            </a:pPr>
            <a:r>
              <a:rPr lang="en-US" altLang="zh-CN" sz="1400" b="1">
                <a:solidFill>
                  <a:schemeClr val="bg1"/>
                </a:solidFill>
                <a:latin typeface="Times New Roman" panose="02020603050405020304" pitchFamily="18" charset="0"/>
              </a:rPr>
              <a:t>Lab of Wideband Wireless Communication Systems</a:t>
            </a:r>
            <a:endParaRPr lang="en-US" altLang="zh-CN" sz="1400" b="1">
              <a:solidFill>
                <a:schemeClr val="bg1"/>
              </a:solidFill>
              <a:latin typeface="Times New Roman" panose="02020603050405020304" pitchFamily="18" charset="0"/>
            </a:endParaRPr>
          </a:p>
        </p:txBody>
      </p:sp>
      <p:sp>
        <p:nvSpPr>
          <p:cNvPr id="8" name="Text Box 14"/>
          <p:cNvSpPr txBox="1">
            <a:spLocks noChangeArrowheads="1"/>
          </p:cNvSpPr>
          <p:nvPr/>
        </p:nvSpPr>
        <p:spPr bwMode="auto">
          <a:xfrm>
            <a:off x="1107018" y="6550026"/>
            <a:ext cx="2288116" cy="307975"/>
          </a:xfrm>
          <a:prstGeom prst="rect">
            <a:avLst/>
          </a:prstGeom>
          <a:noFill/>
          <a:ln w="9525" algn="ctr">
            <a:noFill/>
            <a:miter lim="800000"/>
          </a:ln>
          <a:effectLst/>
        </p:spPr>
        <p:txBody>
          <a:bodyPr>
            <a:spAutoFit/>
          </a:bodyPr>
          <a:lstStyle/>
          <a:p>
            <a:pPr fontAlgn="auto">
              <a:spcBef>
                <a:spcPct val="50000"/>
              </a:spcBef>
              <a:spcAft>
                <a:spcPts val="0"/>
              </a:spcAft>
              <a:defRPr/>
            </a:pPr>
            <a:r>
              <a:rPr lang="en-US" altLang="zh-CN" sz="1400" dirty="0">
                <a:effectLst>
                  <a:outerShdw blurRad="38100" dist="38100" dir="2700000" algn="tl">
                    <a:srgbClr val="C0C0C0"/>
                  </a:outerShdw>
                </a:effectLst>
                <a:latin typeface="Times New Roman" panose="02020603050405020304" pitchFamily="18" charset="0"/>
                <a:ea typeface="楷体_GB2312" pitchFamily="49" charset="-122"/>
              </a:rPr>
              <a:t>Xiamen University</a:t>
            </a:r>
            <a:endParaRPr lang="en-US" altLang="zh-CN" sz="1400" dirty="0">
              <a:effectLst>
                <a:outerShdw blurRad="38100" dist="38100" dir="2700000" algn="tl">
                  <a:srgbClr val="C0C0C0"/>
                </a:outerShdw>
              </a:effectLst>
              <a:latin typeface="Times New Roman" panose="02020603050405020304" pitchFamily="18" charset="0"/>
              <a:ea typeface="楷体_GB2312" pitchFamily="49" charset="-122"/>
            </a:endParaRPr>
          </a:p>
        </p:txBody>
      </p:sp>
      <p:pic>
        <p:nvPicPr>
          <p:cNvPr id="9"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034" y="6143626"/>
            <a:ext cx="96096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descr="BF7XE10PE~I2Z85CQ684U8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967" y="6224589"/>
            <a:ext cx="1775884"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1" name="灯片编号占位符 5"/>
          <p:cNvSpPr>
            <a:spLocks noGrp="1"/>
          </p:cNvSpPr>
          <p:nvPr>
            <p:ph type="sldNum" sz="quarter" idx="10"/>
          </p:nvPr>
        </p:nvSpPr>
        <p:spPr>
          <a:xfrm>
            <a:off x="8667751" y="6492876"/>
            <a:ext cx="2844800" cy="365125"/>
          </a:xfrm>
        </p:spPr>
        <p:txBody>
          <a:bodyPr/>
          <a:lstStyle>
            <a:lvl1pPr>
              <a:defRPr sz="1400" baseline="0">
                <a:solidFill>
                  <a:schemeClr val="bg1"/>
                </a:solidFill>
                <a:effectLst>
                  <a:outerShdw blurRad="38100" dist="38100" dir="2700000" algn="tl">
                    <a:srgbClr val="000000">
                      <a:alpha val="43137"/>
                    </a:srgbClr>
                  </a:outerShdw>
                </a:effectLst>
              </a:defRPr>
            </a:lvl1pPr>
          </a:lstStyle>
          <a:p>
            <a:pPr>
              <a:defRPr/>
            </a:pPr>
            <a:fld id="{68F5F0D8-03B3-4C0F-A543-DB2C5E91AA9F}" type="slidenum">
              <a:rPr lang="zh-CN" altLang="en-US"/>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Rectangle 14"/>
          <p:cNvSpPr>
            <a:spLocks noChangeArrowheads="1"/>
          </p:cNvSpPr>
          <p:nvPr/>
        </p:nvSpPr>
        <p:spPr bwMode="auto">
          <a:xfrm>
            <a:off x="0" y="6572250"/>
            <a:ext cx="12192000" cy="285750"/>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endParaRPr lang="zh-CN" altLang="en-US">
              <a:latin typeface="Calibri" panose="020F0502020204030204" pitchFamily="34" charset="0"/>
            </a:endParaRPr>
          </a:p>
        </p:txBody>
      </p:sp>
      <p:sp>
        <p:nvSpPr>
          <p:cNvPr id="8" name="Rectangle 13"/>
          <p:cNvSpPr>
            <a:spLocks noChangeArrowheads="1"/>
          </p:cNvSpPr>
          <p:nvPr/>
        </p:nvSpPr>
        <p:spPr bwMode="auto">
          <a:xfrm>
            <a:off x="0" y="0"/>
            <a:ext cx="12192000" cy="260350"/>
          </a:xfrm>
          <a:prstGeom prst="rect">
            <a:avLst/>
          </a:prstGeom>
          <a:solidFill>
            <a:srgbClr val="61759B"/>
          </a:solidFill>
          <a:ln w="9525">
            <a:solidFill>
              <a:srgbClr val="002060"/>
            </a:solidFill>
            <a:miter lim="800000"/>
          </a:ln>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endParaRPr lang="zh-CN" altLang="en-US">
              <a:latin typeface="Calibri" panose="020F0502020204030204" pitchFamily="34" charset="0"/>
            </a:endParaRPr>
          </a:p>
        </p:txBody>
      </p:sp>
      <p:sp>
        <p:nvSpPr>
          <p:cNvPr id="9" name="Text Box 17"/>
          <p:cNvSpPr txBox="1">
            <a:spLocks noChangeArrowheads="1"/>
          </p:cNvSpPr>
          <p:nvPr/>
        </p:nvSpPr>
        <p:spPr bwMode="auto">
          <a:xfrm>
            <a:off x="6667501" y="1"/>
            <a:ext cx="5524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defRPr/>
            </a:pPr>
            <a:r>
              <a:rPr lang="en-US" altLang="zh-CN" sz="1400" b="1">
                <a:solidFill>
                  <a:schemeClr val="bg1"/>
                </a:solidFill>
                <a:latin typeface="Times New Roman" panose="02020603050405020304" pitchFamily="18" charset="0"/>
              </a:rPr>
              <a:t>Lab of Wideband Wireless Communication Systems</a:t>
            </a:r>
            <a:endParaRPr lang="en-US" altLang="zh-CN" sz="1400" b="1">
              <a:solidFill>
                <a:schemeClr val="bg1"/>
              </a:solidFill>
              <a:latin typeface="Times New Roman" panose="02020603050405020304" pitchFamily="18" charset="0"/>
            </a:endParaRPr>
          </a:p>
        </p:txBody>
      </p:sp>
      <p:sp>
        <p:nvSpPr>
          <p:cNvPr id="10" name="Text Box 14"/>
          <p:cNvSpPr txBox="1">
            <a:spLocks noChangeArrowheads="1"/>
          </p:cNvSpPr>
          <p:nvPr/>
        </p:nvSpPr>
        <p:spPr bwMode="auto">
          <a:xfrm>
            <a:off x="1107018" y="6550026"/>
            <a:ext cx="2288116" cy="307975"/>
          </a:xfrm>
          <a:prstGeom prst="rect">
            <a:avLst/>
          </a:prstGeom>
          <a:noFill/>
          <a:ln w="9525" algn="ctr">
            <a:noFill/>
            <a:miter lim="800000"/>
          </a:ln>
          <a:effectLst/>
        </p:spPr>
        <p:txBody>
          <a:bodyPr>
            <a:spAutoFit/>
          </a:bodyPr>
          <a:lstStyle/>
          <a:p>
            <a:pPr fontAlgn="auto">
              <a:spcBef>
                <a:spcPct val="50000"/>
              </a:spcBef>
              <a:spcAft>
                <a:spcPts val="0"/>
              </a:spcAft>
              <a:defRPr/>
            </a:pPr>
            <a:r>
              <a:rPr lang="en-US" altLang="zh-CN" sz="1400" dirty="0">
                <a:effectLst>
                  <a:outerShdw blurRad="38100" dist="38100" dir="2700000" algn="tl">
                    <a:srgbClr val="C0C0C0"/>
                  </a:outerShdw>
                </a:effectLst>
                <a:latin typeface="Times New Roman" panose="02020603050405020304" pitchFamily="18" charset="0"/>
                <a:ea typeface="楷体_GB2312" pitchFamily="49" charset="-122"/>
              </a:rPr>
              <a:t>Xiamen University</a:t>
            </a:r>
            <a:endParaRPr lang="en-US" altLang="zh-CN" sz="1400" dirty="0">
              <a:effectLst>
                <a:outerShdw blurRad="38100" dist="38100" dir="2700000" algn="tl">
                  <a:srgbClr val="C0C0C0"/>
                </a:outerShdw>
              </a:effectLst>
              <a:latin typeface="Times New Roman" panose="02020603050405020304" pitchFamily="18" charset="0"/>
              <a:ea typeface="楷体_GB2312" pitchFamily="49" charset="-122"/>
            </a:endParaRPr>
          </a:p>
        </p:txBody>
      </p:sp>
      <p:pic>
        <p:nvPicPr>
          <p:cNvPr id="11"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034" y="6143626"/>
            <a:ext cx="96096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3" descr="BF7XE10PE~I2Z85CQ684U8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967" y="6224589"/>
            <a:ext cx="1775884"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3" name="灯片编号占位符 5"/>
          <p:cNvSpPr>
            <a:spLocks noGrp="1"/>
          </p:cNvSpPr>
          <p:nvPr>
            <p:ph type="sldNum" sz="quarter" idx="10"/>
          </p:nvPr>
        </p:nvSpPr>
        <p:spPr>
          <a:xfrm>
            <a:off x="8667751" y="6492876"/>
            <a:ext cx="2844800" cy="365125"/>
          </a:xfrm>
        </p:spPr>
        <p:txBody>
          <a:bodyPr/>
          <a:lstStyle>
            <a:lvl1pPr>
              <a:defRPr sz="1400" baseline="0">
                <a:solidFill>
                  <a:schemeClr val="bg1"/>
                </a:solidFill>
                <a:effectLst>
                  <a:outerShdw blurRad="38100" dist="38100" dir="2700000" algn="tl">
                    <a:srgbClr val="000000">
                      <a:alpha val="43137"/>
                    </a:srgbClr>
                  </a:outerShdw>
                </a:effectLst>
              </a:defRPr>
            </a:lvl1pPr>
          </a:lstStyle>
          <a:p>
            <a:pPr>
              <a:defRPr/>
            </a:pPr>
            <a:fld id="{693CB600-8F0F-4416-A51F-98A2E1F5E498}" type="slidenum">
              <a:rPr lang="zh-CN" altLang="en-US"/>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Rectangle 14"/>
          <p:cNvSpPr>
            <a:spLocks noChangeArrowheads="1"/>
          </p:cNvSpPr>
          <p:nvPr/>
        </p:nvSpPr>
        <p:spPr bwMode="auto">
          <a:xfrm>
            <a:off x="0" y="6572250"/>
            <a:ext cx="12192000" cy="285750"/>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endParaRPr lang="zh-CN" altLang="en-US">
              <a:latin typeface="Calibri" panose="020F0502020204030204" pitchFamily="34" charset="0"/>
            </a:endParaRPr>
          </a:p>
        </p:txBody>
      </p:sp>
      <p:sp>
        <p:nvSpPr>
          <p:cNvPr id="4" name="Rectangle 13"/>
          <p:cNvSpPr>
            <a:spLocks noChangeArrowheads="1"/>
          </p:cNvSpPr>
          <p:nvPr/>
        </p:nvSpPr>
        <p:spPr bwMode="auto">
          <a:xfrm>
            <a:off x="0" y="0"/>
            <a:ext cx="12192000" cy="260350"/>
          </a:xfrm>
          <a:prstGeom prst="rect">
            <a:avLst/>
          </a:prstGeom>
          <a:solidFill>
            <a:srgbClr val="61759B"/>
          </a:solidFill>
          <a:ln w="9525">
            <a:solidFill>
              <a:srgbClr val="002060"/>
            </a:solidFill>
            <a:miter lim="800000"/>
          </a:ln>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endParaRPr lang="zh-CN" altLang="en-US">
              <a:latin typeface="Calibri" panose="020F0502020204030204" pitchFamily="34" charset="0"/>
            </a:endParaRPr>
          </a:p>
        </p:txBody>
      </p:sp>
      <p:sp>
        <p:nvSpPr>
          <p:cNvPr id="5" name="Text Box 17"/>
          <p:cNvSpPr txBox="1">
            <a:spLocks noChangeArrowheads="1"/>
          </p:cNvSpPr>
          <p:nvPr/>
        </p:nvSpPr>
        <p:spPr bwMode="auto">
          <a:xfrm>
            <a:off x="6667501" y="1"/>
            <a:ext cx="5524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defRPr/>
            </a:pPr>
            <a:r>
              <a:rPr lang="en-US" altLang="zh-CN" sz="1400" b="1">
                <a:solidFill>
                  <a:schemeClr val="bg1"/>
                </a:solidFill>
                <a:latin typeface="Times New Roman" panose="02020603050405020304" pitchFamily="18" charset="0"/>
              </a:rPr>
              <a:t>Lab of Wideband Wireless Communication Systems</a:t>
            </a:r>
            <a:endParaRPr lang="en-US" altLang="zh-CN" sz="1400" b="1">
              <a:solidFill>
                <a:schemeClr val="bg1"/>
              </a:solidFill>
              <a:latin typeface="Times New Roman" panose="02020603050405020304" pitchFamily="18" charset="0"/>
            </a:endParaRPr>
          </a:p>
        </p:txBody>
      </p:sp>
      <p:sp>
        <p:nvSpPr>
          <p:cNvPr id="6" name="Text Box 14"/>
          <p:cNvSpPr txBox="1">
            <a:spLocks noChangeArrowheads="1"/>
          </p:cNvSpPr>
          <p:nvPr/>
        </p:nvSpPr>
        <p:spPr bwMode="auto">
          <a:xfrm>
            <a:off x="1107018" y="6550026"/>
            <a:ext cx="2288116" cy="307975"/>
          </a:xfrm>
          <a:prstGeom prst="rect">
            <a:avLst/>
          </a:prstGeom>
          <a:noFill/>
          <a:ln w="9525" algn="ctr">
            <a:noFill/>
            <a:miter lim="800000"/>
          </a:ln>
          <a:effectLst/>
        </p:spPr>
        <p:txBody>
          <a:bodyPr>
            <a:spAutoFit/>
          </a:bodyPr>
          <a:lstStyle/>
          <a:p>
            <a:pPr fontAlgn="auto">
              <a:spcBef>
                <a:spcPct val="50000"/>
              </a:spcBef>
              <a:spcAft>
                <a:spcPts val="0"/>
              </a:spcAft>
              <a:defRPr/>
            </a:pPr>
            <a:r>
              <a:rPr lang="en-US" altLang="zh-CN" sz="1400" dirty="0">
                <a:effectLst>
                  <a:outerShdw blurRad="38100" dist="38100" dir="2700000" algn="tl">
                    <a:srgbClr val="C0C0C0"/>
                  </a:outerShdw>
                </a:effectLst>
                <a:latin typeface="Times New Roman" panose="02020603050405020304" pitchFamily="18" charset="0"/>
                <a:ea typeface="楷体_GB2312" pitchFamily="49" charset="-122"/>
              </a:rPr>
              <a:t>Xiamen University</a:t>
            </a:r>
            <a:endParaRPr lang="en-US" altLang="zh-CN" sz="1400" dirty="0">
              <a:effectLst>
                <a:outerShdw blurRad="38100" dist="38100" dir="2700000" algn="tl">
                  <a:srgbClr val="C0C0C0"/>
                </a:outerShdw>
              </a:effectLst>
              <a:latin typeface="Times New Roman" panose="02020603050405020304" pitchFamily="18" charset="0"/>
              <a:ea typeface="楷体_GB2312" pitchFamily="49" charset="-122"/>
            </a:endParaRPr>
          </a:p>
        </p:txBody>
      </p:sp>
      <p:pic>
        <p:nvPicPr>
          <p:cNvPr id="7"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034" y="6143626"/>
            <a:ext cx="96096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3" descr="BF7XE10PE~I2Z85CQ684U8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967" y="6224589"/>
            <a:ext cx="1775884"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9" name="灯片编号占位符 5"/>
          <p:cNvSpPr>
            <a:spLocks noGrp="1"/>
          </p:cNvSpPr>
          <p:nvPr>
            <p:ph type="sldNum" sz="quarter" idx="10"/>
          </p:nvPr>
        </p:nvSpPr>
        <p:spPr>
          <a:xfrm>
            <a:off x="8667751" y="6492876"/>
            <a:ext cx="2844800" cy="365125"/>
          </a:xfrm>
        </p:spPr>
        <p:txBody>
          <a:bodyPr/>
          <a:lstStyle>
            <a:lvl1pPr>
              <a:defRPr sz="1400" baseline="0">
                <a:solidFill>
                  <a:schemeClr val="bg1"/>
                </a:solidFill>
                <a:effectLst>
                  <a:outerShdw blurRad="38100" dist="38100" dir="2700000" algn="tl">
                    <a:srgbClr val="000000">
                      <a:alpha val="43137"/>
                    </a:srgbClr>
                  </a:outerShdw>
                </a:effectLst>
              </a:defRPr>
            </a:lvl1pPr>
          </a:lstStyle>
          <a:p>
            <a:pPr>
              <a:defRPr/>
            </a:pPr>
            <a:fld id="{C48DED24-5780-4567-8B58-4A9EBA7B13BB}" type="slidenum">
              <a:rPr lang="zh-CN" altLang="en-US"/>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4"/>
          <p:cNvSpPr>
            <a:spLocks noChangeArrowheads="1"/>
          </p:cNvSpPr>
          <p:nvPr/>
        </p:nvSpPr>
        <p:spPr bwMode="auto">
          <a:xfrm>
            <a:off x="0" y="6572250"/>
            <a:ext cx="12192000" cy="285750"/>
          </a:xfrm>
          <a:prstGeom prst="rect">
            <a:avLst/>
          </a:prstGeom>
          <a:solidFill>
            <a:srgbClr val="99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endParaRPr lang="zh-CN" altLang="en-US">
              <a:latin typeface="Calibri" panose="020F0502020204030204" pitchFamily="34" charset="0"/>
            </a:endParaRPr>
          </a:p>
        </p:txBody>
      </p:sp>
      <p:sp>
        <p:nvSpPr>
          <p:cNvPr id="3" name="Rectangle 13"/>
          <p:cNvSpPr>
            <a:spLocks noChangeArrowheads="1"/>
          </p:cNvSpPr>
          <p:nvPr/>
        </p:nvSpPr>
        <p:spPr bwMode="auto">
          <a:xfrm>
            <a:off x="0" y="0"/>
            <a:ext cx="12192000" cy="260350"/>
          </a:xfrm>
          <a:prstGeom prst="rect">
            <a:avLst/>
          </a:prstGeom>
          <a:solidFill>
            <a:srgbClr val="61759B"/>
          </a:solidFill>
          <a:ln w="9525">
            <a:solidFill>
              <a:srgbClr val="002060"/>
            </a:solidFill>
            <a:miter lim="800000"/>
          </a:ln>
        </p:spPr>
        <p:txBody>
          <a:bodyPr wrap="none"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endParaRPr lang="zh-CN" altLang="en-US">
              <a:latin typeface="Calibri" panose="020F0502020204030204" pitchFamily="34" charset="0"/>
            </a:endParaRPr>
          </a:p>
        </p:txBody>
      </p:sp>
      <p:sp>
        <p:nvSpPr>
          <p:cNvPr id="4" name="Text Box 17"/>
          <p:cNvSpPr txBox="1">
            <a:spLocks noChangeArrowheads="1"/>
          </p:cNvSpPr>
          <p:nvPr/>
        </p:nvSpPr>
        <p:spPr bwMode="auto">
          <a:xfrm>
            <a:off x="6667501" y="1"/>
            <a:ext cx="5524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defRPr/>
            </a:pPr>
            <a:r>
              <a:rPr lang="en-US" altLang="zh-CN" sz="1400" b="1">
                <a:solidFill>
                  <a:schemeClr val="bg1"/>
                </a:solidFill>
                <a:latin typeface="Times New Roman" panose="02020603050405020304" pitchFamily="18" charset="0"/>
              </a:rPr>
              <a:t>Lab of Wideband Wireless Communication Systems</a:t>
            </a:r>
            <a:endParaRPr lang="en-US" altLang="zh-CN" sz="1400" b="1">
              <a:solidFill>
                <a:schemeClr val="bg1"/>
              </a:solidFill>
              <a:latin typeface="Times New Roman" panose="02020603050405020304" pitchFamily="18" charset="0"/>
            </a:endParaRPr>
          </a:p>
        </p:txBody>
      </p:sp>
      <p:sp>
        <p:nvSpPr>
          <p:cNvPr id="5" name="Text Box 14"/>
          <p:cNvSpPr txBox="1">
            <a:spLocks noChangeArrowheads="1"/>
          </p:cNvSpPr>
          <p:nvPr/>
        </p:nvSpPr>
        <p:spPr bwMode="auto">
          <a:xfrm>
            <a:off x="1107018" y="6550026"/>
            <a:ext cx="2288116" cy="307975"/>
          </a:xfrm>
          <a:prstGeom prst="rect">
            <a:avLst/>
          </a:prstGeom>
          <a:noFill/>
          <a:ln w="9525" algn="ctr">
            <a:noFill/>
            <a:miter lim="800000"/>
          </a:ln>
          <a:effectLst/>
        </p:spPr>
        <p:txBody>
          <a:bodyPr>
            <a:spAutoFit/>
          </a:bodyPr>
          <a:lstStyle/>
          <a:p>
            <a:pPr fontAlgn="auto">
              <a:spcBef>
                <a:spcPct val="50000"/>
              </a:spcBef>
              <a:spcAft>
                <a:spcPts val="0"/>
              </a:spcAft>
              <a:defRPr/>
            </a:pPr>
            <a:r>
              <a:rPr lang="en-US" altLang="zh-CN" sz="1400" dirty="0">
                <a:effectLst>
                  <a:outerShdw blurRad="38100" dist="38100" dir="2700000" algn="tl">
                    <a:srgbClr val="C0C0C0"/>
                  </a:outerShdw>
                </a:effectLst>
                <a:latin typeface="Times New Roman" panose="02020603050405020304" pitchFamily="18" charset="0"/>
                <a:ea typeface="楷体_GB2312" pitchFamily="49" charset="-122"/>
              </a:rPr>
              <a:t>Xiamen University</a:t>
            </a:r>
            <a:endParaRPr lang="en-US" altLang="zh-CN" sz="1400" dirty="0">
              <a:effectLst>
                <a:outerShdw blurRad="38100" dist="38100" dir="2700000" algn="tl">
                  <a:srgbClr val="C0C0C0"/>
                </a:outerShdw>
              </a:effectLst>
              <a:latin typeface="Times New Roman" panose="02020603050405020304" pitchFamily="18" charset="0"/>
              <a:ea typeface="楷体_GB2312" pitchFamily="49" charset="-122"/>
            </a:endParaRPr>
          </a:p>
        </p:txBody>
      </p:sp>
      <p:pic>
        <p:nvPicPr>
          <p:cNvPr id="6"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034" y="6143626"/>
            <a:ext cx="96096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3" descr="BF7XE10PE~I2Z85CQ684U8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967" y="6224589"/>
            <a:ext cx="1775884"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5"/>
          <p:cNvSpPr>
            <a:spLocks noGrp="1"/>
          </p:cNvSpPr>
          <p:nvPr>
            <p:ph type="sldNum" sz="quarter" idx="10"/>
          </p:nvPr>
        </p:nvSpPr>
        <p:spPr>
          <a:xfrm>
            <a:off x="8667751" y="6572250"/>
            <a:ext cx="2844800" cy="285750"/>
          </a:xfrm>
        </p:spPr>
        <p:txBody>
          <a:bodyPr/>
          <a:lstStyle>
            <a:lvl1pPr>
              <a:defRPr sz="1400" baseline="0">
                <a:solidFill>
                  <a:schemeClr val="bg1"/>
                </a:solidFill>
                <a:effectLst>
                  <a:outerShdw blurRad="38100" dist="38100" dir="2700000" algn="tl">
                    <a:srgbClr val="000000">
                      <a:alpha val="43137"/>
                    </a:srgbClr>
                  </a:outerShdw>
                </a:effectLst>
              </a:defRPr>
            </a:lvl1pPr>
          </a:lstStyle>
          <a:p>
            <a:pPr>
              <a:defRPr/>
            </a:pPr>
            <a:fld id="{221A0227-1B7D-42D7-8928-6CB5186FCCA2}" type="slidenum">
              <a:rPr lang="zh-CN" altLang="en-US"/>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4417" y="119697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212417" y="119697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51900" y="274638"/>
            <a:ext cx="2745317" cy="54483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1" y="274638"/>
            <a:ext cx="8039100" cy="54483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24417" y="1196976"/>
            <a:ext cx="10972800" cy="4525963"/>
          </a:xfrm>
        </p:spPr>
        <p:txBody>
          <a:bodyPr/>
          <a:lstStyle/>
          <a:p>
            <a:pPr lvl="0"/>
            <a:endParaRPr lang="zh-CN" altLang="en-US"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1" y="274638"/>
            <a:ext cx="10987617" cy="54483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24417" y="1196976"/>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212417" y="1196976"/>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5" Type="http://schemas.openxmlformats.org/officeDocument/2006/relationships/theme" Target="../theme/theme2.xml"/><Relationship Id="rId14" Type="http://schemas.openxmlformats.org/officeDocument/2006/relationships/slideLayout" Target="../slideLayouts/slideLayout18.xml"/><Relationship Id="rId13" Type="http://schemas.openxmlformats.org/officeDocument/2006/relationships/slideLayout" Target="../slideLayouts/slideLayout17.xml"/><Relationship Id="rId12" Type="http://schemas.openxmlformats.org/officeDocument/2006/relationships/slideLayout" Target="../slideLayouts/slideLayout16.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lstStyle>
            <a:lvl1pPr>
              <a:defRPr sz="1200">
                <a:solidFill>
                  <a:srgbClr val="898989"/>
                </a:solidFill>
                <a:latin typeface="Calibri" panose="020F0502020204030204" pitchFamily="34" charset="0"/>
              </a:defRPr>
            </a:lvl1pPr>
          </a:lstStyle>
          <a:p>
            <a:pPr>
              <a:defRPr/>
            </a:pPr>
            <a:endParaRPr lang="en-US" altLang="zh-CN"/>
          </a:p>
        </p:txBody>
      </p:sp>
      <p:sp>
        <p:nvSpPr>
          <p:cNvPr id="5" name="页脚占位符 4"/>
          <p:cNvSpPr>
            <a:spLocks noGrp="1"/>
          </p:cNvSpPr>
          <p:nvPr>
            <p:ph type="ftr" sz="quarter" idx="3"/>
          </p:nvPr>
        </p:nvSpPr>
        <p:spPr>
          <a:xfrm>
            <a:off x="4165600" y="6356351"/>
            <a:ext cx="3860800" cy="365125"/>
          </a:xfrm>
          <a:prstGeom prst="rect">
            <a:avLst/>
          </a:prstGeom>
        </p:spPr>
        <p:txBody>
          <a:bodyPr vert="horz" wrap="square" lIns="91440" tIns="45720" rIns="91440" bIns="45720" numCol="1" anchor="ctr" anchorCtr="0" compatLnSpc="1"/>
          <a:lstStyle>
            <a:lvl1pPr algn="ctr">
              <a:defRPr sz="1200">
                <a:solidFill>
                  <a:srgbClr val="898989"/>
                </a:solidFill>
                <a:latin typeface="Calibri" panose="020F0502020204030204" pitchFamily="34" charset="0"/>
              </a:defRPr>
            </a:lvl1pPr>
          </a:lstStyle>
          <a:p>
            <a:pPr>
              <a:defRPr/>
            </a:pPr>
            <a:r>
              <a:rPr lang="en-US" altLang="zh-CN"/>
              <a:t>1</a:t>
            </a:r>
            <a:endParaRPr lang="en-US" altLang="zh-CN"/>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5A33D0C3-2A4F-4084-9220-D61799C54FE7}"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ea typeface="宋体" pitchFamily="2" charset="-122"/>
        </a:defRPr>
      </a:lvl6pPr>
      <a:lvl7pPr marL="914400" algn="ctr" rtl="0" eaLnBrk="1" fontAlgn="base" hangingPunct="1">
        <a:spcBef>
          <a:spcPct val="0"/>
        </a:spcBef>
        <a:spcAft>
          <a:spcPct val="0"/>
        </a:spcAft>
        <a:defRPr sz="4400">
          <a:solidFill>
            <a:schemeClr val="tx1"/>
          </a:solidFill>
          <a:latin typeface="Calibri" panose="020F0502020204030204" pitchFamily="34" charset="0"/>
          <a:ea typeface="宋体" pitchFamily="2" charset="-122"/>
        </a:defRPr>
      </a:lvl7pPr>
      <a:lvl8pPr marL="1371600" algn="ctr" rtl="0" eaLnBrk="1" fontAlgn="base" hangingPunct="1">
        <a:spcBef>
          <a:spcPct val="0"/>
        </a:spcBef>
        <a:spcAft>
          <a:spcPct val="0"/>
        </a:spcAft>
        <a:defRPr sz="4400">
          <a:solidFill>
            <a:schemeClr val="tx1"/>
          </a:solidFill>
          <a:latin typeface="Calibri" panose="020F0502020204030204" pitchFamily="34" charset="0"/>
          <a:ea typeface="宋体" pitchFamily="2" charset="-122"/>
        </a:defRPr>
      </a:lvl8pPr>
      <a:lvl9pPr marL="1828800" algn="ctr" rtl="0" eaLnBrk="1" fontAlgn="base" hangingPunct="1">
        <a:spcBef>
          <a:spcPct val="0"/>
        </a:spcBef>
        <a:spcAft>
          <a:spcPct val="0"/>
        </a:spcAft>
        <a:defRPr sz="4400">
          <a:solidFill>
            <a:schemeClr val="tx1"/>
          </a:solidFill>
          <a:latin typeface="Calibri" panose="020F0502020204030204"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9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9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9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标题占位符 1"/>
          <p:cNvSpPr>
            <a:spLocks noGrp="1"/>
          </p:cNvSpPr>
          <p:nvPr>
            <p:ph type="title"/>
          </p:nvPr>
        </p:nvSpPr>
        <p:spPr bwMode="auto">
          <a:xfrm>
            <a:off x="609600" y="629816"/>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056" name="文本占位符 2"/>
          <p:cNvSpPr>
            <a:spLocks noGrp="1"/>
          </p:cNvSpPr>
          <p:nvPr>
            <p:ph type="body" idx="1"/>
          </p:nvPr>
        </p:nvSpPr>
        <p:spPr bwMode="auto">
          <a:xfrm>
            <a:off x="624417" y="1196976"/>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Lst>
  <p:hf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9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90204" pitchFamily="34"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90204" pitchFamily="34"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0.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2" Type="http://schemas.openxmlformats.org/officeDocument/2006/relationships/notesSlide" Target="../notesSlides/notesSlide2.xml"/><Relationship Id="rId51" Type="http://schemas.openxmlformats.org/officeDocument/2006/relationships/slideLayout" Target="../slideLayouts/slideLayout10.xml"/><Relationship Id="rId50" Type="http://schemas.openxmlformats.org/officeDocument/2006/relationships/tags" Target="../tags/tag51.xml"/><Relationship Id="rId5" Type="http://schemas.openxmlformats.org/officeDocument/2006/relationships/tags" Target="../tags/tag6.xml"/><Relationship Id="rId49" Type="http://schemas.openxmlformats.org/officeDocument/2006/relationships/tags" Target="../tags/tag50.xml"/><Relationship Id="rId48" Type="http://schemas.openxmlformats.org/officeDocument/2006/relationships/tags" Target="../tags/tag49.xml"/><Relationship Id="rId47" Type="http://schemas.openxmlformats.org/officeDocument/2006/relationships/tags" Target="../tags/tag48.xml"/><Relationship Id="rId46" Type="http://schemas.openxmlformats.org/officeDocument/2006/relationships/tags" Target="../tags/tag47.xml"/><Relationship Id="rId45" Type="http://schemas.openxmlformats.org/officeDocument/2006/relationships/tags" Target="../tags/tag46.xml"/><Relationship Id="rId44" Type="http://schemas.openxmlformats.org/officeDocument/2006/relationships/tags" Target="../tags/tag45.xml"/><Relationship Id="rId43" Type="http://schemas.openxmlformats.org/officeDocument/2006/relationships/tags" Target="../tags/tag44.xml"/><Relationship Id="rId42" Type="http://schemas.openxmlformats.org/officeDocument/2006/relationships/tags" Target="../tags/tag43.xml"/><Relationship Id="rId41" Type="http://schemas.openxmlformats.org/officeDocument/2006/relationships/tags" Target="../tags/tag42.xml"/><Relationship Id="rId40" Type="http://schemas.openxmlformats.org/officeDocument/2006/relationships/tags" Target="../tags/tag41.xml"/><Relationship Id="rId4" Type="http://schemas.openxmlformats.org/officeDocument/2006/relationships/tags" Target="../tags/tag5.xml"/><Relationship Id="rId39" Type="http://schemas.openxmlformats.org/officeDocument/2006/relationships/tags" Target="../tags/tag40.xml"/><Relationship Id="rId38" Type="http://schemas.openxmlformats.org/officeDocument/2006/relationships/tags" Target="../tags/tag39.xml"/><Relationship Id="rId37" Type="http://schemas.openxmlformats.org/officeDocument/2006/relationships/tags" Target="../tags/tag38.xml"/><Relationship Id="rId36" Type="http://schemas.openxmlformats.org/officeDocument/2006/relationships/tags" Target="../tags/tag37.xml"/><Relationship Id="rId35" Type="http://schemas.openxmlformats.org/officeDocument/2006/relationships/tags" Target="../tags/tag36.xml"/><Relationship Id="rId34" Type="http://schemas.openxmlformats.org/officeDocument/2006/relationships/tags" Target="../tags/tag35.xml"/><Relationship Id="rId33" Type="http://schemas.openxmlformats.org/officeDocument/2006/relationships/tags" Target="../tags/tag34.xml"/><Relationship Id="rId32" Type="http://schemas.openxmlformats.org/officeDocument/2006/relationships/tags" Target="../tags/tag33.xml"/><Relationship Id="rId31" Type="http://schemas.openxmlformats.org/officeDocument/2006/relationships/tags" Target="../tags/tag32.xml"/><Relationship Id="rId30" Type="http://schemas.openxmlformats.org/officeDocument/2006/relationships/tags" Target="../tags/tag31.xml"/><Relationship Id="rId3" Type="http://schemas.openxmlformats.org/officeDocument/2006/relationships/tags" Target="../tags/tag4.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image" Target="../media/image5.emf"/><Relationship Id="rId6" Type="http://schemas.openxmlformats.org/officeDocument/2006/relationships/oleObject" Target="../embeddings/Document2.doc"/><Relationship Id="rId5" Type="http://schemas.openxmlformats.org/officeDocument/2006/relationships/tags" Target="../tags/tag53.xml"/><Relationship Id="rId4" Type="http://schemas.openxmlformats.org/officeDocument/2006/relationships/image" Target="../media/image4.emf"/><Relationship Id="rId3" Type="http://schemas.openxmlformats.org/officeDocument/2006/relationships/oleObject" Target="../embeddings/Document1.doc"/><Relationship Id="rId2" Type="http://schemas.openxmlformats.org/officeDocument/2006/relationships/tags" Target="../tags/tag52.xml"/><Relationship Id="rId12" Type="http://schemas.openxmlformats.org/officeDocument/2006/relationships/notesSlide" Target="../notesSlides/notesSlide3.xml"/><Relationship Id="rId11" Type="http://schemas.openxmlformats.org/officeDocument/2006/relationships/vmlDrawing" Target="../drawings/vmlDrawing1.vml"/><Relationship Id="rId10" Type="http://schemas.openxmlformats.org/officeDocument/2006/relationships/slideLayout" Target="../slideLayouts/slideLayout10.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image" Target="../media/image3.png"/><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0" Type="http://schemas.openxmlformats.org/officeDocument/2006/relationships/notesSlide" Target="../notesSlides/notesSlide4.xml"/><Relationship Id="rId3" Type="http://schemas.openxmlformats.org/officeDocument/2006/relationships/tags" Target="../tags/tag58.xml"/><Relationship Id="rId29" Type="http://schemas.openxmlformats.org/officeDocument/2006/relationships/slideLayout" Target="../slideLayouts/slideLayout10.xml"/><Relationship Id="rId28" Type="http://schemas.openxmlformats.org/officeDocument/2006/relationships/tags" Target="../tags/tag82.xml"/><Relationship Id="rId27" Type="http://schemas.openxmlformats.org/officeDocument/2006/relationships/tags" Target="../tags/tag81.xml"/><Relationship Id="rId26" Type="http://schemas.openxmlformats.org/officeDocument/2006/relationships/tags" Target="../tags/tag80.xml"/><Relationship Id="rId25" Type="http://schemas.openxmlformats.org/officeDocument/2006/relationships/tags" Target="../tags/tag79.xml"/><Relationship Id="rId24" Type="http://schemas.openxmlformats.org/officeDocument/2006/relationships/tags" Target="../tags/tag78.xml"/><Relationship Id="rId23" Type="http://schemas.openxmlformats.org/officeDocument/2006/relationships/tags" Target="../tags/tag77.xml"/><Relationship Id="rId22" Type="http://schemas.openxmlformats.org/officeDocument/2006/relationships/tags" Target="../tags/tag76.xml"/><Relationship Id="rId21" Type="http://schemas.openxmlformats.org/officeDocument/2006/relationships/tags" Target="../tags/tag75.xml"/><Relationship Id="rId20" Type="http://schemas.openxmlformats.org/officeDocument/2006/relationships/tags" Target="../tags/tag74.xml"/><Relationship Id="rId2" Type="http://schemas.openxmlformats.org/officeDocument/2006/relationships/tags" Target="../tags/tag57.xml"/><Relationship Id="rId19" Type="http://schemas.openxmlformats.org/officeDocument/2006/relationships/tags" Target="../tags/tag73.xml"/><Relationship Id="rId18" Type="http://schemas.openxmlformats.org/officeDocument/2006/relationships/tags" Target="../tags/tag72.xml"/><Relationship Id="rId17" Type="http://schemas.openxmlformats.org/officeDocument/2006/relationships/tags" Target="../tags/tag71.xml"/><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tags" Target="../tags/tag68.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6.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vmlDrawing" Target="../drawings/vmlDrawing2.vml"/><Relationship Id="rId6" Type="http://schemas.openxmlformats.org/officeDocument/2006/relationships/slideLayout" Target="../slideLayouts/slideLayout10.xml"/><Relationship Id="rId5" Type="http://schemas.openxmlformats.org/officeDocument/2006/relationships/image" Target="../media/image6.wmf"/><Relationship Id="rId4" Type="http://schemas.openxmlformats.org/officeDocument/2006/relationships/oleObject" Target="../embeddings/oleObject1.bin"/><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0.xml"/><Relationship Id="rId6" Type="http://schemas.openxmlformats.org/officeDocument/2006/relationships/image" Target="../media/image8.png"/><Relationship Id="rId5" Type="http://schemas.openxmlformats.org/officeDocument/2006/relationships/tags" Target="../tags/tag87.xml"/><Relationship Id="rId4" Type="http://schemas.openxmlformats.org/officeDocument/2006/relationships/image" Target="../media/image7.emf"/><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3.bin"/><Relationship Id="rId8" Type="http://schemas.openxmlformats.org/officeDocument/2006/relationships/tags" Target="../tags/tag92.xml"/><Relationship Id="rId7" Type="http://schemas.openxmlformats.org/officeDocument/2006/relationships/image" Target="../media/image9.wmf"/><Relationship Id="rId6" Type="http://schemas.openxmlformats.org/officeDocument/2006/relationships/oleObject" Target="../embeddings/oleObject2.bin"/><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9" Type="http://schemas.openxmlformats.org/officeDocument/2006/relationships/notesSlide" Target="../notesSlides/notesSlide7.xml"/><Relationship Id="rId18" Type="http://schemas.openxmlformats.org/officeDocument/2006/relationships/vmlDrawing" Target="../drawings/vmlDrawing3.vml"/><Relationship Id="rId17" Type="http://schemas.openxmlformats.org/officeDocument/2006/relationships/slideLayout" Target="../slideLayouts/slideLayout10.xml"/><Relationship Id="rId16" Type="http://schemas.openxmlformats.org/officeDocument/2006/relationships/image" Target="../media/image12.wmf"/><Relationship Id="rId15" Type="http://schemas.openxmlformats.org/officeDocument/2006/relationships/oleObject" Target="../embeddings/oleObject5.bin"/><Relationship Id="rId14" Type="http://schemas.openxmlformats.org/officeDocument/2006/relationships/tags" Target="../tags/tag94.xml"/><Relationship Id="rId13" Type="http://schemas.openxmlformats.org/officeDocument/2006/relationships/image" Target="../media/image11.wmf"/><Relationship Id="rId12" Type="http://schemas.openxmlformats.org/officeDocument/2006/relationships/oleObject" Target="../embeddings/oleObject4.bin"/><Relationship Id="rId11" Type="http://schemas.openxmlformats.org/officeDocument/2006/relationships/tags" Target="../tags/tag93.xml"/><Relationship Id="rId10" Type="http://schemas.openxmlformats.org/officeDocument/2006/relationships/image" Target="../media/image10.wmf"/><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tags" Target="../tags/tag99.xml"/><Relationship Id="rId7" Type="http://schemas.openxmlformats.org/officeDocument/2006/relationships/image" Target="../media/image13.wmf"/><Relationship Id="rId6" Type="http://schemas.openxmlformats.org/officeDocument/2006/relationships/oleObject" Target="../embeddings/oleObject6.bin"/><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3" Type="http://schemas.openxmlformats.org/officeDocument/2006/relationships/notesSlide" Target="../notesSlides/notesSlide8.xml"/><Relationship Id="rId12" Type="http://schemas.openxmlformats.org/officeDocument/2006/relationships/vmlDrawing" Target="../drawings/vmlDrawing4.vml"/><Relationship Id="rId11" Type="http://schemas.openxmlformats.org/officeDocument/2006/relationships/slideLayout" Target="../slideLayouts/slideLayout10.xml"/><Relationship Id="rId10" Type="http://schemas.openxmlformats.org/officeDocument/2006/relationships/image" Target="../media/image14.wmf"/><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vmlDrawing" Target="../drawings/vmlDrawing5.vml"/><Relationship Id="rId6" Type="http://schemas.openxmlformats.org/officeDocument/2006/relationships/slideLayout" Target="../slideLayouts/slideLayout10.xml"/><Relationship Id="rId5" Type="http://schemas.openxmlformats.org/officeDocument/2006/relationships/tags" Target="../tags/tag101.xml"/><Relationship Id="rId4" Type="http://schemas.openxmlformats.org/officeDocument/2006/relationships/image" Target="../media/image15.emf"/><Relationship Id="rId3" Type="http://schemas.openxmlformats.org/officeDocument/2006/relationships/oleObject" Target="../embeddings/oleObject8.bin"/><Relationship Id="rId2" Type="http://schemas.openxmlformats.org/officeDocument/2006/relationships/tags" Target="../tags/tag100.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image" Target="../media/image17.wmf"/><Relationship Id="rId7" Type="http://schemas.openxmlformats.org/officeDocument/2006/relationships/oleObject" Target="../embeddings/oleObject10.bin"/><Relationship Id="rId6" Type="http://schemas.openxmlformats.org/officeDocument/2006/relationships/tags" Target="../tags/tag104.xml"/><Relationship Id="rId5" Type="http://schemas.openxmlformats.org/officeDocument/2006/relationships/image" Target="../media/image16.wmf"/><Relationship Id="rId4" Type="http://schemas.openxmlformats.org/officeDocument/2006/relationships/oleObject" Target="../embeddings/oleObject9.bin"/><Relationship Id="rId3" Type="http://schemas.openxmlformats.org/officeDocument/2006/relationships/tags" Target="../tags/tag103.xml"/><Relationship Id="rId27" Type="http://schemas.openxmlformats.org/officeDocument/2006/relationships/notesSlide" Target="../notesSlides/notesSlide10.xml"/><Relationship Id="rId26" Type="http://schemas.openxmlformats.org/officeDocument/2006/relationships/vmlDrawing" Target="../drawings/vmlDrawing6.vml"/><Relationship Id="rId25" Type="http://schemas.openxmlformats.org/officeDocument/2006/relationships/slideLayout" Target="../slideLayouts/slideLayout10.xml"/><Relationship Id="rId24" Type="http://schemas.openxmlformats.org/officeDocument/2006/relationships/image" Target="../media/image22.wmf"/><Relationship Id="rId23" Type="http://schemas.openxmlformats.org/officeDocument/2006/relationships/oleObject" Target="../embeddings/oleObject12.bin"/><Relationship Id="rId22" Type="http://schemas.openxmlformats.org/officeDocument/2006/relationships/tags" Target="../tags/tag113.xml"/><Relationship Id="rId21" Type="http://schemas.openxmlformats.org/officeDocument/2006/relationships/tags" Target="../tags/tag112.xml"/><Relationship Id="rId20" Type="http://schemas.openxmlformats.org/officeDocument/2006/relationships/tags" Target="../tags/tag111.xml"/><Relationship Id="rId2" Type="http://schemas.openxmlformats.org/officeDocument/2006/relationships/tags" Target="../tags/tag102.xml"/><Relationship Id="rId19" Type="http://schemas.openxmlformats.org/officeDocument/2006/relationships/tags" Target="../tags/tag110.xml"/><Relationship Id="rId18" Type="http://schemas.openxmlformats.org/officeDocument/2006/relationships/image" Target="../media/image21.wmf"/><Relationship Id="rId17" Type="http://schemas.openxmlformats.org/officeDocument/2006/relationships/oleObject" Target="../embeddings/oleObject11.bin"/><Relationship Id="rId16" Type="http://schemas.openxmlformats.org/officeDocument/2006/relationships/tags" Target="../tags/tag109.xml"/><Relationship Id="rId15" Type="http://schemas.openxmlformats.org/officeDocument/2006/relationships/tags" Target="../tags/tag108.xml"/><Relationship Id="rId14" Type="http://schemas.openxmlformats.org/officeDocument/2006/relationships/image" Target="../media/image20.emf"/><Relationship Id="rId13" Type="http://schemas.openxmlformats.org/officeDocument/2006/relationships/tags" Target="../tags/tag107.xml"/><Relationship Id="rId12" Type="http://schemas.openxmlformats.org/officeDocument/2006/relationships/image" Target="../media/image19.wmf"/><Relationship Id="rId11" Type="http://schemas.openxmlformats.org/officeDocument/2006/relationships/tags" Target="../tags/tag106.xml"/><Relationship Id="rId10" Type="http://schemas.openxmlformats.org/officeDocument/2006/relationships/image" Target="../media/image18.wmf"/><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4" Type="http://schemas.openxmlformats.org/officeDocument/2006/relationships/notesSlide" Target="../notesSlides/notesSlide11.xml"/><Relationship Id="rId13" Type="http://schemas.openxmlformats.org/officeDocument/2006/relationships/slideLayout" Target="../slideLayouts/slideLayout10.xml"/><Relationship Id="rId12" Type="http://schemas.openxmlformats.org/officeDocument/2006/relationships/tags" Target="../tags/tag124.xml"/><Relationship Id="rId11" Type="http://schemas.openxmlformats.org/officeDocument/2006/relationships/tags" Target="../tags/tag123.xml"/><Relationship Id="rId10" Type="http://schemas.openxmlformats.org/officeDocument/2006/relationships/tags" Target="../tags/tag12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image" Target="../media/image23.wmf"/><Relationship Id="rId5" Type="http://schemas.openxmlformats.org/officeDocument/2006/relationships/oleObject" Target="../embeddings/oleObject13.bin"/><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4" Type="http://schemas.openxmlformats.org/officeDocument/2006/relationships/notesSlide" Target="../notesSlides/notesSlide12.xml"/><Relationship Id="rId13" Type="http://schemas.openxmlformats.org/officeDocument/2006/relationships/vmlDrawing" Target="../drawings/vmlDrawing7.vml"/><Relationship Id="rId12" Type="http://schemas.openxmlformats.org/officeDocument/2006/relationships/slideLayout" Target="../slideLayouts/slideLayout10.xml"/><Relationship Id="rId11" Type="http://schemas.openxmlformats.org/officeDocument/2006/relationships/image" Target="../media/image24.wmf"/><Relationship Id="rId10" Type="http://schemas.openxmlformats.org/officeDocument/2006/relationships/oleObject" Target="../embeddings/oleObject14.bin"/><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17.bin"/><Relationship Id="rId8" Type="http://schemas.openxmlformats.org/officeDocument/2006/relationships/tags" Target="../tags/tag133.xml"/><Relationship Id="rId7" Type="http://schemas.openxmlformats.org/officeDocument/2006/relationships/image" Target="../media/image26.wmf"/><Relationship Id="rId6" Type="http://schemas.openxmlformats.org/officeDocument/2006/relationships/oleObject" Target="../embeddings/oleObject16.bin"/><Relationship Id="rId5" Type="http://schemas.openxmlformats.org/officeDocument/2006/relationships/tags" Target="../tags/tag132.xml"/><Relationship Id="rId4" Type="http://schemas.openxmlformats.org/officeDocument/2006/relationships/image" Target="../media/image25.wmf"/><Relationship Id="rId3" Type="http://schemas.openxmlformats.org/officeDocument/2006/relationships/oleObject" Target="../embeddings/oleObject15.bin"/><Relationship Id="rId2" Type="http://schemas.openxmlformats.org/officeDocument/2006/relationships/tags" Target="../tags/tag131.xml"/><Relationship Id="rId13" Type="http://schemas.openxmlformats.org/officeDocument/2006/relationships/notesSlide" Target="../notesSlides/notesSlide13.xml"/><Relationship Id="rId12" Type="http://schemas.openxmlformats.org/officeDocument/2006/relationships/vmlDrawing" Target="../drawings/vmlDrawing8.vml"/><Relationship Id="rId11" Type="http://schemas.openxmlformats.org/officeDocument/2006/relationships/slideLayout" Target="../slideLayouts/slideLayout10.xml"/><Relationship Id="rId10" Type="http://schemas.openxmlformats.org/officeDocument/2006/relationships/image" Target="../media/image27.wmf"/><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0.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0.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4" Type="http://schemas.openxmlformats.org/officeDocument/2006/relationships/notesSlide" Target="../notesSlides/notesSlide16.xml"/><Relationship Id="rId33" Type="http://schemas.openxmlformats.org/officeDocument/2006/relationships/slideLayout" Target="../slideLayouts/slideLayout10.xml"/><Relationship Id="rId32" Type="http://schemas.openxmlformats.org/officeDocument/2006/relationships/tags" Target="../tags/tag168.xml"/><Relationship Id="rId31" Type="http://schemas.openxmlformats.org/officeDocument/2006/relationships/tags" Target="../tags/tag167.xml"/><Relationship Id="rId30" Type="http://schemas.openxmlformats.org/officeDocument/2006/relationships/tags" Target="../tags/tag166.xml"/><Relationship Id="rId3" Type="http://schemas.openxmlformats.org/officeDocument/2006/relationships/tags" Target="../tags/tag139.xml"/><Relationship Id="rId29" Type="http://schemas.openxmlformats.org/officeDocument/2006/relationships/tags" Target="../tags/tag165.xml"/><Relationship Id="rId28" Type="http://schemas.openxmlformats.org/officeDocument/2006/relationships/tags" Target="../tags/tag164.xml"/><Relationship Id="rId27" Type="http://schemas.openxmlformats.org/officeDocument/2006/relationships/tags" Target="../tags/tag163.xml"/><Relationship Id="rId26" Type="http://schemas.openxmlformats.org/officeDocument/2006/relationships/tags" Target="../tags/tag162.xml"/><Relationship Id="rId25" Type="http://schemas.openxmlformats.org/officeDocument/2006/relationships/tags" Target="../tags/tag161.xml"/><Relationship Id="rId24" Type="http://schemas.openxmlformats.org/officeDocument/2006/relationships/tags" Target="../tags/tag160.xml"/><Relationship Id="rId23" Type="http://schemas.openxmlformats.org/officeDocument/2006/relationships/tags" Target="../tags/tag159.xml"/><Relationship Id="rId22" Type="http://schemas.openxmlformats.org/officeDocument/2006/relationships/tags" Target="../tags/tag158.xml"/><Relationship Id="rId21" Type="http://schemas.openxmlformats.org/officeDocument/2006/relationships/tags" Target="../tags/tag157.xml"/><Relationship Id="rId20" Type="http://schemas.openxmlformats.org/officeDocument/2006/relationships/tags" Target="../tags/tag156.xml"/><Relationship Id="rId2" Type="http://schemas.openxmlformats.org/officeDocument/2006/relationships/tags" Target="../tags/tag138.xml"/><Relationship Id="rId19" Type="http://schemas.openxmlformats.org/officeDocument/2006/relationships/tags" Target="../tags/tag155.xml"/><Relationship Id="rId18" Type="http://schemas.openxmlformats.org/officeDocument/2006/relationships/tags" Target="../tags/tag154.xml"/><Relationship Id="rId17" Type="http://schemas.openxmlformats.org/officeDocument/2006/relationships/tags" Target="../tags/tag153.xml"/><Relationship Id="rId16" Type="http://schemas.openxmlformats.org/officeDocument/2006/relationships/tags" Target="../tags/tag152.xml"/><Relationship Id="rId15" Type="http://schemas.openxmlformats.org/officeDocument/2006/relationships/tags" Target="../tags/tag151.xml"/><Relationship Id="rId14" Type="http://schemas.openxmlformats.org/officeDocument/2006/relationships/tags" Target="../tags/tag150.xml"/><Relationship Id="rId13" Type="http://schemas.openxmlformats.org/officeDocument/2006/relationships/tags" Target="../tags/tag149.xml"/><Relationship Id="rId12" Type="http://schemas.openxmlformats.org/officeDocument/2006/relationships/tags" Target="../tags/tag148.xml"/><Relationship Id="rId11" Type="http://schemas.openxmlformats.org/officeDocument/2006/relationships/tags" Target="../tags/tag147.xml"/><Relationship Id="rId10" Type="http://schemas.openxmlformats.org/officeDocument/2006/relationships/tags" Target="../tags/tag146.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tags" Target="../tags/tag172.xml"/><Relationship Id="rId7" Type="http://schemas.openxmlformats.org/officeDocument/2006/relationships/image" Target="../media/image30.wmf"/><Relationship Id="rId6" Type="http://schemas.openxmlformats.org/officeDocument/2006/relationships/tags" Target="../tags/tag171.xml"/><Relationship Id="rId5" Type="http://schemas.openxmlformats.org/officeDocument/2006/relationships/image" Target="../media/image29.wmf"/><Relationship Id="rId4" Type="http://schemas.openxmlformats.org/officeDocument/2006/relationships/tags" Target="../tags/tag170.xml"/><Relationship Id="rId3" Type="http://schemas.openxmlformats.org/officeDocument/2006/relationships/image" Target="../media/image28.wmf"/><Relationship Id="rId27" Type="http://schemas.openxmlformats.org/officeDocument/2006/relationships/notesSlide" Target="../notesSlides/notesSlide17.xml"/><Relationship Id="rId26" Type="http://schemas.openxmlformats.org/officeDocument/2006/relationships/slideLayout" Target="../slideLayouts/slideLayout10.xml"/><Relationship Id="rId25" Type="http://schemas.openxmlformats.org/officeDocument/2006/relationships/image" Target="../media/image34.png"/><Relationship Id="rId24" Type="http://schemas.openxmlformats.org/officeDocument/2006/relationships/image" Target="../media/image33.wmf"/><Relationship Id="rId23" Type="http://schemas.openxmlformats.org/officeDocument/2006/relationships/tags" Target="../tags/tag185.xml"/><Relationship Id="rId22" Type="http://schemas.openxmlformats.org/officeDocument/2006/relationships/tags" Target="../tags/tag184.xml"/><Relationship Id="rId21" Type="http://schemas.openxmlformats.org/officeDocument/2006/relationships/tags" Target="../tags/tag183.xml"/><Relationship Id="rId20" Type="http://schemas.openxmlformats.org/officeDocument/2006/relationships/tags" Target="../tags/tag182.xml"/><Relationship Id="rId2" Type="http://schemas.openxmlformats.org/officeDocument/2006/relationships/tags" Target="../tags/tag169.xml"/><Relationship Id="rId19" Type="http://schemas.openxmlformats.org/officeDocument/2006/relationships/image" Target="../media/image32.wmf"/><Relationship Id="rId18" Type="http://schemas.openxmlformats.org/officeDocument/2006/relationships/tags" Target="../tags/tag181.xml"/><Relationship Id="rId17" Type="http://schemas.openxmlformats.org/officeDocument/2006/relationships/image" Target="../media/image31.wmf"/><Relationship Id="rId16" Type="http://schemas.openxmlformats.org/officeDocument/2006/relationships/tags" Target="../tags/tag180.xml"/><Relationship Id="rId15" Type="http://schemas.openxmlformats.org/officeDocument/2006/relationships/tags" Target="../tags/tag179.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tags" Target="../tags/tag176.xml"/><Relationship Id="rId11" Type="http://schemas.openxmlformats.org/officeDocument/2006/relationships/tags" Target="../tags/tag175.xml"/><Relationship Id="rId10" Type="http://schemas.openxmlformats.org/officeDocument/2006/relationships/tags" Target="../tags/tag174.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tags" Target="../tags/tag191.xml"/><Relationship Id="rId7" Type="http://schemas.openxmlformats.org/officeDocument/2006/relationships/tags" Target="../tags/tag190.xml"/><Relationship Id="rId6" Type="http://schemas.openxmlformats.org/officeDocument/2006/relationships/image" Target="../media/image35.wmf"/><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7" Type="http://schemas.openxmlformats.org/officeDocument/2006/relationships/notesSlide" Target="../notesSlides/notesSlide18.xml"/><Relationship Id="rId26" Type="http://schemas.openxmlformats.org/officeDocument/2006/relationships/slideLayout" Target="../slideLayouts/slideLayout10.xml"/><Relationship Id="rId25" Type="http://schemas.openxmlformats.org/officeDocument/2006/relationships/tags" Target="../tags/tag204.xml"/><Relationship Id="rId24" Type="http://schemas.openxmlformats.org/officeDocument/2006/relationships/tags" Target="../tags/tag203.xml"/><Relationship Id="rId23" Type="http://schemas.openxmlformats.org/officeDocument/2006/relationships/image" Target="../media/image39.wmf"/><Relationship Id="rId22" Type="http://schemas.openxmlformats.org/officeDocument/2006/relationships/tags" Target="../tags/tag202.xml"/><Relationship Id="rId21" Type="http://schemas.openxmlformats.org/officeDocument/2006/relationships/image" Target="../media/image38.wmf"/><Relationship Id="rId20" Type="http://schemas.openxmlformats.org/officeDocument/2006/relationships/tags" Target="../tags/tag201.xml"/><Relationship Id="rId2" Type="http://schemas.openxmlformats.org/officeDocument/2006/relationships/tags" Target="../tags/tag186.xml"/><Relationship Id="rId19" Type="http://schemas.openxmlformats.org/officeDocument/2006/relationships/tags" Target="../tags/tag200.xml"/><Relationship Id="rId18" Type="http://schemas.openxmlformats.org/officeDocument/2006/relationships/tags" Target="../tags/tag199.xml"/><Relationship Id="rId17" Type="http://schemas.openxmlformats.org/officeDocument/2006/relationships/tags" Target="../tags/tag198.xml"/><Relationship Id="rId16" Type="http://schemas.openxmlformats.org/officeDocument/2006/relationships/tags" Target="../tags/tag197.xml"/><Relationship Id="rId15" Type="http://schemas.openxmlformats.org/officeDocument/2006/relationships/tags" Target="../tags/tag196.xml"/><Relationship Id="rId14" Type="http://schemas.openxmlformats.org/officeDocument/2006/relationships/tags" Target="../tags/tag195.xml"/><Relationship Id="rId13" Type="http://schemas.openxmlformats.org/officeDocument/2006/relationships/image" Target="../media/image37.wmf"/><Relationship Id="rId12" Type="http://schemas.openxmlformats.org/officeDocument/2006/relationships/tags" Target="../tags/tag194.xml"/><Relationship Id="rId11" Type="http://schemas.openxmlformats.org/officeDocument/2006/relationships/image" Target="../media/image36.wmf"/><Relationship Id="rId10" Type="http://schemas.openxmlformats.org/officeDocument/2006/relationships/tags" Target="../tags/tag193.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tags" Target="../tags/tag209.xml"/><Relationship Id="rId7" Type="http://schemas.openxmlformats.org/officeDocument/2006/relationships/image" Target="../media/image41.wmf"/><Relationship Id="rId6" Type="http://schemas.openxmlformats.org/officeDocument/2006/relationships/tags" Target="../tags/tag208.xml"/><Relationship Id="rId5" Type="http://schemas.openxmlformats.org/officeDocument/2006/relationships/image" Target="../media/image40.wmf"/><Relationship Id="rId4" Type="http://schemas.openxmlformats.org/officeDocument/2006/relationships/tags" Target="../tags/tag207.xml"/><Relationship Id="rId3" Type="http://schemas.openxmlformats.org/officeDocument/2006/relationships/tags" Target="../tags/tag206.xml"/><Relationship Id="rId26" Type="http://schemas.openxmlformats.org/officeDocument/2006/relationships/notesSlide" Target="../notesSlides/notesSlide19.xml"/><Relationship Id="rId25" Type="http://schemas.openxmlformats.org/officeDocument/2006/relationships/slideLayout" Target="../slideLayouts/slideLayout10.xml"/><Relationship Id="rId24" Type="http://schemas.openxmlformats.org/officeDocument/2006/relationships/image" Target="../media/image47.wmf"/><Relationship Id="rId23" Type="http://schemas.openxmlformats.org/officeDocument/2006/relationships/tags" Target="../tags/tag219.xml"/><Relationship Id="rId22" Type="http://schemas.openxmlformats.org/officeDocument/2006/relationships/image" Target="../media/image46.wmf"/><Relationship Id="rId21" Type="http://schemas.openxmlformats.org/officeDocument/2006/relationships/tags" Target="../tags/tag218.xml"/><Relationship Id="rId20" Type="http://schemas.openxmlformats.org/officeDocument/2006/relationships/image" Target="../media/image45.wmf"/><Relationship Id="rId2" Type="http://schemas.openxmlformats.org/officeDocument/2006/relationships/tags" Target="../tags/tag205.xml"/><Relationship Id="rId19" Type="http://schemas.openxmlformats.org/officeDocument/2006/relationships/tags" Target="../tags/tag217.xml"/><Relationship Id="rId18" Type="http://schemas.openxmlformats.org/officeDocument/2006/relationships/tags" Target="../tags/tag216.xml"/><Relationship Id="rId17" Type="http://schemas.openxmlformats.org/officeDocument/2006/relationships/tags" Target="../tags/tag215.xml"/><Relationship Id="rId16" Type="http://schemas.openxmlformats.org/officeDocument/2006/relationships/tags" Target="../tags/tag214.xml"/><Relationship Id="rId15" Type="http://schemas.openxmlformats.org/officeDocument/2006/relationships/tags" Target="../tags/tag213.xml"/><Relationship Id="rId14" Type="http://schemas.openxmlformats.org/officeDocument/2006/relationships/tags" Target="../tags/tag212.xml"/><Relationship Id="rId13" Type="http://schemas.openxmlformats.org/officeDocument/2006/relationships/image" Target="../media/image44.wmf"/><Relationship Id="rId12" Type="http://schemas.openxmlformats.org/officeDocument/2006/relationships/tags" Target="../tags/tag211.xml"/><Relationship Id="rId11" Type="http://schemas.openxmlformats.org/officeDocument/2006/relationships/image" Target="../media/image43.wmf"/><Relationship Id="rId10" Type="http://schemas.openxmlformats.org/officeDocument/2006/relationships/tags" Target="../tags/tag210.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9" Type="http://schemas.openxmlformats.org/officeDocument/2006/relationships/image" Target="../media/image50.wmf"/><Relationship Id="rId8" Type="http://schemas.openxmlformats.org/officeDocument/2006/relationships/tags" Target="../tags/tag223.xml"/><Relationship Id="rId7" Type="http://schemas.openxmlformats.org/officeDocument/2006/relationships/image" Target="../media/image49.png"/><Relationship Id="rId6" Type="http://schemas.openxmlformats.org/officeDocument/2006/relationships/tags" Target="../tags/tag222.xml"/><Relationship Id="rId5" Type="http://schemas.openxmlformats.org/officeDocument/2006/relationships/tags" Target="../tags/tag221.xml"/><Relationship Id="rId4" Type="http://schemas.openxmlformats.org/officeDocument/2006/relationships/tags" Target="../tags/tag220.xml"/><Relationship Id="rId3" Type="http://schemas.openxmlformats.org/officeDocument/2006/relationships/image" Target="../media/image48.emf"/><Relationship Id="rId27" Type="http://schemas.openxmlformats.org/officeDocument/2006/relationships/notesSlide" Target="../notesSlides/notesSlide20.xml"/><Relationship Id="rId26" Type="http://schemas.openxmlformats.org/officeDocument/2006/relationships/vmlDrawing" Target="../drawings/vmlDrawing9.vml"/><Relationship Id="rId25" Type="http://schemas.openxmlformats.org/officeDocument/2006/relationships/slideLayout" Target="../slideLayouts/slideLayout10.xml"/><Relationship Id="rId24" Type="http://schemas.openxmlformats.org/officeDocument/2006/relationships/image" Target="../media/image57.png"/><Relationship Id="rId23" Type="http://schemas.openxmlformats.org/officeDocument/2006/relationships/image" Target="../media/image56.png"/><Relationship Id="rId22" Type="http://schemas.openxmlformats.org/officeDocument/2006/relationships/image" Target="../media/image55.png"/><Relationship Id="rId21" Type="http://schemas.openxmlformats.org/officeDocument/2006/relationships/image" Target="../media/image54.png"/><Relationship Id="rId20" Type="http://schemas.openxmlformats.org/officeDocument/2006/relationships/image" Target="../media/image53.png"/><Relationship Id="rId2" Type="http://schemas.openxmlformats.org/officeDocument/2006/relationships/oleObject" Target="../embeddings/oleObject18.bin"/><Relationship Id="rId19" Type="http://schemas.openxmlformats.org/officeDocument/2006/relationships/tags" Target="../tags/tag231.xml"/><Relationship Id="rId18" Type="http://schemas.openxmlformats.org/officeDocument/2006/relationships/tags" Target="../tags/tag230.xml"/><Relationship Id="rId17" Type="http://schemas.openxmlformats.org/officeDocument/2006/relationships/tags" Target="../tags/tag229.xml"/><Relationship Id="rId16" Type="http://schemas.openxmlformats.org/officeDocument/2006/relationships/tags" Target="../tags/tag228.xml"/><Relationship Id="rId15" Type="http://schemas.openxmlformats.org/officeDocument/2006/relationships/tags" Target="../tags/tag227.xml"/><Relationship Id="rId14" Type="http://schemas.openxmlformats.org/officeDocument/2006/relationships/image" Target="../media/image52.wmf"/><Relationship Id="rId13" Type="http://schemas.openxmlformats.org/officeDocument/2006/relationships/tags" Target="../tags/tag226.xml"/><Relationship Id="rId12" Type="http://schemas.openxmlformats.org/officeDocument/2006/relationships/tags" Target="../tags/tag225.xml"/><Relationship Id="rId11" Type="http://schemas.openxmlformats.org/officeDocument/2006/relationships/image" Target="../media/image51.wmf"/><Relationship Id="rId10" Type="http://schemas.openxmlformats.org/officeDocument/2006/relationships/tags" Target="../tags/tag224.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9" Type="http://schemas.openxmlformats.org/officeDocument/2006/relationships/vmlDrawing" Target="../drawings/vmlDrawing10.vml"/><Relationship Id="rId8" Type="http://schemas.openxmlformats.org/officeDocument/2006/relationships/slideLayout" Target="../slideLayouts/slideLayout10.xml"/><Relationship Id="rId7" Type="http://schemas.openxmlformats.org/officeDocument/2006/relationships/image" Target="../media/image60.wmf"/><Relationship Id="rId6" Type="http://schemas.openxmlformats.org/officeDocument/2006/relationships/tags" Target="../tags/tag233.xml"/><Relationship Id="rId5" Type="http://schemas.openxmlformats.org/officeDocument/2006/relationships/image" Target="../media/image59.png"/><Relationship Id="rId4" Type="http://schemas.openxmlformats.org/officeDocument/2006/relationships/image" Target="../media/image58.emf"/><Relationship Id="rId3" Type="http://schemas.openxmlformats.org/officeDocument/2006/relationships/oleObject" Target="../embeddings/oleObject19.bin"/><Relationship Id="rId2" Type="http://schemas.openxmlformats.org/officeDocument/2006/relationships/tags" Target="../tags/tag232.xml"/><Relationship Id="rId10" Type="http://schemas.openxmlformats.org/officeDocument/2006/relationships/notesSlide" Target="../notesSlides/notesSlide21.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image" Target="../media/image63.wmf"/><Relationship Id="rId7" Type="http://schemas.openxmlformats.org/officeDocument/2006/relationships/tags" Target="../tags/tag237.xml"/><Relationship Id="rId6" Type="http://schemas.openxmlformats.org/officeDocument/2006/relationships/image" Target="../media/image62.wmf"/><Relationship Id="rId5" Type="http://schemas.openxmlformats.org/officeDocument/2006/relationships/tags" Target="../tags/tag236.xml"/><Relationship Id="rId4" Type="http://schemas.openxmlformats.org/officeDocument/2006/relationships/image" Target="../media/image61.png"/><Relationship Id="rId3" Type="http://schemas.openxmlformats.org/officeDocument/2006/relationships/tags" Target="../tags/tag235.xml"/><Relationship Id="rId2" Type="http://schemas.openxmlformats.org/officeDocument/2006/relationships/tags" Target="../tags/tag234.xml"/><Relationship Id="rId10" Type="http://schemas.openxmlformats.org/officeDocument/2006/relationships/notesSlide" Target="../notesSlides/notesSlide22.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0.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9" Type="http://schemas.openxmlformats.org/officeDocument/2006/relationships/tags" Target="../tags/tag247.xml"/><Relationship Id="rId8" Type="http://schemas.openxmlformats.org/officeDocument/2006/relationships/tags" Target="../tags/tag246.xml"/><Relationship Id="rId7" Type="http://schemas.openxmlformats.org/officeDocument/2006/relationships/tags" Target="../tags/tag245.xml"/><Relationship Id="rId6" Type="http://schemas.openxmlformats.org/officeDocument/2006/relationships/tags" Target="../tags/tag244.xml"/><Relationship Id="rId52" Type="http://schemas.openxmlformats.org/officeDocument/2006/relationships/notesSlide" Target="../notesSlides/notesSlide24.xml"/><Relationship Id="rId51" Type="http://schemas.openxmlformats.org/officeDocument/2006/relationships/slideLayout" Target="../slideLayouts/slideLayout10.xml"/><Relationship Id="rId50" Type="http://schemas.openxmlformats.org/officeDocument/2006/relationships/tags" Target="../tags/tag288.xml"/><Relationship Id="rId5" Type="http://schemas.openxmlformats.org/officeDocument/2006/relationships/tags" Target="../tags/tag243.xml"/><Relationship Id="rId49" Type="http://schemas.openxmlformats.org/officeDocument/2006/relationships/tags" Target="../tags/tag287.xml"/><Relationship Id="rId48" Type="http://schemas.openxmlformats.org/officeDocument/2006/relationships/tags" Target="../tags/tag286.xml"/><Relationship Id="rId47" Type="http://schemas.openxmlformats.org/officeDocument/2006/relationships/tags" Target="../tags/tag285.xml"/><Relationship Id="rId46" Type="http://schemas.openxmlformats.org/officeDocument/2006/relationships/tags" Target="../tags/tag284.xml"/><Relationship Id="rId45" Type="http://schemas.openxmlformats.org/officeDocument/2006/relationships/tags" Target="../tags/tag283.xml"/><Relationship Id="rId44" Type="http://schemas.openxmlformats.org/officeDocument/2006/relationships/tags" Target="../tags/tag282.xml"/><Relationship Id="rId43" Type="http://schemas.openxmlformats.org/officeDocument/2006/relationships/tags" Target="../tags/tag281.xml"/><Relationship Id="rId42" Type="http://schemas.openxmlformats.org/officeDocument/2006/relationships/tags" Target="../tags/tag280.xml"/><Relationship Id="rId41" Type="http://schemas.openxmlformats.org/officeDocument/2006/relationships/tags" Target="../tags/tag279.xml"/><Relationship Id="rId40" Type="http://schemas.openxmlformats.org/officeDocument/2006/relationships/tags" Target="../tags/tag278.xml"/><Relationship Id="rId4" Type="http://schemas.openxmlformats.org/officeDocument/2006/relationships/tags" Target="../tags/tag242.xml"/><Relationship Id="rId39" Type="http://schemas.openxmlformats.org/officeDocument/2006/relationships/tags" Target="../tags/tag277.xml"/><Relationship Id="rId38" Type="http://schemas.openxmlformats.org/officeDocument/2006/relationships/tags" Target="../tags/tag276.xml"/><Relationship Id="rId37" Type="http://schemas.openxmlformats.org/officeDocument/2006/relationships/tags" Target="../tags/tag275.xml"/><Relationship Id="rId36" Type="http://schemas.openxmlformats.org/officeDocument/2006/relationships/tags" Target="../tags/tag274.xml"/><Relationship Id="rId35" Type="http://schemas.openxmlformats.org/officeDocument/2006/relationships/tags" Target="../tags/tag273.xml"/><Relationship Id="rId34" Type="http://schemas.openxmlformats.org/officeDocument/2006/relationships/tags" Target="../tags/tag272.xml"/><Relationship Id="rId33" Type="http://schemas.openxmlformats.org/officeDocument/2006/relationships/tags" Target="../tags/tag271.xml"/><Relationship Id="rId32" Type="http://schemas.openxmlformats.org/officeDocument/2006/relationships/tags" Target="../tags/tag270.xml"/><Relationship Id="rId31" Type="http://schemas.openxmlformats.org/officeDocument/2006/relationships/tags" Target="../tags/tag269.xml"/><Relationship Id="rId30" Type="http://schemas.openxmlformats.org/officeDocument/2006/relationships/tags" Target="../tags/tag268.xml"/><Relationship Id="rId3" Type="http://schemas.openxmlformats.org/officeDocument/2006/relationships/tags" Target="../tags/tag241.xml"/><Relationship Id="rId29" Type="http://schemas.openxmlformats.org/officeDocument/2006/relationships/tags" Target="../tags/tag267.xml"/><Relationship Id="rId28" Type="http://schemas.openxmlformats.org/officeDocument/2006/relationships/tags" Target="../tags/tag266.xml"/><Relationship Id="rId27" Type="http://schemas.openxmlformats.org/officeDocument/2006/relationships/tags" Target="../tags/tag265.xml"/><Relationship Id="rId26" Type="http://schemas.openxmlformats.org/officeDocument/2006/relationships/tags" Target="../tags/tag264.xml"/><Relationship Id="rId25" Type="http://schemas.openxmlformats.org/officeDocument/2006/relationships/tags" Target="../tags/tag263.xml"/><Relationship Id="rId24" Type="http://schemas.openxmlformats.org/officeDocument/2006/relationships/tags" Target="../tags/tag262.xml"/><Relationship Id="rId23" Type="http://schemas.openxmlformats.org/officeDocument/2006/relationships/tags" Target="../tags/tag261.xml"/><Relationship Id="rId22" Type="http://schemas.openxmlformats.org/officeDocument/2006/relationships/tags" Target="../tags/tag260.xml"/><Relationship Id="rId21" Type="http://schemas.openxmlformats.org/officeDocument/2006/relationships/tags" Target="../tags/tag259.xml"/><Relationship Id="rId20" Type="http://schemas.openxmlformats.org/officeDocument/2006/relationships/tags" Target="../tags/tag258.xml"/><Relationship Id="rId2" Type="http://schemas.openxmlformats.org/officeDocument/2006/relationships/tags" Target="../tags/tag240.xml"/><Relationship Id="rId19" Type="http://schemas.openxmlformats.org/officeDocument/2006/relationships/tags" Target="../tags/tag257.xml"/><Relationship Id="rId18" Type="http://schemas.openxmlformats.org/officeDocument/2006/relationships/tags" Target="../tags/tag256.xml"/><Relationship Id="rId17" Type="http://schemas.openxmlformats.org/officeDocument/2006/relationships/tags" Target="../tags/tag255.xml"/><Relationship Id="rId16" Type="http://schemas.openxmlformats.org/officeDocument/2006/relationships/tags" Target="../tags/tag254.xml"/><Relationship Id="rId15" Type="http://schemas.openxmlformats.org/officeDocument/2006/relationships/tags" Target="../tags/tag253.xml"/><Relationship Id="rId14" Type="http://schemas.openxmlformats.org/officeDocument/2006/relationships/tags" Target="../tags/tag252.xml"/><Relationship Id="rId13" Type="http://schemas.openxmlformats.org/officeDocument/2006/relationships/tags" Target="../tags/tag251.xml"/><Relationship Id="rId12" Type="http://schemas.openxmlformats.org/officeDocument/2006/relationships/tags" Target="../tags/tag250.xml"/><Relationship Id="rId11" Type="http://schemas.openxmlformats.org/officeDocument/2006/relationships/tags" Target="../tags/tag249.xml"/><Relationship Id="rId10" Type="http://schemas.openxmlformats.org/officeDocument/2006/relationships/tags" Target="../tags/tag248.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25.xml"/><Relationship Id="rId8" Type="http://schemas.openxmlformats.org/officeDocument/2006/relationships/slideLayout" Target="../slideLayouts/slideLayout10.xml"/><Relationship Id="rId7" Type="http://schemas.openxmlformats.org/officeDocument/2006/relationships/image" Target="../media/image65.png"/><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image" Target="../media/image64.png"/><Relationship Id="rId2" Type="http://schemas.openxmlformats.org/officeDocument/2006/relationships/tags" Target="../tags/tag289.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0.xml"/><Relationship Id="rId4" Type="http://schemas.openxmlformats.org/officeDocument/2006/relationships/image" Target="../media/image68.tiff"/><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0.xml"/><Relationship Id="rId3" Type="http://schemas.openxmlformats.org/officeDocument/2006/relationships/image" Target="../media/image69.tiff"/><Relationship Id="rId2" Type="http://schemas.openxmlformats.org/officeDocument/2006/relationships/image" Target="../media/image66.png"/><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9" Type="http://schemas.openxmlformats.org/officeDocument/2006/relationships/tags" Target="../tags/tag300.xml"/><Relationship Id="rId8" Type="http://schemas.openxmlformats.org/officeDocument/2006/relationships/tags" Target="../tags/tag299.xml"/><Relationship Id="rId7" Type="http://schemas.openxmlformats.org/officeDocument/2006/relationships/tags" Target="../tags/tag298.xml"/><Relationship Id="rId6" Type="http://schemas.openxmlformats.org/officeDocument/2006/relationships/tags" Target="../tags/tag297.xml"/><Relationship Id="rId58" Type="http://schemas.openxmlformats.org/officeDocument/2006/relationships/notesSlide" Target="../notesSlides/notesSlide28.xml"/><Relationship Id="rId57" Type="http://schemas.openxmlformats.org/officeDocument/2006/relationships/vmlDrawing" Target="../drawings/vmlDrawing11.vml"/><Relationship Id="rId56" Type="http://schemas.openxmlformats.org/officeDocument/2006/relationships/slideLayout" Target="../slideLayouts/slideLayout10.xml"/><Relationship Id="rId55" Type="http://schemas.openxmlformats.org/officeDocument/2006/relationships/image" Target="../media/image77.png"/><Relationship Id="rId54" Type="http://schemas.openxmlformats.org/officeDocument/2006/relationships/image" Target="../media/image76.png"/><Relationship Id="rId53" Type="http://schemas.openxmlformats.org/officeDocument/2006/relationships/tags" Target="../tags/tag337.xml"/><Relationship Id="rId52" Type="http://schemas.openxmlformats.org/officeDocument/2006/relationships/image" Target="../media/image75.png"/><Relationship Id="rId51" Type="http://schemas.openxmlformats.org/officeDocument/2006/relationships/tags" Target="../tags/tag336.xml"/><Relationship Id="rId50" Type="http://schemas.openxmlformats.org/officeDocument/2006/relationships/image" Target="../media/image74.wmf"/><Relationship Id="rId5" Type="http://schemas.openxmlformats.org/officeDocument/2006/relationships/tags" Target="../tags/tag296.xml"/><Relationship Id="rId49" Type="http://schemas.openxmlformats.org/officeDocument/2006/relationships/tags" Target="../tags/tag335.xml"/><Relationship Id="rId48" Type="http://schemas.openxmlformats.org/officeDocument/2006/relationships/tags" Target="../tags/tag334.xml"/><Relationship Id="rId47" Type="http://schemas.openxmlformats.org/officeDocument/2006/relationships/image" Target="../media/image73.emf"/><Relationship Id="rId46" Type="http://schemas.openxmlformats.org/officeDocument/2006/relationships/oleObject" Target="../embeddings/oleObject20.bin"/><Relationship Id="rId45" Type="http://schemas.openxmlformats.org/officeDocument/2006/relationships/tags" Target="../tags/tag333.xml"/><Relationship Id="rId44" Type="http://schemas.openxmlformats.org/officeDocument/2006/relationships/image" Target="../media/image72.png"/><Relationship Id="rId43" Type="http://schemas.openxmlformats.org/officeDocument/2006/relationships/tags" Target="../tags/tag332.xml"/><Relationship Id="rId42" Type="http://schemas.openxmlformats.org/officeDocument/2006/relationships/tags" Target="../tags/tag331.xml"/><Relationship Id="rId41" Type="http://schemas.openxmlformats.org/officeDocument/2006/relationships/tags" Target="../tags/tag330.xml"/><Relationship Id="rId40" Type="http://schemas.openxmlformats.org/officeDocument/2006/relationships/tags" Target="../tags/tag329.xml"/><Relationship Id="rId4" Type="http://schemas.openxmlformats.org/officeDocument/2006/relationships/tags" Target="../tags/tag295.xml"/><Relationship Id="rId39" Type="http://schemas.openxmlformats.org/officeDocument/2006/relationships/tags" Target="../tags/tag328.xml"/><Relationship Id="rId38" Type="http://schemas.openxmlformats.org/officeDocument/2006/relationships/tags" Target="../tags/tag327.xml"/><Relationship Id="rId37" Type="http://schemas.openxmlformats.org/officeDocument/2006/relationships/tags" Target="../tags/tag326.xml"/><Relationship Id="rId36" Type="http://schemas.openxmlformats.org/officeDocument/2006/relationships/tags" Target="../tags/tag325.xml"/><Relationship Id="rId35" Type="http://schemas.openxmlformats.org/officeDocument/2006/relationships/tags" Target="../tags/tag324.xml"/><Relationship Id="rId34" Type="http://schemas.openxmlformats.org/officeDocument/2006/relationships/tags" Target="../tags/tag323.xml"/><Relationship Id="rId33" Type="http://schemas.openxmlformats.org/officeDocument/2006/relationships/tags" Target="../tags/tag322.xml"/><Relationship Id="rId32" Type="http://schemas.openxmlformats.org/officeDocument/2006/relationships/tags" Target="../tags/tag321.xml"/><Relationship Id="rId31" Type="http://schemas.openxmlformats.org/officeDocument/2006/relationships/tags" Target="../tags/tag320.xml"/><Relationship Id="rId30" Type="http://schemas.openxmlformats.org/officeDocument/2006/relationships/tags" Target="../tags/tag319.xml"/><Relationship Id="rId3" Type="http://schemas.openxmlformats.org/officeDocument/2006/relationships/tags" Target="../tags/tag294.xml"/><Relationship Id="rId29" Type="http://schemas.openxmlformats.org/officeDocument/2006/relationships/tags" Target="../tags/tag318.xml"/><Relationship Id="rId28" Type="http://schemas.openxmlformats.org/officeDocument/2006/relationships/tags" Target="../tags/tag317.xml"/><Relationship Id="rId27" Type="http://schemas.openxmlformats.org/officeDocument/2006/relationships/tags" Target="../tags/tag316.xml"/><Relationship Id="rId26" Type="http://schemas.openxmlformats.org/officeDocument/2006/relationships/tags" Target="../tags/tag315.xml"/><Relationship Id="rId25" Type="http://schemas.openxmlformats.org/officeDocument/2006/relationships/tags" Target="../tags/tag314.xml"/><Relationship Id="rId24" Type="http://schemas.openxmlformats.org/officeDocument/2006/relationships/tags" Target="../tags/tag313.xml"/><Relationship Id="rId23" Type="http://schemas.openxmlformats.org/officeDocument/2006/relationships/tags" Target="../tags/tag312.xml"/><Relationship Id="rId22" Type="http://schemas.openxmlformats.org/officeDocument/2006/relationships/tags" Target="../tags/tag311.xml"/><Relationship Id="rId21" Type="http://schemas.openxmlformats.org/officeDocument/2006/relationships/tags" Target="../tags/tag310.xml"/><Relationship Id="rId20" Type="http://schemas.openxmlformats.org/officeDocument/2006/relationships/tags" Target="../tags/tag309.xml"/><Relationship Id="rId2" Type="http://schemas.openxmlformats.org/officeDocument/2006/relationships/tags" Target="../tags/tag293.xml"/><Relationship Id="rId19" Type="http://schemas.openxmlformats.org/officeDocument/2006/relationships/tags" Target="../tags/tag308.xml"/><Relationship Id="rId18" Type="http://schemas.openxmlformats.org/officeDocument/2006/relationships/tags" Target="../tags/tag307.xml"/><Relationship Id="rId17" Type="http://schemas.openxmlformats.org/officeDocument/2006/relationships/tags" Target="../tags/tag306.xml"/><Relationship Id="rId16" Type="http://schemas.openxmlformats.org/officeDocument/2006/relationships/image" Target="../media/image71.wmf"/><Relationship Id="rId15" Type="http://schemas.openxmlformats.org/officeDocument/2006/relationships/tags" Target="../tags/tag305.xml"/><Relationship Id="rId14" Type="http://schemas.openxmlformats.org/officeDocument/2006/relationships/tags" Target="../tags/tag304.xml"/><Relationship Id="rId13" Type="http://schemas.openxmlformats.org/officeDocument/2006/relationships/tags" Target="../tags/tag303.xml"/><Relationship Id="rId12" Type="http://schemas.openxmlformats.org/officeDocument/2006/relationships/tags" Target="../tags/tag302.xml"/><Relationship Id="rId11" Type="http://schemas.openxmlformats.org/officeDocument/2006/relationships/tags" Target="../tags/tag301.xml"/><Relationship Id="rId10" Type="http://schemas.openxmlformats.org/officeDocument/2006/relationships/image" Target="../media/image70.png"/><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9" Type="http://schemas.openxmlformats.org/officeDocument/2006/relationships/notesSlide" Target="../notesSlides/notesSlide29.xml"/><Relationship Id="rId8" Type="http://schemas.openxmlformats.org/officeDocument/2006/relationships/slideLayout" Target="../slideLayouts/slideLayout10.xml"/><Relationship Id="rId7" Type="http://schemas.openxmlformats.org/officeDocument/2006/relationships/tags" Target="../tags/tag342.xml"/><Relationship Id="rId6" Type="http://schemas.openxmlformats.org/officeDocument/2006/relationships/tags" Target="../tags/tag341.xml"/><Relationship Id="rId5" Type="http://schemas.openxmlformats.org/officeDocument/2006/relationships/image" Target="../media/image78.png"/><Relationship Id="rId4" Type="http://schemas.openxmlformats.org/officeDocument/2006/relationships/tags" Target="../tags/tag340.xml"/><Relationship Id="rId3" Type="http://schemas.openxmlformats.org/officeDocument/2006/relationships/tags" Target="../tags/tag339.xml"/><Relationship Id="rId2" Type="http://schemas.openxmlformats.org/officeDocument/2006/relationships/tags" Target="../tags/tag338.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0.xml"/><Relationship Id="rId2" Type="http://schemas.openxmlformats.org/officeDocument/2006/relationships/image" Target="../media/image79.png"/><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0.xml"/><Relationship Id="rId3" Type="http://schemas.openxmlformats.org/officeDocument/2006/relationships/image" Target="../media/image80.png"/><Relationship Id="rId2" Type="http://schemas.openxmlformats.org/officeDocument/2006/relationships/tags" Target="../tags/tag343.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9" Type="http://schemas.openxmlformats.org/officeDocument/2006/relationships/image" Target="../media/image82.wmf"/><Relationship Id="rId8" Type="http://schemas.openxmlformats.org/officeDocument/2006/relationships/tags" Target="../tags/tag349.xml"/><Relationship Id="rId7" Type="http://schemas.openxmlformats.org/officeDocument/2006/relationships/image" Target="../media/image81.wmf"/><Relationship Id="rId6" Type="http://schemas.openxmlformats.org/officeDocument/2006/relationships/tags" Target="../tags/tag348.xml"/><Relationship Id="rId5" Type="http://schemas.openxmlformats.org/officeDocument/2006/relationships/tags" Target="../tags/tag347.xml"/><Relationship Id="rId4" Type="http://schemas.openxmlformats.org/officeDocument/2006/relationships/tags" Target="../tags/tag346.xml"/><Relationship Id="rId3" Type="http://schemas.openxmlformats.org/officeDocument/2006/relationships/tags" Target="../tags/tag345.xml"/><Relationship Id="rId2" Type="http://schemas.openxmlformats.org/officeDocument/2006/relationships/tags" Target="../tags/tag344.xml"/><Relationship Id="rId17" Type="http://schemas.openxmlformats.org/officeDocument/2006/relationships/notesSlide" Target="../notesSlides/notesSlide33.xml"/><Relationship Id="rId16" Type="http://schemas.openxmlformats.org/officeDocument/2006/relationships/slideLayout" Target="../slideLayouts/slideLayout10.xml"/><Relationship Id="rId15" Type="http://schemas.openxmlformats.org/officeDocument/2006/relationships/tags" Target="../tags/tag353.xml"/><Relationship Id="rId14" Type="http://schemas.openxmlformats.org/officeDocument/2006/relationships/image" Target="../media/image84.wmf"/><Relationship Id="rId13" Type="http://schemas.openxmlformats.org/officeDocument/2006/relationships/tags" Target="../tags/tag352.xml"/><Relationship Id="rId12" Type="http://schemas.openxmlformats.org/officeDocument/2006/relationships/tags" Target="../tags/tag351.xml"/><Relationship Id="rId11" Type="http://schemas.openxmlformats.org/officeDocument/2006/relationships/image" Target="../media/image83.wmf"/><Relationship Id="rId10" Type="http://schemas.openxmlformats.org/officeDocument/2006/relationships/tags" Target="../tags/tag350.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image" Target="../media/image87.wmf"/><Relationship Id="rId7" Type="http://schemas.openxmlformats.org/officeDocument/2006/relationships/oleObject" Target="../embeddings/oleObject21.bin"/><Relationship Id="rId6" Type="http://schemas.openxmlformats.org/officeDocument/2006/relationships/image" Target="../media/image86.wmf"/><Relationship Id="rId5" Type="http://schemas.openxmlformats.org/officeDocument/2006/relationships/tags" Target="../tags/tag356.xml"/><Relationship Id="rId4" Type="http://schemas.openxmlformats.org/officeDocument/2006/relationships/tags" Target="../tags/tag355.xml"/><Relationship Id="rId3" Type="http://schemas.openxmlformats.org/officeDocument/2006/relationships/tags" Target="../tags/tag354.xml"/><Relationship Id="rId2" Type="http://schemas.openxmlformats.org/officeDocument/2006/relationships/image" Target="../media/image85.tiff"/><Relationship Id="rId11" Type="http://schemas.openxmlformats.org/officeDocument/2006/relationships/notesSlide" Target="../notesSlides/notesSlide34.xml"/><Relationship Id="rId10" Type="http://schemas.openxmlformats.org/officeDocument/2006/relationships/vmlDrawing" Target="../drawings/vmlDrawing12.vml"/><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9" Type="http://schemas.openxmlformats.org/officeDocument/2006/relationships/tags" Target="../tags/tag362.xml"/><Relationship Id="rId8" Type="http://schemas.openxmlformats.org/officeDocument/2006/relationships/tags" Target="../tags/tag361.xml"/><Relationship Id="rId7" Type="http://schemas.openxmlformats.org/officeDocument/2006/relationships/image" Target="../media/image89.png"/><Relationship Id="rId6" Type="http://schemas.openxmlformats.org/officeDocument/2006/relationships/tags" Target="../tags/tag360.xml"/><Relationship Id="rId5" Type="http://schemas.openxmlformats.org/officeDocument/2006/relationships/tags" Target="../tags/tag359.xml"/><Relationship Id="rId4" Type="http://schemas.openxmlformats.org/officeDocument/2006/relationships/tags" Target="../tags/tag358.xml"/><Relationship Id="rId3" Type="http://schemas.openxmlformats.org/officeDocument/2006/relationships/tags" Target="../tags/tag357.xml"/><Relationship Id="rId2" Type="http://schemas.openxmlformats.org/officeDocument/2006/relationships/image" Target="../media/image88.tiff"/><Relationship Id="rId11" Type="http://schemas.openxmlformats.org/officeDocument/2006/relationships/notesSlide" Target="../notesSlides/notesSlide35.xml"/><Relationship Id="rId10" Type="http://schemas.openxmlformats.org/officeDocument/2006/relationships/slideLayout" Target="../slideLayouts/slideLayout10.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9" Type="http://schemas.openxmlformats.org/officeDocument/2006/relationships/tags" Target="../tags/tag367.xml"/><Relationship Id="rId8" Type="http://schemas.openxmlformats.org/officeDocument/2006/relationships/tags" Target="../tags/tag366.xml"/><Relationship Id="rId7" Type="http://schemas.openxmlformats.org/officeDocument/2006/relationships/image" Target="../media/image92.wmf"/><Relationship Id="rId6" Type="http://schemas.openxmlformats.org/officeDocument/2006/relationships/tags" Target="../tags/tag365.xml"/><Relationship Id="rId5" Type="http://schemas.openxmlformats.org/officeDocument/2006/relationships/image" Target="../media/image91.wmf"/><Relationship Id="rId4" Type="http://schemas.openxmlformats.org/officeDocument/2006/relationships/tags" Target="../tags/tag364.xml"/><Relationship Id="rId3" Type="http://schemas.openxmlformats.org/officeDocument/2006/relationships/image" Target="../media/image90.wmf"/><Relationship Id="rId20" Type="http://schemas.openxmlformats.org/officeDocument/2006/relationships/notesSlide" Target="../notesSlides/notesSlide36.xml"/><Relationship Id="rId2" Type="http://schemas.openxmlformats.org/officeDocument/2006/relationships/tags" Target="../tags/tag363.xml"/><Relationship Id="rId19" Type="http://schemas.openxmlformats.org/officeDocument/2006/relationships/slideLayout" Target="../slideLayouts/slideLayout10.xml"/><Relationship Id="rId18" Type="http://schemas.openxmlformats.org/officeDocument/2006/relationships/tags" Target="../tags/tag376.xml"/><Relationship Id="rId17" Type="http://schemas.openxmlformats.org/officeDocument/2006/relationships/tags" Target="../tags/tag375.xml"/><Relationship Id="rId16" Type="http://schemas.openxmlformats.org/officeDocument/2006/relationships/tags" Target="../tags/tag374.xml"/><Relationship Id="rId15" Type="http://schemas.openxmlformats.org/officeDocument/2006/relationships/tags" Target="../tags/tag373.xml"/><Relationship Id="rId14" Type="http://schemas.openxmlformats.org/officeDocument/2006/relationships/tags" Target="../tags/tag372.xml"/><Relationship Id="rId13" Type="http://schemas.openxmlformats.org/officeDocument/2006/relationships/tags" Target="../tags/tag371.xml"/><Relationship Id="rId12" Type="http://schemas.openxmlformats.org/officeDocument/2006/relationships/tags" Target="../tags/tag370.xml"/><Relationship Id="rId11" Type="http://schemas.openxmlformats.org/officeDocument/2006/relationships/tags" Target="../tags/tag369.xml"/><Relationship Id="rId10" Type="http://schemas.openxmlformats.org/officeDocument/2006/relationships/tags" Target="../tags/tag368.xml"/><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9" Type="http://schemas.openxmlformats.org/officeDocument/2006/relationships/tags" Target="../tags/tag384.xml"/><Relationship Id="rId8" Type="http://schemas.openxmlformats.org/officeDocument/2006/relationships/tags" Target="../tags/tag383.xml"/><Relationship Id="rId7" Type="http://schemas.openxmlformats.org/officeDocument/2006/relationships/tags" Target="../tags/tag382.xml"/><Relationship Id="rId6" Type="http://schemas.openxmlformats.org/officeDocument/2006/relationships/tags" Target="../tags/tag381.xml"/><Relationship Id="rId5" Type="http://schemas.openxmlformats.org/officeDocument/2006/relationships/tags" Target="../tags/tag380.xml"/><Relationship Id="rId4" Type="http://schemas.openxmlformats.org/officeDocument/2006/relationships/tags" Target="../tags/tag379.xml"/><Relationship Id="rId3" Type="http://schemas.openxmlformats.org/officeDocument/2006/relationships/tags" Target="../tags/tag378.xml"/><Relationship Id="rId22" Type="http://schemas.openxmlformats.org/officeDocument/2006/relationships/notesSlide" Target="../notesSlides/notesSlide37.xml"/><Relationship Id="rId21" Type="http://schemas.openxmlformats.org/officeDocument/2006/relationships/slideLayout" Target="../slideLayouts/slideLayout10.xml"/><Relationship Id="rId20" Type="http://schemas.openxmlformats.org/officeDocument/2006/relationships/tags" Target="../tags/tag395.xml"/><Relationship Id="rId2" Type="http://schemas.openxmlformats.org/officeDocument/2006/relationships/tags" Target="../tags/tag377.xml"/><Relationship Id="rId19" Type="http://schemas.openxmlformats.org/officeDocument/2006/relationships/tags" Target="../tags/tag394.xml"/><Relationship Id="rId18" Type="http://schemas.openxmlformats.org/officeDocument/2006/relationships/tags" Target="../tags/tag393.xml"/><Relationship Id="rId17" Type="http://schemas.openxmlformats.org/officeDocument/2006/relationships/tags" Target="../tags/tag392.xml"/><Relationship Id="rId16" Type="http://schemas.openxmlformats.org/officeDocument/2006/relationships/tags" Target="../tags/tag391.xml"/><Relationship Id="rId15" Type="http://schemas.openxmlformats.org/officeDocument/2006/relationships/tags" Target="../tags/tag390.xml"/><Relationship Id="rId14" Type="http://schemas.openxmlformats.org/officeDocument/2006/relationships/tags" Target="../tags/tag389.xml"/><Relationship Id="rId13" Type="http://schemas.openxmlformats.org/officeDocument/2006/relationships/tags" Target="../tags/tag388.xml"/><Relationship Id="rId12" Type="http://schemas.openxmlformats.org/officeDocument/2006/relationships/tags" Target="../tags/tag387.xml"/><Relationship Id="rId11" Type="http://schemas.openxmlformats.org/officeDocument/2006/relationships/tags" Target="../tags/tag386.xml"/><Relationship Id="rId10" Type="http://schemas.openxmlformats.org/officeDocument/2006/relationships/tags" Target="../tags/tag385.xml"/><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0.xml"/><Relationship Id="rId6" Type="http://schemas.openxmlformats.org/officeDocument/2006/relationships/tags" Target="../tags/tag399.xml"/><Relationship Id="rId5" Type="http://schemas.openxmlformats.org/officeDocument/2006/relationships/tags" Target="../tags/tag398.xml"/><Relationship Id="rId4" Type="http://schemas.openxmlformats.org/officeDocument/2006/relationships/tags" Target="../tags/tag397.xml"/><Relationship Id="rId3" Type="http://schemas.openxmlformats.org/officeDocument/2006/relationships/tags" Target="../tags/tag396.xml"/><Relationship Id="rId2" Type="http://schemas.openxmlformats.org/officeDocument/2006/relationships/image" Target="../media/image93.tiff"/><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10.xml"/><Relationship Id="rId6" Type="http://schemas.openxmlformats.org/officeDocument/2006/relationships/tags" Target="../tags/tag403.xml"/><Relationship Id="rId5" Type="http://schemas.openxmlformats.org/officeDocument/2006/relationships/image" Target="../media/image94.wmf"/><Relationship Id="rId4" Type="http://schemas.openxmlformats.org/officeDocument/2006/relationships/tags" Target="../tags/tag402.xml"/><Relationship Id="rId3" Type="http://schemas.openxmlformats.org/officeDocument/2006/relationships/tags" Target="../tags/tag401.xml"/><Relationship Id="rId2" Type="http://schemas.openxmlformats.org/officeDocument/2006/relationships/tags" Target="../tags/tag400.xml"/><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9" Type="http://schemas.openxmlformats.org/officeDocument/2006/relationships/image" Target="../media/image97.tiff"/><Relationship Id="rId8" Type="http://schemas.openxmlformats.org/officeDocument/2006/relationships/tags" Target="../tags/tag408.xml"/><Relationship Id="rId7" Type="http://schemas.openxmlformats.org/officeDocument/2006/relationships/image" Target="../media/image96.tiff"/><Relationship Id="rId6" Type="http://schemas.openxmlformats.org/officeDocument/2006/relationships/tags" Target="../tags/tag407.xml"/><Relationship Id="rId5" Type="http://schemas.openxmlformats.org/officeDocument/2006/relationships/image" Target="../media/image95.png"/><Relationship Id="rId4" Type="http://schemas.openxmlformats.org/officeDocument/2006/relationships/tags" Target="../tags/tag406.xml"/><Relationship Id="rId3" Type="http://schemas.openxmlformats.org/officeDocument/2006/relationships/tags" Target="../tags/tag405.xml"/><Relationship Id="rId2" Type="http://schemas.openxmlformats.org/officeDocument/2006/relationships/tags" Target="../tags/tag404.xml"/><Relationship Id="rId11" Type="http://schemas.openxmlformats.org/officeDocument/2006/relationships/notesSlide" Target="../notesSlides/notesSlide40.xml"/><Relationship Id="rId10" Type="http://schemas.openxmlformats.org/officeDocument/2006/relationships/slideLayout" Target="../slideLayouts/slideLayout10.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9" Type="http://schemas.openxmlformats.org/officeDocument/2006/relationships/notesSlide" Target="../notesSlides/notesSlide41.xml"/><Relationship Id="rId8" Type="http://schemas.openxmlformats.org/officeDocument/2006/relationships/slideLayout" Target="../slideLayouts/slideLayout10.xml"/><Relationship Id="rId7" Type="http://schemas.openxmlformats.org/officeDocument/2006/relationships/tags" Target="../tags/tag414.xml"/><Relationship Id="rId6" Type="http://schemas.openxmlformats.org/officeDocument/2006/relationships/tags" Target="../tags/tag413.xml"/><Relationship Id="rId5" Type="http://schemas.openxmlformats.org/officeDocument/2006/relationships/tags" Target="../tags/tag412.xml"/><Relationship Id="rId4" Type="http://schemas.openxmlformats.org/officeDocument/2006/relationships/tags" Target="../tags/tag411.xml"/><Relationship Id="rId3" Type="http://schemas.openxmlformats.org/officeDocument/2006/relationships/tags" Target="../tags/tag410.xml"/><Relationship Id="rId2" Type="http://schemas.openxmlformats.org/officeDocument/2006/relationships/tags" Target="../tags/tag409.xml"/><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0.xml"/><Relationship Id="rId2" Type="http://schemas.openxmlformats.org/officeDocument/2006/relationships/image" Target="../media/image98.png"/><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0.xml"/><Relationship Id="rId2" Type="http://schemas.openxmlformats.org/officeDocument/2006/relationships/image" Target="../media/image99.png"/><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0.xml"/><Relationship Id="rId2" Type="http://schemas.openxmlformats.org/officeDocument/2006/relationships/image" Target="../media/image100.tiff"/><Relationship Id="rId1" Type="http://schemas.openxmlformats.org/officeDocument/2006/relationships/image" Target="../media/image3.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10.xml"/><Relationship Id="rId3" Type="http://schemas.openxmlformats.org/officeDocument/2006/relationships/tags" Target="../tags/tag416.xml"/><Relationship Id="rId2" Type="http://schemas.openxmlformats.org/officeDocument/2006/relationships/tags" Target="../tags/tag415.xml"/><Relationship Id="rId1" Type="http://schemas.openxmlformats.org/officeDocument/2006/relationships/image" Target="../media/image3.png"/></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10.xml"/><Relationship Id="rId3" Type="http://schemas.openxmlformats.org/officeDocument/2006/relationships/tags" Target="../tags/tag418.xml"/><Relationship Id="rId2" Type="http://schemas.openxmlformats.org/officeDocument/2006/relationships/tags" Target="../tags/tag417.xml"/><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9" Type="http://schemas.openxmlformats.org/officeDocument/2006/relationships/tags" Target="../tags/tag426.xml"/><Relationship Id="rId8" Type="http://schemas.openxmlformats.org/officeDocument/2006/relationships/tags" Target="../tags/tag425.xml"/><Relationship Id="rId7" Type="http://schemas.openxmlformats.org/officeDocument/2006/relationships/tags" Target="../tags/tag424.xml"/><Relationship Id="rId6" Type="http://schemas.openxmlformats.org/officeDocument/2006/relationships/tags" Target="../tags/tag423.xml"/><Relationship Id="rId5" Type="http://schemas.openxmlformats.org/officeDocument/2006/relationships/tags" Target="../tags/tag422.xml"/><Relationship Id="rId41" Type="http://schemas.openxmlformats.org/officeDocument/2006/relationships/notesSlide" Target="../notesSlides/notesSlide47.xml"/><Relationship Id="rId40" Type="http://schemas.openxmlformats.org/officeDocument/2006/relationships/slideLayout" Target="../slideLayouts/slideLayout10.xml"/><Relationship Id="rId4" Type="http://schemas.openxmlformats.org/officeDocument/2006/relationships/tags" Target="../tags/tag421.xml"/><Relationship Id="rId39" Type="http://schemas.openxmlformats.org/officeDocument/2006/relationships/tags" Target="../tags/tag456.xml"/><Relationship Id="rId38" Type="http://schemas.openxmlformats.org/officeDocument/2006/relationships/tags" Target="../tags/tag455.xml"/><Relationship Id="rId37" Type="http://schemas.openxmlformats.org/officeDocument/2006/relationships/tags" Target="../tags/tag454.xml"/><Relationship Id="rId36" Type="http://schemas.openxmlformats.org/officeDocument/2006/relationships/tags" Target="../tags/tag453.xml"/><Relationship Id="rId35" Type="http://schemas.openxmlformats.org/officeDocument/2006/relationships/tags" Target="../tags/tag452.xml"/><Relationship Id="rId34" Type="http://schemas.openxmlformats.org/officeDocument/2006/relationships/tags" Target="../tags/tag451.xml"/><Relationship Id="rId33" Type="http://schemas.openxmlformats.org/officeDocument/2006/relationships/tags" Target="../tags/tag450.xml"/><Relationship Id="rId32" Type="http://schemas.openxmlformats.org/officeDocument/2006/relationships/tags" Target="../tags/tag449.xml"/><Relationship Id="rId31" Type="http://schemas.openxmlformats.org/officeDocument/2006/relationships/tags" Target="../tags/tag448.xml"/><Relationship Id="rId30" Type="http://schemas.openxmlformats.org/officeDocument/2006/relationships/tags" Target="../tags/tag447.xml"/><Relationship Id="rId3" Type="http://schemas.openxmlformats.org/officeDocument/2006/relationships/tags" Target="../tags/tag420.xml"/><Relationship Id="rId29" Type="http://schemas.openxmlformats.org/officeDocument/2006/relationships/tags" Target="../tags/tag446.xml"/><Relationship Id="rId28" Type="http://schemas.openxmlformats.org/officeDocument/2006/relationships/tags" Target="../tags/tag445.xml"/><Relationship Id="rId27" Type="http://schemas.openxmlformats.org/officeDocument/2006/relationships/tags" Target="../tags/tag444.xml"/><Relationship Id="rId26" Type="http://schemas.openxmlformats.org/officeDocument/2006/relationships/tags" Target="../tags/tag443.xml"/><Relationship Id="rId25" Type="http://schemas.openxmlformats.org/officeDocument/2006/relationships/tags" Target="../tags/tag442.xml"/><Relationship Id="rId24" Type="http://schemas.openxmlformats.org/officeDocument/2006/relationships/tags" Target="../tags/tag441.xml"/><Relationship Id="rId23" Type="http://schemas.openxmlformats.org/officeDocument/2006/relationships/tags" Target="../tags/tag440.xml"/><Relationship Id="rId22" Type="http://schemas.openxmlformats.org/officeDocument/2006/relationships/tags" Target="../tags/tag439.xml"/><Relationship Id="rId21" Type="http://schemas.openxmlformats.org/officeDocument/2006/relationships/tags" Target="../tags/tag438.xml"/><Relationship Id="rId20" Type="http://schemas.openxmlformats.org/officeDocument/2006/relationships/tags" Target="../tags/tag437.xml"/><Relationship Id="rId2" Type="http://schemas.openxmlformats.org/officeDocument/2006/relationships/tags" Target="../tags/tag419.xml"/><Relationship Id="rId19" Type="http://schemas.openxmlformats.org/officeDocument/2006/relationships/tags" Target="../tags/tag436.xml"/><Relationship Id="rId18" Type="http://schemas.openxmlformats.org/officeDocument/2006/relationships/tags" Target="../tags/tag435.xml"/><Relationship Id="rId17" Type="http://schemas.openxmlformats.org/officeDocument/2006/relationships/tags" Target="../tags/tag434.xml"/><Relationship Id="rId16" Type="http://schemas.openxmlformats.org/officeDocument/2006/relationships/tags" Target="../tags/tag433.xml"/><Relationship Id="rId15" Type="http://schemas.openxmlformats.org/officeDocument/2006/relationships/tags" Target="../tags/tag432.xml"/><Relationship Id="rId14" Type="http://schemas.openxmlformats.org/officeDocument/2006/relationships/tags" Target="../tags/tag431.xml"/><Relationship Id="rId13" Type="http://schemas.openxmlformats.org/officeDocument/2006/relationships/tags" Target="../tags/tag430.xml"/><Relationship Id="rId12" Type="http://schemas.openxmlformats.org/officeDocument/2006/relationships/tags" Target="../tags/tag429.xml"/><Relationship Id="rId11" Type="http://schemas.openxmlformats.org/officeDocument/2006/relationships/tags" Target="../tags/tag428.xml"/><Relationship Id="rId10" Type="http://schemas.openxmlformats.org/officeDocument/2006/relationships/tags" Target="../tags/tag427.xml"/><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8" Type="http://schemas.openxmlformats.org/officeDocument/2006/relationships/notesSlide" Target="../notesSlides/notesSlide48.xml"/><Relationship Id="rId7" Type="http://schemas.openxmlformats.org/officeDocument/2006/relationships/vmlDrawing" Target="../drawings/vmlDrawing13.vml"/><Relationship Id="rId6" Type="http://schemas.openxmlformats.org/officeDocument/2006/relationships/slideLayout" Target="../slideLayouts/slideLayout10.xml"/><Relationship Id="rId5" Type="http://schemas.openxmlformats.org/officeDocument/2006/relationships/tags" Target="../tags/tag458.xml"/><Relationship Id="rId4" Type="http://schemas.openxmlformats.org/officeDocument/2006/relationships/image" Target="../media/image101.wmf"/><Relationship Id="rId3" Type="http://schemas.openxmlformats.org/officeDocument/2006/relationships/oleObject" Target="../embeddings/oleObject22.bin"/><Relationship Id="rId2" Type="http://schemas.openxmlformats.org/officeDocument/2006/relationships/tags" Target="../tags/tag457.xml"/><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49.xml"/><Relationship Id="rId5" Type="http://schemas.openxmlformats.org/officeDocument/2006/relationships/slideLayout" Target="../slideLayouts/slideLayout10.xml"/><Relationship Id="rId4" Type="http://schemas.openxmlformats.org/officeDocument/2006/relationships/tags" Target="../tags/tag461.xml"/><Relationship Id="rId3" Type="http://schemas.openxmlformats.org/officeDocument/2006/relationships/tags" Target="../tags/tag460.xml"/><Relationship Id="rId2" Type="http://schemas.openxmlformats.org/officeDocument/2006/relationships/tags" Target="../tags/tag459.xml"/><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9" Type="http://schemas.openxmlformats.org/officeDocument/2006/relationships/image" Target="../media/image103.wmf"/><Relationship Id="rId8" Type="http://schemas.openxmlformats.org/officeDocument/2006/relationships/oleObject" Target="../embeddings/oleObject24.bin"/><Relationship Id="rId7" Type="http://schemas.openxmlformats.org/officeDocument/2006/relationships/tags" Target="../tags/tag465.xml"/><Relationship Id="rId6" Type="http://schemas.openxmlformats.org/officeDocument/2006/relationships/tags" Target="../tags/tag464.xml"/><Relationship Id="rId5" Type="http://schemas.openxmlformats.org/officeDocument/2006/relationships/image" Target="../media/image102.wmf"/><Relationship Id="rId4" Type="http://schemas.openxmlformats.org/officeDocument/2006/relationships/oleObject" Target="../embeddings/oleObject23.bin"/><Relationship Id="rId3" Type="http://schemas.openxmlformats.org/officeDocument/2006/relationships/tags" Target="../tags/tag463.xml"/><Relationship Id="rId23" Type="http://schemas.openxmlformats.org/officeDocument/2006/relationships/notesSlide" Target="../notesSlides/notesSlide50.xml"/><Relationship Id="rId22" Type="http://schemas.openxmlformats.org/officeDocument/2006/relationships/vmlDrawing" Target="../drawings/vmlDrawing14.vml"/><Relationship Id="rId21" Type="http://schemas.openxmlformats.org/officeDocument/2006/relationships/slideLayout" Target="../slideLayouts/slideLayout10.xml"/><Relationship Id="rId20" Type="http://schemas.openxmlformats.org/officeDocument/2006/relationships/image" Target="../media/image105.png"/><Relationship Id="rId2" Type="http://schemas.openxmlformats.org/officeDocument/2006/relationships/tags" Target="../tags/tag462.xml"/><Relationship Id="rId19" Type="http://schemas.openxmlformats.org/officeDocument/2006/relationships/tags" Target="../tags/tag474.xml"/><Relationship Id="rId18" Type="http://schemas.openxmlformats.org/officeDocument/2006/relationships/tags" Target="../tags/tag473.xml"/><Relationship Id="rId17" Type="http://schemas.openxmlformats.org/officeDocument/2006/relationships/tags" Target="../tags/tag472.xml"/><Relationship Id="rId16" Type="http://schemas.openxmlformats.org/officeDocument/2006/relationships/tags" Target="../tags/tag471.xml"/><Relationship Id="rId15" Type="http://schemas.openxmlformats.org/officeDocument/2006/relationships/tags" Target="../tags/tag470.xml"/><Relationship Id="rId14" Type="http://schemas.openxmlformats.org/officeDocument/2006/relationships/tags" Target="../tags/tag469.xml"/><Relationship Id="rId13" Type="http://schemas.openxmlformats.org/officeDocument/2006/relationships/tags" Target="../tags/tag468.xml"/><Relationship Id="rId12" Type="http://schemas.openxmlformats.org/officeDocument/2006/relationships/image" Target="../media/image104.png"/><Relationship Id="rId11" Type="http://schemas.openxmlformats.org/officeDocument/2006/relationships/tags" Target="../tags/tag467.xml"/><Relationship Id="rId10" Type="http://schemas.openxmlformats.org/officeDocument/2006/relationships/tags" Target="../tags/tag466.xml"/><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9" Type="http://schemas.openxmlformats.org/officeDocument/2006/relationships/image" Target="../media/image108.png"/><Relationship Id="rId8" Type="http://schemas.openxmlformats.org/officeDocument/2006/relationships/tags" Target="../tags/tag478.xml"/><Relationship Id="rId7" Type="http://schemas.openxmlformats.org/officeDocument/2006/relationships/image" Target="../media/image107.wmf"/><Relationship Id="rId6" Type="http://schemas.openxmlformats.org/officeDocument/2006/relationships/oleObject" Target="../embeddings/oleObject25.bin"/><Relationship Id="rId5" Type="http://schemas.openxmlformats.org/officeDocument/2006/relationships/tags" Target="../tags/tag477.xml"/><Relationship Id="rId4" Type="http://schemas.openxmlformats.org/officeDocument/2006/relationships/image" Target="../media/image106.png"/><Relationship Id="rId3" Type="http://schemas.openxmlformats.org/officeDocument/2006/relationships/tags" Target="../tags/tag476.xml"/><Relationship Id="rId2" Type="http://schemas.openxmlformats.org/officeDocument/2006/relationships/tags" Target="../tags/tag475.xml"/><Relationship Id="rId15" Type="http://schemas.openxmlformats.org/officeDocument/2006/relationships/notesSlide" Target="../notesSlides/notesSlide51.xml"/><Relationship Id="rId14" Type="http://schemas.openxmlformats.org/officeDocument/2006/relationships/vmlDrawing" Target="../drawings/vmlDrawing15.vml"/><Relationship Id="rId13" Type="http://schemas.openxmlformats.org/officeDocument/2006/relationships/slideLayout" Target="../slideLayouts/slideLayout10.xml"/><Relationship Id="rId12" Type="http://schemas.openxmlformats.org/officeDocument/2006/relationships/image" Target="../media/image109.png"/><Relationship Id="rId11" Type="http://schemas.openxmlformats.org/officeDocument/2006/relationships/tags" Target="../tags/tag480.xml"/><Relationship Id="rId10" Type="http://schemas.openxmlformats.org/officeDocument/2006/relationships/tags" Target="../tags/tag479.xml"/><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9" Type="http://schemas.openxmlformats.org/officeDocument/2006/relationships/image" Target="../media/image112.png"/><Relationship Id="rId8" Type="http://schemas.openxmlformats.org/officeDocument/2006/relationships/tags" Target="../tags/tag484.xml"/><Relationship Id="rId7" Type="http://schemas.openxmlformats.org/officeDocument/2006/relationships/image" Target="../media/image111.wmf"/><Relationship Id="rId6" Type="http://schemas.openxmlformats.org/officeDocument/2006/relationships/oleObject" Target="../embeddings/oleObject26.bin"/><Relationship Id="rId5" Type="http://schemas.openxmlformats.org/officeDocument/2006/relationships/tags" Target="../tags/tag483.xml"/><Relationship Id="rId4" Type="http://schemas.openxmlformats.org/officeDocument/2006/relationships/image" Target="../media/image110.png"/><Relationship Id="rId3" Type="http://schemas.openxmlformats.org/officeDocument/2006/relationships/tags" Target="../tags/tag482.xml"/><Relationship Id="rId2" Type="http://schemas.openxmlformats.org/officeDocument/2006/relationships/tags" Target="../tags/tag481.xml"/><Relationship Id="rId17" Type="http://schemas.openxmlformats.org/officeDocument/2006/relationships/notesSlide" Target="../notesSlides/notesSlide52.xml"/><Relationship Id="rId16" Type="http://schemas.openxmlformats.org/officeDocument/2006/relationships/vmlDrawing" Target="../drawings/vmlDrawing16.vml"/><Relationship Id="rId15" Type="http://schemas.openxmlformats.org/officeDocument/2006/relationships/slideLayout" Target="../slideLayouts/slideLayout10.xml"/><Relationship Id="rId14" Type="http://schemas.openxmlformats.org/officeDocument/2006/relationships/image" Target="../media/image114.png"/><Relationship Id="rId13" Type="http://schemas.openxmlformats.org/officeDocument/2006/relationships/tags" Target="../tags/tag486.xml"/><Relationship Id="rId12" Type="http://schemas.openxmlformats.org/officeDocument/2006/relationships/image" Target="../media/image113.wmf"/><Relationship Id="rId11" Type="http://schemas.openxmlformats.org/officeDocument/2006/relationships/oleObject" Target="../embeddings/oleObject27.bin"/><Relationship Id="rId10" Type="http://schemas.openxmlformats.org/officeDocument/2006/relationships/tags" Target="../tags/tag485.xml"/><Relationship Id="rId1" Type="http://schemas.openxmlformats.org/officeDocument/2006/relationships/image" Target="../media/image3.png"/></Relationships>
</file>

<file path=ppt/slides/_rels/slide53.xml.rels><?xml version="1.0" encoding="UTF-8" standalone="yes"?>
<Relationships xmlns="http://schemas.openxmlformats.org/package/2006/relationships"><Relationship Id="rId7" Type="http://schemas.openxmlformats.org/officeDocument/2006/relationships/notesSlide" Target="../notesSlides/notesSlide53.xml"/><Relationship Id="rId6" Type="http://schemas.openxmlformats.org/officeDocument/2006/relationships/vmlDrawing" Target="../drawings/vmlDrawing17.vml"/><Relationship Id="rId5" Type="http://schemas.openxmlformats.org/officeDocument/2006/relationships/slideLayout" Target="../slideLayouts/slideLayout10.xml"/><Relationship Id="rId4" Type="http://schemas.openxmlformats.org/officeDocument/2006/relationships/image" Target="../media/image115.wmf"/><Relationship Id="rId3" Type="http://schemas.openxmlformats.org/officeDocument/2006/relationships/oleObject" Target="../embeddings/oleObject28.bin"/><Relationship Id="rId2" Type="http://schemas.openxmlformats.org/officeDocument/2006/relationships/tags" Target="../tags/tag487.xml"/><Relationship Id="rId1" Type="http://schemas.openxmlformats.org/officeDocument/2006/relationships/image" Target="../media/image3.png"/></Relationships>
</file>

<file path=ppt/slides/_rels/slide54.xml.rels><?xml version="1.0" encoding="UTF-8" standalone="yes"?>
<Relationships xmlns="http://schemas.openxmlformats.org/package/2006/relationships"><Relationship Id="rId7" Type="http://schemas.openxmlformats.org/officeDocument/2006/relationships/notesSlide" Target="../notesSlides/notesSlide54.xml"/><Relationship Id="rId6" Type="http://schemas.openxmlformats.org/officeDocument/2006/relationships/vmlDrawing" Target="../drawings/vmlDrawing18.vml"/><Relationship Id="rId5" Type="http://schemas.openxmlformats.org/officeDocument/2006/relationships/slideLayout" Target="../slideLayouts/slideLayout10.xml"/><Relationship Id="rId4" Type="http://schemas.openxmlformats.org/officeDocument/2006/relationships/image" Target="../media/image116.emf"/><Relationship Id="rId3" Type="http://schemas.openxmlformats.org/officeDocument/2006/relationships/oleObject" Target="../embeddings/Document3.doc"/><Relationship Id="rId2" Type="http://schemas.openxmlformats.org/officeDocument/2006/relationships/tags" Target="../tags/tag488.xml"/><Relationship Id="rId1" Type="http://schemas.openxmlformats.org/officeDocument/2006/relationships/image" Target="../media/image3.png"/></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tags" Target="../tags/tag492.xml"/><Relationship Id="rId7" Type="http://schemas.openxmlformats.org/officeDocument/2006/relationships/image" Target="../media/image118.wmf"/><Relationship Id="rId6" Type="http://schemas.openxmlformats.org/officeDocument/2006/relationships/oleObject" Target="../embeddings/oleObject29.bin"/><Relationship Id="rId5" Type="http://schemas.openxmlformats.org/officeDocument/2006/relationships/tags" Target="../tags/tag491.xml"/><Relationship Id="rId4" Type="http://schemas.openxmlformats.org/officeDocument/2006/relationships/image" Target="../media/image117.png"/><Relationship Id="rId3" Type="http://schemas.openxmlformats.org/officeDocument/2006/relationships/tags" Target="../tags/tag490.xml"/><Relationship Id="rId2" Type="http://schemas.openxmlformats.org/officeDocument/2006/relationships/tags" Target="../tags/tag489.xml"/><Relationship Id="rId17" Type="http://schemas.openxmlformats.org/officeDocument/2006/relationships/notesSlide" Target="../notesSlides/notesSlide55.xml"/><Relationship Id="rId16" Type="http://schemas.openxmlformats.org/officeDocument/2006/relationships/vmlDrawing" Target="../drawings/vmlDrawing19.vml"/><Relationship Id="rId15" Type="http://schemas.openxmlformats.org/officeDocument/2006/relationships/slideLayout" Target="../slideLayouts/slideLayout10.xml"/><Relationship Id="rId14" Type="http://schemas.openxmlformats.org/officeDocument/2006/relationships/tags" Target="../tags/tag496.xml"/><Relationship Id="rId13" Type="http://schemas.openxmlformats.org/officeDocument/2006/relationships/tags" Target="../tags/tag495.xml"/><Relationship Id="rId12" Type="http://schemas.openxmlformats.org/officeDocument/2006/relationships/tags" Target="../tags/tag494.xml"/><Relationship Id="rId11" Type="http://schemas.openxmlformats.org/officeDocument/2006/relationships/tags" Target="../tags/tag493.xml"/><Relationship Id="rId10" Type="http://schemas.openxmlformats.org/officeDocument/2006/relationships/image" Target="../media/image119.wmf"/><Relationship Id="rId1" Type="http://schemas.openxmlformats.org/officeDocument/2006/relationships/image" Target="../media/image3.png"/></Relationships>
</file>

<file path=ppt/slides/_rels/slide56.xml.rels><?xml version="1.0" encoding="UTF-8" standalone="yes"?>
<Relationships xmlns="http://schemas.openxmlformats.org/package/2006/relationships"><Relationship Id="rId9" Type="http://schemas.openxmlformats.org/officeDocument/2006/relationships/tags" Target="../tags/tag503.xml"/><Relationship Id="rId8" Type="http://schemas.openxmlformats.org/officeDocument/2006/relationships/tags" Target="../tags/tag502.xml"/><Relationship Id="rId7" Type="http://schemas.openxmlformats.org/officeDocument/2006/relationships/tags" Target="../tags/tag501.xml"/><Relationship Id="rId6" Type="http://schemas.openxmlformats.org/officeDocument/2006/relationships/image" Target="../media/image120.png"/><Relationship Id="rId5" Type="http://schemas.openxmlformats.org/officeDocument/2006/relationships/tags" Target="../tags/tag500.xml"/><Relationship Id="rId49" Type="http://schemas.openxmlformats.org/officeDocument/2006/relationships/notesSlide" Target="../notesSlides/notesSlide56.xml"/><Relationship Id="rId48" Type="http://schemas.openxmlformats.org/officeDocument/2006/relationships/vmlDrawing" Target="../drawings/vmlDrawing20.vml"/><Relationship Id="rId47" Type="http://schemas.openxmlformats.org/officeDocument/2006/relationships/slideLayout" Target="../slideLayouts/slideLayout10.xml"/><Relationship Id="rId46" Type="http://schemas.openxmlformats.org/officeDocument/2006/relationships/image" Target="../media/image126.wmf"/><Relationship Id="rId45" Type="http://schemas.openxmlformats.org/officeDocument/2006/relationships/oleObject" Target="../embeddings/oleObject35.bin"/><Relationship Id="rId44" Type="http://schemas.openxmlformats.org/officeDocument/2006/relationships/tags" Target="../tags/tag529.xml"/><Relationship Id="rId43" Type="http://schemas.openxmlformats.org/officeDocument/2006/relationships/image" Target="../media/image125.wmf"/><Relationship Id="rId42" Type="http://schemas.openxmlformats.org/officeDocument/2006/relationships/oleObject" Target="../embeddings/oleObject34.bin"/><Relationship Id="rId41" Type="http://schemas.openxmlformats.org/officeDocument/2006/relationships/tags" Target="../tags/tag528.xml"/><Relationship Id="rId40" Type="http://schemas.openxmlformats.org/officeDocument/2006/relationships/image" Target="../media/image124.png"/><Relationship Id="rId4" Type="http://schemas.openxmlformats.org/officeDocument/2006/relationships/tags" Target="../tags/tag499.xml"/><Relationship Id="rId39" Type="http://schemas.openxmlformats.org/officeDocument/2006/relationships/tags" Target="../tags/tag527.xml"/><Relationship Id="rId38" Type="http://schemas.openxmlformats.org/officeDocument/2006/relationships/tags" Target="../tags/tag526.xml"/><Relationship Id="rId37" Type="http://schemas.openxmlformats.org/officeDocument/2006/relationships/tags" Target="../tags/tag525.xml"/><Relationship Id="rId36" Type="http://schemas.openxmlformats.org/officeDocument/2006/relationships/tags" Target="../tags/tag524.xml"/><Relationship Id="rId35" Type="http://schemas.openxmlformats.org/officeDocument/2006/relationships/tags" Target="../tags/tag523.xml"/><Relationship Id="rId34" Type="http://schemas.openxmlformats.org/officeDocument/2006/relationships/tags" Target="../tags/tag522.xml"/><Relationship Id="rId33" Type="http://schemas.openxmlformats.org/officeDocument/2006/relationships/tags" Target="../tags/tag521.xml"/><Relationship Id="rId32" Type="http://schemas.openxmlformats.org/officeDocument/2006/relationships/tags" Target="../tags/tag520.xml"/><Relationship Id="rId31" Type="http://schemas.openxmlformats.org/officeDocument/2006/relationships/image" Target="../media/image123.emf"/><Relationship Id="rId30" Type="http://schemas.openxmlformats.org/officeDocument/2006/relationships/oleObject" Target="../embeddings/oleObject33.bin"/><Relationship Id="rId3" Type="http://schemas.openxmlformats.org/officeDocument/2006/relationships/tags" Target="../tags/tag498.xml"/><Relationship Id="rId29" Type="http://schemas.openxmlformats.org/officeDocument/2006/relationships/tags" Target="../tags/tag519.xml"/><Relationship Id="rId28" Type="http://schemas.openxmlformats.org/officeDocument/2006/relationships/tags" Target="../tags/tag518.xml"/><Relationship Id="rId27" Type="http://schemas.openxmlformats.org/officeDocument/2006/relationships/tags" Target="../tags/tag517.xml"/><Relationship Id="rId26" Type="http://schemas.openxmlformats.org/officeDocument/2006/relationships/tags" Target="../tags/tag516.xml"/><Relationship Id="rId25" Type="http://schemas.openxmlformats.org/officeDocument/2006/relationships/tags" Target="../tags/tag515.xml"/><Relationship Id="rId24" Type="http://schemas.openxmlformats.org/officeDocument/2006/relationships/tags" Target="../tags/tag514.xml"/><Relationship Id="rId23" Type="http://schemas.openxmlformats.org/officeDocument/2006/relationships/tags" Target="../tags/tag513.xml"/><Relationship Id="rId22" Type="http://schemas.openxmlformats.org/officeDocument/2006/relationships/tags" Target="../tags/tag512.xml"/><Relationship Id="rId21" Type="http://schemas.openxmlformats.org/officeDocument/2006/relationships/tags" Target="../tags/tag511.xml"/><Relationship Id="rId20" Type="http://schemas.openxmlformats.org/officeDocument/2006/relationships/tags" Target="../tags/tag510.xml"/><Relationship Id="rId2" Type="http://schemas.openxmlformats.org/officeDocument/2006/relationships/tags" Target="../tags/tag497.xml"/><Relationship Id="rId19" Type="http://schemas.openxmlformats.org/officeDocument/2006/relationships/tags" Target="../tags/tag509.xml"/><Relationship Id="rId18" Type="http://schemas.openxmlformats.org/officeDocument/2006/relationships/image" Target="../media/image122.wmf"/><Relationship Id="rId17" Type="http://schemas.openxmlformats.org/officeDocument/2006/relationships/oleObject" Target="../embeddings/oleObject32.bin"/><Relationship Id="rId16" Type="http://schemas.openxmlformats.org/officeDocument/2006/relationships/tags" Target="../tags/tag508.xml"/><Relationship Id="rId15" Type="http://schemas.openxmlformats.org/officeDocument/2006/relationships/image" Target="../media/image121.wmf"/><Relationship Id="rId14" Type="http://schemas.openxmlformats.org/officeDocument/2006/relationships/oleObject" Target="../embeddings/oleObject31.bin"/><Relationship Id="rId13" Type="http://schemas.openxmlformats.org/officeDocument/2006/relationships/tags" Target="../tags/tag507.xml"/><Relationship Id="rId12" Type="http://schemas.openxmlformats.org/officeDocument/2006/relationships/tags" Target="../tags/tag506.xml"/><Relationship Id="rId11" Type="http://schemas.openxmlformats.org/officeDocument/2006/relationships/tags" Target="../tags/tag505.xml"/><Relationship Id="rId10" Type="http://schemas.openxmlformats.org/officeDocument/2006/relationships/tags" Target="../tags/tag504.xml"/><Relationship Id="rId1" Type="http://schemas.openxmlformats.org/officeDocument/2006/relationships/image" Target="../media/image3.png"/></Relationships>
</file>

<file path=ppt/slides/_rels/slide57.xml.rels><?xml version="1.0" encoding="UTF-8" standalone="yes"?>
<Relationships xmlns="http://schemas.openxmlformats.org/package/2006/relationships"><Relationship Id="rId9" Type="http://schemas.openxmlformats.org/officeDocument/2006/relationships/tags" Target="../tags/tag535.xml"/><Relationship Id="rId8" Type="http://schemas.openxmlformats.org/officeDocument/2006/relationships/image" Target="../media/image128.png"/><Relationship Id="rId7" Type="http://schemas.openxmlformats.org/officeDocument/2006/relationships/tags" Target="../tags/tag534.xml"/><Relationship Id="rId6" Type="http://schemas.openxmlformats.org/officeDocument/2006/relationships/tags" Target="../tags/tag533.xml"/><Relationship Id="rId5" Type="http://schemas.openxmlformats.org/officeDocument/2006/relationships/tags" Target="../tags/tag532.xml"/><Relationship Id="rId4" Type="http://schemas.openxmlformats.org/officeDocument/2006/relationships/image" Target="../media/image127.png"/><Relationship Id="rId3" Type="http://schemas.openxmlformats.org/officeDocument/2006/relationships/tags" Target="../tags/tag531.xml"/><Relationship Id="rId26" Type="http://schemas.openxmlformats.org/officeDocument/2006/relationships/notesSlide" Target="../notesSlides/notesSlide57.xml"/><Relationship Id="rId25" Type="http://schemas.openxmlformats.org/officeDocument/2006/relationships/vmlDrawing" Target="../drawings/vmlDrawing21.vml"/><Relationship Id="rId24" Type="http://schemas.openxmlformats.org/officeDocument/2006/relationships/slideLayout" Target="../slideLayouts/slideLayout10.xml"/><Relationship Id="rId23" Type="http://schemas.openxmlformats.org/officeDocument/2006/relationships/tags" Target="../tags/tag543.xml"/><Relationship Id="rId22" Type="http://schemas.openxmlformats.org/officeDocument/2006/relationships/tags" Target="../tags/tag542.xml"/><Relationship Id="rId21" Type="http://schemas.openxmlformats.org/officeDocument/2006/relationships/tags" Target="../tags/tag541.xml"/><Relationship Id="rId20" Type="http://schemas.openxmlformats.org/officeDocument/2006/relationships/tags" Target="../tags/tag540.xml"/><Relationship Id="rId2" Type="http://schemas.openxmlformats.org/officeDocument/2006/relationships/tags" Target="../tags/tag530.xml"/><Relationship Id="rId19" Type="http://schemas.openxmlformats.org/officeDocument/2006/relationships/tags" Target="../tags/tag539.xml"/><Relationship Id="rId18" Type="http://schemas.openxmlformats.org/officeDocument/2006/relationships/tags" Target="../tags/tag538.xml"/><Relationship Id="rId17" Type="http://schemas.openxmlformats.org/officeDocument/2006/relationships/image" Target="../media/image131.wmf"/><Relationship Id="rId16" Type="http://schemas.openxmlformats.org/officeDocument/2006/relationships/oleObject" Target="../embeddings/oleObject38.bin"/><Relationship Id="rId15" Type="http://schemas.openxmlformats.org/officeDocument/2006/relationships/tags" Target="../tags/tag537.xml"/><Relationship Id="rId14" Type="http://schemas.openxmlformats.org/officeDocument/2006/relationships/image" Target="../media/image130.wmf"/><Relationship Id="rId13" Type="http://schemas.openxmlformats.org/officeDocument/2006/relationships/oleObject" Target="../embeddings/oleObject37.bin"/><Relationship Id="rId12" Type="http://schemas.openxmlformats.org/officeDocument/2006/relationships/tags" Target="../tags/tag536.xml"/><Relationship Id="rId11" Type="http://schemas.openxmlformats.org/officeDocument/2006/relationships/image" Target="../media/image129.wmf"/><Relationship Id="rId10" Type="http://schemas.openxmlformats.org/officeDocument/2006/relationships/oleObject" Target="../embeddings/oleObject36.bin"/><Relationship Id="rId1" Type="http://schemas.openxmlformats.org/officeDocument/2006/relationships/image" Target="../media/image3.png"/></Relationships>
</file>

<file path=ppt/slides/_rels/slide58.xml.rels><?xml version="1.0" encoding="UTF-8" standalone="yes"?>
<Relationships xmlns="http://schemas.openxmlformats.org/package/2006/relationships"><Relationship Id="rId9" Type="http://schemas.openxmlformats.org/officeDocument/2006/relationships/tags" Target="../tags/tag547.xml"/><Relationship Id="rId8" Type="http://schemas.openxmlformats.org/officeDocument/2006/relationships/image" Target="../media/image133.wmf"/><Relationship Id="rId7" Type="http://schemas.openxmlformats.org/officeDocument/2006/relationships/oleObject" Target="../embeddings/oleObject40.bin"/><Relationship Id="rId6" Type="http://schemas.openxmlformats.org/officeDocument/2006/relationships/tags" Target="../tags/tag546.xml"/><Relationship Id="rId5" Type="http://schemas.openxmlformats.org/officeDocument/2006/relationships/image" Target="../media/image132.wmf"/><Relationship Id="rId4" Type="http://schemas.openxmlformats.org/officeDocument/2006/relationships/oleObject" Target="../embeddings/oleObject39.bin"/><Relationship Id="rId3" Type="http://schemas.openxmlformats.org/officeDocument/2006/relationships/tags" Target="../tags/tag545.xml"/><Relationship Id="rId2" Type="http://schemas.openxmlformats.org/officeDocument/2006/relationships/tags" Target="../tags/tag544.xml"/><Relationship Id="rId12" Type="http://schemas.openxmlformats.org/officeDocument/2006/relationships/notesSlide" Target="../notesSlides/notesSlide58.xml"/><Relationship Id="rId11" Type="http://schemas.openxmlformats.org/officeDocument/2006/relationships/vmlDrawing" Target="../drawings/vmlDrawing22.vml"/><Relationship Id="rId10" Type="http://schemas.openxmlformats.org/officeDocument/2006/relationships/slideLayout" Target="../slideLayouts/slideLayout10.xml"/><Relationship Id="rId1" Type="http://schemas.openxmlformats.org/officeDocument/2006/relationships/image" Target="../media/image3.png"/></Relationships>
</file>

<file path=ppt/slides/_rels/slide59.xml.rels><?xml version="1.0" encoding="UTF-8" standalone="yes"?>
<Relationships xmlns="http://schemas.openxmlformats.org/package/2006/relationships"><Relationship Id="rId9" Type="http://schemas.openxmlformats.org/officeDocument/2006/relationships/tags" Target="../tags/tag551.xml"/><Relationship Id="rId8" Type="http://schemas.openxmlformats.org/officeDocument/2006/relationships/image" Target="../media/image136.wmf"/><Relationship Id="rId7" Type="http://schemas.openxmlformats.org/officeDocument/2006/relationships/oleObject" Target="../embeddings/oleObject41.bin"/><Relationship Id="rId6" Type="http://schemas.openxmlformats.org/officeDocument/2006/relationships/tags" Target="../tags/tag550.xml"/><Relationship Id="rId5" Type="http://schemas.openxmlformats.org/officeDocument/2006/relationships/image" Target="../media/image135.png"/><Relationship Id="rId4" Type="http://schemas.openxmlformats.org/officeDocument/2006/relationships/tags" Target="../tags/tag549.xml"/><Relationship Id="rId3" Type="http://schemas.openxmlformats.org/officeDocument/2006/relationships/image" Target="../media/image134.png"/><Relationship Id="rId29" Type="http://schemas.openxmlformats.org/officeDocument/2006/relationships/notesSlide" Target="../notesSlides/notesSlide59.xml"/><Relationship Id="rId28" Type="http://schemas.openxmlformats.org/officeDocument/2006/relationships/vmlDrawing" Target="../drawings/vmlDrawing23.vml"/><Relationship Id="rId27" Type="http://schemas.openxmlformats.org/officeDocument/2006/relationships/slideLayout" Target="../slideLayouts/slideLayout10.xml"/><Relationship Id="rId26" Type="http://schemas.openxmlformats.org/officeDocument/2006/relationships/tags" Target="../tags/tag558.xml"/><Relationship Id="rId25" Type="http://schemas.openxmlformats.org/officeDocument/2006/relationships/tags" Target="../tags/tag557.xml"/><Relationship Id="rId24" Type="http://schemas.openxmlformats.org/officeDocument/2006/relationships/image" Target="../media/image141.wmf"/><Relationship Id="rId23" Type="http://schemas.openxmlformats.org/officeDocument/2006/relationships/oleObject" Target="../embeddings/oleObject46.bin"/><Relationship Id="rId22" Type="http://schemas.openxmlformats.org/officeDocument/2006/relationships/tags" Target="../tags/tag556.xml"/><Relationship Id="rId21" Type="http://schemas.openxmlformats.org/officeDocument/2006/relationships/image" Target="../media/image140.wmf"/><Relationship Id="rId20" Type="http://schemas.openxmlformats.org/officeDocument/2006/relationships/oleObject" Target="../embeddings/oleObject45.bin"/><Relationship Id="rId2" Type="http://schemas.openxmlformats.org/officeDocument/2006/relationships/tags" Target="../tags/tag548.xml"/><Relationship Id="rId19" Type="http://schemas.openxmlformats.org/officeDocument/2006/relationships/tags" Target="../tags/tag555.xml"/><Relationship Id="rId18" Type="http://schemas.openxmlformats.org/officeDocument/2006/relationships/image" Target="../media/image139.wmf"/><Relationship Id="rId17" Type="http://schemas.openxmlformats.org/officeDocument/2006/relationships/oleObject" Target="../embeddings/oleObject44.bin"/><Relationship Id="rId16" Type="http://schemas.openxmlformats.org/officeDocument/2006/relationships/tags" Target="../tags/tag554.xml"/><Relationship Id="rId15" Type="http://schemas.openxmlformats.org/officeDocument/2006/relationships/tags" Target="../tags/tag553.xml"/><Relationship Id="rId14" Type="http://schemas.openxmlformats.org/officeDocument/2006/relationships/image" Target="../media/image138.wmf"/><Relationship Id="rId13" Type="http://schemas.openxmlformats.org/officeDocument/2006/relationships/oleObject" Target="../embeddings/oleObject43.bin"/><Relationship Id="rId12" Type="http://schemas.openxmlformats.org/officeDocument/2006/relationships/tags" Target="../tags/tag552.xml"/><Relationship Id="rId11" Type="http://schemas.openxmlformats.org/officeDocument/2006/relationships/image" Target="../media/image137.wmf"/><Relationship Id="rId10" Type="http://schemas.openxmlformats.org/officeDocument/2006/relationships/oleObject" Target="../embeddings/oleObject42.bin"/><Relationship Id="rId1" Type="http://schemas.openxmlformats.org/officeDocument/2006/relationships/image" Target="../media/image3.png"/></Relationships>
</file>

<file path=ppt/slides/_rels/slide60.xml.rels><?xml version="1.0" encoding="UTF-8" standalone="yes"?>
<Relationships xmlns="http://schemas.openxmlformats.org/package/2006/relationships"><Relationship Id="rId9" Type="http://schemas.openxmlformats.org/officeDocument/2006/relationships/tags" Target="../tags/tag562.xml"/><Relationship Id="rId8" Type="http://schemas.openxmlformats.org/officeDocument/2006/relationships/image" Target="../media/image143.emf"/><Relationship Id="rId7" Type="http://schemas.openxmlformats.org/officeDocument/2006/relationships/oleObject" Target="../embeddings/oleObject48.bin"/><Relationship Id="rId6" Type="http://schemas.openxmlformats.org/officeDocument/2006/relationships/tags" Target="../tags/tag561.xml"/><Relationship Id="rId5" Type="http://schemas.openxmlformats.org/officeDocument/2006/relationships/image" Target="../media/image142.wmf"/><Relationship Id="rId4" Type="http://schemas.openxmlformats.org/officeDocument/2006/relationships/oleObject" Target="../embeddings/oleObject47.bin"/><Relationship Id="rId3" Type="http://schemas.openxmlformats.org/officeDocument/2006/relationships/tags" Target="../tags/tag560.xml"/><Relationship Id="rId2" Type="http://schemas.openxmlformats.org/officeDocument/2006/relationships/tags" Target="../tags/tag559.xml"/><Relationship Id="rId15" Type="http://schemas.openxmlformats.org/officeDocument/2006/relationships/notesSlide" Target="../notesSlides/notesSlide60.xml"/><Relationship Id="rId14" Type="http://schemas.openxmlformats.org/officeDocument/2006/relationships/vmlDrawing" Target="../drawings/vmlDrawing24.vml"/><Relationship Id="rId13" Type="http://schemas.openxmlformats.org/officeDocument/2006/relationships/slideLayout" Target="../slideLayouts/slideLayout10.xml"/><Relationship Id="rId12" Type="http://schemas.openxmlformats.org/officeDocument/2006/relationships/tags" Target="../tags/tag563.xml"/><Relationship Id="rId11" Type="http://schemas.openxmlformats.org/officeDocument/2006/relationships/image" Target="../media/image144.emf"/><Relationship Id="rId10" Type="http://schemas.openxmlformats.org/officeDocument/2006/relationships/oleObject" Target="../embeddings/oleObject49.bin"/><Relationship Id="rId1" Type="http://schemas.openxmlformats.org/officeDocument/2006/relationships/image" Target="../media/image3.png"/></Relationships>
</file>

<file path=ppt/slides/_rels/slide61.xml.rels><?xml version="1.0" encoding="UTF-8" standalone="yes"?>
<Relationships xmlns="http://schemas.openxmlformats.org/package/2006/relationships"><Relationship Id="rId9" Type="http://schemas.openxmlformats.org/officeDocument/2006/relationships/tags" Target="../tags/tag569.xml"/><Relationship Id="rId8" Type="http://schemas.openxmlformats.org/officeDocument/2006/relationships/tags" Target="../tags/tag568.xml"/><Relationship Id="rId7" Type="http://schemas.openxmlformats.org/officeDocument/2006/relationships/tags" Target="../tags/tag567.xml"/><Relationship Id="rId6" Type="http://schemas.openxmlformats.org/officeDocument/2006/relationships/tags" Target="../tags/tag566.xml"/><Relationship Id="rId5" Type="http://schemas.openxmlformats.org/officeDocument/2006/relationships/image" Target="../media/image145.wmf"/><Relationship Id="rId4" Type="http://schemas.openxmlformats.org/officeDocument/2006/relationships/oleObject" Target="../embeddings/oleObject50.bin"/><Relationship Id="rId3" Type="http://schemas.openxmlformats.org/officeDocument/2006/relationships/tags" Target="../tags/tag565.xml"/><Relationship Id="rId26" Type="http://schemas.openxmlformats.org/officeDocument/2006/relationships/notesSlide" Target="../notesSlides/notesSlide61.xml"/><Relationship Id="rId25" Type="http://schemas.openxmlformats.org/officeDocument/2006/relationships/vmlDrawing" Target="../drawings/vmlDrawing25.vml"/><Relationship Id="rId24" Type="http://schemas.openxmlformats.org/officeDocument/2006/relationships/slideLayout" Target="../slideLayouts/slideLayout10.xml"/><Relationship Id="rId23" Type="http://schemas.openxmlformats.org/officeDocument/2006/relationships/image" Target="../media/image148.wmf"/><Relationship Id="rId22" Type="http://schemas.openxmlformats.org/officeDocument/2006/relationships/oleObject" Target="../embeddings/oleObject52.bin"/><Relationship Id="rId21" Type="http://schemas.openxmlformats.org/officeDocument/2006/relationships/tags" Target="../tags/tag578.xml"/><Relationship Id="rId20" Type="http://schemas.openxmlformats.org/officeDocument/2006/relationships/image" Target="../media/image147.png"/><Relationship Id="rId2" Type="http://schemas.openxmlformats.org/officeDocument/2006/relationships/tags" Target="../tags/tag564.xml"/><Relationship Id="rId19" Type="http://schemas.openxmlformats.org/officeDocument/2006/relationships/tags" Target="../tags/tag577.xml"/><Relationship Id="rId18" Type="http://schemas.openxmlformats.org/officeDocument/2006/relationships/tags" Target="../tags/tag576.xml"/><Relationship Id="rId17" Type="http://schemas.openxmlformats.org/officeDocument/2006/relationships/tags" Target="../tags/tag575.xml"/><Relationship Id="rId16" Type="http://schemas.openxmlformats.org/officeDocument/2006/relationships/tags" Target="../tags/tag574.xml"/><Relationship Id="rId15" Type="http://schemas.openxmlformats.org/officeDocument/2006/relationships/image" Target="../media/image146.emf"/><Relationship Id="rId14" Type="http://schemas.openxmlformats.org/officeDocument/2006/relationships/oleObject" Target="../embeddings/oleObject51.bin"/><Relationship Id="rId13" Type="http://schemas.openxmlformats.org/officeDocument/2006/relationships/tags" Target="../tags/tag573.xml"/><Relationship Id="rId12" Type="http://schemas.openxmlformats.org/officeDocument/2006/relationships/tags" Target="../tags/tag572.xml"/><Relationship Id="rId11" Type="http://schemas.openxmlformats.org/officeDocument/2006/relationships/tags" Target="../tags/tag571.xml"/><Relationship Id="rId10" Type="http://schemas.openxmlformats.org/officeDocument/2006/relationships/tags" Target="../tags/tag570.xml"/><Relationship Id="rId1" Type="http://schemas.openxmlformats.org/officeDocument/2006/relationships/image" Target="../media/image3.png"/></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62.xml"/><Relationship Id="rId4" Type="http://schemas.openxmlformats.org/officeDocument/2006/relationships/slideLayout" Target="../slideLayouts/slideLayout10.xml"/><Relationship Id="rId3" Type="http://schemas.openxmlformats.org/officeDocument/2006/relationships/tags" Target="../tags/tag580.xml"/><Relationship Id="rId2" Type="http://schemas.openxmlformats.org/officeDocument/2006/relationships/tags" Target="../tags/tag579.xml"/><Relationship Id="rId1" Type="http://schemas.openxmlformats.org/officeDocument/2006/relationships/image" Target="../media/image3.png"/></Relationships>
</file>

<file path=ppt/slides/_rels/slide63.xml.rels><?xml version="1.0" encoding="UTF-8" standalone="yes"?>
<Relationships xmlns="http://schemas.openxmlformats.org/package/2006/relationships"><Relationship Id="rId9" Type="http://schemas.openxmlformats.org/officeDocument/2006/relationships/tags" Target="../tags/tag588.xml"/><Relationship Id="rId8" Type="http://schemas.openxmlformats.org/officeDocument/2006/relationships/tags" Target="../tags/tag587.xml"/><Relationship Id="rId7" Type="http://schemas.openxmlformats.org/officeDocument/2006/relationships/tags" Target="../tags/tag586.xml"/><Relationship Id="rId6" Type="http://schemas.openxmlformats.org/officeDocument/2006/relationships/tags" Target="../tags/tag585.xml"/><Relationship Id="rId5" Type="http://schemas.openxmlformats.org/officeDocument/2006/relationships/tags" Target="../tags/tag584.xml"/><Relationship Id="rId4" Type="http://schemas.openxmlformats.org/officeDocument/2006/relationships/tags" Target="../tags/tag583.xml"/><Relationship Id="rId3" Type="http://schemas.openxmlformats.org/officeDocument/2006/relationships/tags" Target="../tags/tag582.xml"/><Relationship Id="rId22" Type="http://schemas.openxmlformats.org/officeDocument/2006/relationships/notesSlide" Target="../notesSlides/notesSlide63.xml"/><Relationship Id="rId21" Type="http://schemas.openxmlformats.org/officeDocument/2006/relationships/slideLayout" Target="../slideLayouts/slideLayout10.xml"/><Relationship Id="rId20" Type="http://schemas.openxmlformats.org/officeDocument/2006/relationships/tags" Target="../tags/tag599.xml"/><Relationship Id="rId2" Type="http://schemas.openxmlformats.org/officeDocument/2006/relationships/tags" Target="../tags/tag581.xml"/><Relationship Id="rId19" Type="http://schemas.openxmlformats.org/officeDocument/2006/relationships/tags" Target="../tags/tag598.xml"/><Relationship Id="rId18" Type="http://schemas.openxmlformats.org/officeDocument/2006/relationships/tags" Target="../tags/tag597.xml"/><Relationship Id="rId17" Type="http://schemas.openxmlformats.org/officeDocument/2006/relationships/tags" Target="../tags/tag596.xml"/><Relationship Id="rId16" Type="http://schemas.openxmlformats.org/officeDocument/2006/relationships/tags" Target="../tags/tag595.xml"/><Relationship Id="rId15" Type="http://schemas.openxmlformats.org/officeDocument/2006/relationships/tags" Target="../tags/tag594.xml"/><Relationship Id="rId14" Type="http://schemas.openxmlformats.org/officeDocument/2006/relationships/tags" Target="../tags/tag593.xml"/><Relationship Id="rId13" Type="http://schemas.openxmlformats.org/officeDocument/2006/relationships/tags" Target="../tags/tag592.xml"/><Relationship Id="rId12" Type="http://schemas.openxmlformats.org/officeDocument/2006/relationships/tags" Target="../tags/tag591.xml"/><Relationship Id="rId11" Type="http://schemas.openxmlformats.org/officeDocument/2006/relationships/tags" Target="../tags/tag590.xml"/><Relationship Id="rId10" Type="http://schemas.openxmlformats.org/officeDocument/2006/relationships/tags" Target="../tags/tag589.xml"/><Relationship Id="rId1" Type="http://schemas.openxmlformats.org/officeDocument/2006/relationships/image" Target="../media/image3.png"/></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tags" Target="../tags/tag604.xml"/><Relationship Id="rId72" Type="http://schemas.openxmlformats.org/officeDocument/2006/relationships/notesSlide" Target="../notesSlides/notesSlide64.xml"/><Relationship Id="rId71" Type="http://schemas.openxmlformats.org/officeDocument/2006/relationships/vmlDrawing" Target="../drawings/vmlDrawing26.vml"/><Relationship Id="rId70" Type="http://schemas.openxmlformats.org/officeDocument/2006/relationships/slideLayout" Target="../slideLayouts/slideLayout10.xml"/><Relationship Id="rId7" Type="http://schemas.openxmlformats.org/officeDocument/2006/relationships/image" Target="../media/image149.wmf"/><Relationship Id="rId69" Type="http://schemas.openxmlformats.org/officeDocument/2006/relationships/tags" Target="../tags/tag648.xml"/><Relationship Id="rId68" Type="http://schemas.openxmlformats.org/officeDocument/2006/relationships/tags" Target="../tags/tag647.xml"/><Relationship Id="rId67" Type="http://schemas.openxmlformats.org/officeDocument/2006/relationships/oleObject" Target="../embeddings/oleObject64.bin"/><Relationship Id="rId66" Type="http://schemas.openxmlformats.org/officeDocument/2006/relationships/tags" Target="../tags/tag646.xml"/><Relationship Id="rId65" Type="http://schemas.openxmlformats.org/officeDocument/2006/relationships/tags" Target="../tags/tag645.xml"/><Relationship Id="rId64" Type="http://schemas.openxmlformats.org/officeDocument/2006/relationships/tags" Target="../tags/tag644.xml"/><Relationship Id="rId63" Type="http://schemas.openxmlformats.org/officeDocument/2006/relationships/image" Target="../media/image155.png"/><Relationship Id="rId62" Type="http://schemas.openxmlformats.org/officeDocument/2006/relationships/tags" Target="../tags/tag643.xml"/><Relationship Id="rId61" Type="http://schemas.openxmlformats.org/officeDocument/2006/relationships/tags" Target="../tags/tag642.xml"/><Relationship Id="rId60" Type="http://schemas.openxmlformats.org/officeDocument/2006/relationships/oleObject" Target="../embeddings/oleObject63.bin"/><Relationship Id="rId6" Type="http://schemas.openxmlformats.org/officeDocument/2006/relationships/oleObject" Target="../embeddings/oleObject53.bin"/><Relationship Id="rId59" Type="http://schemas.openxmlformats.org/officeDocument/2006/relationships/tags" Target="../tags/tag641.xml"/><Relationship Id="rId58" Type="http://schemas.openxmlformats.org/officeDocument/2006/relationships/tags" Target="../tags/tag640.xml"/><Relationship Id="rId57" Type="http://schemas.openxmlformats.org/officeDocument/2006/relationships/tags" Target="../tags/tag639.xml"/><Relationship Id="rId56" Type="http://schemas.openxmlformats.org/officeDocument/2006/relationships/image" Target="../media/image154.emf"/><Relationship Id="rId55" Type="http://schemas.openxmlformats.org/officeDocument/2006/relationships/oleObject" Target="../embeddings/oleObject62.bin"/><Relationship Id="rId54" Type="http://schemas.openxmlformats.org/officeDocument/2006/relationships/tags" Target="../tags/tag638.xml"/><Relationship Id="rId53" Type="http://schemas.openxmlformats.org/officeDocument/2006/relationships/oleObject" Target="../embeddings/oleObject61.bin"/><Relationship Id="rId52" Type="http://schemas.openxmlformats.org/officeDocument/2006/relationships/tags" Target="../tags/tag637.xml"/><Relationship Id="rId51" Type="http://schemas.openxmlformats.org/officeDocument/2006/relationships/oleObject" Target="../embeddings/oleObject60.bin"/><Relationship Id="rId50" Type="http://schemas.openxmlformats.org/officeDocument/2006/relationships/tags" Target="../tags/tag636.xml"/><Relationship Id="rId5" Type="http://schemas.openxmlformats.org/officeDocument/2006/relationships/tags" Target="../tags/tag603.xml"/><Relationship Id="rId49" Type="http://schemas.openxmlformats.org/officeDocument/2006/relationships/tags" Target="../tags/tag635.xml"/><Relationship Id="rId48" Type="http://schemas.openxmlformats.org/officeDocument/2006/relationships/tags" Target="../tags/tag634.xml"/><Relationship Id="rId47" Type="http://schemas.openxmlformats.org/officeDocument/2006/relationships/tags" Target="../tags/tag633.xml"/><Relationship Id="rId46" Type="http://schemas.openxmlformats.org/officeDocument/2006/relationships/tags" Target="../tags/tag632.xml"/><Relationship Id="rId45" Type="http://schemas.openxmlformats.org/officeDocument/2006/relationships/tags" Target="../tags/tag631.xml"/><Relationship Id="rId44" Type="http://schemas.openxmlformats.org/officeDocument/2006/relationships/tags" Target="../tags/tag630.xml"/><Relationship Id="rId43" Type="http://schemas.openxmlformats.org/officeDocument/2006/relationships/tags" Target="../tags/tag629.xml"/><Relationship Id="rId42" Type="http://schemas.openxmlformats.org/officeDocument/2006/relationships/tags" Target="../tags/tag628.xml"/><Relationship Id="rId41" Type="http://schemas.openxmlformats.org/officeDocument/2006/relationships/tags" Target="../tags/tag627.xml"/><Relationship Id="rId40" Type="http://schemas.openxmlformats.org/officeDocument/2006/relationships/tags" Target="../tags/tag626.xml"/><Relationship Id="rId4" Type="http://schemas.openxmlformats.org/officeDocument/2006/relationships/tags" Target="../tags/tag602.xml"/><Relationship Id="rId39" Type="http://schemas.openxmlformats.org/officeDocument/2006/relationships/oleObject" Target="../embeddings/oleObject59.bin"/><Relationship Id="rId38" Type="http://schemas.openxmlformats.org/officeDocument/2006/relationships/tags" Target="../tags/tag625.xml"/><Relationship Id="rId37" Type="http://schemas.openxmlformats.org/officeDocument/2006/relationships/oleObject" Target="../embeddings/oleObject58.bin"/><Relationship Id="rId36" Type="http://schemas.openxmlformats.org/officeDocument/2006/relationships/tags" Target="../tags/tag624.xml"/><Relationship Id="rId35" Type="http://schemas.openxmlformats.org/officeDocument/2006/relationships/tags" Target="../tags/tag623.xml"/><Relationship Id="rId34" Type="http://schemas.openxmlformats.org/officeDocument/2006/relationships/tags" Target="../tags/tag622.xml"/><Relationship Id="rId33" Type="http://schemas.openxmlformats.org/officeDocument/2006/relationships/tags" Target="../tags/tag621.xml"/><Relationship Id="rId32" Type="http://schemas.openxmlformats.org/officeDocument/2006/relationships/image" Target="../media/image153.emf"/><Relationship Id="rId31" Type="http://schemas.openxmlformats.org/officeDocument/2006/relationships/oleObject" Target="../embeddings/oleObject57.bin"/><Relationship Id="rId30" Type="http://schemas.openxmlformats.org/officeDocument/2006/relationships/tags" Target="../tags/tag620.xml"/><Relationship Id="rId3" Type="http://schemas.openxmlformats.org/officeDocument/2006/relationships/tags" Target="../tags/tag601.xml"/><Relationship Id="rId29" Type="http://schemas.openxmlformats.org/officeDocument/2006/relationships/tags" Target="../tags/tag619.xml"/><Relationship Id="rId28" Type="http://schemas.openxmlformats.org/officeDocument/2006/relationships/tags" Target="../tags/tag618.xml"/><Relationship Id="rId27" Type="http://schemas.openxmlformats.org/officeDocument/2006/relationships/tags" Target="../tags/tag617.xml"/><Relationship Id="rId26" Type="http://schemas.openxmlformats.org/officeDocument/2006/relationships/tags" Target="../tags/tag616.xml"/><Relationship Id="rId25" Type="http://schemas.openxmlformats.org/officeDocument/2006/relationships/tags" Target="../tags/tag615.xml"/><Relationship Id="rId24" Type="http://schemas.openxmlformats.org/officeDocument/2006/relationships/tags" Target="../tags/tag614.xml"/><Relationship Id="rId23" Type="http://schemas.openxmlformats.org/officeDocument/2006/relationships/tags" Target="../tags/tag613.xml"/><Relationship Id="rId22" Type="http://schemas.openxmlformats.org/officeDocument/2006/relationships/tags" Target="../tags/tag612.xml"/><Relationship Id="rId21" Type="http://schemas.openxmlformats.org/officeDocument/2006/relationships/tags" Target="../tags/tag611.xml"/><Relationship Id="rId20" Type="http://schemas.openxmlformats.org/officeDocument/2006/relationships/tags" Target="../tags/tag610.xml"/><Relationship Id="rId2" Type="http://schemas.openxmlformats.org/officeDocument/2006/relationships/tags" Target="../tags/tag600.xml"/><Relationship Id="rId19" Type="http://schemas.openxmlformats.org/officeDocument/2006/relationships/tags" Target="../tags/tag609.xml"/><Relationship Id="rId18" Type="http://schemas.openxmlformats.org/officeDocument/2006/relationships/tags" Target="../tags/tag608.xml"/><Relationship Id="rId17" Type="http://schemas.openxmlformats.org/officeDocument/2006/relationships/tags" Target="../tags/tag607.xml"/><Relationship Id="rId16" Type="http://schemas.openxmlformats.org/officeDocument/2006/relationships/image" Target="../media/image152.wmf"/><Relationship Id="rId15" Type="http://schemas.openxmlformats.org/officeDocument/2006/relationships/oleObject" Target="../embeddings/oleObject56.bin"/><Relationship Id="rId14" Type="http://schemas.openxmlformats.org/officeDocument/2006/relationships/tags" Target="../tags/tag606.xml"/><Relationship Id="rId13" Type="http://schemas.openxmlformats.org/officeDocument/2006/relationships/image" Target="../media/image151.wmf"/><Relationship Id="rId12" Type="http://schemas.openxmlformats.org/officeDocument/2006/relationships/oleObject" Target="../embeddings/oleObject55.bin"/><Relationship Id="rId11" Type="http://schemas.openxmlformats.org/officeDocument/2006/relationships/tags" Target="../tags/tag605.xml"/><Relationship Id="rId10" Type="http://schemas.openxmlformats.org/officeDocument/2006/relationships/image" Target="../media/image150.wmf"/><Relationship Id="rId1" Type="http://schemas.openxmlformats.org/officeDocument/2006/relationships/image" Target="../media/image3.png"/></Relationships>
</file>

<file path=ppt/slides/_rels/slide65.xml.rels><?xml version="1.0" encoding="UTF-8" standalone="yes"?>
<Relationships xmlns="http://schemas.openxmlformats.org/package/2006/relationships"><Relationship Id="rId9" Type="http://schemas.openxmlformats.org/officeDocument/2006/relationships/tags" Target="../tags/tag653.xml"/><Relationship Id="rId8" Type="http://schemas.openxmlformats.org/officeDocument/2006/relationships/image" Target="../media/image157.png"/><Relationship Id="rId7" Type="http://schemas.openxmlformats.org/officeDocument/2006/relationships/tags" Target="../tags/tag652.xml"/><Relationship Id="rId6" Type="http://schemas.openxmlformats.org/officeDocument/2006/relationships/image" Target="../media/image156.wmf"/><Relationship Id="rId5" Type="http://schemas.openxmlformats.org/officeDocument/2006/relationships/oleObject" Target="../embeddings/oleObject65.bin"/><Relationship Id="rId4" Type="http://schemas.openxmlformats.org/officeDocument/2006/relationships/tags" Target="../tags/tag651.xml"/><Relationship Id="rId3" Type="http://schemas.openxmlformats.org/officeDocument/2006/relationships/tags" Target="../tags/tag650.xml"/><Relationship Id="rId24" Type="http://schemas.openxmlformats.org/officeDocument/2006/relationships/notesSlide" Target="../notesSlides/notesSlide65.xml"/><Relationship Id="rId23" Type="http://schemas.openxmlformats.org/officeDocument/2006/relationships/vmlDrawing" Target="../drawings/vmlDrawing27.vml"/><Relationship Id="rId22" Type="http://schemas.openxmlformats.org/officeDocument/2006/relationships/slideLayout" Target="../slideLayouts/slideLayout10.xml"/><Relationship Id="rId21" Type="http://schemas.openxmlformats.org/officeDocument/2006/relationships/tags" Target="../tags/tag657.xml"/><Relationship Id="rId20" Type="http://schemas.openxmlformats.org/officeDocument/2006/relationships/image" Target="../media/image161.wmf"/><Relationship Id="rId2" Type="http://schemas.openxmlformats.org/officeDocument/2006/relationships/tags" Target="../tags/tag649.xml"/><Relationship Id="rId19" Type="http://schemas.openxmlformats.org/officeDocument/2006/relationships/oleObject" Target="../embeddings/oleObject69.bin"/><Relationship Id="rId18" Type="http://schemas.openxmlformats.org/officeDocument/2006/relationships/tags" Target="../tags/tag656.xml"/><Relationship Id="rId17" Type="http://schemas.openxmlformats.org/officeDocument/2006/relationships/image" Target="../media/image160.emf"/><Relationship Id="rId16" Type="http://schemas.openxmlformats.org/officeDocument/2006/relationships/oleObject" Target="../embeddings/oleObject68.bin"/><Relationship Id="rId15" Type="http://schemas.openxmlformats.org/officeDocument/2006/relationships/tags" Target="../tags/tag655.xml"/><Relationship Id="rId14" Type="http://schemas.openxmlformats.org/officeDocument/2006/relationships/image" Target="../media/image159.wmf"/><Relationship Id="rId13" Type="http://schemas.openxmlformats.org/officeDocument/2006/relationships/oleObject" Target="../embeddings/oleObject67.bin"/><Relationship Id="rId12" Type="http://schemas.openxmlformats.org/officeDocument/2006/relationships/tags" Target="../tags/tag654.xml"/><Relationship Id="rId11" Type="http://schemas.openxmlformats.org/officeDocument/2006/relationships/image" Target="../media/image158.emf"/><Relationship Id="rId10" Type="http://schemas.openxmlformats.org/officeDocument/2006/relationships/oleObject" Target="../embeddings/oleObject66.bin"/><Relationship Id="rId1" Type="http://schemas.openxmlformats.org/officeDocument/2006/relationships/image" Target="../media/image3.png"/></Relationships>
</file>

<file path=ppt/slides/_rels/slide66.xml.rels><?xml version="1.0" encoding="UTF-8" standalone="yes"?>
<Relationships xmlns="http://schemas.openxmlformats.org/package/2006/relationships"><Relationship Id="rId9" Type="http://schemas.openxmlformats.org/officeDocument/2006/relationships/image" Target="../media/image164.wmf"/><Relationship Id="rId8" Type="http://schemas.openxmlformats.org/officeDocument/2006/relationships/oleObject" Target="../embeddings/oleObject71.bin"/><Relationship Id="rId7" Type="http://schemas.openxmlformats.org/officeDocument/2006/relationships/tags" Target="../tags/tag660.xml"/><Relationship Id="rId6" Type="http://schemas.openxmlformats.org/officeDocument/2006/relationships/image" Target="../media/image163.wmf"/><Relationship Id="rId5" Type="http://schemas.openxmlformats.org/officeDocument/2006/relationships/oleObject" Target="../embeddings/oleObject70.bin"/><Relationship Id="rId46" Type="http://schemas.openxmlformats.org/officeDocument/2006/relationships/notesSlide" Target="../notesSlides/notesSlide66.xml"/><Relationship Id="rId45" Type="http://schemas.openxmlformats.org/officeDocument/2006/relationships/vmlDrawing" Target="../drawings/vmlDrawing28.vml"/><Relationship Id="rId44" Type="http://schemas.openxmlformats.org/officeDocument/2006/relationships/slideLayout" Target="../slideLayouts/slideLayout10.xml"/><Relationship Id="rId43" Type="http://schemas.openxmlformats.org/officeDocument/2006/relationships/image" Target="../media/image175.wmf"/><Relationship Id="rId42" Type="http://schemas.openxmlformats.org/officeDocument/2006/relationships/oleObject" Target="../embeddings/oleObject82.bin"/><Relationship Id="rId41" Type="http://schemas.openxmlformats.org/officeDocument/2006/relationships/tags" Target="../tags/tag672.xml"/><Relationship Id="rId40" Type="http://schemas.openxmlformats.org/officeDocument/2006/relationships/image" Target="../media/image174.wmf"/><Relationship Id="rId4" Type="http://schemas.openxmlformats.org/officeDocument/2006/relationships/tags" Target="../tags/tag659.xml"/><Relationship Id="rId39" Type="http://schemas.openxmlformats.org/officeDocument/2006/relationships/oleObject" Target="../embeddings/oleObject81.bin"/><Relationship Id="rId38" Type="http://schemas.openxmlformats.org/officeDocument/2006/relationships/tags" Target="../tags/tag671.xml"/><Relationship Id="rId37" Type="http://schemas.openxmlformats.org/officeDocument/2006/relationships/tags" Target="../tags/tag670.xml"/><Relationship Id="rId36" Type="http://schemas.openxmlformats.org/officeDocument/2006/relationships/image" Target="../media/image173.wmf"/><Relationship Id="rId35" Type="http://schemas.openxmlformats.org/officeDocument/2006/relationships/oleObject" Target="../embeddings/oleObject80.bin"/><Relationship Id="rId34" Type="http://schemas.openxmlformats.org/officeDocument/2006/relationships/tags" Target="../tags/tag669.xml"/><Relationship Id="rId33" Type="http://schemas.openxmlformats.org/officeDocument/2006/relationships/image" Target="../media/image172.wmf"/><Relationship Id="rId32" Type="http://schemas.openxmlformats.org/officeDocument/2006/relationships/oleObject" Target="../embeddings/oleObject79.bin"/><Relationship Id="rId31" Type="http://schemas.openxmlformats.org/officeDocument/2006/relationships/tags" Target="../tags/tag668.xml"/><Relationship Id="rId30" Type="http://schemas.openxmlformats.org/officeDocument/2006/relationships/image" Target="../media/image171.wmf"/><Relationship Id="rId3" Type="http://schemas.openxmlformats.org/officeDocument/2006/relationships/image" Target="../media/image162.png"/><Relationship Id="rId29" Type="http://schemas.openxmlformats.org/officeDocument/2006/relationships/oleObject" Target="../embeddings/oleObject78.bin"/><Relationship Id="rId28" Type="http://schemas.openxmlformats.org/officeDocument/2006/relationships/tags" Target="../tags/tag667.xml"/><Relationship Id="rId27" Type="http://schemas.openxmlformats.org/officeDocument/2006/relationships/image" Target="../media/image170.wmf"/><Relationship Id="rId26" Type="http://schemas.openxmlformats.org/officeDocument/2006/relationships/oleObject" Target="../embeddings/oleObject77.bin"/><Relationship Id="rId25" Type="http://schemas.openxmlformats.org/officeDocument/2006/relationships/tags" Target="../tags/tag666.xml"/><Relationship Id="rId24" Type="http://schemas.openxmlformats.org/officeDocument/2006/relationships/image" Target="../media/image169.wmf"/><Relationship Id="rId23" Type="http://schemas.openxmlformats.org/officeDocument/2006/relationships/oleObject" Target="../embeddings/oleObject76.bin"/><Relationship Id="rId22" Type="http://schemas.openxmlformats.org/officeDocument/2006/relationships/tags" Target="../tags/tag665.xml"/><Relationship Id="rId21" Type="http://schemas.openxmlformats.org/officeDocument/2006/relationships/image" Target="../media/image168.wmf"/><Relationship Id="rId20" Type="http://schemas.openxmlformats.org/officeDocument/2006/relationships/oleObject" Target="../embeddings/oleObject75.bin"/><Relationship Id="rId2" Type="http://schemas.openxmlformats.org/officeDocument/2006/relationships/tags" Target="../tags/tag658.xml"/><Relationship Id="rId19" Type="http://schemas.openxmlformats.org/officeDocument/2006/relationships/tags" Target="../tags/tag664.xml"/><Relationship Id="rId18" Type="http://schemas.openxmlformats.org/officeDocument/2006/relationships/image" Target="../media/image167.wmf"/><Relationship Id="rId17" Type="http://schemas.openxmlformats.org/officeDocument/2006/relationships/oleObject" Target="../embeddings/oleObject74.bin"/><Relationship Id="rId16" Type="http://schemas.openxmlformats.org/officeDocument/2006/relationships/tags" Target="../tags/tag663.xml"/><Relationship Id="rId15" Type="http://schemas.openxmlformats.org/officeDocument/2006/relationships/image" Target="../media/image166.wmf"/><Relationship Id="rId14" Type="http://schemas.openxmlformats.org/officeDocument/2006/relationships/oleObject" Target="../embeddings/oleObject73.bin"/><Relationship Id="rId13" Type="http://schemas.openxmlformats.org/officeDocument/2006/relationships/tags" Target="../tags/tag662.xml"/><Relationship Id="rId12" Type="http://schemas.openxmlformats.org/officeDocument/2006/relationships/image" Target="../media/image165.wmf"/><Relationship Id="rId11" Type="http://schemas.openxmlformats.org/officeDocument/2006/relationships/oleObject" Target="../embeddings/oleObject72.bin"/><Relationship Id="rId10" Type="http://schemas.openxmlformats.org/officeDocument/2006/relationships/tags" Target="../tags/tag661.xml"/><Relationship Id="rId1" Type="http://schemas.openxmlformats.org/officeDocument/2006/relationships/image" Target="../media/image3.png"/></Relationships>
</file>

<file path=ppt/slides/_rels/slide67.xml.rels><?xml version="1.0" encoding="UTF-8" standalone="yes"?>
<Relationships xmlns="http://schemas.openxmlformats.org/package/2006/relationships"><Relationship Id="rId9" Type="http://schemas.openxmlformats.org/officeDocument/2006/relationships/tags" Target="../tags/tag677.xml"/><Relationship Id="rId8" Type="http://schemas.openxmlformats.org/officeDocument/2006/relationships/image" Target="../media/image177.wmf"/><Relationship Id="rId7" Type="http://schemas.openxmlformats.org/officeDocument/2006/relationships/oleObject" Target="../embeddings/oleObject83.bin"/><Relationship Id="rId6" Type="http://schemas.openxmlformats.org/officeDocument/2006/relationships/tags" Target="../tags/tag676.xml"/><Relationship Id="rId5" Type="http://schemas.openxmlformats.org/officeDocument/2006/relationships/tags" Target="../tags/tag675.xml"/><Relationship Id="rId4" Type="http://schemas.openxmlformats.org/officeDocument/2006/relationships/tags" Target="../tags/tag674.xml"/><Relationship Id="rId3" Type="http://schemas.openxmlformats.org/officeDocument/2006/relationships/image" Target="../media/image176.png"/><Relationship Id="rId2" Type="http://schemas.openxmlformats.org/officeDocument/2006/relationships/tags" Target="../tags/tag673.xml"/><Relationship Id="rId18" Type="http://schemas.openxmlformats.org/officeDocument/2006/relationships/notesSlide" Target="../notesSlides/notesSlide67.xml"/><Relationship Id="rId17" Type="http://schemas.openxmlformats.org/officeDocument/2006/relationships/vmlDrawing" Target="../drawings/vmlDrawing29.vml"/><Relationship Id="rId16" Type="http://schemas.openxmlformats.org/officeDocument/2006/relationships/slideLayout" Target="../slideLayouts/slideLayout10.xml"/><Relationship Id="rId15" Type="http://schemas.openxmlformats.org/officeDocument/2006/relationships/tags" Target="../tags/tag680.xml"/><Relationship Id="rId14" Type="http://schemas.openxmlformats.org/officeDocument/2006/relationships/tags" Target="../tags/tag679.xml"/><Relationship Id="rId13" Type="http://schemas.openxmlformats.org/officeDocument/2006/relationships/image" Target="../media/image179.wmf"/><Relationship Id="rId12" Type="http://schemas.openxmlformats.org/officeDocument/2006/relationships/oleObject" Target="../embeddings/oleObject84.bin"/><Relationship Id="rId11" Type="http://schemas.openxmlformats.org/officeDocument/2006/relationships/tags" Target="../tags/tag678.xml"/><Relationship Id="rId10" Type="http://schemas.openxmlformats.org/officeDocument/2006/relationships/image" Target="../media/image178.png"/><Relationship Id="rId1" Type="http://schemas.openxmlformats.org/officeDocument/2006/relationships/image" Target="../media/image3.png"/></Relationships>
</file>

<file path=ppt/slides/_rels/slide68.xml.rels><?xml version="1.0" encoding="UTF-8" standalone="yes"?>
<Relationships xmlns="http://schemas.openxmlformats.org/package/2006/relationships"><Relationship Id="rId9" Type="http://schemas.openxmlformats.org/officeDocument/2006/relationships/tags" Target="../tags/tag685.xml"/><Relationship Id="rId8" Type="http://schemas.openxmlformats.org/officeDocument/2006/relationships/tags" Target="../tags/tag684.xml"/><Relationship Id="rId7" Type="http://schemas.openxmlformats.org/officeDocument/2006/relationships/image" Target="../media/image181.png"/><Relationship Id="rId6" Type="http://schemas.openxmlformats.org/officeDocument/2006/relationships/tags" Target="../tags/tag683.xml"/><Relationship Id="rId5" Type="http://schemas.openxmlformats.org/officeDocument/2006/relationships/image" Target="../media/image180.wmf"/><Relationship Id="rId4" Type="http://schemas.openxmlformats.org/officeDocument/2006/relationships/oleObject" Target="../embeddings/oleObject85.bin"/><Relationship Id="rId3" Type="http://schemas.openxmlformats.org/officeDocument/2006/relationships/tags" Target="../tags/tag682.xml"/><Relationship Id="rId2" Type="http://schemas.openxmlformats.org/officeDocument/2006/relationships/tags" Target="../tags/tag681.xml"/><Relationship Id="rId19" Type="http://schemas.openxmlformats.org/officeDocument/2006/relationships/notesSlide" Target="../notesSlides/notesSlide68.xml"/><Relationship Id="rId18" Type="http://schemas.openxmlformats.org/officeDocument/2006/relationships/vmlDrawing" Target="../drawings/vmlDrawing30.vml"/><Relationship Id="rId17" Type="http://schemas.openxmlformats.org/officeDocument/2006/relationships/slideLayout" Target="../slideLayouts/slideLayout10.xml"/><Relationship Id="rId16" Type="http://schemas.openxmlformats.org/officeDocument/2006/relationships/tags" Target="../tags/tag689.xml"/><Relationship Id="rId15" Type="http://schemas.openxmlformats.org/officeDocument/2006/relationships/image" Target="../media/image184.png"/><Relationship Id="rId14" Type="http://schemas.openxmlformats.org/officeDocument/2006/relationships/tags" Target="../tags/tag688.xml"/><Relationship Id="rId13" Type="http://schemas.openxmlformats.org/officeDocument/2006/relationships/tags" Target="../tags/tag687.xml"/><Relationship Id="rId12" Type="http://schemas.openxmlformats.org/officeDocument/2006/relationships/image" Target="../media/image183.png"/><Relationship Id="rId11" Type="http://schemas.openxmlformats.org/officeDocument/2006/relationships/tags" Target="../tags/tag686.xml"/><Relationship Id="rId10" Type="http://schemas.openxmlformats.org/officeDocument/2006/relationships/image" Target="../media/image182.png"/><Relationship Id="rId1" Type="http://schemas.openxmlformats.org/officeDocument/2006/relationships/image" Target="../media/image3.png"/></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69.xml"/><Relationship Id="rId4" Type="http://schemas.openxmlformats.org/officeDocument/2006/relationships/slideLayout" Target="../slideLayouts/slideLayout10.xml"/><Relationship Id="rId3" Type="http://schemas.openxmlformats.org/officeDocument/2006/relationships/image" Target="../media/image185.png"/><Relationship Id="rId2" Type="http://schemas.openxmlformats.org/officeDocument/2006/relationships/tags" Target="../tags/tag690.xml"/><Relationship Id="rId1" Type="http://schemas.openxmlformats.org/officeDocument/2006/relationships/image" Target="../media/image3.png"/></Relationships>
</file>

<file path=ppt/slides/_rels/slide70.xml.rels><?xml version="1.0" encoding="UTF-8" standalone="yes"?>
<Relationships xmlns="http://schemas.openxmlformats.org/package/2006/relationships"><Relationship Id="rId9" Type="http://schemas.openxmlformats.org/officeDocument/2006/relationships/tags" Target="../tags/tag696.xml"/><Relationship Id="rId8" Type="http://schemas.openxmlformats.org/officeDocument/2006/relationships/tags" Target="../tags/tag695.xml"/><Relationship Id="rId7" Type="http://schemas.openxmlformats.org/officeDocument/2006/relationships/tags" Target="../tags/tag694.xml"/><Relationship Id="rId6" Type="http://schemas.openxmlformats.org/officeDocument/2006/relationships/image" Target="../media/image187.emf"/><Relationship Id="rId5" Type="http://schemas.openxmlformats.org/officeDocument/2006/relationships/tags" Target="../tags/tag693.xml"/><Relationship Id="rId4" Type="http://schemas.openxmlformats.org/officeDocument/2006/relationships/image" Target="../media/image186.emf"/><Relationship Id="rId31" Type="http://schemas.openxmlformats.org/officeDocument/2006/relationships/notesSlide" Target="../notesSlides/notesSlide70.xml"/><Relationship Id="rId30" Type="http://schemas.openxmlformats.org/officeDocument/2006/relationships/slideLayout" Target="../slideLayouts/slideLayout10.xml"/><Relationship Id="rId3" Type="http://schemas.openxmlformats.org/officeDocument/2006/relationships/tags" Target="../tags/tag692.xml"/><Relationship Id="rId29" Type="http://schemas.openxmlformats.org/officeDocument/2006/relationships/image" Target="../media/image194.wmf"/><Relationship Id="rId28" Type="http://schemas.openxmlformats.org/officeDocument/2006/relationships/tags" Target="../tags/tag709.xml"/><Relationship Id="rId27" Type="http://schemas.openxmlformats.org/officeDocument/2006/relationships/tags" Target="../tags/tag708.xml"/><Relationship Id="rId26" Type="http://schemas.openxmlformats.org/officeDocument/2006/relationships/tags" Target="../tags/tag707.xml"/><Relationship Id="rId25" Type="http://schemas.openxmlformats.org/officeDocument/2006/relationships/image" Target="../media/image193.wmf"/><Relationship Id="rId24" Type="http://schemas.openxmlformats.org/officeDocument/2006/relationships/tags" Target="../tags/tag706.xml"/><Relationship Id="rId23" Type="http://schemas.openxmlformats.org/officeDocument/2006/relationships/tags" Target="../tags/tag705.xml"/><Relationship Id="rId22" Type="http://schemas.openxmlformats.org/officeDocument/2006/relationships/image" Target="../media/image192.wmf"/><Relationship Id="rId21" Type="http://schemas.openxmlformats.org/officeDocument/2006/relationships/tags" Target="../tags/tag704.xml"/><Relationship Id="rId20" Type="http://schemas.openxmlformats.org/officeDocument/2006/relationships/tags" Target="../tags/tag703.xml"/><Relationship Id="rId2" Type="http://schemas.openxmlformats.org/officeDocument/2006/relationships/tags" Target="../tags/tag691.xml"/><Relationship Id="rId19" Type="http://schemas.openxmlformats.org/officeDocument/2006/relationships/image" Target="../media/image191.wmf"/><Relationship Id="rId18" Type="http://schemas.openxmlformats.org/officeDocument/2006/relationships/tags" Target="../tags/tag702.xml"/><Relationship Id="rId17" Type="http://schemas.openxmlformats.org/officeDocument/2006/relationships/image" Target="../media/image190.wmf"/><Relationship Id="rId16" Type="http://schemas.openxmlformats.org/officeDocument/2006/relationships/tags" Target="../tags/tag701.xml"/><Relationship Id="rId15" Type="http://schemas.openxmlformats.org/officeDocument/2006/relationships/tags" Target="../tags/tag700.xml"/><Relationship Id="rId14" Type="http://schemas.openxmlformats.org/officeDocument/2006/relationships/tags" Target="../tags/tag699.xml"/><Relationship Id="rId13" Type="http://schemas.openxmlformats.org/officeDocument/2006/relationships/image" Target="../media/image189.emf"/><Relationship Id="rId12" Type="http://schemas.openxmlformats.org/officeDocument/2006/relationships/tags" Target="../tags/tag698.xml"/><Relationship Id="rId11" Type="http://schemas.openxmlformats.org/officeDocument/2006/relationships/tags" Target="../tags/tag697.xml"/><Relationship Id="rId10" Type="http://schemas.openxmlformats.org/officeDocument/2006/relationships/image" Target="../media/image188.wmf"/><Relationship Id="rId1" Type="http://schemas.openxmlformats.org/officeDocument/2006/relationships/image" Target="../media/image3.png"/></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71.xml"/><Relationship Id="rId4" Type="http://schemas.openxmlformats.org/officeDocument/2006/relationships/slideLayout" Target="../slideLayouts/slideLayout10.xml"/><Relationship Id="rId3" Type="http://schemas.openxmlformats.org/officeDocument/2006/relationships/tags" Target="../tags/tag711.xml"/><Relationship Id="rId2" Type="http://schemas.openxmlformats.org/officeDocument/2006/relationships/tags" Target="../tags/tag710.xml"/><Relationship Id="rId1" Type="http://schemas.openxmlformats.org/officeDocument/2006/relationships/image" Target="../media/image3.png"/></Relationships>
</file>

<file path=ppt/slides/_rels/slide72.xml.rels><?xml version="1.0" encoding="UTF-8" standalone="yes"?>
<Relationships xmlns="http://schemas.openxmlformats.org/package/2006/relationships"><Relationship Id="rId9" Type="http://schemas.openxmlformats.org/officeDocument/2006/relationships/tags" Target="../tags/tag719.xml"/><Relationship Id="rId8" Type="http://schemas.openxmlformats.org/officeDocument/2006/relationships/tags" Target="../tags/tag718.xml"/><Relationship Id="rId7" Type="http://schemas.openxmlformats.org/officeDocument/2006/relationships/tags" Target="../tags/tag717.xml"/><Relationship Id="rId6" Type="http://schemas.openxmlformats.org/officeDocument/2006/relationships/tags" Target="../tags/tag716.xml"/><Relationship Id="rId5" Type="http://schemas.openxmlformats.org/officeDocument/2006/relationships/tags" Target="../tags/tag715.xml"/><Relationship Id="rId4" Type="http://schemas.openxmlformats.org/officeDocument/2006/relationships/tags" Target="../tags/tag714.xml"/><Relationship Id="rId3" Type="http://schemas.openxmlformats.org/officeDocument/2006/relationships/tags" Target="../tags/tag713.xml"/><Relationship Id="rId21" Type="http://schemas.openxmlformats.org/officeDocument/2006/relationships/notesSlide" Target="../notesSlides/notesSlide72.xml"/><Relationship Id="rId20" Type="http://schemas.openxmlformats.org/officeDocument/2006/relationships/slideLayout" Target="../slideLayouts/slideLayout10.xml"/><Relationship Id="rId2" Type="http://schemas.openxmlformats.org/officeDocument/2006/relationships/tags" Target="../tags/tag712.xml"/><Relationship Id="rId19" Type="http://schemas.openxmlformats.org/officeDocument/2006/relationships/tags" Target="../tags/tag729.xml"/><Relationship Id="rId18" Type="http://schemas.openxmlformats.org/officeDocument/2006/relationships/tags" Target="../tags/tag728.xml"/><Relationship Id="rId17" Type="http://schemas.openxmlformats.org/officeDocument/2006/relationships/tags" Target="../tags/tag727.xml"/><Relationship Id="rId16" Type="http://schemas.openxmlformats.org/officeDocument/2006/relationships/tags" Target="../tags/tag726.xml"/><Relationship Id="rId15" Type="http://schemas.openxmlformats.org/officeDocument/2006/relationships/tags" Target="../tags/tag725.xml"/><Relationship Id="rId14" Type="http://schemas.openxmlformats.org/officeDocument/2006/relationships/tags" Target="../tags/tag724.xml"/><Relationship Id="rId13" Type="http://schemas.openxmlformats.org/officeDocument/2006/relationships/tags" Target="../tags/tag723.xml"/><Relationship Id="rId12" Type="http://schemas.openxmlformats.org/officeDocument/2006/relationships/tags" Target="../tags/tag722.xml"/><Relationship Id="rId11" Type="http://schemas.openxmlformats.org/officeDocument/2006/relationships/tags" Target="../tags/tag721.xml"/><Relationship Id="rId10" Type="http://schemas.openxmlformats.org/officeDocument/2006/relationships/tags" Target="../tags/tag720.xml"/><Relationship Id="rId1" Type="http://schemas.openxmlformats.org/officeDocument/2006/relationships/image" Target="../media/image3.png"/></Relationships>
</file>

<file path=ppt/slides/_rels/slide73.xml.rels><?xml version="1.0" encoding="UTF-8" standalone="yes"?>
<Relationships xmlns="http://schemas.openxmlformats.org/package/2006/relationships"><Relationship Id="rId7" Type="http://schemas.openxmlformats.org/officeDocument/2006/relationships/notesSlide" Target="../notesSlides/notesSlide73.xml"/><Relationship Id="rId6" Type="http://schemas.openxmlformats.org/officeDocument/2006/relationships/vmlDrawing" Target="../drawings/vmlDrawing31.vml"/><Relationship Id="rId5" Type="http://schemas.openxmlformats.org/officeDocument/2006/relationships/slideLayout" Target="../slideLayouts/slideLayout10.xml"/><Relationship Id="rId4" Type="http://schemas.openxmlformats.org/officeDocument/2006/relationships/image" Target="../media/image195.emf"/><Relationship Id="rId3" Type="http://schemas.openxmlformats.org/officeDocument/2006/relationships/oleObject" Target="../embeddings/oleObject86.bin"/><Relationship Id="rId2" Type="http://schemas.openxmlformats.org/officeDocument/2006/relationships/tags" Target="../tags/tag730.xml"/><Relationship Id="rId1" Type="http://schemas.openxmlformats.org/officeDocument/2006/relationships/image" Target="../media/image3.png"/></Relationships>
</file>

<file path=ppt/slides/_rels/slide74.xml.rels><?xml version="1.0" encoding="UTF-8" standalone="yes"?>
<Relationships xmlns="http://schemas.openxmlformats.org/package/2006/relationships"><Relationship Id="rId7" Type="http://schemas.openxmlformats.org/officeDocument/2006/relationships/notesSlide" Target="../notesSlides/notesSlide74.xml"/><Relationship Id="rId6" Type="http://schemas.openxmlformats.org/officeDocument/2006/relationships/slideLayout" Target="../slideLayouts/slideLayout10.xml"/><Relationship Id="rId5" Type="http://schemas.openxmlformats.org/officeDocument/2006/relationships/tags" Target="../tags/tag733.xml"/><Relationship Id="rId4" Type="http://schemas.openxmlformats.org/officeDocument/2006/relationships/image" Target="../media/image196.png"/><Relationship Id="rId3" Type="http://schemas.openxmlformats.org/officeDocument/2006/relationships/tags" Target="../tags/tag732.xml"/><Relationship Id="rId2" Type="http://schemas.openxmlformats.org/officeDocument/2006/relationships/tags" Target="../tags/tag731.xml"/><Relationship Id="rId1" Type="http://schemas.openxmlformats.org/officeDocument/2006/relationships/image" Target="../media/image3.pn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10.xml"/><Relationship Id="rId2" Type="http://schemas.openxmlformats.org/officeDocument/2006/relationships/tags" Target="../tags/tag734.xml"/><Relationship Id="rId1" Type="http://schemas.openxmlformats.org/officeDocument/2006/relationships/image" Target="../media/image3.png"/></Relationships>
</file>

<file path=ppt/slides/_rels/slide76.xml.rels><?xml version="1.0" encoding="UTF-8" standalone="yes"?>
<Relationships xmlns="http://schemas.openxmlformats.org/package/2006/relationships"><Relationship Id="rId9" Type="http://schemas.openxmlformats.org/officeDocument/2006/relationships/tags" Target="../tags/tag738.xml"/><Relationship Id="rId8" Type="http://schemas.openxmlformats.org/officeDocument/2006/relationships/image" Target="../media/image198.wmf"/><Relationship Id="rId7" Type="http://schemas.openxmlformats.org/officeDocument/2006/relationships/oleObject" Target="../embeddings/oleObject88.bin"/><Relationship Id="rId6" Type="http://schemas.openxmlformats.org/officeDocument/2006/relationships/tags" Target="../tags/tag737.xml"/><Relationship Id="rId5" Type="http://schemas.openxmlformats.org/officeDocument/2006/relationships/image" Target="../media/image197.emf"/><Relationship Id="rId4" Type="http://schemas.openxmlformats.org/officeDocument/2006/relationships/oleObject" Target="../embeddings/oleObject87.bin"/><Relationship Id="rId3" Type="http://schemas.openxmlformats.org/officeDocument/2006/relationships/tags" Target="../tags/tag736.xml"/><Relationship Id="rId2" Type="http://schemas.openxmlformats.org/officeDocument/2006/relationships/tags" Target="../tags/tag735.xml"/><Relationship Id="rId14" Type="http://schemas.openxmlformats.org/officeDocument/2006/relationships/notesSlide" Target="../notesSlides/notesSlide76.xml"/><Relationship Id="rId13" Type="http://schemas.openxmlformats.org/officeDocument/2006/relationships/vmlDrawing" Target="../drawings/vmlDrawing32.vml"/><Relationship Id="rId12" Type="http://schemas.openxmlformats.org/officeDocument/2006/relationships/slideLayout" Target="../slideLayouts/slideLayout10.xml"/><Relationship Id="rId11" Type="http://schemas.openxmlformats.org/officeDocument/2006/relationships/image" Target="../media/image199.wmf"/><Relationship Id="rId10" Type="http://schemas.openxmlformats.org/officeDocument/2006/relationships/oleObject" Target="../embeddings/oleObject89.bin"/><Relationship Id="rId1" Type="http://schemas.openxmlformats.org/officeDocument/2006/relationships/image" Target="../media/image3.png"/></Relationships>
</file>

<file path=ppt/slides/_rels/slide77.xml.rels><?xml version="1.0" encoding="UTF-8" standalone="yes"?>
<Relationships xmlns="http://schemas.openxmlformats.org/package/2006/relationships"><Relationship Id="rId9" Type="http://schemas.openxmlformats.org/officeDocument/2006/relationships/tags" Target="../tags/tag744.xml"/><Relationship Id="rId8" Type="http://schemas.openxmlformats.org/officeDocument/2006/relationships/tags" Target="../tags/tag743.xml"/><Relationship Id="rId7" Type="http://schemas.openxmlformats.org/officeDocument/2006/relationships/tags" Target="../tags/tag742.xml"/><Relationship Id="rId6" Type="http://schemas.openxmlformats.org/officeDocument/2006/relationships/image" Target="../media/image200.wmf"/><Relationship Id="rId5" Type="http://schemas.openxmlformats.org/officeDocument/2006/relationships/oleObject" Target="../embeddings/oleObject90.bin"/><Relationship Id="rId4" Type="http://schemas.openxmlformats.org/officeDocument/2006/relationships/tags" Target="../tags/tag741.xml"/><Relationship Id="rId3" Type="http://schemas.openxmlformats.org/officeDocument/2006/relationships/tags" Target="../tags/tag740.xml"/><Relationship Id="rId2" Type="http://schemas.openxmlformats.org/officeDocument/2006/relationships/tags" Target="../tags/tag739.xml"/><Relationship Id="rId19" Type="http://schemas.openxmlformats.org/officeDocument/2006/relationships/notesSlide" Target="../notesSlides/notesSlide77.xml"/><Relationship Id="rId18" Type="http://schemas.openxmlformats.org/officeDocument/2006/relationships/vmlDrawing" Target="../drawings/vmlDrawing33.vml"/><Relationship Id="rId17" Type="http://schemas.openxmlformats.org/officeDocument/2006/relationships/slideLayout" Target="../slideLayouts/slideLayout10.xml"/><Relationship Id="rId16" Type="http://schemas.openxmlformats.org/officeDocument/2006/relationships/tags" Target="../tags/tag749.xml"/><Relationship Id="rId15" Type="http://schemas.openxmlformats.org/officeDocument/2006/relationships/tags" Target="../tags/tag748.xml"/><Relationship Id="rId14" Type="http://schemas.openxmlformats.org/officeDocument/2006/relationships/tags" Target="../tags/tag747.xml"/><Relationship Id="rId13" Type="http://schemas.openxmlformats.org/officeDocument/2006/relationships/tags" Target="../tags/tag746.xml"/><Relationship Id="rId12" Type="http://schemas.openxmlformats.org/officeDocument/2006/relationships/image" Target="../media/image201.wmf"/><Relationship Id="rId11" Type="http://schemas.openxmlformats.org/officeDocument/2006/relationships/oleObject" Target="../embeddings/oleObject91.bin"/><Relationship Id="rId10" Type="http://schemas.openxmlformats.org/officeDocument/2006/relationships/tags" Target="../tags/tag745.xml"/><Relationship Id="rId1" Type="http://schemas.openxmlformats.org/officeDocument/2006/relationships/image" Target="../media/image3.png"/></Relationships>
</file>

<file path=ppt/slides/_rels/slide78.xml.rels><?xml version="1.0" encoding="UTF-8" standalone="yes"?>
<Relationships xmlns="http://schemas.openxmlformats.org/package/2006/relationships"><Relationship Id="rId9" Type="http://schemas.openxmlformats.org/officeDocument/2006/relationships/tags" Target="../tags/tag754.xml"/><Relationship Id="rId8" Type="http://schemas.openxmlformats.org/officeDocument/2006/relationships/tags" Target="../tags/tag753.xml"/><Relationship Id="rId7" Type="http://schemas.openxmlformats.org/officeDocument/2006/relationships/image" Target="../media/image203.wmf"/><Relationship Id="rId6" Type="http://schemas.openxmlformats.org/officeDocument/2006/relationships/oleObject" Target="../embeddings/oleObject92.bin"/><Relationship Id="rId5" Type="http://schemas.openxmlformats.org/officeDocument/2006/relationships/tags" Target="../tags/tag752.xml"/><Relationship Id="rId4" Type="http://schemas.openxmlformats.org/officeDocument/2006/relationships/image" Target="../media/image202.png"/><Relationship Id="rId3" Type="http://schemas.openxmlformats.org/officeDocument/2006/relationships/tags" Target="../tags/tag751.xml"/><Relationship Id="rId2" Type="http://schemas.openxmlformats.org/officeDocument/2006/relationships/tags" Target="../tags/tag750.xml"/><Relationship Id="rId13" Type="http://schemas.openxmlformats.org/officeDocument/2006/relationships/notesSlide" Target="../notesSlides/notesSlide78.xml"/><Relationship Id="rId12" Type="http://schemas.openxmlformats.org/officeDocument/2006/relationships/vmlDrawing" Target="../drawings/vmlDrawing34.vml"/><Relationship Id="rId11" Type="http://schemas.openxmlformats.org/officeDocument/2006/relationships/slideLayout" Target="../slideLayouts/slideLayout10.xml"/><Relationship Id="rId10" Type="http://schemas.openxmlformats.org/officeDocument/2006/relationships/image" Target="../media/image204.png"/><Relationship Id="rId1" Type="http://schemas.openxmlformats.org/officeDocument/2006/relationships/image" Target="../media/image3.png"/></Relationships>
</file>

<file path=ppt/slides/_rels/slide79.xml.rels><?xml version="1.0" encoding="UTF-8" standalone="yes"?>
<Relationships xmlns="http://schemas.openxmlformats.org/package/2006/relationships"><Relationship Id="rId7" Type="http://schemas.openxmlformats.org/officeDocument/2006/relationships/notesSlide" Target="../notesSlides/notesSlide79.xml"/><Relationship Id="rId6" Type="http://schemas.openxmlformats.org/officeDocument/2006/relationships/slideLayout" Target="../slideLayouts/slideLayout10.xml"/><Relationship Id="rId5" Type="http://schemas.openxmlformats.org/officeDocument/2006/relationships/image" Target="../media/image205.png"/><Relationship Id="rId4" Type="http://schemas.openxmlformats.org/officeDocument/2006/relationships/tags" Target="../tags/tag757.xml"/><Relationship Id="rId3" Type="http://schemas.openxmlformats.org/officeDocument/2006/relationships/tags" Target="../tags/tag756.xml"/><Relationship Id="rId2" Type="http://schemas.openxmlformats.org/officeDocument/2006/relationships/tags" Target="../tags/tag755.xml"/><Relationship Id="rId1" Type="http://schemas.openxmlformats.org/officeDocument/2006/relationships/image" Target="../media/image3.png"/></Relationships>
</file>

<file path=ppt/slides/_rels/slide80.xml.rels><?xml version="1.0" encoding="UTF-8" standalone="yes"?>
<Relationships xmlns="http://schemas.openxmlformats.org/package/2006/relationships"><Relationship Id="rId9" Type="http://schemas.openxmlformats.org/officeDocument/2006/relationships/tags" Target="../tags/tag761.xml"/><Relationship Id="rId8" Type="http://schemas.openxmlformats.org/officeDocument/2006/relationships/tags" Target="../tags/tag760.xml"/><Relationship Id="rId7" Type="http://schemas.openxmlformats.org/officeDocument/2006/relationships/image" Target="../media/image207.wmf"/><Relationship Id="rId6" Type="http://schemas.openxmlformats.org/officeDocument/2006/relationships/oleObject" Target="../embeddings/oleObject94.bin"/><Relationship Id="rId5" Type="http://schemas.openxmlformats.org/officeDocument/2006/relationships/tags" Target="../tags/tag759.xml"/><Relationship Id="rId4" Type="http://schemas.openxmlformats.org/officeDocument/2006/relationships/image" Target="../media/image206.wmf"/><Relationship Id="rId3" Type="http://schemas.openxmlformats.org/officeDocument/2006/relationships/oleObject" Target="../embeddings/oleObject93.bin"/><Relationship Id="rId2" Type="http://schemas.openxmlformats.org/officeDocument/2006/relationships/tags" Target="../tags/tag758.xml"/><Relationship Id="rId13" Type="http://schemas.openxmlformats.org/officeDocument/2006/relationships/notesSlide" Target="../notesSlides/notesSlide80.xml"/><Relationship Id="rId12" Type="http://schemas.openxmlformats.org/officeDocument/2006/relationships/vmlDrawing" Target="../drawings/vmlDrawing35.vml"/><Relationship Id="rId11" Type="http://schemas.openxmlformats.org/officeDocument/2006/relationships/slideLayout" Target="../slideLayouts/slideLayout10.xml"/><Relationship Id="rId10" Type="http://schemas.openxmlformats.org/officeDocument/2006/relationships/tags" Target="../tags/tag762.xml"/><Relationship Id="rId1" Type="http://schemas.openxmlformats.org/officeDocument/2006/relationships/image" Target="../media/image3.png"/></Relationships>
</file>

<file path=ppt/slides/_rels/slide81.xml.rels><?xml version="1.0" encoding="UTF-8" standalone="yes"?>
<Relationships xmlns="http://schemas.openxmlformats.org/package/2006/relationships"><Relationship Id="rId9" Type="http://schemas.openxmlformats.org/officeDocument/2006/relationships/tags" Target="../tags/tag766.xml"/><Relationship Id="rId8" Type="http://schemas.openxmlformats.org/officeDocument/2006/relationships/tags" Target="../tags/tag765.xml"/><Relationship Id="rId7" Type="http://schemas.openxmlformats.org/officeDocument/2006/relationships/image" Target="../media/image209.wmf"/><Relationship Id="rId6" Type="http://schemas.openxmlformats.org/officeDocument/2006/relationships/oleObject" Target="../embeddings/oleObject96.bin"/><Relationship Id="rId5" Type="http://schemas.openxmlformats.org/officeDocument/2006/relationships/tags" Target="../tags/tag764.xml"/><Relationship Id="rId4" Type="http://schemas.openxmlformats.org/officeDocument/2006/relationships/image" Target="../media/image208.wmf"/><Relationship Id="rId3" Type="http://schemas.openxmlformats.org/officeDocument/2006/relationships/oleObject" Target="../embeddings/oleObject95.bin"/><Relationship Id="rId2" Type="http://schemas.openxmlformats.org/officeDocument/2006/relationships/tags" Target="../tags/tag763.xml"/><Relationship Id="rId17" Type="http://schemas.openxmlformats.org/officeDocument/2006/relationships/notesSlide" Target="../notesSlides/notesSlide81.xml"/><Relationship Id="rId16" Type="http://schemas.openxmlformats.org/officeDocument/2006/relationships/vmlDrawing" Target="../drawings/vmlDrawing36.vml"/><Relationship Id="rId15" Type="http://schemas.openxmlformats.org/officeDocument/2006/relationships/slideLayout" Target="../slideLayouts/slideLayout10.xml"/><Relationship Id="rId14" Type="http://schemas.openxmlformats.org/officeDocument/2006/relationships/image" Target="../media/image211.wmf"/><Relationship Id="rId13" Type="http://schemas.openxmlformats.org/officeDocument/2006/relationships/oleObject" Target="../embeddings/oleObject98.bin"/><Relationship Id="rId12" Type="http://schemas.openxmlformats.org/officeDocument/2006/relationships/tags" Target="../tags/tag767.xml"/><Relationship Id="rId11" Type="http://schemas.openxmlformats.org/officeDocument/2006/relationships/image" Target="../media/image210.wmf"/><Relationship Id="rId10" Type="http://schemas.openxmlformats.org/officeDocument/2006/relationships/oleObject" Target="../embeddings/oleObject97.bin"/><Relationship Id="rId1" Type="http://schemas.openxmlformats.org/officeDocument/2006/relationships/image" Target="../media/image3.png"/></Relationships>
</file>

<file path=ppt/slides/_rels/slide82.xml.rels><?xml version="1.0" encoding="UTF-8" standalone="yes"?>
<Relationships xmlns="http://schemas.openxmlformats.org/package/2006/relationships"><Relationship Id="rId5" Type="http://schemas.openxmlformats.org/officeDocument/2006/relationships/notesSlide" Target="../notesSlides/notesSlide82.xml"/><Relationship Id="rId4" Type="http://schemas.openxmlformats.org/officeDocument/2006/relationships/slideLayout" Target="../slideLayouts/slideLayout10.xml"/><Relationship Id="rId3" Type="http://schemas.openxmlformats.org/officeDocument/2006/relationships/tags" Target="../tags/tag769.xml"/><Relationship Id="rId2" Type="http://schemas.openxmlformats.org/officeDocument/2006/relationships/tags" Target="../tags/tag768.xml"/><Relationship Id="rId1" Type="http://schemas.openxmlformats.org/officeDocument/2006/relationships/image" Target="../media/image3.png"/></Relationships>
</file>

<file path=ppt/slides/_rels/slide83.xml.rels><?xml version="1.0" encoding="UTF-8" standalone="yes"?>
<Relationships xmlns="http://schemas.openxmlformats.org/package/2006/relationships"><Relationship Id="rId5" Type="http://schemas.openxmlformats.org/officeDocument/2006/relationships/notesSlide" Target="../notesSlides/notesSlide83.xml"/><Relationship Id="rId4" Type="http://schemas.openxmlformats.org/officeDocument/2006/relationships/slideLayout" Target="../slideLayouts/slideLayout10.xml"/><Relationship Id="rId3" Type="http://schemas.openxmlformats.org/officeDocument/2006/relationships/image" Target="../media/image212.png"/><Relationship Id="rId2" Type="http://schemas.openxmlformats.org/officeDocument/2006/relationships/tags" Target="../tags/tag770.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404391"/>
            <a:ext cx="10972800" cy="1143000"/>
          </a:xfrm>
        </p:spPr>
        <p:txBody>
          <a:bodyPr/>
          <a:p>
            <a:r>
              <a:rPr lang="zh-CN" altLang="en-US">
                <a:latin typeface="华文楷体" panose="02010600040101010101" charset="-122"/>
                <a:ea typeface="华文楷体" panose="02010600040101010101" charset="-122"/>
              </a:rPr>
              <a:t>第一章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概述</a:t>
            </a:r>
            <a:endParaRPr lang="zh-CN" altLang="en-US">
              <a:latin typeface="华文楷体" panose="02010600040101010101" charset="-122"/>
              <a:ea typeface="华文楷体" panose="02010600040101010101" charset="-122"/>
            </a:endParaRPr>
          </a:p>
        </p:txBody>
      </p:sp>
      <p:sp>
        <p:nvSpPr>
          <p:cNvPr id="4" name="内容占位符 3"/>
          <p:cNvSpPr>
            <a:spLocks noGrp="1"/>
          </p:cNvSpPr>
          <p:nvPr>
            <p:ph idx="1"/>
            <p:custDataLst>
              <p:tags r:id="rId3"/>
            </p:custDataLst>
          </p:nvPr>
        </p:nvSpPr>
        <p:spPr>
          <a:xfrm>
            <a:off x="624205" y="1627505"/>
            <a:ext cx="10972800" cy="4526280"/>
          </a:xfrm>
        </p:spPr>
        <p:txBody>
          <a:bodyPr/>
          <a:p>
            <a:r>
              <a:rPr lang="zh-CN" altLang="en-US" sz="2800">
                <a:latin typeface="华文楷体" panose="02010600040101010101" charset="-122"/>
                <a:ea typeface="华文楷体" panose="02010600040101010101" charset="-122"/>
              </a:rPr>
              <a:t>识记——掌握通信与通信系统基本概念（通信、通信系统模型、通信系统分类、模拟通信与数字通信、信息及其度量、信道的定义、分类和数学模型；各种恒参信道和随参信道及其传输特性；噪声的种类），能够了解通信系统和其它课程（高等数学、概率论、信号与系统、随机过程、高频电路、各种通信系统等）的关系。</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计算——信息量和平均信息量，1.3.1节例1例2。</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理解——恒参信道的时域和频域特性，1.4.2.2节。</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计算——信道容量公式，1.4.5节。</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计算——数字通信系统的质量指标，1.5.2节例3例4。</a:t>
            </a:r>
            <a:endParaRPr lang="zh-CN" altLang="en-US" sz="2800">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116840"/>
            <a:ext cx="10972800" cy="791210"/>
          </a:xfrm>
        </p:spPr>
        <p:txBody>
          <a:bodyPr/>
          <a:p>
            <a:r>
              <a:rPr lang="zh-CN" altLang="en-US">
                <a:latin typeface="华文楷体" panose="02010600040101010101" charset="-122"/>
                <a:ea typeface="华文楷体" panose="02010600040101010101" charset="-122"/>
              </a:rPr>
              <a:t>第一章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概述</a:t>
            </a:r>
            <a:endParaRPr lang="zh-CN" altLang="en-US">
              <a:latin typeface="华文楷体" panose="02010600040101010101" charset="-122"/>
              <a:ea typeface="华文楷体" panose="02010600040101010101" charset="-122"/>
            </a:endParaRPr>
          </a:p>
        </p:txBody>
      </p:sp>
      <p:sp>
        <p:nvSpPr>
          <p:cNvPr id="5" name="矩形 4"/>
          <p:cNvSpPr/>
          <p:nvPr>
            <p:custDataLst>
              <p:tags r:id="rId3"/>
            </p:custDataLst>
          </p:nvPr>
        </p:nvSpPr>
        <p:spPr>
          <a:xfrm>
            <a:off x="622300" y="1581785"/>
            <a:ext cx="910590" cy="42100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消息</a:t>
            </a:r>
            <a:endParaRPr lang="zh-CN" altLang="en-US">
              <a:latin typeface="华文楷体" panose="02010600040101010101" charset="-122"/>
              <a:ea typeface="华文楷体" panose="02010600040101010101" charset="-122"/>
            </a:endParaRPr>
          </a:p>
        </p:txBody>
      </p:sp>
      <p:sp>
        <p:nvSpPr>
          <p:cNvPr id="6" name="矩形 5"/>
          <p:cNvSpPr/>
          <p:nvPr>
            <p:custDataLst>
              <p:tags r:id="rId4"/>
            </p:custDataLst>
          </p:nvPr>
        </p:nvSpPr>
        <p:spPr>
          <a:xfrm>
            <a:off x="622300" y="2277745"/>
            <a:ext cx="910590" cy="39116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信号</a:t>
            </a:r>
            <a:endParaRPr lang="zh-CN" altLang="en-US">
              <a:latin typeface="华文楷体" panose="02010600040101010101" charset="-122"/>
              <a:ea typeface="华文楷体" panose="02010600040101010101" charset="-122"/>
            </a:endParaRPr>
          </a:p>
        </p:txBody>
      </p:sp>
      <p:sp>
        <p:nvSpPr>
          <p:cNvPr id="7" name="矩形 6"/>
          <p:cNvSpPr/>
          <p:nvPr>
            <p:custDataLst>
              <p:tags r:id="rId5"/>
            </p:custDataLst>
          </p:nvPr>
        </p:nvSpPr>
        <p:spPr>
          <a:xfrm>
            <a:off x="622300" y="909320"/>
            <a:ext cx="910590" cy="39751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信息</a:t>
            </a:r>
            <a:endParaRPr lang="zh-CN" altLang="en-US">
              <a:latin typeface="华文楷体" panose="02010600040101010101" charset="-122"/>
              <a:ea typeface="华文楷体" panose="02010600040101010101" charset="-122"/>
            </a:endParaRPr>
          </a:p>
        </p:txBody>
      </p:sp>
      <p:cxnSp>
        <p:nvCxnSpPr>
          <p:cNvPr id="8" name="直接箭头连接符 7"/>
          <p:cNvCxnSpPr>
            <a:stCxn id="5" idx="0"/>
            <a:endCxn id="7" idx="2"/>
          </p:cNvCxnSpPr>
          <p:nvPr>
            <p:custDataLst>
              <p:tags r:id="rId6"/>
            </p:custDataLst>
          </p:nvPr>
        </p:nvCxnSpPr>
        <p:spPr>
          <a:xfrm flipV="1">
            <a:off x="1077595" y="1306830"/>
            <a:ext cx="0" cy="2749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a:stCxn id="5" idx="2"/>
            <a:endCxn id="6" idx="0"/>
          </p:cNvCxnSpPr>
          <p:nvPr>
            <p:custDataLst>
              <p:tags r:id="rId7"/>
            </p:custDataLst>
          </p:nvPr>
        </p:nvCxnSpPr>
        <p:spPr>
          <a:xfrm>
            <a:off x="1077595" y="2002790"/>
            <a:ext cx="0" cy="2749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 name="矩形 9"/>
          <p:cNvSpPr/>
          <p:nvPr>
            <p:custDataLst>
              <p:tags r:id="rId8"/>
            </p:custDataLst>
          </p:nvPr>
        </p:nvSpPr>
        <p:spPr>
          <a:xfrm>
            <a:off x="1990725" y="2277745"/>
            <a:ext cx="1144270" cy="39116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通信</a:t>
            </a:r>
            <a:endParaRPr lang="zh-CN" altLang="en-US">
              <a:latin typeface="华文楷体" panose="02010600040101010101" charset="-122"/>
              <a:ea typeface="华文楷体" panose="02010600040101010101" charset="-122"/>
            </a:endParaRPr>
          </a:p>
        </p:txBody>
      </p:sp>
      <p:cxnSp>
        <p:nvCxnSpPr>
          <p:cNvPr id="11" name="直接箭头连接符 10"/>
          <p:cNvCxnSpPr>
            <a:stCxn id="6" idx="3"/>
            <a:endCxn id="10" idx="1"/>
          </p:cNvCxnSpPr>
          <p:nvPr>
            <p:custDataLst>
              <p:tags r:id="rId9"/>
            </p:custDataLst>
          </p:nvPr>
        </p:nvCxnSpPr>
        <p:spPr>
          <a:xfrm>
            <a:off x="1532890" y="2473325"/>
            <a:ext cx="4578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2" name="矩形 11"/>
          <p:cNvSpPr/>
          <p:nvPr>
            <p:custDataLst>
              <p:tags r:id="rId10"/>
            </p:custDataLst>
          </p:nvPr>
        </p:nvSpPr>
        <p:spPr>
          <a:xfrm>
            <a:off x="622300" y="3141980"/>
            <a:ext cx="910590" cy="39116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信道</a:t>
            </a:r>
            <a:endParaRPr lang="zh-CN" altLang="en-US">
              <a:latin typeface="华文楷体" panose="02010600040101010101" charset="-122"/>
              <a:ea typeface="华文楷体" panose="02010600040101010101" charset="-122"/>
            </a:endParaRPr>
          </a:p>
        </p:txBody>
      </p:sp>
      <p:sp>
        <p:nvSpPr>
          <p:cNvPr id="19" name="矩形 18"/>
          <p:cNvSpPr/>
          <p:nvPr>
            <p:custDataLst>
              <p:tags r:id="rId11"/>
            </p:custDataLst>
          </p:nvPr>
        </p:nvSpPr>
        <p:spPr>
          <a:xfrm>
            <a:off x="1702435" y="3128010"/>
            <a:ext cx="2771140" cy="3600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定义、分类、</a:t>
            </a:r>
            <a:r>
              <a:rPr lang="zh-CN" altLang="en-US" b="1">
                <a:solidFill>
                  <a:srgbClr val="C00000"/>
                </a:solidFill>
                <a:latin typeface="华文楷体" panose="02010600040101010101" charset="-122"/>
                <a:ea typeface="华文楷体" panose="02010600040101010101" charset="-122"/>
              </a:rPr>
              <a:t>信道容量</a:t>
            </a:r>
            <a:endParaRPr lang="zh-CN" altLang="en-US" b="1">
              <a:solidFill>
                <a:srgbClr val="C00000"/>
              </a:solidFill>
              <a:latin typeface="华文楷体" panose="02010600040101010101" charset="-122"/>
              <a:ea typeface="华文楷体" panose="02010600040101010101" charset="-122"/>
            </a:endParaRPr>
          </a:p>
        </p:txBody>
      </p:sp>
      <p:sp>
        <p:nvSpPr>
          <p:cNvPr id="20" name="矩形 19"/>
          <p:cNvSpPr/>
          <p:nvPr>
            <p:custDataLst>
              <p:tags r:id="rId12"/>
            </p:custDataLst>
          </p:nvPr>
        </p:nvSpPr>
        <p:spPr>
          <a:xfrm>
            <a:off x="1702435" y="3822065"/>
            <a:ext cx="1318260" cy="42037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调制</a:t>
            </a:r>
            <a:r>
              <a:rPr lang="zh-CN" altLang="en-US">
                <a:latin typeface="华文楷体" panose="02010600040101010101" charset="-122"/>
                <a:ea typeface="华文楷体" panose="02010600040101010101" charset="-122"/>
              </a:rPr>
              <a:t>信道</a:t>
            </a:r>
            <a:endParaRPr lang="zh-CN" altLang="en-US">
              <a:latin typeface="华文楷体" panose="02010600040101010101" charset="-122"/>
              <a:ea typeface="华文楷体" panose="02010600040101010101" charset="-122"/>
            </a:endParaRPr>
          </a:p>
        </p:txBody>
      </p:sp>
      <p:sp>
        <p:nvSpPr>
          <p:cNvPr id="30" name="矩形 29"/>
          <p:cNvSpPr/>
          <p:nvPr>
            <p:custDataLst>
              <p:tags r:id="rId13"/>
            </p:custDataLst>
          </p:nvPr>
        </p:nvSpPr>
        <p:spPr>
          <a:xfrm>
            <a:off x="1702435" y="4420235"/>
            <a:ext cx="1318260" cy="420370"/>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编码信道</a:t>
            </a:r>
            <a:endParaRPr lang="zh-CN" altLang="en-US">
              <a:latin typeface="华文楷体" panose="02010600040101010101" charset="-122"/>
              <a:ea typeface="华文楷体" panose="02010600040101010101" charset="-122"/>
            </a:endParaRPr>
          </a:p>
        </p:txBody>
      </p:sp>
      <p:sp>
        <p:nvSpPr>
          <p:cNvPr id="35" name="矩形 34"/>
          <p:cNvSpPr/>
          <p:nvPr>
            <p:custDataLst>
              <p:tags r:id="rId14"/>
            </p:custDataLst>
          </p:nvPr>
        </p:nvSpPr>
        <p:spPr>
          <a:xfrm>
            <a:off x="3308985" y="3810000"/>
            <a:ext cx="710565" cy="47180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模型</a:t>
            </a:r>
            <a:endPar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sp>
        <p:nvSpPr>
          <p:cNvPr id="36" name="矩形 35"/>
          <p:cNvSpPr/>
          <p:nvPr>
            <p:custDataLst>
              <p:tags r:id="rId15"/>
            </p:custDataLst>
          </p:nvPr>
        </p:nvSpPr>
        <p:spPr>
          <a:xfrm>
            <a:off x="4443730" y="3558540"/>
            <a:ext cx="1318260" cy="420370"/>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恒参信道</a:t>
            </a:r>
            <a:endParaRPr lang="zh-CN" altLang="en-US">
              <a:latin typeface="华文楷体" panose="02010600040101010101" charset="-122"/>
              <a:ea typeface="华文楷体" panose="02010600040101010101" charset="-122"/>
            </a:endParaRPr>
          </a:p>
        </p:txBody>
      </p:sp>
      <p:sp>
        <p:nvSpPr>
          <p:cNvPr id="37" name="矩形 36"/>
          <p:cNvSpPr/>
          <p:nvPr>
            <p:custDataLst>
              <p:tags r:id="rId16"/>
            </p:custDataLst>
          </p:nvPr>
        </p:nvSpPr>
        <p:spPr>
          <a:xfrm>
            <a:off x="4443730" y="4182110"/>
            <a:ext cx="1318260" cy="420370"/>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随参信道</a:t>
            </a:r>
            <a:endParaRPr lang="zh-CN" altLang="en-US">
              <a:latin typeface="华文楷体" panose="02010600040101010101" charset="-122"/>
              <a:ea typeface="华文楷体" panose="02010600040101010101" charset="-122"/>
            </a:endParaRPr>
          </a:p>
        </p:txBody>
      </p:sp>
      <p:sp>
        <p:nvSpPr>
          <p:cNvPr id="38" name="矩形 37"/>
          <p:cNvSpPr/>
          <p:nvPr>
            <p:custDataLst>
              <p:tags r:id="rId17"/>
            </p:custDataLst>
          </p:nvPr>
        </p:nvSpPr>
        <p:spPr>
          <a:xfrm>
            <a:off x="3376930" y="4420235"/>
            <a:ext cx="710565" cy="471805"/>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模型</a:t>
            </a:r>
            <a:endPar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sp>
        <p:nvSpPr>
          <p:cNvPr id="39" name="矩形 38"/>
          <p:cNvSpPr/>
          <p:nvPr>
            <p:custDataLst>
              <p:tags r:id="rId18"/>
            </p:custDataLst>
          </p:nvPr>
        </p:nvSpPr>
        <p:spPr>
          <a:xfrm>
            <a:off x="5086985" y="2996565"/>
            <a:ext cx="2771775" cy="42037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n>
                  <a:noFill/>
                </a:ln>
                <a:latin typeface="华文楷体" panose="02010600040101010101" charset="-122"/>
                <a:ea typeface="华文楷体" panose="02010600040101010101" charset="-122"/>
              </a:rPr>
              <a:t>（双绞线、同轴电缆、光纤、微波中继、卫星中继）</a:t>
            </a:r>
            <a:endParaRPr lang="zh-CN" altLang="en-US">
              <a:ln>
                <a:noFill/>
              </a:ln>
              <a:latin typeface="华文楷体" panose="02010600040101010101" charset="-122"/>
              <a:ea typeface="华文楷体" panose="02010600040101010101" charset="-122"/>
            </a:endParaRPr>
          </a:p>
        </p:txBody>
      </p:sp>
      <p:sp>
        <p:nvSpPr>
          <p:cNvPr id="40" name="矩形 39"/>
          <p:cNvSpPr/>
          <p:nvPr>
            <p:custDataLst>
              <p:tags r:id="rId19"/>
            </p:custDataLst>
          </p:nvPr>
        </p:nvSpPr>
        <p:spPr>
          <a:xfrm>
            <a:off x="8079105" y="3558540"/>
            <a:ext cx="1778000" cy="420370"/>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理想恒参信道</a:t>
            </a:r>
            <a:endParaRPr lang="zh-CN" altLang="en-US">
              <a:latin typeface="华文楷体" panose="02010600040101010101" charset="-122"/>
              <a:ea typeface="华文楷体" panose="02010600040101010101" charset="-122"/>
            </a:endParaRPr>
          </a:p>
        </p:txBody>
      </p:sp>
      <p:sp>
        <p:nvSpPr>
          <p:cNvPr id="43" name="矩形 42"/>
          <p:cNvSpPr/>
          <p:nvPr>
            <p:custDataLst>
              <p:tags r:id="rId20"/>
            </p:custDataLst>
          </p:nvPr>
        </p:nvSpPr>
        <p:spPr>
          <a:xfrm>
            <a:off x="4565015" y="4685665"/>
            <a:ext cx="2251710" cy="42037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n>
                  <a:noFill/>
                </a:ln>
                <a:latin typeface="华文楷体" panose="02010600040101010101" charset="-122"/>
                <a:ea typeface="华文楷体" panose="02010600040101010101" charset="-122"/>
              </a:rPr>
              <a:t>（短波电离层反射、</a:t>
            </a:r>
            <a:r>
              <a:rPr lang="zh-CN" altLang="en-US">
                <a:ln>
                  <a:noFill/>
                </a:ln>
                <a:latin typeface="华文楷体" panose="02010600040101010101" charset="-122"/>
                <a:ea typeface="华文楷体" panose="02010600040101010101" charset="-122"/>
              </a:rPr>
              <a:t>陆地移动信道）</a:t>
            </a:r>
            <a:endParaRPr lang="zh-CN" altLang="en-US">
              <a:ln>
                <a:noFill/>
              </a:ln>
              <a:latin typeface="华文楷体" panose="02010600040101010101" charset="-122"/>
              <a:ea typeface="华文楷体" panose="02010600040101010101" charset="-122"/>
            </a:endParaRPr>
          </a:p>
        </p:txBody>
      </p:sp>
      <p:sp>
        <p:nvSpPr>
          <p:cNvPr id="44" name="矩形 43"/>
          <p:cNvSpPr/>
          <p:nvPr>
            <p:custDataLst>
              <p:tags r:id="rId21"/>
            </p:custDataLst>
          </p:nvPr>
        </p:nvSpPr>
        <p:spPr>
          <a:xfrm>
            <a:off x="6960235" y="4368800"/>
            <a:ext cx="710565" cy="47180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特性</a:t>
            </a:r>
            <a:endPar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sp>
        <p:nvSpPr>
          <p:cNvPr id="45" name="矩形 44"/>
          <p:cNvSpPr/>
          <p:nvPr>
            <p:custDataLst>
              <p:tags r:id="rId22"/>
            </p:custDataLst>
          </p:nvPr>
        </p:nvSpPr>
        <p:spPr>
          <a:xfrm>
            <a:off x="8126095" y="4181475"/>
            <a:ext cx="1842770" cy="47180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衰减随时间</a:t>
            </a: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变化</a:t>
            </a:r>
            <a:endPar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sp>
        <p:nvSpPr>
          <p:cNvPr id="46" name="矩形 45"/>
          <p:cNvSpPr/>
          <p:nvPr>
            <p:custDataLst>
              <p:tags r:id="rId23"/>
            </p:custDataLst>
          </p:nvPr>
        </p:nvSpPr>
        <p:spPr>
          <a:xfrm>
            <a:off x="8134350" y="4757420"/>
            <a:ext cx="1842770" cy="47180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时延随时间</a:t>
            </a: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变化</a:t>
            </a:r>
            <a:endPar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sp>
        <p:nvSpPr>
          <p:cNvPr id="47" name="矩形 46"/>
          <p:cNvSpPr/>
          <p:nvPr>
            <p:custDataLst>
              <p:tags r:id="rId24"/>
            </p:custDataLst>
          </p:nvPr>
        </p:nvSpPr>
        <p:spPr>
          <a:xfrm>
            <a:off x="8140700" y="5405755"/>
            <a:ext cx="1301750" cy="47180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多经传播</a:t>
            </a:r>
            <a:endPar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sp>
        <p:nvSpPr>
          <p:cNvPr id="48" name="矩形 47"/>
          <p:cNvSpPr/>
          <p:nvPr>
            <p:custDataLst>
              <p:tags r:id="rId25"/>
            </p:custDataLst>
          </p:nvPr>
        </p:nvSpPr>
        <p:spPr>
          <a:xfrm>
            <a:off x="9881870" y="5261610"/>
            <a:ext cx="1594485" cy="440690"/>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瑞利型衰落</a:t>
            </a:r>
            <a:endPar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sp>
        <p:nvSpPr>
          <p:cNvPr id="49" name="矩形 48"/>
          <p:cNvSpPr/>
          <p:nvPr>
            <p:custDataLst>
              <p:tags r:id="rId26"/>
            </p:custDataLst>
          </p:nvPr>
        </p:nvSpPr>
        <p:spPr>
          <a:xfrm>
            <a:off x="9912350" y="5768975"/>
            <a:ext cx="1594485" cy="397510"/>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频率弥散</a:t>
            </a:r>
            <a:endPar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sp>
        <p:nvSpPr>
          <p:cNvPr id="50" name="矩形 49"/>
          <p:cNvSpPr/>
          <p:nvPr>
            <p:custDataLst>
              <p:tags r:id="rId27"/>
            </p:custDataLst>
          </p:nvPr>
        </p:nvSpPr>
        <p:spPr>
          <a:xfrm>
            <a:off x="9912350" y="6236970"/>
            <a:ext cx="2005330" cy="44005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频率选择性</a:t>
            </a:r>
            <a:r>
              <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rPr>
              <a:t>衰落</a:t>
            </a:r>
            <a:endParaRPr lang="zh-CN" altLang="en-US"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cxnSp>
        <p:nvCxnSpPr>
          <p:cNvPr id="51" name="直接箭头连接符 50"/>
          <p:cNvCxnSpPr>
            <a:stCxn id="6" idx="2"/>
            <a:endCxn id="12" idx="0"/>
          </p:cNvCxnSpPr>
          <p:nvPr>
            <p:custDataLst>
              <p:tags r:id="rId28"/>
            </p:custDataLst>
          </p:nvPr>
        </p:nvCxnSpPr>
        <p:spPr>
          <a:xfrm>
            <a:off x="1077595" y="2668905"/>
            <a:ext cx="0" cy="4730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2" name="肘形连接符 51"/>
          <p:cNvCxnSpPr>
            <a:stCxn id="12" idx="2"/>
            <a:endCxn id="53" idx="1"/>
          </p:cNvCxnSpPr>
          <p:nvPr>
            <p:custDataLst>
              <p:tags r:id="rId29"/>
            </p:custDataLst>
          </p:nvPr>
        </p:nvCxnSpPr>
        <p:spPr>
          <a:xfrm rot="5400000" flipV="1">
            <a:off x="847725" y="3763010"/>
            <a:ext cx="796290" cy="336550"/>
          </a:xfrm>
          <a:prstGeom prst="bentConnector2">
            <a:avLst/>
          </a:prstGeom>
          <a:ln>
            <a:tailEnd type="arrow" w="med" len="med"/>
          </a:ln>
        </p:spPr>
        <p:style>
          <a:lnRef idx="2">
            <a:schemeClr val="accent1"/>
          </a:lnRef>
          <a:fillRef idx="0">
            <a:srgbClr val="FFFFFF"/>
          </a:fillRef>
          <a:effectRef idx="0">
            <a:srgbClr val="FFFFFF"/>
          </a:effectRef>
          <a:fontRef idx="minor">
            <a:schemeClr val="tx1"/>
          </a:fontRef>
        </p:style>
      </p:cxnSp>
      <p:sp>
        <p:nvSpPr>
          <p:cNvPr id="53" name="左大括号 52"/>
          <p:cNvSpPr/>
          <p:nvPr>
            <p:custDataLst>
              <p:tags r:id="rId30"/>
            </p:custDataLst>
          </p:nvPr>
        </p:nvSpPr>
        <p:spPr>
          <a:xfrm>
            <a:off x="1414145" y="3933190"/>
            <a:ext cx="215900" cy="79184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4" name="左大括号 53"/>
          <p:cNvSpPr/>
          <p:nvPr>
            <p:custDataLst>
              <p:tags r:id="rId31"/>
            </p:custDataLst>
          </p:nvPr>
        </p:nvSpPr>
        <p:spPr>
          <a:xfrm>
            <a:off x="4135755" y="3717290"/>
            <a:ext cx="215900" cy="79184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5" name="左大括号 54"/>
          <p:cNvSpPr/>
          <p:nvPr>
            <p:custDataLst>
              <p:tags r:id="rId32"/>
            </p:custDataLst>
          </p:nvPr>
        </p:nvSpPr>
        <p:spPr>
          <a:xfrm>
            <a:off x="7748270" y="4329430"/>
            <a:ext cx="300990" cy="1478280"/>
          </a:xfrm>
          <a:prstGeom prst="leftBrace">
            <a:avLst>
              <a:gd name="adj1" fmla="val 8333"/>
              <a:gd name="adj2" fmla="val 19329"/>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6" name="左大括号 55"/>
          <p:cNvSpPr/>
          <p:nvPr>
            <p:custDataLst>
              <p:tags r:id="rId33"/>
            </p:custDataLst>
          </p:nvPr>
        </p:nvSpPr>
        <p:spPr>
          <a:xfrm>
            <a:off x="9550400" y="5433695"/>
            <a:ext cx="277495" cy="1143635"/>
          </a:xfrm>
          <a:prstGeom prst="leftBrace">
            <a:avLst>
              <a:gd name="adj1" fmla="val 8333"/>
              <a:gd name="adj2" fmla="val 19329"/>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7" name="矩形 56"/>
          <p:cNvSpPr/>
          <p:nvPr>
            <p:custDataLst>
              <p:tags r:id="rId34"/>
            </p:custDataLst>
          </p:nvPr>
        </p:nvSpPr>
        <p:spPr>
          <a:xfrm>
            <a:off x="749300" y="5445125"/>
            <a:ext cx="910590" cy="39116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噪声</a:t>
            </a:r>
            <a:endParaRPr lang="zh-CN" altLang="en-US">
              <a:latin typeface="华文楷体" panose="02010600040101010101" charset="-122"/>
              <a:ea typeface="华文楷体" panose="02010600040101010101" charset="-122"/>
            </a:endParaRPr>
          </a:p>
        </p:txBody>
      </p:sp>
      <p:sp>
        <p:nvSpPr>
          <p:cNvPr id="58" name="矩形 57"/>
          <p:cNvSpPr/>
          <p:nvPr>
            <p:custDataLst>
              <p:tags r:id="rId35"/>
            </p:custDataLst>
          </p:nvPr>
        </p:nvSpPr>
        <p:spPr>
          <a:xfrm>
            <a:off x="1918335" y="5483860"/>
            <a:ext cx="3850005" cy="101409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定义、</a:t>
            </a:r>
            <a:r>
              <a:rPr lang="zh-CN" altLang="en-US">
                <a:solidFill>
                  <a:srgbClr val="C00000"/>
                </a:solidFill>
                <a:latin typeface="华文楷体" panose="02010600040101010101" charset="-122"/>
                <a:ea typeface="华文楷体" panose="02010600040101010101" charset="-122"/>
              </a:rPr>
              <a:t>分类（乘性、加性：自然噪声、人为噪声、内部噪声）（单频噪声、脉冲噪声、起伏</a:t>
            </a:r>
            <a:r>
              <a:rPr lang="zh-CN" altLang="en-US">
                <a:solidFill>
                  <a:srgbClr val="C00000"/>
                </a:solidFill>
                <a:latin typeface="华文楷体" panose="02010600040101010101" charset="-122"/>
                <a:ea typeface="华文楷体" panose="02010600040101010101" charset="-122"/>
              </a:rPr>
              <a:t>噪声）</a:t>
            </a:r>
            <a:endParaRPr lang="zh-CN" altLang="en-US" b="1">
              <a:solidFill>
                <a:srgbClr val="C00000"/>
              </a:solidFill>
              <a:latin typeface="华文楷体" panose="02010600040101010101" charset="-122"/>
              <a:ea typeface="华文楷体" panose="02010600040101010101" charset="-122"/>
              <a:sym typeface="+mn-ea"/>
            </a:endParaRPr>
          </a:p>
        </p:txBody>
      </p:sp>
      <p:cxnSp>
        <p:nvCxnSpPr>
          <p:cNvPr id="60" name="肘形连接符 59"/>
          <p:cNvCxnSpPr>
            <a:stCxn id="57" idx="0"/>
            <a:endCxn id="53" idx="1"/>
          </p:cNvCxnSpPr>
          <p:nvPr>
            <p:custDataLst>
              <p:tags r:id="rId36"/>
            </p:custDataLst>
          </p:nvPr>
        </p:nvCxnSpPr>
        <p:spPr>
          <a:xfrm rot="16200000">
            <a:off x="751205" y="4782185"/>
            <a:ext cx="1115695" cy="209550"/>
          </a:xfrm>
          <a:prstGeom prst="bentConnector2">
            <a:avLst/>
          </a:prstGeom>
          <a:ln>
            <a:tailEnd type="arrow" w="med" len="med"/>
          </a:ln>
        </p:spPr>
        <p:style>
          <a:lnRef idx="2">
            <a:schemeClr val="accent1"/>
          </a:lnRef>
          <a:fillRef idx="0">
            <a:srgbClr val="FFFFFF"/>
          </a:fillRef>
          <a:effectRef idx="0">
            <a:srgbClr val="FFFFFF"/>
          </a:effectRef>
          <a:fontRef idx="minor">
            <a:schemeClr val="tx1"/>
          </a:fontRef>
        </p:style>
      </p:cxnSp>
      <p:sp>
        <p:nvSpPr>
          <p:cNvPr id="13" name="矩形 12"/>
          <p:cNvSpPr/>
          <p:nvPr>
            <p:custDataLst>
              <p:tags r:id="rId37"/>
            </p:custDataLst>
          </p:nvPr>
        </p:nvSpPr>
        <p:spPr>
          <a:xfrm>
            <a:off x="2063115" y="1845310"/>
            <a:ext cx="1202690" cy="3600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chemeClr val="tx1"/>
                </a:solidFill>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定义</a:t>
            </a:r>
            <a:r>
              <a:rPr lang="zh-CN" altLang="en-US">
                <a:solidFill>
                  <a:schemeClr val="tx1"/>
                </a:solidFill>
                <a:latin typeface="华文楷体" panose="02010600040101010101" charset="-122"/>
                <a:ea typeface="华文楷体" panose="02010600040101010101" charset="-122"/>
              </a:rPr>
              <a:t>）</a:t>
            </a:r>
            <a:endParaRPr lang="zh-CN" altLang="en-US" b="1">
              <a:solidFill>
                <a:schemeClr val="tx1"/>
              </a:solidFill>
              <a:latin typeface="华文楷体" panose="02010600040101010101" charset="-122"/>
              <a:ea typeface="华文楷体" panose="02010600040101010101" charset="-122"/>
            </a:endParaRPr>
          </a:p>
        </p:txBody>
      </p:sp>
      <p:sp>
        <p:nvSpPr>
          <p:cNvPr id="14" name="矩形 13"/>
          <p:cNvSpPr/>
          <p:nvPr>
            <p:custDataLst>
              <p:tags r:id="rId38"/>
            </p:custDataLst>
          </p:nvPr>
        </p:nvSpPr>
        <p:spPr>
          <a:xfrm>
            <a:off x="3624580" y="2261235"/>
            <a:ext cx="1144270" cy="39116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通信系统</a:t>
            </a:r>
            <a:endParaRPr lang="zh-CN" altLang="en-US">
              <a:latin typeface="华文楷体" panose="02010600040101010101" charset="-122"/>
              <a:ea typeface="华文楷体" panose="02010600040101010101" charset="-122"/>
            </a:endParaRPr>
          </a:p>
        </p:txBody>
      </p:sp>
      <p:cxnSp>
        <p:nvCxnSpPr>
          <p:cNvPr id="15" name="直接箭头连接符 14"/>
          <p:cNvCxnSpPr>
            <a:stCxn id="10" idx="3"/>
            <a:endCxn id="14" idx="1"/>
          </p:cNvCxnSpPr>
          <p:nvPr>
            <p:custDataLst>
              <p:tags r:id="rId39"/>
            </p:custDataLst>
          </p:nvPr>
        </p:nvCxnSpPr>
        <p:spPr>
          <a:xfrm flipV="1">
            <a:off x="3134995" y="2456815"/>
            <a:ext cx="489585" cy="165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6" name="矩形 15"/>
          <p:cNvSpPr/>
          <p:nvPr>
            <p:custDataLst>
              <p:tags r:id="rId40"/>
            </p:custDataLst>
          </p:nvPr>
        </p:nvSpPr>
        <p:spPr>
          <a:xfrm>
            <a:off x="5160010" y="1772285"/>
            <a:ext cx="3235960" cy="3600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sym typeface="+mn-ea"/>
              </a:rPr>
              <a:t>模型</a:t>
            </a:r>
            <a:r>
              <a:rPr lang="zh-CN" altLang="en-US">
                <a:solidFill>
                  <a:schemeClr val="tx1"/>
                </a:solidFill>
                <a:latin typeface="华文楷体" panose="02010600040101010101" charset="-122"/>
                <a:ea typeface="华文楷体" panose="02010600040101010101" charset="-122"/>
              </a:rPr>
              <a:t>（模拟与数字通信系统）</a:t>
            </a:r>
            <a:endParaRPr lang="zh-CN" altLang="en-US" b="1">
              <a:solidFill>
                <a:schemeClr val="tx1"/>
              </a:solidFill>
              <a:latin typeface="华文楷体" panose="02010600040101010101" charset="-122"/>
              <a:ea typeface="华文楷体" panose="02010600040101010101" charset="-122"/>
            </a:endParaRPr>
          </a:p>
        </p:txBody>
      </p:sp>
      <p:cxnSp>
        <p:nvCxnSpPr>
          <p:cNvPr id="17" name="曲线连接符 16"/>
          <p:cNvCxnSpPr>
            <a:stCxn id="7" idx="3"/>
            <a:endCxn id="5" idx="3"/>
          </p:cNvCxnSpPr>
          <p:nvPr/>
        </p:nvCxnSpPr>
        <p:spPr>
          <a:xfrm>
            <a:off x="1532890" y="1108075"/>
            <a:ext cx="3175" cy="684530"/>
          </a:xfrm>
          <a:prstGeom prst="curvedConnector3">
            <a:avLst>
              <a:gd name="adj1" fmla="val 7500000"/>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18" name="矩形 17"/>
          <p:cNvSpPr/>
          <p:nvPr>
            <p:custDataLst>
              <p:tags r:id="rId41"/>
            </p:custDataLst>
          </p:nvPr>
        </p:nvSpPr>
        <p:spPr>
          <a:xfrm>
            <a:off x="1630045" y="1341120"/>
            <a:ext cx="1134110" cy="3600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chemeClr val="tx1"/>
                </a:solidFill>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关系</a:t>
            </a:r>
            <a:r>
              <a:rPr lang="zh-CN" altLang="en-US">
                <a:solidFill>
                  <a:schemeClr val="tx1"/>
                </a:solidFill>
                <a:latin typeface="华文楷体" panose="02010600040101010101" charset="-122"/>
                <a:ea typeface="华文楷体" panose="02010600040101010101" charset="-122"/>
              </a:rPr>
              <a:t>）</a:t>
            </a:r>
            <a:endParaRPr lang="zh-CN" altLang="en-US" b="1">
              <a:solidFill>
                <a:schemeClr val="tx1"/>
              </a:solidFill>
              <a:latin typeface="华文楷体" panose="02010600040101010101" charset="-122"/>
              <a:ea typeface="华文楷体" panose="02010600040101010101" charset="-122"/>
            </a:endParaRPr>
          </a:p>
        </p:txBody>
      </p:sp>
      <p:sp>
        <p:nvSpPr>
          <p:cNvPr id="21" name="矩形 20"/>
          <p:cNvSpPr/>
          <p:nvPr>
            <p:custDataLst>
              <p:tags r:id="rId42"/>
            </p:custDataLst>
          </p:nvPr>
        </p:nvSpPr>
        <p:spPr>
          <a:xfrm>
            <a:off x="2349500" y="909320"/>
            <a:ext cx="2418715" cy="39116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（平均）信息量、</a:t>
            </a:r>
            <a:r>
              <a:rPr lang="zh-CN" altLang="en-US">
                <a:solidFill>
                  <a:srgbClr val="C00000"/>
                </a:solidFill>
                <a:latin typeface="华文楷体" panose="02010600040101010101" charset="-122"/>
                <a:ea typeface="华文楷体" panose="02010600040101010101" charset="-122"/>
              </a:rPr>
              <a:t>熵</a:t>
            </a:r>
            <a:endParaRPr lang="zh-CN" altLang="en-US">
              <a:solidFill>
                <a:srgbClr val="C00000"/>
              </a:solidFill>
              <a:latin typeface="华文楷体" panose="02010600040101010101" charset="-122"/>
              <a:ea typeface="华文楷体" panose="02010600040101010101" charset="-122"/>
            </a:endParaRPr>
          </a:p>
        </p:txBody>
      </p:sp>
      <p:cxnSp>
        <p:nvCxnSpPr>
          <p:cNvPr id="22" name="直接箭头连接符 21"/>
          <p:cNvCxnSpPr>
            <a:stCxn id="7" idx="3"/>
            <a:endCxn id="21" idx="1"/>
          </p:cNvCxnSpPr>
          <p:nvPr>
            <p:custDataLst>
              <p:tags r:id="rId43"/>
            </p:custDataLst>
          </p:nvPr>
        </p:nvCxnSpPr>
        <p:spPr>
          <a:xfrm flipV="1">
            <a:off x="1532890" y="1104900"/>
            <a:ext cx="816610" cy="31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3" name="矩形 22"/>
          <p:cNvSpPr/>
          <p:nvPr>
            <p:custDataLst>
              <p:tags r:id="rId44"/>
            </p:custDataLst>
          </p:nvPr>
        </p:nvSpPr>
        <p:spPr>
          <a:xfrm>
            <a:off x="9834245" y="3573145"/>
            <a:ext cx="2306320" cy="3600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chemeClr val="tx1"/>
                </a:solidFill>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特性：幅频、相频</a:t>
            </a:r>
            <a:r>
              <a:rPr lang="zh-CN" altLang="en-US">
                <a:solidFill>
                  <a:schemeClr val="tx1"/>
                </a:solidFill>
                <a:latin typeface="华文楷体" panose="02010600040101010101" charset="-122"/>
                <a:ea typeface="华文楷体" panose="02010600040101010101" charset="-122"/>
              </a:rPr>
              <a:t>）</a:t>
            </a:r>
            <a:endParaRPr lang="zh-CN" altLang="en-US" b="1">
              <a:solidFill>
                <a:schemeClr val="tx1"/>
              </a:solidFill>
              <a:latin typeface="华文楷体" panose="02010600040101010101" charset="-122"/>
              <a:ea typeface="华文楷体" panose="02010600040101010101" charset="-122"/>
            </a:endParaRPr>
          </a:p>
        </p:txBody>
      </p:sp>
      <p:cxnSp>
        <p:nvCxnSpPr>
          <p:cNvPr id="24" name="肘形连接符 23"/>
          <p:cNvCxnSpPr>
            <a:stCxn id="36" idx="3"/>
            <a:endCxn id="40" idx="1"/>
          </p:cNvCxnSpPr>
          <p:nvPr/>
        </p:nvCxnSpPr>
        <p:spPr>
          <a:xfrm>
            <a:off x="5761990" y="3768725"/>
            <a:ext cx="2317115" cy="317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25" name="矩形 24"/>
          <p:cNvSpPr/>
          <p:nvPr>
            <p:custDataLst>
              <p:tags r:id="rId45"/>
            </p:custDataLst>
          </p:nvPr>
        </p:nvSpPr>
        <p:spPr>
          <a:xfrm>
            <a:off x="3935730" y="2781300"/>
            <a:ext cx="1202690" cy="3600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chemeClr val="tx1"/>
                </a:solidFill>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极限值</a:t>
            </a:r>
            <a:r>
              <a:rPr lang="zh-CN" altLang="en-US">
                <a:solidFill>
                  <a:schemeClr val="tx1"/>
                </a:solidFill>
                <a:latin typeface="华文楷体" panose="02010600040101010101" charset="-122"/>
                <a:ea typeface="华文楷体" panose="02010600040101010101" charset="-122"/>
              </a:rPr>
              <a:t>）</a:t>
            </a:r>
            <a:endParaRPr lang="zh-CN" altLang="en-US">
              <a:solidFill>
                <a:schemeClr val="tx1"/>
              </a:solidFill>
              <a:latin typeface="华文楷体" panose="02010600040101010101" charset="-122"/>
              <a:ea typeface="华文楷体" panose="02010600040101010101" charset="-122"/>
            </a:endParaRPr>
          </a:p>
        </p:txBody>
      </p:sp>
      <p:sp>
        <p:nvSpPr>
          <p:cNvPr id="26" name="矩形 25"/>
          <p:cNvSpPr/>
          <p:nvPr>
            <p:custDataLst>
              <p:tags r:id="rId46"/>
            </p:custDataLst>
          </p:nvPr>
        </p:nvSpPr>
        <p:spPr>
          <a:xfrm>
            <a:off x="5164455" y="2404745"/>
            <a:ext cx="1144270" cy="391160"/>
          </a:xfrm>
          <a:prstGeom prst="rect">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性能</a:t>
            </a:r>
            <a:r>
              <a:rPr lang="zh-CN" altLang="en-US">
                <a:latin typeface="华文楷体" panose="02010600040101010101" charset="-122"/>
                <a:ea typeface="华文楷体" panose="02010600040101010101" charset="-122"/>
              </a:rPr>
              <a:t>指标</a:t>
            </a:r>
            <a:endParaRPr lang="zh-CN" altLang="en-US">
              <a:latin typeface="华文楷体" panose="02010600040101010101" charset="-122"/>
              <a:ea typeface="华文楷体" panose="02010600040101010101" charset="-122"/>
            </a:endParaRPr>
          </a:p>
        </p:txBody>
      </p:sp>
      <p:sp>
        <p:nvSpPr>
          <p:cNvPr id="28" name="左大括号 27"/>
          <p:cNvSpPr/>
          <p:nvPr>
            <p:custDataLst>
              <p:tags r:id="rId47"/>
            </p:custDataLst>
          </p:nvPr>
        </p:nvSpPr>
        <p:spPr>
          <a:xfrm>
            <a:off x="4948555" y="1916430"/>
            <a:ext cx="215900" cy="791845"/>
          </a:xfrm>
          <a:prstGeom prst="leftBrace">
            <a:avLst>
              <a:gd name="adj1" fmla="val 8333"/>
              <a:gd name="adj2" fmla="val 64795"/>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矩形 28"/>
          <p:cNvSpPr/>
          <p:nvPr>
            <p:custDataLst>
              <p:tags r:id="rId48"/>
            </p:custDataLst>
          </p:nvPr>
        </p:nvSpPr>
        <p:spPr>
          <a:xfrm>
            <a:off x="6240145" y="2140585"/>
            <a:ext cx="5101590" cy="391160"/>
          </a:xfrm>
          <a:prstGeom prst="rect">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有效性（码元速率、信息速率、频带</a:t>
            </a:r>
            <a:r>
              <a:rPr lang="zh-CN" altLang="en-US">
                <a:solidFill>
                  <a:srgbClr val="C00000"/>
                </a:solidFill>
                <a:latin typeface="华文楷体" panose="02010600040101010101" charset="-122"/>
                <a:ea typeface="华文楷体" panose="02010600040101010101" charset="-122"/>
              </a:rPr>
              <a:t>利用率）</a:t>
            </a:r>
            <a:endParaRPr lang="zh-CN" altLang="en-US">
              <a:solidFill>
                <a:srgbClr val="C00000"/>
              </a:solidFill>
              <a:latin typeface="华文楷体" panose="02010600040101010101" charset="-122"/>
              <a:ea typeface="华文楷体" panose="02010600040101010101" charset="-122"/>
            </a:endParaRPr>
          </a:p>
        </p:txBody>
      </p:sp>
      <p:sp>
        <p:nvSpPr>
          <p:cNvPr id="31" name="矩形 30"/>
          <p:cNvSpPr/>
          <p:nvPr>
            <p:custDataLst>
              <p:tags r:id="rId49"/>
            </p:custDataLst>
          </p:nvPr>
        </p:nvSpPr>
        <p:spPr>
          <a:xfrm>
            <a:off x="6311900" y="2528570"/>
            <a:ext cx="3147695" cy="391160"/>
          </a:xfrm>
          <a:prstGeom prst="rect">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可靠性（误码率、误信</a:t>
            </a:r>
            <a:r>
              <a:rPr lang="zh-CN" altLang="en-US">
                <a:solidFill>
                  <a:srgbClr val="C00000"/>
                </a:solidFill>
                <a:latin typeface="华文楷体" panose="02010600040101010101" charset="-122"/>
                <a:ea typeface="华文楷体" panose="02010600040101010101" charset="-122"/>
              </a:rPr>
              <a:t>率）</a:t>
            </a:r>
            <a:endParaRPr lang="zh-CN" altLang="en-US">
              <a:solidFill>
                <a:srgbClr val="C00000"/>
              </a:solidFill>
              <a:latin typeface="华文楷体" panose="02010600040101010101" charset="-122"/>
              <a:ea typeface="华文楷体" panose="02010600040101010101" charset="-122"/>
            </a:endParaRPr>
          </a:p>
        </p:txBody>
      </p:sp>
      <p:sp>
        <p:nvSpPr>
          <p:cNvPr id="32" name="左大括号 31"/>
          <p:cNvSpPr/>
          <p:nvPr>
            <p:custDataLst>
              <p:tags r:id="rId50"/>
            </p:custDataLst>
          </p:nvPr>
        </p:nvSpPr>
        <p:spPr>
          <a:xfrm>
            <a:off x="6240145" y="2308860"/>
            <a:ext cx="226695" cy="472440"/>
          </a:xfrm>
          <a:prstGeom prst="leftBrace">
            <a:avLst>
              <a:gd name="adj1" fmla="val 8333"/>
              <a:gd name="adj2" fmla="val 64795"/>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5" name="文本框 4"/>
          <p:cNvSpPr txBox="1"/>
          <p:nvPr/>
        </p:nvSpPr>
        <p:spPr>
          <a:xfrm>
            <a:off x="1055370" y="909320"/>
            <a:ext cx="6096000" cy="3107690"/>
          </a:xfrm>
          <a:prstGeom prst="rect">
            <a:avLst/>
          </a:prstGeom>
          <a:noFill/>
        </p:spPr>
        <p:txBody>
          <a:bodyPr wrap="square" rtlCol="0" anchor="t">
            <a:spAutoFit/>
          </a:bodyPr>
          <a:p>
            <a:pPr marL="457200" indent="-457200" algn="l">
              <a:buClrTx/>
              <a:buSzTx/>
              <a:buFont typeface="Arial" panose="020B0604020202090204" pitchFamily="34" charset="0"/>
              <a:buChar char="•"/>
            </a:pPr>
            <a:r>
              <a:rPr lang="zh-CN" altLang="en-US" sz="2800" b="1" dirty="0">
                <a:latin typeface="华文楷体" panose="02010600040101010101" charset="-122"/>
                <a:ea typeface="华文楷体" panose="02010600040101010101" charset="-122"/>
                <a:cs typeface="华文楷体" panose="02010600040101010101" charset="-122"/>
                <a:sym typeface="+mn-ea"/>
              </a:rPr>
              <a:t>模拟通信系统模型</a:t>
            </a:r>
            <a:endParaRPr lang="zh-CN" altLang="en-US" sz="2800" b="1" dirty="0">
              <a:latin typeface="华文楷体" panose="02010600040101010101" charset="-122"/>
              <a:ea typeface="华文楷体" panose="02010600040101010101" charset="-122"/>
              <a:cs typeface="华文楷体" panose="02010600040101010101" charset="-122"/>
              <a:sym typeface="+mn-ea"/>
            </a:endParaRPr>
          </a:p>
          <a:p>
            <a:pPr algn="l">
              <a:buClrTx/>
              <a:buSzTx/>
              <a:buNone/>
            </a:pPr>
            <a:endParaRPr lang="zh-CN" altLang="en-US" sz="2800" b="1" dirty="0">
              <a:latin typeface="华文楷体" panose="02010600040101010101" charset="-122"/>
              <a:ea typeface="华文楷体" panose="02010600040101010101" charset="-122"/>
              <a:cs typeface="华文楷体" panose="02010600040101010101" charset="-122"/>
              <a:sym typeface="+mn-ea"/>
            </a:endParaRPr>
          </a:p>
          <a:p>
            <a:pPr algn="l">
              <a:buClrTx/>
              <a:buSzTx/>
              <a:buNone/>
            </a:pPr>
            <a:endParaRPr lang="zh-CN" altLang="en-US" sz="2800" b="1" dirty="0">
              <a:latin typeface="华文楷体" panose="02010600040101010101" charset="-122"/>
              <a:ea typeface="华文楷体" panose="02010600040101010101" charset="-122"/>
              <a:cs typeface="华文楷体" panose="02010600040101010101" charset="-122"/>
              <a:sym typeface="+mn-ea"/>
            </a:endParaRPr>
          </a:p>
          <a:p>
            <a:pPr algn="l">
              <a:buClrTx/>
              <a:buSzTx/>
              <a:buNone/>
            </a:pPr>
            <a:endParaRPr lang="zh-CN" altLang="en-US" sz="2800" b="1" dirty="0">
              <a:latin typeface="华文楷体" panose="02010600040101010101" charset="-122"/>
              <a:ea typeface="华文楷体" panose="02010600040101010101" charset="-122"/>
              <a:cs typeface="华文楷体" panose="02010600040101010101" charset="-122"/>
              <a:sym typeface="+mn-ea"/>
            </a:endParaRPr>
          </a:p>
          <a:p>
            <a:pPr algn="l">
              <a:buClrTx/>
              <a:buSzTx/>
              <a:buNone/>
            </a:pPr>
            <a:endParaRPr lang="zh-CN" altLang="en-US" sz="2800" b="1" dirty="0">
              <a:latin typeface="华文楷体" panose="02010600040101010101" charset="-122"/>
              <a:ea typeface="华文楷体" panose="02010600040101010101" charset="-122"/>
              <a:cs typeface="华文楷体" panose="02010600040101010101" charset="-122"/>
              <a:sym typeface="+mn-ea"/>
            </a:endParaRPr>
          </a:p>
          <a:p>
            <a:pPr marL="457200" indent="-457200" algn="l">
              <a:buClrTx/>
              <a:buSzTx/>
              <a:buFont typeface="Arial" panose="020B0604020202090204" pitchFamily="34" charset="0"/>
              <a:buChar char="•"/>
            </a:pPr>
            <a:r>
              <a:rPr lang="en-US" altLang="zh-CN" sz="2800" b="1" dirty="0">
                <a:latin typeface="华文楷体" panose="02010600040101010101" charset="-122"/>
                <a:ea typeface="华文楷体" panose="02010600040101010101" charset="-122"/>
                <a:cs typeface="华文楷体" panose="02010600040101010101" charset="-122"/>
                <a:sym typeface="+mn-ea"/>
              </a:rPr>
              <a:t>数字通信系统模型</a:t>
            </a:r>
            <a:endParaRPr lang="en-US" altLang="zh-CN" sz="2800" b="1" dirty="0">
              <a:latin typeface="华文楷体" panose="02010600040101010101" charset="-122"/>
              <a:ea typeface="华文楷体" panose="02010600040101010101" charset="-122"/>
              <a:cs typeface="华文楷体" panose="02010600040101010101" charset="-122"/>
            </a:endParaRPr>
          </a:p>
          <a:p>
            <a:pPr algn="l">
              <a:buClrTx/>
              <a:buSzTx/>
              <a:buNone/>
            </a:pPr>
            <a:endParaRPr lang="zh-CN" altLang="en-US" sz="2800" b="1" dirty="0">
              <a:latin typeface="华文楷体" panose="02010600040101010101" charset="-122"/>
              <a:ea typeface="华文楷体" panose="02010600040101010101" charset="-122"/>
              <a:cs typeface="华文楷体" panose="02010600040101010101" charset="-122"/>
              <a:sym typeface="+mn-ea"/>
            </a:endParaRPr>
          </a:p>
        </p:txBody>
      </p:sp>
      <p:graphicFrame>
        <p:nvGraphicFramePr>
          <p:cNvPr id="6" name="Object 155"/>
          <p:cNvGraphicFramePr>
            <a:graphicFrameLocks noChangeAspect="1"/>
          </p:cNvGraphicFramePr>
          <p:nvPr>
            <p:custDataLst>
              <p:tags r:id="rId2"/>
            </p:custDataLst>
          </p:nvPr>
        </p:nvGraphicFramePr>
        <p:xfrm>
          <a:off x="479425" y="2565400"/>
          <a:ext cx="10407015" cy="3492500"/>
        </p:xfrm>
        <a:graphic>
          <a:graphicData uri="http://schemas.openxmlformats.org/presentationml/2006/ole">
            <mc:AlternateContent xmlns:mc="http://schemas.openxmlformats.org/markup-compatibility/2006">
              <mc:Choice xmlns:v="urn:schemas-microsoft-com:vml" Requires="v">
                <p:oleObj spid="_x0000_s42058" name="" r:id="rId3" imgW="4572000" imgH="1743075" progId="Word.Picture.8">
                  <p:embed/>
                </p:oleObj>
              </mc:Choice>
              <mc:Fallback>
                <p:oleObj name="" r:id="rId3" imgW="4572000" imgH="1743075" progId="Word.Picture.8">
                  <p:embed/>
                  <p:pic>
                    <p:nvPicPr>
                      <p:cNvPr id="0" name="Object 155"/>
                      <p:cNvPicPr/>
                      <p:nvPr/>
                    </p:nvPicPr>
                    <p:blipFill>
                      <a:blip r:embed="rId4"/>
                      <a:stretch>
                        <a:fillRect/>
                      </a:stretch>
                    </p:blipFill>
                    <p:spPr>
                      <a:xfrm>
                        <a:off x="479425" y="2565400"/>
                        <a:ext cx="10407015" cy="3492500"/>
                      </a:xfrm>
                      <a:prstGeom prst="rect">
                        <a:avLst/>
                      </a:prstGeom>
                      <a:noFill/>
                      <a:ln w="38100">
                        <a:noFill/>
                        <a:miter/>
                      </a:ln>
                    </p:spPr>
                  </p:pic>
                </p:oleObj>
              </mc:Fallback>
            </mc:AlternateContent>
          </a:graphicData>
        </a:graphic>
      </p:graphicFrame>
      <p:graphicFrame>
        <p:nvGraphicFramePr>
          <p:cNvPr id="7" name="Object 159"/>
          <p:cNvGraphicFramePr>
            <a:graphicFrameLocks noChangeAspect="1"/>
          </p:cNvGraphicFramePr>
          <p:nvPr>
            <p:custDataLst>
              <p:tags r:id="rId5"/>
            </p:custDataLst>
          </p:nvPr>
        </p:nvGraphicFramePr>
        <p:xfrm>
          <a:off x="2495550" y="1413510"/>
          <a:ext cx="7486015" cy="1671955"/>
        </p:xfrm>
        <a:graphic>
          <a:graphicData uri="http://schemas.openxmlformats.org/presentationml/2006/ole">
            <mc:AlternateContent xmlns:mc="http://schemas.openxmlformats.org/markup-compatibility/2006">
              <mc:Choice xmlns:v="urn:schemas-microsoft-com:vml" Requires="v">
                <p:oleObj spid="_x0000_s41034" name="" r:id="rId6" imgW="3609975" imgH="800100" progId="Word.Picture.8">
                  <p:embed/>
                </p:oleObj>
              </mc:Choice>
              <mc:Fallback>
                <p:oleObj name="" r:id="rId6" imgW="3609975" imgH="800100" progId="Word.Picture.8">
                  <p:embed/>
                  <p:pic>
                    <p:nvPicPr>
                      <p:cNvPr id="0" name="Object 159"/>
                      <p:cNvPicPr/>
                      <p:nvPr/>
                    </p:nvPicPr>
                    <p:blipFill>
                      <a:blip r:embed="rId7"/>
                      <a:stretch>
                        <a:fillRect/>
                      </a:stretch>
                    </p:blipFill>
                    <p:spPr>
                      <a:xfrm>
                        <a:off x="2495550" y="1413510"/>
                        <a:ext cx="7486015" cy="1671955"/>
                      </a:xfrm>
                      <a:prstGeom prst="rect">
                        <a:avLst/>
                      </a:prstGeom>
                      <a:solidFill>
                        <a:srgbClr val="FFFFFF">
                          <a:alpha val="0"/>
                        </a:srgbClr>
                      </a:solidFill>
                      <a:ln w="9525" cap="flat" cmpd="sng">
                        <a:solidFill>
                          <a:srgbClr val="FFFFFF"/>
                        </a:solidFill>
                        <a:prstDash val="solid"/>
                        <a:miter/>
                        <a:headEnd type="none" w="med" len="med"/>
                        <a:tailEnd type="none" w="med" len="med"/>
                      </a:ln>
                    </p:spPr>
                  </p:pic>
                </p:oleObj>
              </mc:Fallback>
            </mc:AlternateContent>
          </a:graphicData>
        </a:graphic>
      </p:graphicFrame>
      <p:sp>
        <p:nvSpPr>
          <p:cNvPr id="12" name="Rectangle 3"/>
          <p:cNvSpPr txBox="1">
            <a:spLocks noChangeArrowheads="1"/>
          </p:cNvSpPr>
          <p:nvPr>
            <p:custDataLst>
              <p:tags r:id="rId8"/>
            </p:custDataLst>
          </p:nvPr>
        </p:nvSpPr>
        <p:spPr bwMode="auto">
          <a:xfrm>
            <a:off x="1452245" y="5269230"/>
            <a:ext cx="4262120" cy="1357630"/>
          </a:xfrm>
          <a:prstGeom prst="rect">
            <a:avLst/>
          </a:prstGeom>
          <a:solidFill>
            <a:schemeClr val="bg2">
              <a:lumMod val="10000"/>
              <a:lumOff val="90000"/>
            </a:schemeClr>
          </a:solidFill>
          <a:ln w="9525">
            <a:noFill/>
            <a:miter lim="800000"/>
          </a:ln>
          <a:effectLst>
            <a:outerShdw blurRad="50800" dist="38100" dir="2700000" algn="tl" rotWithShape="0">
              <a:prstClr val="black">
                <a:alpha val="40000"/>
              </a:prstClr>
            </a:outerShdw>
          </a:effectLst>
        </p:spPr>
        <p:txBody>
          <a:bodyPr/>
          <a:p>
            <a:pPr marL="342900" marR="0" indent="-342900" defTabSz="914400" eaLnBrk="1" hangingPunct="1">
              <a:spcBef>
                <a:spcPct val="20000"/>
              </a:spcBef>
              <a:buClr>
                <a:srgbClr val="FF0000"/>
              </a:buClr>
              <a:buSzPct val="80000"/>
              <a:buFont typeface="Wingdings" panose="05000000000000000000" pitchFamily="2" charset="2"/>
              <a:buChar char="n"/>
              <a:defRPr/>
            </a:pPr>
            <a:r>
              <a:rPr kumimoji="0" lang="zh-CN" altLang="en-US" sz="2400" kern="0" cap="none" spc="0" normalizeH="0" baseline="0" noProof="0" dirty="0">
                <a:latin typeface="华文楷体" panose="02010600040101010101" charset="-122"/>
                <a:ea typeface="华文楷体" panose="02010600040101010101" charset="-122"/>
                <a:cs typeface="华文楷体" panose="02010600040101010101" charset="-122"/>
              </a:rPr>
              <a:t>信源编码：</a:t>
            </a:r>
            <a:endParaRPr kumimoji="0" lang="zh-CN" altLang="en-US" sz="2400" kern="0" cap="none" spc="0" normalizeH="0" baseline="0" noProof="0" dirty="0">
              <a:latin typeface="华文楷体" panose="02010600040101010101" charset="-122"/>
              <a:ea typeface="华文楷体" panose="02010600040101010101" charset="-122"/>
              <a:cs typeface="华文楷体" panose="02010600040101010101" charset="-122"/>
            </a:endParaRPr>
          </a:p>
          <a:p>
            <a:pPr marL="742950" marR="0" lvl="1" indent="-285750" algn="l" defTabSz="914400" rtl="0" eaLnBrk="1" fontAlgn="base" latinLnBrk="0" hangingPunct="1">
              <a:lnSpc>
                <a:spcPct val="100000"/>
              </a:lnSpc>
              <a:spcBef>
                <a:spcPct val="20000"/>
              </a:spcBef>
              <a:spcAft>
                <a:spcPct val="0"/>
              </a:spcAft>
              <a:buClr>
                <a:srgbClr val="0000CC"/>
              </a:buClr>
              <a:buSzPct val="55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模</a:t>
            </a:r>
            <a:r>
              <a:rPr kumimoji="0" lang="en-US" altLang="zh-CN"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a:t>
            </a:r>
            <a:r>
              <a:rPr kumimoji="0" lang="zh-CN" altLang="en-US"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数转换</a:t>
            </a:r>
            <a:r>
              <a:rPr kumimoji="0" lang="zh-CN" altLang="en-US"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 、</a:t>
            </a:r>
            <a:r>
              <a:rPr lang="zh-CN" altLang="en-US" sz="2400" b="1" kern="0" noProof="0" dirty="0">
                <a:ln>
                  <a:noFill/>
                </a:ln>
                <a:effectLst/>
                <a:uLnTx/>
                <a:uFillTx/>
                <a:latin typeface="华文楷体" panose="02010600040101010101" charset="-122"/>
                <a:ea typeface="华文楷体" panose="02010600040101010101" charset="-122"/>
                <a:cs typeface="华文楷体" panose="02010600040101010101" charset="-122"/>
                <a:sym typeface="+mn-ea"/>
              </a:rPr>
              <a:t>数据压缩</a:t>
            </a:r>
            <a:r>
              <a:rPr kumimoji="0" lang="zh-CN" altLang="en-US"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    </a:t>
            </a:r>
            <a:endParaRPr kumimoji="0" lang="zh-CN" altLang="en-US"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a:p>
            <a:pPr marL="742950" marR="0" lvl="1" indent="-285750" algn="l" defTabSz="914400" rtl="0" eaLnBrk="1" fontAlgn="base" latinLnBrk="0" hangingPunct="1">
              <a:lnSpc>
                <a:spcPct val="100000"/>
              </a:lnSpc>
              <a:spcBef>
                <a:spcPct val="20000"/>
              </a:spcBef>
              <a:spcAft>
                <a:spcPct val="0"/>
              </a:spcAft>
              <a:buClr>
                <a:srgbClr val="0000CC"/>
              </a:buClr>
              <a:buSzPct val="55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提高有效性</a:t>
            </a:r>
            <a:endParaRPr kumimoji="0" lang="zh-CN" altLang="en-US"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p:txBody>
      </p:sp>
      <p:sp>
        <p:nvSpPr>
          <p:cNvPr id="13" name="Rectangle 3"/>
          <p:cNvSpPr txBox="1">
            <a:spLocks noChangeArrowheads="1"/>
          </p:cNvSpPr>
          <p:nvPr>
            <p:custDataLst>
              <p:tags r:id="rId9"/>
            </p:custDataLst>
          </p:nvPr>
        </p:nvSpPr>
        <p:spPr bwMode="auto">
          <a:xfrm>
            <a:off x="7174865" y="5085080"/>
            <a:ext cx="3168650" cy="1613535"/>
          </a:xfrm>
          <a:prstGeom prst="rect">
            <a:avLst/>
          </a:prstGeom>
          <a:solidFill>
            <a:schemeClr val="bg2">
              <a:lumMod val="10000"/>
              <a:lumOff val="90000"/>
            </a:schemeClr>
          </a:solidFill>
          <a:ln w="9525">
            <a:noFill/>
            <a:miter lim="800000"/>
          </a:ln>
          <a:effectLst>
            <a:outerShdw blurRad="50800" dist="38100" dir="2700000" algn="tl" rotWithShape="0">
              <a:prstClr val="black">
                <a:alpha val="40000"/>
              </a:prstClr>
            </a:outerShdw>
          </a:effectLst>
        </p:spPr>
        <p:txBody>
          <a:bodyPr/>
          <a:p>
            <a:pPr marL="342900" marR="0" indent="-342900" defTabSz="914400" eaLnBrk="1" hangingPunct="1">
              <a:lnSpc>
                <a:spcPct val="120000"/>
              </a:lnSpc>
              <a:spcBef>
                <a:spcPct val="20000"/>
              </a:spcBef>
              <a:buClr>
                <a:srgbClr val="FF0000"/>
              </a:buClr>
              <a:buSzPct val="80000"/>
              <a:buFont typeface="Wingdings" panose="05000000000000000000" pitchFamily="2" charset="2"/>
              <a:buChar char="n"/>
              <a:defRPr/>
            </a:pPr>
            <a:r>
              <a:rPr kumimoji="0" lang="zh-CN" altLang="en-US" sz="2400" kern="0" cap="none" spc="0" normalizeH="0" baseline="0" noProof="0" dirty="0">
                <a:latin typeface="华文楷体" panose="02010600040101010101" charset="-122"/>
                <a:ea typeface="华文楷体" panose="02010600040101010101" charset="-122"/>
                <a:cs typeface="+mn-cs"/>
              </a:rPr>
              <a:t>信道编码：</a:t>
            </a:r>
            <a:endParaRPr kumimoji="0" lang="zh-CN" altLang="en-US" sz="2400" kern="0" cap="none" spc="0" normalizeH="0" baseline="0" noProof="0" dirty="0">
              <a:latin typeface="华文楷体" panose="02010600040101010101" charset="-122"/>
              <a:ea typeface="华文楷体" panose="02010600040101010101" charset="-122"/>
              <a:cs typeface="+mn-cs"/>
            </a:endParaRPr>
          </a:p>
          <a:p>
            <a:pPr marL="742950" marR="0" lvl="1" indent="-285750" algn="l" defTabSz="914400" rtl="0" eaLnBrk="1" fontAlgn="base" latinLnBrk="0" hangingPunct="1">
              <a:lnSpc>
                <a:spcPct val="120000"/>
              </a:lnSpc>
              <a:spcBef>
                <a:spcPct val="20000"/>
              </a:spcBef>
              <a:spcAft>
                <a:spcPct val="0"/>
              </a:spcAft>
              <a:buClr>
                <a:srgbClr val="0000CC"/>
              </a:buClr>
              <a:buSzPct val="55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rPr>
              <a:t>增强抗干扰能力</a:t>
            </a:r>
            <a:endParaRPr kumimoji="0" lang="zh-CN" altLang="en-US"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742950" marR="0" lvl="1" indent="-285750" algn="l" defTabSz="914400" rtl="0" eaLnBrk="1" fontAlgn="base" latinLnBrk="0" hangingPunct="1">
              <a:lnSpc>
                <a:spcPct val="120000"/>
              </a:lnSpc>
              <a:spcBef>
                <a:spcPct val="20000"/>
              </a:spcBef>
              <a:spcAft>
                <a:spcPct val="0"/>
              </a:spcAft>
              <a:buClr>
                <a:srgbClr val="0000CC"/>
              </a:buClr>
              <a:buSzPct val="55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rPr>
              <a:t>提高可靠性</a:t>
            </a:r>
            <a:endParaRPr kumimoji="0" lang="zh-CN" altLang="en-US" sz="24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 name="组合 18"/>
          <p:cNvGrpSpPr/>
          <p:nvPr/>
        </p:nvGrpSpPr>
        <p:grpSpPr>
          <a:xfrm>
            <a:off x="2521585" y="3587433"/>
            <a:ext cx="5232400" cy="683895"/>
            <a:chOff x="150485" y="1039790"/>
            <a:chExt cx="3793618" cy="959627"/>
          </a:xfrm>
        </p:grpSpPr>
        <p:sp>
          <p:nvSpPr>
            <p:cNvPr id="8" name="圆角矩形 7"/>
            <p:cNvSpPr/>
            <p:nvPr>
              <p:custDataLst>
                <p:tags r:id="rId1"/>
              </p:custDataLst>
            </p:nvPr>
          </p:nvSpPr>
          <p:spPr>
            <a:xfrm>
              <a:off x="150485" y="1039790"/>
              <a:ext cx="3763693" cy="959627"/>
            </a:xfrm>
            <a:prstGeom prst="roundRect">
              <a:avLst>
                <a:gd name="adj" fmla="val 10000"/>
              </a:avLst>
            </a:prstGeom>
            <a:ln w="12700">
              <a:solidFill>
                <a:srgbClr val="003399"/>
              </a:solidFill>
              <a:prstDash val="lgDash"/>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9" name="圆角矩形 7"/>
            <p:cNvSpPr/>
            <p:nvPr>
              <p:custDataLst>
                <p:tags r:id="rId2"/>
              </p:custDataLst>
            </p:nvPr>
          </p:nvSpPr>
          <p:spPr>
            <a:xfrm>
              <a:off x="159693" y="1118200"/>
              <a:ext cx="3784410" cy="868743"/>
            </a:xfrm>
            <a:prstGeom prst="rect">
              <a:avLst/>
            </a:prstGeom>
            <a:ln w="12700">
              <a:prstDash val="lgDash"/>
            </a:ln>
          </p:spPr>
          <p:style>
            <a:lnRef idx="0">
              <a:scrgbClr r="0" g="0" b="0"/>
            </a:lnRef>
            <a:fillRef idx="0">
              <a:scrgbClr r="0" g="0" b="0"/>
            </a:fillRef>
            <a:effectRef idx="0">
              <a:scrgbClr r="0" g="0" b="0"/>
            </a:effectRef>
            <a:fontRef idx="minor">
              <a:schemeClr val="dk1">
                <a:hueOff val="0"/>
                <a:satOff val="0"/>
                <a:lumOff val="0"/>
                <a:alphaOff val="0"/>
              </a:schemeClr>
            </a:fontRef>
          </p:style>
          <p:txBody>
            <a:bodyPr lIns="49530" tIns="33020" rIns="49530" bIns="33020" spcCol="1270" anchor="ctr"/>
            <a:p>
              <a:pPr marL="0" marR="0" lvl="0" indent="0" algn="l" defTabSz="1155700" rtl="0" eaLnBrk="1" fontAlgn="base" latinLnBrk="0" hangingPunct="1">
                <a:lnSpc>
                  <a:spcPct val="90000"/>
                </a:lnSpc>
                <a:spcBef>
                  <a:spcPct val="0"/>
                </a:spcBef>
                <a:spcAft>
                  <a:spcPct val="35000"/>
                </a:spcAft>
                <a:buClrTx/>
                <a:buSzTx/>
                <a:buFontTx/>
                <a:buNone/>
                <a:defRPr/>
              </a:pPr>
              <a:r>
                <a:rPr kumimoji="0" lang="zh-CN" altLang="en-US" sz="2400" b="1" i="0" u="none"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华文楷体" panose="02010600040101010101" charset="-122"/>
                </a:rPr>
                <a:t>：</a:t>
              </a:r>
              <a:r>
                <a:rPr kumimoji="0" lang="zh-CN" altLang="en-US"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rPr>
                <a:t>消息中蕴含的有效内容</a:t>
              </a:r>
              <a:r>
                <a:rPr kumimoji="0" lang="en-US" altLang="zh-CN"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rPr>
                <a:t>(</a:t>
              </a:r>
              <a:r>
                <a:rPr kumimoji="0" lang="zh-CN" altLang="zh-CN"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rPr>
                <a:t>不确定性</a:t>
              </a:r>
              <a:r>
                <a:rPr kumimoji="0" lang="en-US" altLang="zh-CN"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rPr>
                <a:t>)</a:t>
              </a:r>
              <a:r>
                <a:rPr kumimoji="0" lang="zh-CN" altLang="en-US"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rPr>
                <a:t>。</a:t>
              </a:r>
              <a:endParaRPr kumimoji="0" lang="zh-CN" altLang="en-US" sz="26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endParaRPr>
            </a:p>
          </p:txBody>
        </p:sp>
      </p:grpSp>
      <p:sp>
        <p:nvSpPr>
          <p:cNvPr id="26" name="椭圆 25"/>
          <p:cNvSpPr/>
          <p:nvPr>
            <p:custDataLst>
              <p:tags r:id="rId3"/>
            </p:custDataLst>
          </p:nvPr>
        </p:nvSpPr>
        <p:spPr bwMode="auto">
          <a:xfrm>
            <a:off x="1775143" y="3175635"/>
            <a:ext cx="1071563" cy="714375"/>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p:txBody>
      </p:sp>
      <p:grpSp>
        <p:nvGrpSpPr>
          <p:cNvPr id="10" name="组合 31"/>
          <p:cNvGrpSpPr/>
          <p:nvPr/>
        </p:nvGrpSpPr>
        <p:grpSpPr>
          <a:xfrm>
            <a:off x="2364423" y="2081848"/>
            <a:ext cx="2679700" cy="1009650"/>
            <a:chOff x="322157" y="1039790"/>
            <a:chExt cx="2789662" cy="1135752"/>
          </a:xfrm>
        </p:grpSpPr>
        <p:sp>
          <p:nvSpPr>
            <p:cNvPr id="11" name="圆角矩形 10"/>
            <p:cNvSpPr/>
            <p:nvPr>
              <p:custDataLst>
                <p:tags r:id="rId4"/>
              </p:custDataLst>
            </p:nvPr>
          </p:nvSpPr>
          <p:spPr>
            <a:xfrm>
              <a:off x="322157" y="1039790"/>
              <a:ext cx="2789662" cy="1135752"/>
            </a:xfrm>
            <a:prstGeom prst="roundRect">
              <a:avLst>
                <a:gd name="adj" fmla="val 10000"/>
              </a:avLst>
            </a:prstGeom>
            <a:ln w="12700">
              <a:solidFill>
                <a:srgbClr val="003399"/>
              </a:solidFill>
              <a:prstDash val="lgDash"/>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2" name="圆角矩形 7"/>
            <p:cNvSpPr/>
            <p:nvPr>
              <p:custDataLst>
                <p:tags r:id="rId5"/>
              </p:custDataLst>
            </p:nvPr>
          </p:nvSpPr>
          <p:spPr>
            <a:xfrm>
              <a:off x="355210" y="1073719"/>
              <a:ext cx="2723556" cy="1067893"/>
            </a:xfrm>
            <a:prstGeom prst="rect">
              <a:avLst/>
            </a:prstGeom>
            <a:ln w="12700">
              <a:prstDash val="lgDash"/>
            </a:ln>
          </p:spPr>
          <p:style>
            <a:lnRef idx="0">
              <a:scrgbClr r="0" g="0" b="0"/>
            </a:lnRef>
            <a:fillRef idx="0">
              <a:scrgbClr r="0" g="0" b="0"/>
            </a:fillRef>
            <a:effectRef idx="0">
              <a:scrgbClr r="0" g="0" b="0"/>
            </a:effectRef>
            <a:fontRef idx="minor">
              <a:schemeClr val="dk1">
                <a:hueOff val="0"/>
                <a:satOff val="0"/>
                <a:lumOff val="0"/>
                <a:alphaOff val="0"/>
              </a:schemeClr>
            </a:fontRef>
          </p:style>
          <p:txBody>
            <a:bodyPr lIns="49530" tIns="33020" rIns="49530" bIns="33020" spcCol="1270" anchor="ctr"/>
            <a:p>
              <a:pPr marL="0" marR="0" lvl="0" indent="0" algn="l" defTabSz="1155700" rtl="0" eaLnBrk="1" fontAlgn="base" latinLnBrk="0" hangingPunct="1">
                <a:lnSpc>
                  <a:spcPts val="2000"/>
                </a:lnSpc>
                <a:spcBef>
                  <a:spcPct val="0"/>
                </a:spcBef>
                <a:spcAft>
                  <a:spcPct val="35000"/>
                </a:spcAft>
                <a:buClrTx/>
                <a:buSzTx/>
                <a:buFontTx/>
                <a:buNone/>
                <a:defRPr/>
              </a:pPr>
              <a:r>
                <a:rPr kumimoji="0" lang="zh-CN" altLang="en-US"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rPr>
                <a:t>  ：通信系统传输</a:t>
              </a:r>
              <a:endParaRPr kumimoji="0" lang="en-US" altLang="zh-CN"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endParaRPr>
            </a:p>
            <a:p>
              <a:pPr marL="0" marR="0" lvl="0" indent="0" algn="ctr" defTabSz="1155700" rtl="0" eaLnBrk="1" fontAlgn="base" latinLnBrk="0" hangingPunct="1">
                <a:lnSpc>
                  <a:spcPts val="2000"/>
                </a:lnSpc>
                <a:spcBef>
                  <a:spcPct val="0"/>
                </a:spcBef>
                <a:spcAft>
                  <a:spcPct val="35000"/>
                </a:spcAft>
                <a:buClrTx/>
                <a:buSzTx/>
                <a:buFontTx/>
                <a:buNone/>
                <a:defRPr/>
              </a:pPr>
              <a:r>
                <a:rPr kumimoji="0" lang="zh-CN" altLang="en-US"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rPr>
                <a:t>的对象。</a:t>
              </a:r>
              <a:endParaRPr kumimoji="0" lang="zh-CN" altLang="en-US"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endParaRPr>
            </a:p>
          </p:txBody>
        </p:sp>
      </p:grpSp>
      <p:sp>
        <p:nvSpPr>
          <p:cNvPr id="23" name="椭圆 22"/>
          <p:cNvSpPr/>
          <p:nvPr>
            <p:custDataLst>
              <p:tags r:id="rId6"/>
            </p:custDataLst>
          </p:nvPr>
        </p:nvSpPr>
        <p:spPr bwMode="auto">
          <a:xfrm>
            <a:off x="1630998" y="1722755"/>
            <a:ext cx="1071563" cy="714375"/>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p:txBody>
      </p:sp>
      <p:pic>
        <p:nvPicPr>
          <p:cNvPr id="3" name="图片 2"/>
          <p:cNvPicPr>
            <a:picLocks noChangeAspect="1"/>
          </p:cNvPicPr>
          <p:nvPr/>
        </p:nvPicPr>
        <p:blipFill>
          <a:blip r:embed="rId7"/>
          <a:stretch>
            <a:fillRect/>
          </a:stretch>
        </p:blipFill>
        <p:spPr>
          <a:xfrm>
            <a:off x="36000" y="36000"/>
            <a:ext cx="2584928" cy="536494"/>
          </a:xfrm>
          <a:prstGeom prst="rect">
            <a:avLst/>
          </a:prstGeom>
        </p:spPr>
      </p:pic>
      <p:sp>
        <p:nvSpPr>
          <p:cNvPr id="35" name="椭圆 34"/>
          <p:cNvSpPr/>
          <p:nvPr>
            <p:custDataLst>
              <p:tags r:id="rId8"/>
            </p:custDataLst>
          </p:nvPr>
        </p:nvSpPr>
        <p:spPr bwMode="auto">
          <a:xfrm>
            <a:off x="7651115" y="5207953"/>
            <a:ext cx="1071563" cy="714375"/>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p:txBody>
      </p:sp>
      <p:sp>
        <p:nvSpPr>
          <p:cNvPr id="21506" name="矩形 40"/>
          <p:cNvSpPr/>
          <p:nvPr>
            <p:custDataLst>
              <p:tags r:id="rId9"/>
            </p:custDataLst>
          </p:nvPr>
        </p:nvSpPr>
        <p:spPr>
          <a:xfrm>
            <a:off x="7754144" y="5336540"/>
            <a:ext cx="894080" cy="478155"/>
          </a:xfrm>
          <a:prstGeom prst="rect">
            <a:avLst/>
          </a:prstGeom>
          <a:noFill/>
          <a:ln w="9525">
            <a:noFill/>
          </a:ln>
        </p:spPr>
        <p:txBody>
          <a:bodyPr wrap="none" anchor="t" anchorCtr="0">
            <a:spAutoFit/>
          </a:bodyPr>
          <a:p>
            <a:pPr algn="ctr" defTabSz="1244600">
              <a:lnSpc>
                <a:spcPct val="90000"/>
              </a:lnSpc>
              <a:spcAft>
                <a:spcPct val="35000"/>
              </a:spcAft>
            </a:pPr>
            <a:r>
              <a:rPr lang="zh-CN" altLang="en-US" sz="2800" dirty="0">
                <a:solidFill>
                  <a:srgbClr val="0000CC"/>
                </a:solidFill>
                <a:latin typeface="华文楷体" panose="02010600040101010101" charset="-122"/>
                <a:ea typeface="华文楷体" panose="02010600040101010101" charset="-122"/>
              </a:rPr>
              <a:t>信号</a:t>
            </a:r>
            <a:endParaRPr lang="zh-CN" altLang="en-US" sz="2800" dirty="0">
              <a:solidFill>
                <a:srgbClr val="0000CC"/>
              </a:solidFill>
              <a:latin typeface="华文楷体" panose="02010600040101010101" charset="-122"/>
              <a:ea typeface="华文楷体" panose="02010600040101010101" charset="-122"/>
            </a:endParaRPr>
          </a:p>
        </p:txBody>
      </p:sp>
      <p:sp>
        <p:nvSpPr>
          <p:cNvPr id="46" name="椭圆 45"/>
          <p:cNvSpPr/>
          <p:nvPr>
            <p:custDataLst>
              <p:tags r:id="rId10"/>
            </p:custDataLst>
          </p:nvPr>
        </p:nvSpPr>
        <p:spPr bwMode="auto">
          <a:xfrm>
            <a:off x="5293678" y="5207953"/>
            <a:ext cx="1071563" cy="714375"/>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p:txBody>
      </p:sp>
      <p:sp>
        <p:nvSpPr>
          <p:cNvPr id="21508" name="矩形 44"/>
          <p:cNvSpPr/>
          <p:nvPr>
            <p:custDataLst>
              <p:tags r:id="rId11"/>
            </p:custDataLst>
          </p:nvPr>
        </p:nvSpPr>
        <p:spPr>
          <a:xfrm>
            <a:off x="5369719" y="5350828"/>
            <a:ext cx="894080" cy="478155"/>
          </a:xfrm>
          <a:prstGeom prst="rect">
            <a:avLst/>
          </a:prstGeom>
          <a:noFill/>
          <a:ln w="9525">
            <a:noFill/>
          </a:ln>
        </p:spPr>
        <p:txBody>
          <a:bodyPr wrap="none" anchor="t" anchorCtr="0">
            <a:spAutoFit/>
          </a:bodyPr>
          <a:p>
            <a:pPr algn="ctr" defTabSz="1244600">
              <a:lnSpc>
                <a:spcPct val="90000"/>
              </a:lnSpc>
              <a:spcAft>
                <a:spcPct val="35000"/>
              </a:spcAft>
            </a:pPr>
            <a:r>
              <a:rPr lang="zh-CN" altLang="en-US" sz="2800" dirty="0">
                <a:solidFill>
                  <a:srgbClr val="0000CC"/>
                </a:solidFill>
                <a:latin typeface="华文楷体" panose="02010600040101010101" charset="-122"/>
                <a:ea typeface="华文楷体" panose="02010600040101010101" charset="-122"/>
              </a:rPr>
              <a:t>消息</a:t>
            </a:r>
            <a:endParaRPr lang="zh-CN" altLang="en-US" sz="2800" dirty="0">
              <a:solidFill>
                <a:srgbClr val="0000CC"/>
              </a:solidFill>
              <a:latin typeface="华文楷体" panose="02010600040101010101" charset="-122"/>
              <a:ea typeface="华文楷体" panose="02010600040101010101" charset="-122"/>
            </a:endParaRPr>
          </a:p>
        </p:txBody>
      </p:sp>
      <p:sp>
        <p:nvSpPr>
          <p:cNvPr id="49" name="椭圆 48"/>
          <p:cNvSpPr/>
          <p:nvPr>
            <p:custDataLst>
              <p:tags r:id="rId12"/>
            </p:custDataLst>
          </p:nvPr>
        </p:nvSpPr>
        <p:spPr bwMode="auto">
          <a:xfrm>
            <a:off x="3364865" y="5222240"/>
            <a:ext cx="1071563" cy="714375"/>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p:txBody>
      </p:sp>
      <p:sp>
        <p:nvSpPr>
          <p:cNvPr id="21510" name="矩形 49"/>
          <p:cNvSpPr/>
          <p:nvPr>
            <p:custDataLst>
              <p:tags r:id="rId13"/>
            </p:custDataLst>
          </p:nvPr>
        </p:nvSpPr>
        <p:spPr>
          <a:xfrm>
            <a:off x="3467894" y="5342890"/>
            <a:ext cx="894080" cy="478155"/>
          </a:xfrm>
          <a:prstGeom prst="rect">
            <a:avLst/>
          </a:prstGeom>
          <a:noFill/>
          <a:ln w="9525">
            <a:noFill/>
          </a:ln>
        </p:spPr>
        <p:txBody>
          <a:bodyPr wrap="none" anchor="t" anchorCtr="0">
            <a:spAutoFit/>
          </a:bodyPr>
          <a:p>
            <a:pPr algn="ctr" defTabSz="1244600">
              <a:lnSpc>
                <a:spcPct val="90000"/>
              </a:lnSpc>
              <a:spcAft>
                <a:spcPct val="35000"/>
              </a:spcAft>
            </a:pPr>
            <a:r>
              <a:rPr lang="zh-CN" altLang="en-US" sz="2800" dirty="0">
                <a:solidFill>
                  <a:srgbClr val="0000CC"/>
                </a:solidFill>
                <a:latin typeface="华文楷体" panose="02010600040101010101" charset="-122"/>
                <a:ea typeface="华文楷体" panose="02010600040101010101" charset="-122"/>
              </a:rPr>
              <a:t>信息</a:t>
            </a:r>
            <a:endParaRPr lang="zh-CN" altLang="en-US" sz="2800" dirty="0">
              <a:solidFill>
                <a:srgbClr val="0000CC"/>
              </a:solidFill>
              <a:latin typeface="华文楷体" panose="02010600040101010101" charset="-122"/>
              <a:ea typeface="华文楷体" panose="02010600040101010101" charset="-122"/>
            </a:endParaRPr>
          </a:p>
        </p:txBody>
      </p:sp>
      <p:sp>
        <p:nvSpPr>
          <p:cNvPr id="19" name="圆角矩形 10"/>
          <p:cNvSpPr/>
          <p:nvPr>
            <p:custDataLst>
              <p:tags r:id="rId14"/>
            </p:custDataLst>
          </p:nvPr>
        </p:nvSpPr>
        <p:spPr bwMode="auto">
          <a:xfrm>
            <a:off x="6579553" y="5165090"/>
            <a:ext cx="785813" cy="785813"/>
          </a:xfrm>
          <a:prstGeom prst="rect">
            <a:avLst/>
          </a:prstGeom>
          <a:ln w="28575"/>
        </p:spPr>
        <p:style>
          <a:lnRef idx="0">
            <a:scrgbClr r="0" g="0" b="0"/>
          </a:lnRef>
          <a:fillRef idx="0">
            <a:scrgbClr r="0" g="0" b="0"/>
          </a:fillRef>
          <a:effectRef idx="0">
            <a:scrgbClr r="0" g="0" b="0"/>
          </a:effectRef>
          <a:fontRef idx="minor">
            <a:schemeClr val="dk1">
              <a:hueOff val="0"/>
              <a:satOff val="0"/>
              <a:lumOff val="0"/>
              <a:alphaOff val="0"/>
            </a:schemeClr>
          </a:fontRef>
        </p:style>
        <p:txBody>
          <a:bodyPr lIns="49530" tIns="33020" rIns="49530" bIns="33020" spcCol="1270" anchor="ctr"/>
          <a:p>
            <a:pPr marL="0" marR="0" lvl="0" indent="0" algn="l" defTabSz="1155700" rtl="0" eaLnBrk="1" fontAlgn="base" latinLnBrk="0" hangingPunct="1">
              <a:lnSpc>
                <a:spcPts val="2600"/>
              </a:lnSpc>
              <a:spcBef>
                <a:spcPct val="0"/>
              </a:spcBef>
              <a:spcAft>
                <a:spcPct val="35000"/>
              </a:spcAft>
              <a:buClr>
                <a:srgbClr val="003399"/>
              </a:buClr>
              <a:buSzPct val="80000"/>
              <a:buFontTx/>
              <a:buNone/>
              <a:defRPr/>
            </a:pPr>
            <a:r>
              <a:rPr kumimoji="0" lang="zh-CN" altLang="en-US"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rPr>
              <a:t>传输</a:t>
            </a:r>
            <a:endParaRPr kumimoji="0" lang="en-US" altLang="zh-CN"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endParaRPr>
          </a:p>
          <a:p>
            <a:pPr marL="0" marR="0" lvl="0" indent="0" algn="l" defTabSz="1155700" rtl="0" eaLnBrk="1" fontAlgn="base" latinLnBrk="0" hangingPunct="1">
              <a:lnSpc>
                <a:spcPts val="2600"/>
              </a:lnSpc>
              <a:spcBef>
                <a:spcPct val="0"/>
              </a:spcBef>
              <a:spcAft>
                <a:spcPct val="35000"/>
              </a:spcAft>
              <a:buClr>
                <a:srgbClr val="003399"/>
              </a:buClr>
              <a:buSzPct val="80000"/>
              <a:buFontTx/>
              <a:buNone/>
              <a:defRPr/>
            </a:pPr>
            <a:r>
              <a:rPr kumimoji="0" lang="zh-CN" altLang="en-US"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rPr>
              <a:t>载体 </a:t>
            </a:r>
            <a:endParaRPr kumimoji="0" lang="zh-CN" altLang="en-US"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endParaRPr>
          </a:p>
        </p:txBody>
      </p:sp>
      <p:cxnSp>
        <p:nvCxnSpPr>
          <p:cNvPr id="21" name="直接箭头连接符 20"/>
          <p:cNvCxnSpPr>
            <a:stCxn id="46" idx="6"/>
            <a:endCxn id="35" idx="2"/>
          </p:cNvCxnSpPr>
          <p:nvPr>
            <p:custDataLst>
              <p:tags r:id="rId15"/>
            </p:custDataLst>
          </p:nvPr>
        </p:nvCxnSpPr>
        <p:spPr>
          <a:xfrm>
            <a:off x="6365875" y="5521325"/>
            <a:ext cx="1285240" cy="0"/>
          </a:xfrm>
          <a:prstGeom prst="straightConnector1">
            <a:avLst/>
          </a:prstGeom>
          <a:ln w="28575" cap="flat" cmpd="sng">
            <a:solidFill>
              <a:srgbClr val="595959"/>
            </a:solidFill>
            <a:prstDash val="sysDash"/>
            <a:miter/>
            <a:headEnd type="none" w="med" len="med"/>
            <a:tailEnd type="arrow" w="med" len="med"/>
          </a:ln>
        </p:spPr>
      </p:cxnSp>
      <p:sp>
        <p:nvSpPr>
          <p:cNvPr id="52" name="圆角矩形 10"/>
          <p:cNvSpPr/>
          <p:nvPr>
            <p:custDataLst>
              <p:tags r:id="rId16"/>
            </p:custDataLst>
          </p:nvPr>
        </p:nvSpPr>
        <p:spPr bwMode="auto">
          <a:xfrm>
            <a:off x="9079865" y="4907915"/>
            <a:ext cx="1643063" cy="1214438"/>
          </a:xfrm>
          <a:prstGeom prst="rect">
            <a:avLst/>
          </a:prstGeom>
          <a:ln w="28575"/>
        </p:spPr>
        <p:style>
          <a:lnRef idx="0">
            <a:scrgbClr r="0" g="0" b="0"/>
          </a:lnRef>
          <a:fillRef idx="0">
            <a:scrgbClr r="0" g="0" b="0"/>
          </a:fillRef>
          <a:effectRef idx="0">
            <a:scrgbClr r="0" g="0" b="0"/>
          </a:effectRef>
          <a:fontRef idx="minor">
            <a:schemeClr val="dk1">
              <a:hueOff val="0"/>
              <a:satOff val="0"/>
              <a:lumOff val="0"/>
              <a:alphaOff val="0"/>
            </a:schemeClr>
          </a:fontRef>
        </p:style>
        <p:txBody>
          <a:bodyPr lIns="49530" tIns="33020" rIns="49530" bIns="33020" spcCol="1270" anchor="ctr"/>
          <a:p>
            <a:pPr marL="0" marR="0" lvl="0" indent="0" algn="l" defTabSz="1155700" rtl="0" eaLnBrk="1" fontAlgn="base" latinLnBrk="0" hangingPunct="1">
              <a:lnSpc>
                <a:spcPts val="3200"/>
              </a:lnSpc>
              <a:spcBef>
                <a:spcPct val="0"/>
              </a:spcBef>
              <a:spcAft>
                <a:spcPct val="35000"/>
              </a:spcAft>
              <a:buClr>
                <a:srgbClr val="003399"/>
              </a:buClr>
              <a:buSzPct val="80000"/>
              <a:buFontTx/>
              <a:buNone/>
              <a:defRPr/>
            </a:pPr>
            <a:r>
              <a:rPr kumimoji="0" lang="zh-CN" altLang="en-US"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rPr>
              <a:t>模拟信号</a:t>
            </a:r>
            <a:r>
              <a:rPr kumimoji="0" lang="en-US" altLang="zh-CN"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rPr>
              <a:t>   </a:t>
            </a:r>
            <a:endParaRPr kumimoji="0" lang="en-US" altLang="zh-CN"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sym typeface="Wingdings" panose="05000000000000000000"/>
            </a:endParaRPr>
          </a:p>
          <a:p>
            <a:pPr marL="0" marR="0" lvl="0" indent="0" algn="l" defTabSz="1155700" rtl="0" eaLnBrk="1" fontAlgn="base" latinLnBrk="0" hangingPunct="1">
              <a:lnSpc>
                <a:spcPts val="3200"/>
              </a:lnSpc>
              <a:spcBef>
                <a:spcPct val="0"/>
              </a:spcBef>
              <a:spcAft>
                <a:spcPct val="35000"/>
              </a:spcAft>
              <a:buClr>
                <a:srgbClr val="003399"/>
              </a:buClr>
              <a:buSzPct val="80000"/>
              <a:buFontTx/>
              <a:buNone/>
              <a:defRPr/>
            </a:pPr>
            <a:r>
              <a:rPr kumimoji="0" lang="zh-CN" altLang="en-US"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rPr>
              <a:t>数字信号 </a:t>
            </a:r>
            <a:endParaRPr kumimoji="0" lang="zh-CN" altLang="en-US"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endParaRPr>
          </a:p>
        </p:txBody>
      </p:sp>
      <p:sp>
        <p:nvSpPr>
          <p:cNvPr id="22" name="AutoShape 15"/>
          <p:cNvSpPr/>
          <p:nvPr>
            <p:custDataLst>
              <p:tags r:id="rId17"/>
            </p:custDataLst>
          </p:nvPr>
        </p:nvSpPr>
        <p:spPr bwMode="auto">
          <a:xfrm>
            <a:off x="8794115" y="5214303"/>
            <a:ext cx="285750" cy="649288"/>
          </a:xfrm>
          <a:prstGeom prst="leftBrace">
            <a:avLst>
              <a:gd name="adj1" fmla="val 25061"/>
              <a:gd name="adj2" fmla="val 50000"/>
            </a:avLst>
          </a:prstGeom>
          <a:noFill/>
          <a:ln w="28575">
            <a:solidFill>
              <a:schemeClr val="tx1">
                <a:lumMod val="65000"/>
                <a:lumOff val="35000"/>
              </a:schemeClr>
            </a:solidFill>
            <a:prstDash val="sysDash"/>
            <a:round/>
          </a:ln>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华文楷体" panose="02010600040101010101" charset="-122"/>
              <a:ea typeface="华文楷体" panose="02010600040101010101" charset="-122"/>
              <a:cs typeface="+mn-cs"/>
            </a:endParaRPr>
          </a:p>
        </p:txBody>
      </p:sp>
      <p:cxnSp>
        <p:nvCxnSpPr>
          <p:cNvPr id="28" name="形状 27"/>
          <p:cNvCxnSpPr>
            <a:stCxn id="49" idx="4"/>
            <a:endCxn id="46" idx="4"/>
          </p:cNvCxnSpPr>
          <p:nvPr>
            <p:custDataLst>
              <p:tags r:id="rId18"/>
            </p:custDataLst>
          </p:nvPr>
        </p:nvCxnSpPr>
        <p:spPr>
          <a:xfrm rot="5400000" flipH="1" flipV="1">
            <a:off x="4858385" y="4920615"/>
            <a:ext cx="13970" cy="1929130"/>
          </a:xfrm>
          <a:prstGeom prst="curvedConnector3">
            <a:avLst>
              <a:gd name="adj1" fmla="val -1704545"/>
            </a:avLst>
          </a:prstGeom>
          <a:ln w="28575" cap="flat" cmpd="sng">
            <a:solidFill>
              <a:srgbClr val="595959"/>
            </a:solidFill>
            <a:prstDash val="sysDash"/>
            <a:miter/>
            <a:headEnd type="none" w="med" len="med"/>
            <a:tailEnd type="arrow" w="med" len="med"/>
          </a:ln>
        </p:spPr>
      </p:cxnSp>
      <p:sp>
        <p:nvSpPr>
          <p:cNvPr id="59" name="圆角矩形 10"/>
          <p:cNvSpPr/>
          <p:nvPr>
            <p:custDataLst>
              <p:tags r:id="rId19"/>
            </p:custDataLst>
          </p:nvPr>
        </p:nvSpPr>
        <p:spPr bwMode="auto">
          <a:xfrm>
            <a:off x="4150678" y="6265228"/>
            <a:ext cx="1500188" cy="785813"/>
          </a:xfrm>
          <a:prstGeom prst="rect">
            <a:avLst/>
          </a:prstGeom>
          <a:ln w="28575">
            <a:noFill/>
            <a:prstDash val="dash"/>
          </a:ln>
        </p:spPr>
        <p:style>
          <a:lnRef idx="0">
            <a:scrgbClr r="0" g="0" b="0"/>
          </a:lnRef>
          <a:fillRef idx="0">
            <a:scrgbClr r="0" g="0" b="0"/>
          </a:fillRef>
          <a:effectRef idx="0">
            <a:scrgbClr r="0" g="0" b="0"/>
          </a:effectRef>
          <a:fontRef idx="minor">
            <a:schemeClr val="dk1">
              <a:hueOff val="0"/>
              <a:satOff val="0"/>
              <a:lumOff val="0"/>
              <a:alphaOff val="0"/>
            </a:schemeClr>
          </a:fontRef>
        </p:style>
        <p:txBody>
          <a:bodyPr lIns="49530" tIns="33020" rIns="49530" bIns="33020" spcCol="1270" anchor="ctr"/>
          <a:p>
            <a:pPr marL="0" marR="0" lvl="0" indent="0" algn="l" defTabSz="1155700" rtl="0" eaLnBrk="1" fontAlgn="base" latinLnBrk="0" hangingPunct="1">
              <a:lnSpc>
                <a:spcPts val="2000"/>
              </a:lnSpc>
              <a:spcBef>
                <a:spcPct val="0"/>
              </a:spcBef>
              <a:spcAft>
                <a:spcPct val="35000"/>
              </a:spcAft>
              <a:buClr>
                <a:srgbClr val="003399"/>
              </a:buClr>
              <a:buSzPct val="80000"/>
              <a:buFontTx/>
              <a:buNone/>
              <a:defRPr/>
            </a:pPr>
            <a:r>
              <a:rPr kumimoji="0" lang="zh-CN" altLang="en-US"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rPr>
              <a:t>表现形式 </a:t>
            </a:r>
            <a:endParaRPr kumimoji="0" lang="zh-CN" altLang="en-US"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endParaRPr>
          </a:p>
        </p:txBody>
      </p:sp>
      <p:sp>
        <p:nvSpPr>
          <p:cNvPr id="60" name="圆角矩形 10"/>
          <p:cNvSpPr/>
          <p:nvPr>
            <p:custDataLst>
              <p:tags r:id="rId20"/>
            </p:custDataLst>
          </p:nvPr>
        </p:nvSpPr>
        <p:spPr bwMode="auto">
          <a:xfrm>
            <a:off x="4436428" y="4279265"/>
            <a:ext cx="785813" cy="755650"/>
          </a:xfrm>
          <a:prstGeom prst="rect">
            <a:avLst/>
          </a:prstGeom>
          <a:ln w="28575"/>
        </p:spPr>
        <p:style>
          <a:lnRef idx="0">
            <a:scrgbClr r="0" g="0" b="0"/>
          </a:lnRef>
          <a:fillRef idx="0">
            <a:scrgbClr r="0" g="0" b="0"/>
          </a:fillRef>
          <a:effectRef idx="0">
            <a:scrgbClr r="0" g="0" b="0"/>
          </a:effectRef>
          <a:fontRef idx="minor">
            <a:schemeClr val="dk1">
              <a:hueOff val="0"/>
              <a:satOff val="0"/>
              <a:lumOff val="0"/>
              <a:alphaOff val="0"/>
            </a:schemeClr>
          </a:fontRef>
        </p:style>
        <p:txBody>
          <a:bodyPr lIns="49530" tIns="33020" rIns="49530" bIns="33020" spcCol="1270" anchor="ctr"/>
          <a:p>
            <a:pPr marL="0" marR="0" lvl="0" indent="0" algn="l" defTabSz="1155700" rtl="0" eaLnBrk="1" fontAlgn="base" latinLnBrk="0" hangingPunct="1">
              <a:lnSpc>
                <a:spcPts val="2000"/>
              </a:lnSpc>
              <a:spcBef>
                <a:spcPct val="0"/>
              </a:spcBef>
              <a:spcAft>
                <a:spcPct val="35000"/>
              </a:spcAft>
              <a:buClr>
                <a:srgbClr val="003399"/>
              </a:buClr>
              <a:buSzPct val="80000"/>
              <a:buFontTx/>
              <a:buNone/>
              <a:defRPr/>
            </a:pPr>
            <a:r>
              <a:rPr kumimoji="0" lang="zh-CN" altLang="en-US" sz="20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rPr>
              <a:t>内涵</a:t>
            </a:r>
            <a:r>
              <a:rPr kumimoji="0" lang="zh-CN" altLang="en-US" sz="2000" b="1" i="0" u="none" strike="noStrike" kern="1200" cap="none" spc="0" normalizeH="0" baseline="0" noProof="0" dirty="0">
                <a:ln>
                  <a:noFill/>
                </a:ln>
                <a:solidFill>
                  <a:srgbClr val="0033CC"/>
                </a:solidFill>
                <a:effectLst/>
                <a:uLnTx/>
                <a:uFillTx/>
                <a:latin typeface="华文楷体" panose="02010600040101010101" charset="-122"/>
                <a:ea typeface="华文楷体" panose="02010600040101010101" charset="-122"/>
                <a:cs typeface="华文楷体" panose="02010600040101010101" charset="-122"/>
              </a:rPr>
              <a:t> </a:t>
            </a:r>
            <a:endParaRPr kumimoji="0" lang="zh-CN" altLang="en-US" sz="2000" b="1" i="0" u="none" strike="noStrike" kern="1200" cap="none" spc="0" normalizeH="0" baseline="0" noProof="0" dirty="0">
              <a:ln>
                <a:noFill/>
              </a:ln>
              <a:solidFill>
                <a:srgbClr val="0033CC"/>
              </a:solidFill>
              <a:effectLst/>
              <a:uLnTx/>
              <a:uFillTx/>
              <a:latin typeface="华文楷体" panose="02010600040101010101" charset="-122"/>
              <a:ea typeface="华文楷体" panose="02010600040101010101" charset="-122"/>
              <a:cs typeface="华文楷体" panose="02010600040101010101" charset="-122"/>
            </a:endParaRPr>
          </a:p>
        </p:txBody>
      </p:sp>
      <p:cxnSp>
        <p:nvCxnSpPr>
          <p:cNvPr id="63" name="曲线连接符 62"/>
          <p:cNvCxnSpPr>
            <a:stCxn id="46" idx="0"/>
            <a:endCxn id="49" idx="0"/>
          </p:cNvCxnSpPr>
          <p:nvPr>
            <p:custDataLst>
              <p:tags r:id="rId21"/>
            </p:custDataLst>
          </p:nvPr>
        </p:nvCxnSpPr>
        <p:spPr>
          <a:xfrm rot="16200000" flipH="1" flipV="1">
            <a:off x="4858385" y="4206240"/>
            <a:ext cx="13970" cy="1929130"/>
          </a:xfrm>
          <a:prstGeom prst="curvedConnector3">
            <a:avLst>
              <a:gd name="adj1" fmla="val -1704545"/>
            </a:avLst>
          </a:prstGeom>
          <a:ln w="28575" cap="flat" cmpd="sng">
            <a:solidFill>
              <a:srgbClr val="595959"/>
            </a:solidFill>
            <a:prstDash val="sysDash"/>
            <a:miter/>
            <a:headEnd type="none" w="med" len="med"/>
            <a:tailEnd type="arrow" w="med" len="med"/>
          </a:ln>
        </p:spPr>
      </p:cxnSp>
      <p:sp>
        <p:nvSpPr>
          <p:cNvPr id="20" name="Rectangle 3"/>
          <p:cNvSpPr>
            <a:spLocks noChangeArrowheads="1"/>
          </p:cNvSpPr>
          <p:nvPr>
            <p:custDataLst>
              <p:tags r:id="rId22"/>
            </p:custDataLst>
          </p:nvPr>
        </p:nvSpPr>
        <p:spPr bwMode="auto">
          <a:xfrm>
            <a:off x="1271270" y="956945"/>
            <a:ext cx="5434965" cy="521970"/>
          </a:xfrm>
          <a:prstGeom prst="rect">
            <a:avLst/>
          </a:prstGeom>
          <a:solidFill>
            <a:schemeClr val="bg2">
              <a:lumMod val="10000"/>
              <a:lumOff val="90000"/>
            </a:schemeClr>
          </a:solidFill>
          <a:ln w="9525">
            <a:noFill/>
            <a:miter lim="800000"/>
          </a:ln>
          <a:effectLst>
            <a:outerShdw blurRad="50800" dist="38100" dir="2700000" algn="tl" rotWithShape="0">
              <a:prstClr val="black">
                <a:alpha val="40000"/>
              </a:prstClr>
            </a:outerShdw>
          </a:effectLst>
        </p:spPr>
        <p:txBody>
          <a:bodyPr wrap="square">
            <a:spAutoFit/>
          </a:bodyPr>
          <a:p>
            <a:pPr marL="0" marR="0" lvl="0" indent="0" algn="l" defTabSz="914400" rtl="0" eaLnBrk="1" fontAlgn="base" latinLnBrk="0" hangingPunct="1">
              <a:lnSpc>
                <a:spcPct val="100000"/>
              </a:lnSpc>
              <a:spcBef>
                <a:spcPct val="0"/>
              </a:spcBef>
              <a:spcAft>
                <a:spcPct val="0"/>
              </a:spcAft>
              <a:buClr>
                <a:srgbClr val="FF0000"/>
              </a:buClr>
              <a:buSzPct val="80000"/>
              <a:buFont typeface="Wingdings" panose="05000000000000000000" pitchFamily="2" charset="2"/>
              <a:buChar char="n"/>
              <a:defRPr/>
            </a:pPr>
            <a:r>
              <a:rPr kumimoji="0" lang="en-US" altLang="zh-CN" sz="28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  </a:t>
            </a:r>
            <a:r>
              <a:rPr kumimoji="0" lang="zh-CN" altLang="en-US" sz="28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信息、消息、信号的关系</a:t>
            </a:r>
            <a:endParaRPr kumimoji="0" lang="zh-CN" altLang="en-US" sz="2800" b="1"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p:txBody>
      </p:sp>
      <p:grpSp>
        <p:nvGrpSpPr>
          <p:cNvPr id="13" name="组合 45"/>
          <p:cNvGrpSpPr/>
          <p:nvPr/>
        </p:nvGrpSpPr>
        <p:grpSpPr>
          <a:xfrm>
            <a:off x="7240588" y="2072323"/>
            <a:ext cx="2643187" cy="1009650"/>
            <a:chOff x="297274" y="1039773"/>
            <a:chExt cx="2814545" cy="1135769"/>
          </a:xfrm>
        </p:grpSpPr>
        <p:sp>
          <p:nvSpPr>
            <p:cNvPr id="14" name="圆角矩形 13"/>
            <p:cNvSpPr/>
            <p:nvPr>
              <p:custDataLst>
                <p:tags r:id="rId23"/>
              </p:custDataLst>
            </p:nvPr>
          </p:nvSpPr>
          <p:spPr>
            <a:xfrm>
              <a:off x="322630" y="1039773"/>
              <a:ext cx="2789189" cy="1135769"/>
            </a:xfrm>
            <a:prstGeom prst="roundRect">
              <a:avLst>
                <a:gd name="adj" fmla="val 10000"/>
              </a:avLst>
            </a:prstGeom>
            <a:ln w="12700">
              <a:solidFill>
                <a:srgbClr val="003399"/>
              </a:solidFill>
              <a:prstDash val="lgDash"/>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5" name="圆角矩形 7"/>
            <p:cNvSpPr/>
            <p:nvPr>
              <p:custDataLst>
                <p:tags r:id="rId24"/>
              </p:custDataLst>
            </p:nvPr>
          </p:nvSpPr>
          <p:spPr>
            <a:xfrm>
              <a:off x="297274" y="1039773"/>
              <a:ext cx="2723262" cy="1067909"/>
            </a:xfrm>
            <a:prstGeom prst="rect">
              <a:avLst/>
            </a:prstGeom>
            <a:ln w="12700">
              <a:prstDash val="lgDash"/>
            </a:ln>
          </p:spPr>
          <p:style>
            <a:lnRef idx="0">
              <a:scrgbClr r="0" g="0" b="0"/>
            </a:lnRef>
            <a:fillRef idx="0">
              <a:scrgbClr r="0" g="0" b="0"/>
            </a:fillRef>
            <a:effectRef idx="0">
              <a:scrgbClr r="0" g="0" b="0"/>
            </a:effectRef>
            <a:fontRef idx="minor">
              <a:schemeClr val="dk1">
                <a:hueOff val="0"/>
                <a:satOff val="0"/>
                <a:lumOff val="0"/>
                <a:alphaOff val="0"/>
              </a:schemeClr>
            </a:fontRef>
          </p:style>
          <p:txBody>
            <a:bodyPr lIns="49530" tIns="33020" rIns="49530" bIns="33020" spcCol="1270" anchor="ctr"/>
            <a:p>
              <a:pPr marL="0" marR="0" lvl="0" indent="0" algn="l" defTabSz="1155700" rtl="0" eaLnBrk="1" fontAlgn="base" latinLnBrk="0" hangingPunct="1">
                <a:lnSpc>
                  <a:spcPts val="3200"/>
                </a:lnSpc>
                <a:spcBef>
                  <a:spcPct val="0"/>
                </a:spcBef>
                <a:spcAft>
                  <a:spcPct val="35000"/>
                </a:spcAft>
                <a:buClrTx/>
                <a:buSzTx/>
                <a:buFontTx/>
                <a:buNone/>
                <a:defRPr/>
              </a:pPr>
              <a:r>
                <a:rPr kumimoji="0" lang="zh-CN" altLang="en-US"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rPr>
                <a:t>  </a:t>
              </a:r>
              <a:r>
                <a:rPr kumimoji="0" lang="zh-CN" altLang="en-US" sz="2400" b="1" i="0" u="none"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华文楷体" panose="02010600040101010101" charset="-122"/>
                </a:rPr>
                <a:t>：</a:t>
              </a:r>
              <a:r>
                <a:rPr kumimoji="0" lang="zh-CN" altLang="en-US"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rPr>
                <a:t>消息的电表示形式</a:t>
              </a:r>
              <a:r>
                <a:rPr kumimoji="0" lang="en-US" altLang="zh-CN"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rPr>
                <a:t>/</a:t>
              </a:r>
              <a:r>
                <a:rPr kumimoji="0" lang="zh-CN" altLang="en-US"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rPr>
                <a:t>传输载体。</a:t>
              </a:r>
              <a:endParaRPr kumimoji="0" lang="zh-CN" altLang="en-US" sz="2400" b="1" i="0" u="none" strike="noStrike" kern="1200" cap="none" spc="0" normalizeH="0" baseline="0" noProof="0" dirty="0">
                <a:ln>
                  <a:noFill/>
                </a:ln>
                <a:solidFill>
                  <a:schemeClr val="dk1">
                    <a:hueOff val="0"/>
                    <a:satOff val="0"/>
                    <a:lumOff val="0"/>
                    <a:alphaOff val="0"/>
                  </a:schemeClr>
                </a:solidFill>
                <a:effectLst/>
                <a:uLnTx/>
                <a:uFillTx/>
                <a:latin typeface="华文楷体" panose="02010600040101010101" charset="-122"/>
                <a:ea typeface="华文楷体" panose="02010600040101010101" charset="-122"/>
                <a:cs typeface="华文楷体" panose="02010600040101010101" charset="-122"/>
              </a:endParaRPr>
            </a:p>
          </p:txBody>
        </p:sp>
      </p:grpSp>
      <p:sp>
        <p:nvSpPr>
          <p:cNvPr id="16" name="椭圆 15"/>
          <p:cNvSpPr/>
          <p:nvPr>
            <p:custDataLst>
              <p:tags r:id="rId25"/>
            </p:custDataLst>
          </p:nvPr>
        </p:nvSpPr>
        <p:spPr bwMode="auto">
          <a:xfrm>
            <a:off x="6526213" y="1724660"/>
            <a:ext cx="1071563" cy="714375"/>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p:txBody>
      </p:sp>
      <p:sp>
        <p:nvSpPr>
          <p:cNvPr id="20504" name="矩形 40"/>
          <p:cNvSpPr/>
          <p:nvPr>
            <p:custDataLst>
              <p:tags r:id="rId26"/>
            </p:custDataLst>
          </p:nvPr>
        </p:nvSpPr>
        <p:spPr>
          <a:xfrm>
            <a:off x="6627337" y="1853248"/>
            <a:ext cx="897890" cy="478155"/>
          </a:xfrm>
          <a:prstGeom prst="rect">
            <a:avLst/>
          </a:prstGeom>
          <a:noFill/>
          <a:ln w="9525">
            <a:noFill/>
          </a:ln>
        </p:spPr>
        <p:txBody>
          <a:bodyPr wrap="none" anchor="t" anchorCtr="0">
            <a:spAutoFit/>
          </a:bodyPr>
          <a:p>
            <a:pPr algn="ctr" defTabSz="1244600">
              <a:lnSpc>
                <a:spcPct val="90000"/>
              </a:lnSpc>
              <a:spcAft>
                <a:spcPct val="35000"/>
              </a:spcAft>
            </a:pPr>
            <a:r>
              <a:rPr lang="zh-CN" altLang="en-US" sz="2800" b="1" dirty="0">
                <a:solidFill>
                  <a:srgbClr val="0000CC"/>
                </a:solidFill>
                <a:latin typeface="华文楷体" panose="02010600040101010101" charset="-122"/>
                <a:ea typeface="华文楷体" panose="02010600040101010101" charset="-122"/>
              </a:rPr>
              <a:t>信号</a:t>
            </a:r>
            <a:endParaRPr lang="zh-CN" altLang="en-US" sz="2800" b="1" dirty="0">
              <a:solidFill>
                <a:srgbClr val="0000CC"/>
              </a:solidFill>
              <a:latin typeface="华文楷体" panose="02010600040101010101" charset="-122"/>
              <a:ea typeface="华文楷体" panose="02010600040101010101" charset="-122"/>
            </a:endParaRPr>
          </a:p>
        </p:txBody>
      </p:sp>
      <p:sp>
        <p:nvSpPr>
          <p:cNvPr id="17" name="矩形 44"/>
          <p:cNvSpPr/>
          <p:nvPr>
            <p:custDataLst>
              <p:tags r:id="rId27"/>
            </p:custDataLst>
          </p:nvPr>
        </p:nvSpPr>
        <p:spPr>
          <a:xfrm>
            <a:off x="1767047" y="1853248"/>
            <a:ext cx="897890" cy="478155"/>
          </a:xfrm>
          <a:prstGeom prst="rect">
            <a:avLst/>
          </a:prstGeom>
          <a:noFill/>
          <a:ln w="9525">
            <a:noFill/>
          </a:ln>
        </p:spPr>
        <p:txBody>
          <a:bodyPr wrap="none" anchor="t" anchorCtr="0">
            <a:spAutoFit/>
          </a:bodyPr>
          <a:p>
            <a:pPr algn="ctr" defTabSz="1244600">
              <a:lnSpc>
                <a:spcPct val="90000"/>
              </a:lnSpc>
              <a:spcAft>
                <a:spcPct val="35000"/>
              </a:spcAft>
            </a:pPr>
            <a:r>
              <a:rPr lang="zh-CN" altLang="en-US" sz="2800" b="1" dirty="0">
                <a:solidFill>
                  <a:srgbClr val="0000CC"/>
                </a:solidFill>
                <a:latin typeface="华文楷体" panose="02010600040101010101" charset="-122"/>
                <a:ea typeface="华文楷体" panose="02010600040101010101" charset="-122"/>
              </a:rPr>
              <a:t>消息</a:t>
            </a:r>
            <a:endParaRPr lang="zh-CN" altLang="en-US" sz="2800" b="1" dirty="0">
              <a:solidFill>
                <a:srgbClr val="0000CC"/>
              </a:solidFill>
              <a:latin typeface="华文楷体" panose="02010600040101010101" charset="-122"/>
              <a:ea typeface="华文楷体" panose="02010600040101010101" charset="-122"/>
            </a:endParaRPr>
          </a:p>
        </p:txBody>
      </p:sp>
      <p:sp>
        <p:nvSpPr>
          <p:cNvPr id="18" name="矩形 49"/>
          <p:cNvSpPr/>
          <p:nvPr>
            <p:custDataLst>
              <p:tags r:id="rId28"/>
            </p:custDataLst>
          </p:nvPr>
        </p:nvSpPr>
        <p:spPr>
          <a:xfrm>
            <a:off x="1879759" y="3365183"/>
            <a:ext cx="897890" cy="478155"/>
          </a:xfrm>
          <a:prstGeom prst="rect">
            <a:avLst/>
          </a:prstGeom>
          <a:noFill/>
          <a:ln w="9525">
            <a:noFill/>
          </a:ln>
        </p:spPr>
        <p:txBody>
          <a:bodyPr wrap="none" anchor="t" anchorCtr="0">
            <a:spAutoFit/>
          </a:bodyPr>
          <a:p>
            <a:pPr algn="ctr" defTabSz="1244600">
              <a:lnSpc>
                <a:spcPct val="90000"/>
              </a:lnSpc>
              <a:spcAft>
                <a:spcPct val="35000"/>
              </a:spcAft>
            </a:pPr>
            <a:r>
              <a:rPr lang="zh-CN" altLang="en-US" sz="2800" b="1" dirty="0">
                <a:solidFill>
                  <a:srgbClr val="0000CC"/>
                </a:solidFill>
                <a:latin typeface="华文楷体" panose="02010600040101010101" charset="-122"/>
                <a:ea typeface="华文楷体" panose="02010600040101010101" charset="-122"/>
              </a:rPr>
              <a:t>信息</a:t>
            </a:r>
            <a:endParaRPr lang="zh-CN" altLang="en-US" sz="2800" b="1" dirty="0">
              <a:solidFill>
                <a:srgbClr val="0000CC"/>
              </a:solidFill>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40963" name="Rectangle 3"/>
          <p:cNvSpPr>
            <a:spLocks noGrp="1"/>
          </p:cNvSpPr>
          <p:nvPr>
            <p:ph idx="1"/>
            <p:custDataLst>
              <p:tags r:id="rId2"/>
            </p:custDataLst>
          </p:nvPr>
        </p:nvSpPr>
        <p:spPr>
          <a:xfrm>
            <a:off x="1775460" y="1052830"/>
            <a:ext cx="7510780" cy="5528945"/>
          </a:xfrm>
        </p:spPr>
        <p:txBody>
          <a:bodyPr vert="horz" wrap="square" lIns="91440" tIns="45720" rIns="91440" bIns="45720" anchor="t" anchorCtr="0"/>
          <a:p>
            <a:pPr eaLnBrk="1" hangingPunct="1"/>
            <a:r>
              <a:rPr lang="zh-CN" altLang="en-US" sz="2800" dirty="0">
                <a:latin typeface="华文楷体" panose="02010600040101010101" charset="-122"/>
                <a:ea typeface="华文楷体" panose="02010600040101010101" charset="-122"/>
                <a:cs typeface="华文楷体" panose="02010600040101010101" charset="-122"/>
                <a:sym typeface="+mn-ea"/>
              </a:rPr>
              <a:t>信息量（熵）</a:t>
            </a:r>
            <a:r>
              <a:rPr lang="en-US" altLang="zh-CN" sz="2800" dirty="0">
                <a:latin typeface="华文楷体" panose="02010600040101010101" charset="-122"/>
                <a:ea typeface="华文楷体" panose="02010600040101010101" charset="-122"/>
                <a:cs typeface="华文楷体" panose="02010600040101010101" charset="-122"/>
                <a:sym typeface="+mn-ea"/>
              </a:rPr>
              <a:t>:</a:t>
            </a:r>
            <a:endParaRPr lang="en-US" altLang="zh-CN" sz="2800" dirty="0">
              <a:latin typeface="华文楷体" panose="02010600040101010101" charset="-122"/>
              <a:ea typeface="华文楷体" panose="02010600040101010101" charset="-122"/>
              <a:cs typeface="华文楷体" panose="02010600040101010101" charset="-122"/>
              <a:sym typeface="+mn-ea"/>
            </a:endParaRPr>
          </a:p>
          <a:p>
            <a:pPr marL="0" indent="0" eaLnBrk="1" hangingPunct="1">
              <a:buNone/>
            </a:pPr>
            <a:endParaRPr lang="en-US" altLang="zh-CN" sz="2800" dirty="0">
              <a:latin typeface="华文楷体" panose="02010600040101010101" charset="-122"/>
              <a:ea typeface="华文楷体" panose="02010600040101010101" charset="-122"/>
              <a:cs typeface="华文楷体" panose="02010600040101010101" charset="-122"/>
              <a:sym typeface="+mn-ea"/>
            </a:endParaRPr>
          </a:p>
          <a:p>
            <a:pPr marL="0" indent="0" eaLnBrk="1" hangingPunct="1">
              <a:buNone/>
            </a:pPr>
            <a:endParaRPr lang="zh-CN" altLang="en-US" sz="2800" dirty="0">
              <a:latin typeface="华文楷体" panose="02010600040101010101" charset="-122"/>
              <a:ea typeface="华文楷体" panose="02010600040101010101" charset="-122"/>
              <a:cs typeface="华文楷体" panose="02010600040101010101" charset="-122"/>
            </a:endParaRPr>
          </a:p>
          <a:p>
            <a:pPr marL="457200" lvl="1" indent="0" eaLnBrk="1" hangingPunct="1">
              <a:buNone/>
            </a:pPr>
            <a:r>
              <a:rPr lang="en-US" altLang="zh-CN" i="1" noProof="0" dirty="0">
                <a:ln>
                  <a:noFill/>
                </a:ln>
                <a:effectLst/>
                <a:uLnTx/>
                <a:uFillTx/>
                <a:latin typeface="华文楷体" panose="02010600040101010101" charset="-122"/>
                <a:ea typeface="华文楷体" panose="02010600040101010101" charset="-122"/>
                <a:cs typeface="华文楷体" panose="02010600040101010101" charset="-122"/>
                <a:sym typeface="+mn-ea"/>
              </a:rPr>
              <a:t>    P</a:t>
            </a:r>
            <a:r>
              <a:rPr lang="en-US" altLang="zh-CN" noProof="0" dirty="0">
                <a:ln>
                  <a:noFill/>
                </a:ln>
                <a:effectLst/>
                <a:uLnTx/>
                <a:uFillTx/>
                <a:latin typeface="华文楷体" panose="02010600040101010101" charset="-122"/>
                <a:ea typeface="华文楷体" panose="02010600040101010101" charset="-122"/>
                <a:cs typeface="华文楷体" panose="02010600040101010101" charset="-122"/>
                <a:sym typeface="+mn-ea"/>
              </a:rPr>
              <a:t>(</a:t>
            </a:r>
            <a:r>
              <a:rPr lang="en-US" altLang="zh-CN" i="1" noProof="0" dirty="0">
                <a:ln>
                  <a:noFill/>
                </a:ln>
                <a:effectLst/>
                <a:uLnTx/>
                <a:uFillTx/>
                <a:latin typeface="华文楷体" panose="02010600040101010101" charset="-122"/>
                <a:ea typeface="华文楷体" panose="02010600040101010101" charset="-122"/>
                <a:cs typeface="华文楷体" panose="02010600040101010101" charset="-122"/>
                <a:sym typeface="+mn-ea"/>
              </a:rPr>
              <a:t>x</a:t>
            </a:r>
            <a:r>
              <a:rPr lang="en-US" altLang="zh-CN" noProof="0" dirty="0">
                <a:ln>
                  <a:noFill/>
                </a:ln>
                <a:effectLst/>
                <a:uLnTx/>
                <a:uFillTx/>
                <a:latin typeface="华文楷体" panose="02010600040101010101" charset="-122"/>
                <a:ea typeface="华文楷体" panose="02010600040101010101" charset="-122"/>
                <a:cs typeface="华文楷体" panose="02010600040101010101" charset="-122"/>
                <a:sym typeface="+mn-ea"/>
              </a:rPr>
              <a:t>) </a:t>
            </a:r>
            <a:r>
              <a:rPr lang="zh-CN" altLang="en-US" noProof="0" dirty="0">
                <a:ln>
                  <a:noFill/>
                </a:ln>
                <a:effectLst/>
                <a:uLnTx/>
                <a:uFillTx/>
                <a:latin typeface="华文楷体" panose="02010600040101010101" charset="-122"/>
                <a:ea typeface="华文楷体" panose="02010600040101010101" charset="-122"/>
                <a:cs typeface="华文楷体" panose="02010600040101010101" charset="-122"/>
                <a:sym typeface="+mn-ea"/>
              </a:rPr>
              <a:t>－ 消息发生的概率，</a:t>
            </a:r>
            <a:endParaRPr kumimoji="0" lang="zh-CN" altLang="en-US" i="0" u="none" strike="noStrike" kern="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None/>
              <a:defRPr/>
            </a:pPr>
            <a:r>
              <a:rPr lang="zh-CN" altLang="en-US" i="1" noProof="0" dirty="0">
                <a:ln>
                  <a:noFill/>
                </a:ln>
                <a:effectLst/>
                <a:uLnTx/>
                <a:uFillTx/>
                <a:latin typeface="华文楷体" panose="02010600040101010101" charset="-122"/>
                <a:ea typeface="华文楷体" panose="02010600040101010101" charset="-122"/>
                <a:cs typeface="华文楷体" panose="02010600040101010101" charset="-122"/>
                <a:sym typeface="+mn-ea"/>
              </a:rPr>
              <a:t>		 </a:t>
            </a:r>
            <a:r>
              <a:rPr lang="en-US" altLang="zh-CN" i="1" noProof="0" dirty="0">
                <a:ln>
                  <a:noFill/>
                </a:ln>
                <a:effectLst/>
                <a:uLnTx/>
                <a:uFillTx/>
                <a:latin typeface="华文楷体" panose="02010600040101010101" charset="-122"/>
                <a:ea typeface="华文楷体" panose="02010600040101010101" charset="-122"/>
                <a:cs typeface="华文楷体" panose="02010600040101010101" charset="-122"/>
                <a:sym typeface="+mn-ea"/>
              </a:rPr>
              <a:t>I</a:t>
            </a:r>
            <a:r>
              <a:rPr lang="en-US" altLang="zh-CN" noProof="0" dirty="0">
                <a:ln>
                  <a:noFill/>
                </a:ln>
                <a:effectLst/>
                <a:uLnTx/>
                <a:uFillTx/>
                <a:latin typeface="华文楷体" panose="02010600040101010101" charset="-122"/>
                <a:ea typeface="华文楷体" panose="02010600040101010101" charset="-122"/>
                <a:cs typeface="华文楷体" panose="02010600040101010101" charset="-122"/>
                <a:sym typeface="+mn-ea"/>
              </a:rPr>
              <a:t>   </a:t>
            </a:r>
            <a:r>
              <a:rPr lang="zh-CN" altLang="en-US" noProof="0" dirty="0">
                <a:ln>
                  <a:noFill/>
                </a:ln>
                <a:effectLst/>
                <a:uLnTx/>
                <a:uFillTx/>
                <a:latin typeface="华文楷体" panose="02010600040101010101" charset="-122"/>
                <a:ea typeface="华文楷体" panose="02010600040101010101" charset="-122"/>
                <a:cs typeface="华文楷体" panose="02010600040101010101" charset="-122"/>
                <a:sym typeface="+mn-ea"/>
              </a:rPr>
              <a:t>－ 消息中所含的信息量</a:t>
            </a:r>
            <a:endParaRPr lang="zh-CN" altLang="en-US" noProof="0" dirty="0">
              <a:ln>
                <a:noFill/>
              </a:ln>
              <a:effectLst/>
              <a:uLnTx/>
              <a:uFillTx/>
              <a:latin typeface="华文楷体" panose="02010600040101010101" charset="-122"/>
              <a:ea typeface="华文楷体" panose="02010600040101010101" charset="-122"/>
              <a:cs typeface="华文楷体" panose="02010600040101010101" charset="-122"/>
              <a:sym typeface="+mn-ea"/>
            </a:endParaRP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None/>
              <a:defRPr/>
            </a:pPr>
            <a:r>
              <a:rPr lang="zh-CN" altLang="en-US" dirty="0">
                <a:latin typeface="华文楷体" panose="02010600040101010101" charset="-122"/>
                <a:ea typeface="华文楷体" panose="02010600040101010101" charset="-122"/>
                <a:cs typeface="华文楷体" panose="02010600040101010101" charset="-122"/>
              </a:rPr>
              <a:t>信息量的单位：</a:t>
            </a:r>
            <a:endParaRPr lang="zh-CN" altLang="en-US" dirty="0">
              <a:latin typeface="华文楷体" panose="02010600040101010101" charset="-122"/>
              <a:ea typeface="华文楷体" panose="02010600040101010101" charset="-122"/>
              <a:cs typeface="华文楷体" panose="02010600040101010101" charset="-122"/>
            </a:endParaRPr>
          </a:p>
          <a:p>
            <a:pPr lvl="1" eaLnBrk="1" hangingPunct="1">
              <a:buNone/>
            </a:pPr>
            <a:r>
              <a:rPr lang="zh-CN" altLang="en-US" dirty="0">
                <a:latin typeface="华文楷体" panose="02010600040101010101" charset="-122"/>
                <a:ea typeface="华文楷体" panose="02010600040101010101" charset="-122"/>
                <a:cs typeface="华文楷体" panose="02010600040101010101" charset="-122"/>
              </a:rPr>
              <a:t>	</a:t>
            </a:r>
            <a:r>
              <a:rPr lang="en-US" altLang="zh-CN" dirty="0">
                <a:latin typeface="华文楷体" panose="02010600040101010101" charset="-122"/>
                <a:ea typeface="华文楷体" panose="02010600040101010101" charset="-122"/>
                <a:cs typeface="华文楷体" panose="02010600040101010101" charset="-122"/>
              </a:rPr>
              <a:t>       </a:t>
            </a:r>
            <a:r>
              <a:rPr lang="zh-CN" altLang="en-US" dirty="0">
                <a:latin typeface="华文楷体" panose="02010600040101010101" charset="-122"/>
                <a:ea typeface="华文楷体" panose="02010600040101010101" charset="-122"/>
                <a:cs typeface="华文楷体" panose="02010600040101010101" charset="-122"/>
              </a:rPr>
              <a:t>对数底为</a:t>
            </a:r>
            <a:r>
              <a:rPr lang="en-US" altLang="zh-CN" dirty="0">
                <a:latin typeface="华文楷体" panose="02010600040101010101" charset="-122"/>
                <a:ea typeface="华文楷体" panose="02010600040101010101" charset="-122"/>
                <a:cs typeface="华文楷体" panose="02010600040101010101" charset="-122"/>
              </a:rPr>
              <a:t> 2 --&gt;</a:t>
            </a:r>
            <a:r>
              <a:rPr lang="en-US" altLang="zh-CN" dirty="0">
                <a:solidFill>
                  <a:schemeClr val="bg2"/>
                </a:solidFill>
                <a:latin typeface="华文楷体" panose="02010600040101010101" charset="-122"/>
                <a:ea typeface="华文楷体" panose="02010600040101010101" charset="-122"/>
                <a:cs typeface="华文楷体" panose="02010600040101010101" charset="-122"/>
              </a:rPr>
              <a:t> </a:t>
            </a:r>
            <a:r>
              <a:rPr lang="zh-CN" altLang="en-US" dirty="0">
                <a:solidFill>
                  <a:schemeClr val="tx2"/>
                </a:solidFill>
                <a:latin typeface="华文楷体" panose="02010600040101010101" charset="-122"/>
                <a:ea typeface="华文楷体" panose="02010600040101010101" charset="-122"/>
                <a:cs typeface="华文楷体" panose="02010600040101010101" charset="-122"/>
              </a:rPr>
              <a:t>比特</a:t>
            </a:r>
            <a:r>
              <a:rPr lang="en-US" altLang="zh-CN" dirty="0">
                <a:latin typeface="华文楷体" panose="02010600040101010101" charset="-122"/>
                <a:ea typeface="华文楷体" panose="02010600040101010101" charset="-122"/>
                <a:cs typeface="华文楷体" panose="02010600040101010101" charset="-122"/>
              </a:rPr>
              <a:t>(bit)  </a:t>
            </a:r>
            <a:r>
              <a:rPr lang="zh-CN" altLang="en-US" dirty="0">
                <a:latin typeface="华文楷体" panose="02010600040101010101" charset="-122"/>
                <a:ea typeface="华文楷体" panose="02010600040101010101" charset="-122"/>
                <a:cs typeface="华文楷体" panose="02010600040101010101" charset="-122"/>
              </a:rPr>
              <a:t>                                                        </a:t>
            </a:r>
            <a:endParaRPr lang="en-US" altLang="zh-CN" dirty="0">
              <a:latin typeface="华文楷体" panose="02010600040101010101" charset="-122"/>
              <a:ea typeface="华文楷体" panose="02010600040101010101" charset="-122"/>
              <a:cs typeface="华文楷体" panose="02010600040101010101" charset="-122"/>
            </a:endParaRPr>
          </a:p>
        </p:txBody>
      </p:sp>
      <p:graphicFrame>
        <p:nvGraphicFramePr>
          <p:cNvPr id="46082" name="Object 4"/>
          <p:cNvGraphicFramePr>
            <a:graphicFrameLocks noChangeAspect="1"/>
          </p:cNvGraphicFramePr>
          <p:nvPr>
            <p:custDataLst>
              <p:tags r:id="rId3"/>
            </p:custDataLst>
          </p:nvPr>
        </p:nvGraphicFramePr>
        <p:xfrm>
          <a:off x="4161790" y="1503680"/>
          <a:ext cx="4176395" cy="1025525"/>
        </p:xfrm>
        <a:graphic>
          <a:graphicData uri="http://schemas.openxmlformats.org/presentationml/2006/ole">
            <mc:AlternateContent xmlns:mc="http://schemas.openxmlformats.org/markup-compatibility/2006">
              <mc:Choice xmlns:v="urn:schemas-microsoft-com:vml" Requires="v">
                <p:oleObj spid="_x0000_s44105" name="" r:id="rId4" imgW="1701800" imgH="419100" progId="Equation.3">
                  <p:embed/>
                </p:oleObj>
              </mc:Choice>
              <mc:Fallback>
                <p:oleObj name="" r:id="rId4" imgW="1701800" imgH="419100" progId="Equation.3">
                  <p:embed/>
                  <p:pic>
                    <p:nvPicPr>
                      <p:cNvPr id="0" name="Object 4"/>
                      <p:cNvPicPr/>
                      <p:nvPr/>
                    </p:nvPicPr>
                    <p:blipFill>
                      <a:blip r:embed="rId5"/>
                      <a:stretch>
                        <a:fillRect/>
                      </a:stretch>
                    </p:blipFill>
                    <p:spPr>
                      <a:xfrm>
                        <a:off x="4161790" y="1503680"/>
                        <a:ext cx="4176395" cy="10255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551180" y="981075"/>
            <a:ext cx="11377295" cy="536575"/>
          </a:xfrm>
        </p:spPr>
        <p:txBody>
          <a:bodyPr/>
          <a:p>
            <a:pPr marL="114300" indent="-457200" algn="l">
              <a:buClrTx/>
              <a:buSzTx/>
            </a:pPr>
            <a:r>
              <a:rPr lang="en-US" altLang="zh-CN" sz="2800" dirty="0">
                <a:latin typeface="华文楷体" panose="02010600040101010101" charset="-122"/>
                <a:ea typeface="华文楷体" panose="02010600040101010101" charset="-122"/>
                <a:cs typeface="华文楷体" panose="02010600040101010101" charset="-122"/>
              </a:rPr>
              <a:t>平均信息量</a:t>
            </a:r>
            <a:endParaRPr lang="en-US" altLang="zh-CN" sz="2800" dirty="0">
              <a:latin typeface="华文楷体" panose="02010600040101010101" charset="-122"/>
              <a:ea typeface="华文楷体" panose="02010600040101010101" charset="-122"/>
              <a:cs typeface="华文楷体" panose="02010600040101010101" charset="-122"/>
            </a:endParaRPr>
          </a:p>
        </p:txBody>
      </p:sp>
      <p:pic>
        <p:nvPicPr>
          <p:cNvPr id="65" name="图片 64"/>
          <p:cNvPicPr>
            <a:picLocks noChangeAspect="1"/>
          </p:cNvPicPr>
          <p:nvPr>
            <p:custDataLst>
              <p:tags r:id="rId3"/>
            </p:custDataLst>
          </p:nvPr>
        </p:nvPicPr>
        <p:blipFill>
          <a:blip r:embed="rId4"/>
          <a:stretch>
            <a:fillRect/>
          </a:stretch>
        </p:blipFill>
        <p:spPr>
          <a:xfrm>
            <a:off x="551007" y="2014612"/>
            <a:ext cx="11090853" cy="2952328"/>
          </a:xfrm>
          <a:prstGeom prst="rect">
            <a:avLst/>
          </a:prstGeom>
        </p:spPr>
      </p:pic>
      <p:pic>
        <p:nvPicPr>
          <p:cNvPr id="67" name="图片 66"/>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162108" y="5464491"/>
            <a:ext cx="10297184" cy="647993"/>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262890" y="908685"/>
            <a:ext cx="10972800" cy="613410"/>
          </a:xfrm>
        </p:spPr>
        <p:txBody>
          <a:bodyPr/>
          <a:lstStyle/>
          <a:p>
            <a:pPr marL="228600" indent="-571500" algn="l">
              <a:buClrTx/>
              <a:buSzTx/>
            </a:pPr>
            <a:r>
              <a:rPr lang="zh-CN" altLang="en-US" sz="2800">
                <a:solidFill>
                  <a:schemeClr val="tx2"/>
                </a:solidFill>
                <a:latin typeface="华文楷体" panose="02010600040101010101" charset="-122"/>
                <a:ea typeface="华文楷体" panose="02010600040101010101" charset="-122"/>
                <a:cs typeface="华文楷体" panose="02010600040101010101" charset="-122"/>
                <a:sym typeface="+mn-ea"/>
              </a:rPr>
              <a:t>数字通信系统的质量指标</a:t>
            </a:r>
            <a:r>
              <a:rPr lang="zh-CN" altLang="en-US" sz="2800">
                <a:solidFill>
                  <a:schemeClr val="tx2"/>
                </a:solidFill>
                <a:latin typeface="华文楷体" panose="02010600040101010101" charset="-122"/>
                <a:ea typeface="华文楷体" panose="02010600040101010101" charset="-122"/>
                <a:cs typeface="华文楷体" panose="02010600040101010101" charset="-122"/>
              </a:rPr>
              <a:t>      </a:t>
            </a:r>
            <a:endParaRPr lang="zh-CN" altLang="en-US" sz="2800">
              <a:solidFill>
                <a:schemeClr val="tx2"/>
              </a:solidFill>
              <a:latin typeface="华文楷体" panose="02010600040101010101" charset="-122"/>
              <a:ea typeface="华文楷体" panose="02010600040101010101" charset="-122"/>
              <a:cs typeface="华文楷体" panose="02010600040101010101" charset="-122"/>
            </a:endParaRPr>
          </a:p>
        </p:txBody>
      </p:sp>
      <p:sp>
        <p:nvSpPr>
          <p:cNvPr id="5" name="文本框 4"/>
          <p:cNvSpPr txBox="1"/>
          <p:nvPr>
            <p:custDataLst>
              <p:tags r:id="rId3"/>
            </p:custDataLst>
          </p:nvPr>
        </p:nvSpPr>
        <p:spPr>
          <a:xfrm>
            <a:off x="623570" y="1557020"/>
            <a:ext cx="6096000" cy="521970"/>
          </a:xfrm>
          <a:prstGeom prst="rect">
            <a:avLst/>
          </a:prstGeom>
          <a:noFill/>
        </p:spPr>
        <p:txBody>
          <a:bodyPr wrap="square" rtlCol="0" anchor="t">
            <a:spAutoFit/>
          </a:bodyPr>
          <a:lstStyle/>
          <a:p>
            <a:pPr marL="0" indent="0">
              <a:buNone/>
            </a:pPr>
            <a:r>
              <a:rPr lang="zh-CN" altLang="en-US" sz="2800">
                <a:latin typeface="华文楷体" panose="02010600040101010101" charset="-122"/>
                <a:ea typeface="华文楷体" panose="02010600040101010101" charset="-122"/>
                <a:cs typeface="华文楷体" panose="02010600040101010101" charset="-122"/>
                <a:sym typeface="+mn-ea"/>
              </a:rPr>
              <a:t>1. 有效性</a:t>
            </a:r>
            <a:endParaRPr lang="zh-CN" altLang="en-US" sz="2800">
              <a:latin typeface="华文楷体" panose="02010600040101010101" charset="-122"/>
              <a:ea typeface="华文楷体" panose="02010600040101010101" charset="-122"/>
              <a:cs typeface="华文楷体" panose="02010600040101010101" charset="-122"/>
              <a:sym typeface="+mn-ea"/>
            </a:endParaRPr>
          </a:p>
        </p:txBody>
      </p:sp>
      <p:sp>
        <p:nvSpPr>
          <p:cNvPr id="6" name="Rectangle 3"/>
          <p:cNvSpPr>
            <a:spLocks noGrp="1"/>
          </p:cNvSpPr>
          <p:nvPr>
            <p:custDataLst>
              <p:tags r:id="rId4"/>
            </p:custDataLst>
          </p:nvPr>
        </p:nvSpPr>
        <p:spPr>
          <a:xfrm>
            <a:off x="836295" y="2150745"/>
            <a:ext cx="11074400" cy="158813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2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marL="0" lvl="0" indent="0" fontAlgn="auto" latinLnBrk="0">
              <a:lnSpc>
                <a:spcPct val="150000"/>
              </a:lnSpc>
              <a:spcBef>
                <a:spcPts val="0"/>
              </a:spcBef>
              <a:buFont typeface="Wingdings" panose="05000000000000000000" charset="0"/>
              <a:buNone/>
            </a:pPr>
            <a:r>
              <a:rPr lang="en-US" altLang="zh-CN" sz="2400" dirty="0">
                <a:solidFill>
                  <a:schemeClr val="tx2"/>
                </a:solidFill>
                <a:latin typeface="华文楷体" panose="02010600040101010101" charset="-122"/>
                <a:ea typeface="华文楷体" panose="02010600040101010101" charset="-122"/>
                <a:cs typeface="华文楷体" panose="02010600040101010101" charset="-122"/>
                <a:sym typeface="+mn-ea"/>
              </a:rPr>
              <a:t>1</a:t>
            </a:r>
            <a:r>
              <a:rPr lang="zh-CN" altLang="en-US" sz="2400" dirty="0">
                <a:solidFill>
                  <a:schemeClr val="tx2"/>
                </a:solidFill>
                <a:latin typeface="华文楷体" panose="02010600040101010101" charset="-122"/>
                <a:ea typeface="华文楷体" panose="02010600040101010101" charset="-122"/>
                <a:cs typeface="华文楷体" panose="02010600040101010101" charset="-122"/>
                <a:sym typeface="+mn-ea"/>
              </a:rPr>
              <a:t>）码元速率</a:t>
            </a:r>
            <a:r>
              <a:rPr lang="en-US" altLang="zh-CN" sz="2400" i="1" dirty="0">
                <a:latin typeface="华文楷体" panose="02010600040101010101" charset="-122"/>
                <a:ea typeface="华文楷体" panose="02010600040101010101" charset="-122"/>
                <a:cs typeface="华文楷体" panose="02010600040101010101" charset="-122"/>
                <a:sym typeface="+mn-ea"/>
              </a:rPr>
              <a:t>R</a:t>
            </a:r>
            <a:r>
              <a:rPr lang="en-US" altLang="zh-CN" sz="2400" baseline="-25000" dirty="0">
                <a:latin typeface="华文楷体" panose="02010600040101010101" charset="-122"/>
                <a:ea typeface="华文楷体" panose="02010600040101010101" charset="-122"/>
                <a:cs typeface="华文楷体" panose="02010600040101010101" charset="-122"/>
                <a:sym typeface="+mn-ea"/>
              </a:rPr>
              <a:t>B</a:t>
            </a:r>
            <a:r>
              <a:rPr lang="zh-CN" altLang="en-US" sz="2400" dirty="0">
                <a:latin typeface="华文楷体" panose="02010600040101010101" charset="-122"/>
                <a:ea typeface="华文楷体" panose="02010600040101010101" charset="-122"/>
                <a:cs typeface="华文楷体" panose="02010600040101010101" charset="-122"/>
                <a:sym typeface="+mn-ea"/>
              </a:rPr>
              <a:t>：</a:t>
            </a:r>
            <a:endParaRPr lang="en-US" altLang="zh-CN" sz="2400" dirty="0">
              <a:latin typeface="华文楷体" panose="02010600040101010101" charset="-122"/>
              <a:ea typeface="华文楷体" panose="02010600040101010101" charset="-122"/>
              <a:cs typeface="华文楷体" panose="02010600040101010101" charset="-122"/>
              <a:sym typeface="+mn-ea"/>
            </a:endParaRPr>
          </a:p>
          <a:p>
            <a:pPr marL="0" lvl="0" indent="0" algn="l" fontAlgn="auto">
              <a:lnSpc>
                <a:spcPts val="3540"/>
              </a:lnSpc>
              <a:buFont typeface="Wingdings" panose="05000000000000000000" charset="0"/>
              <a:buNone/>
            </a:pPr>
            <a:r>
              <a:rPr lang="en-US" altLang="zh-CN" sz="2400" dirty="0">
                <a:latin typeface="华文楷体" panose="02010600040101010101" charset="-122"/>
                <a:ea typeface="华文楷体" panose="02010600040101010101" charset="-122"/>
                <a:cs typeface="华文楷体" panose="02010600040101010101" charset="-122"/>
                <a:sym typeface="+mn-ea"/>
              </a:rPr>
              <a:t>      </a:t>
            </a:r>
            <a:r>
              <a:rPr lang="zh-CN" altLang="en-US" sz="2400" dirty="0">
                <a:latin typeface="华文楷体" panose="02010600040101010101" charset="-122"/>
                <a:ea typeface="华文楷体" panose="02010600040101010101" charset="-122"/>
                <a:cs typeface="华文楷体" panose="02010600040101010101" charset="-122"/>
                <a:sym typeface="+mn-ea"/>
              </a:rPr>
              <a:t>T ：码元的持续时间</a:t>
            </a:r>
            <a:endParaRPr lang="zh-CN" altLang="en-US" sz="2400" dirty="0">
              <a:latin typeface="华文楷体" panose="02010600040101010101" charset="-122"/>
              <a:ea typeface="华文楷体" panose="02010600040101010101" charset="-122"/>
              <a:cs typeface="华文楷体" panose="02010600040101010101" charset="-122"/>
              <a:sym typeface="+mn-ea"/>
            </a:endParaRPr>
          </a:p>
          <a:p>
            <a:pPr marL="0" lvl="0" indent="0" fontAlgn="auto">
              <a:lnSpc>
                <a:spcPts val="3540"/>
              </a:lnSpc>
              <a:buFont typeface="Wingdings" panose="05000000000000000000" charset="0"/>
              <a:buNone/>
            </a:pPr>
            <a:r>
              <a:rPr lang="en-US" altLang="zh-CN" sz="2400" dirty="0">
                <a:solidFill>
                  <a:schemeClr val="tx2"/>
                </a:solidFill>
                <a:latin typeface="华文楷体" panose="02010600040101010101" charset="-122"/>
                <a:ea typeface="华文楷体" panose="02010600040101010101" charset="-122"/>
                <a:cs typeface="华文楷体" panose="02010600040101010101" charset="-122"/>
                <a:sym typeface="+mn-ea"/>
              </a:rPr>
              <a:t> 2</a:t>
            </a:r>
            <a:r>
              <a:rPr lang="zh-CN" altLang="en-US" sz="2400" dirty="0">
                <a:solidFill>
                  <a:schemeClr val="tx2"/>
                </a:solidFill>
                <a:latin typeface="华文楷体" panose="02010600040101010101" charset="-122"/>
                <a:ea typeface="华文楷体" panose="02010600040101010101" charset="-122"/>
                <a:cs typeface="华文楷体" panose="02010600040101010101" charset="-122"/>
                <a:sym typeface="+mn-ea"/>
              </a:rPr>
              <a:t>）信息速率</a:t>
            </a:r>
            <a:r>
              <a:rPr lang="en-US" altLang="zh-CN" sz="2400" i="1" dirty="0">
                <a:latin typeface="华文楷体" panose="02010600040101010101" charset="-122"/>
                <a:ea typeface="华文楷体" panose="02010600040101010101" charset="-122"/>
                <a:cs typeface="华文楷体" panose="02010600040101010101" charset="-122"/>
                <a:sym typeface="+mn-ea"/>
              </a:rPr>
              <a:t>R</a:t>
            </a:r>
            <a:r>
              <a:rPr lang="en-US" altLang="zh-CN" sz="2400" baseline="-25000" dirty="0">
                <a:latin typeface="华文楷体" panose="02010600040101010101" charset="-122"/>
                <a:ea typeface="华文楷体" panose="02010600040101010101" charset="-122"/>
                <a:cs typeface="华文楷体" panose="02010600040101010101" charset="-122"/>
                <a:sym typeface="+mn-ea"/>
              </a:rPr>
              <a:t>b</a:t>
            </a:r>
            <a:r>
              <a:rPr lang="zh-CN" altLang="en-US" sz="2400" dirty="0">
                <a:latin typeface="华文楷体" panose="02010600040101010101" charset="-122"/>
                <a:ea typeface="华文楷体" panose="02010600040101010101" charset="-122"/>
                <a:cs typeface="华文楷体" panose="02010600040101010101" charset="-122"/>
                <a:sym typeface="+mn-ea"/>
              </a:rPr>
              <a:t>：单位时间内传递的平均信息量或比特数，单位为</a:t>
            </a:r>
            <a:r>
              <a:rPr lang="en-US" altLang="zh-CN" sz="2400" dirty="0">
                <a:solidFill>
                  <a:srgbClr val="FF0000"/>
                </a:solidFill>
                <a:latin typeface="华文楷体" panose="02010600040101010101" charset="-122"/>
                <a:ea typeface="华文楷体" panose="02010600040101010101" charset="-122"/>
                <a:cs typeface="华文楷体" panose="02010600040101010101" charset="-122"/>
                <a:sym typeface="+mn-ea"/>
              </a:rPr>
              <a:t>bit/</a:t>
            </a:r>
            <a:r>
              <a:rPr lang="zh-CN" altLang="en-US" sz="2400" dirty="0">
                <a:solidFill>
                  <a:srgbClr val="FF0000"/>
                </a:solidFill>
                <a:latin typeface="华文楷体" panose="02010600040101010101" charset="-122"/>
                <a:ea typeface="华文楷体" panose="02010600040101010101" charset="-122"/>
                <a:cs typeface="华文楷体" panose="02010600040101010101" charset="-122"/>
                <a:sym typeface="+mn-ea"/>
              </a:rPr>
              <a:t>秒</a:t>
            </a:r>
            <a:r>
              <a:rPr lang="zh-CN" altLang="en-US" sz="2400" dirty="0">
                <a:latin typeface="华文楷体" panose="02010600040101010101" charset="-122"/>
                <a:ea typeface="华文楷体" panose="02010600040101010101" charset="-122"/>
                <a:cs typeface="华文楷体" panose="02010600040101010101" charset="-122"/>
                <a:sym typeface="+mn-ea"/>
              </a:rPr>
              <a:t>，简记为 </a:t>
            </a:r>
            <a:r>
              <a:rPr lang="en-US" altLang="zh-CN" sz="2400" dirty="0">
                <a:solidFill>
                  <a:srgbClr val="FF0000"/>
                </a:solidFill>
                <a:latin typeface="华文楷体" panose="02010600040101010101" charset="-122"/>
                <a:ea typeface="华文楷体" panose="02010600040101010101" charset="-122"/>
                <a:cs typeface="华文楷体" panose="02010600040101010101" charset="-122"/>
                <a:sym typeface="+mn-ea"/>
              </a:rPr>
              <a:t>b/s</a:t>
            </a:r>
            <a:r>
              <a:rPr lang="en-US" altLang="zh-CN" sz="2400" i="1" dirty="0">
                <a:solidFill>
                  <a:srgbClr val="FF0000"/>
                </a:solidFill>
                <a:latin typeface="华文楷体" panose="02010600040101010101" charset="-122"/>
                <a:ea typeface="华文楷体" panose="02010600040101010101" charset="-122"/>
                <a:cs typeface="华文楷体" panose="02010600040101010101" charset="-122"/>
                <a:sym typeface="+mn-ea"/>
              </a:rPr>
              <a:t> </a:t>
            </a:r>
            <a:r>
              <a:rPr lang="zh-CN" altLang="en-US" sz="2400" dirty="0">
                <a:latin typeface="华文楷体" panose="02010600040101010101" charset="-122"/>
                <a:ea typeface="华文楷体" panose="02010600040101010101" charset="-122"/>
                <a:cs typeface="华文楷体" panose="02010600040101010101" charset="-122"/>
                <a:sym typeface="+mn-ea"/>
              </a:rPr>
              <a:t>或</a:t>
            </a:r>
            <a:r>
              <a:rPr lang="en-US" altLang="zh-CN" sz="2400" dirty="0">
                <a:solidFill>
                  <a:srgbClr val="FF0000"/>
                </a:solidFill>
                <a:latin typeface="华文楷体" panose="02010600040101010101" charset="-122"/>
                <a:ea typeface="华文楷体" panose="02010600040101010101" charset="-122"/>
                <a:cs typeface="华文楷体" panose="02010600040101010101" charset="-122"/>
                <a:sym typeface="+mn-ea"/>
              </a:rPr>
              <a:t>bps </a:t>
            </a:r>
            <a:r>
              <a:rPr lang="zh-CN" altLang="en-US" sz="2400" dirty="0">
                <a:latin typeface="华文楷体" panose="02010600040101010101" charset="-122"/>
                <a:ea typeface="华文楷体" panose="02010600040101010101" charset="-122"/>
                <a:cs typeface="华文楷体" panose="02010600040101010101" charset="-122"/>
                <a:sym typeface="+mn-ea"/>
              </a:rPr>
              <a:t>。对于</a:t>
            </a:r>
            <a:r>
              <a:rPr lang="en-US" altLang="zh-CN" sz="2400" dirty="0">
                <a:latin typeface="华文楷体" panose="02010600040101010101" charset="-122"/>
                <a:ea typeface="华文楷体" panose="02010600040101010101" charset="-122"/>
                <a:cs typeface="华文楷体" panose="02010600040101010101" charset="-122"/>
                <a:sym typeface="+mn-ea"/>
              </a:rPr>
              <a:t>N</a:t>
            </a:r>
            <a:r>
              <a:rPr lang="zh-CN" altLang="zh-CN" sz="2400" dirty="0">
                <a:latin typeface="华文楷体" panose="02010600040101010101" charset="-122"/>
                <a:ea typeface="华文楷体" panose="02010600040101010101" charset="-122"/>
                <a:cs typeface="华文楷体" panose="02010600040101010101" charset="-122"/>
                <a:sym typeface="+mn-ea"/>
              </a:rPr>
              <a:t>进制有：</a:t>
            </a:r>
            <a:endParaRPr lang="en-US" altLang="zh-CN" sz="2400" b="1" dirty="0">
              <a:solidFill>
                <a:srgbClr val="FF0000"/>
              </a:solidFill>
              <a:latin typeface="华文楷体" panose="02010600040101010101" charset="-122"/>
              <a:ea typeface="华文楷体" panose="02010600040101010101" charset="-122"/>
              <a:cs typeface="华文楷体" panose="02010600040101010101" charset="-122"/>
              <a:sym typeface="+mn-ea"/>
            </a:endParaRPr>
          </a:p>
          <a:p>
            <a:pPr marL="0" lvl="0" indent="0" fontAlgn="auto">
              <a:lnSpc>
                <a:spcPts val="3540"/>
              </a:lnSpc>
              <a:buFont typeface="Wingdings" panose="05000000000000000000" charset="0"/>
              <a:buNone/>
            </a:pPr>
            <a:endParaRPr lang="en-US" altLang="zh-CN" sz="2400" b="1" strike="noStrike" noProof="1">
              <a:solidFill>
                <a:srgbClr val="FF0000"/>
              </a:solidFill>
              <a:latin typeface="华文楷体" panose="02010600040101010101" charset="-122"/>
              <a:ea typeface="华文楷体" panose="02010600040101010101" charset="-122"/>
              <a:cs typeface="华文楷体" panose="02010600040101010101" charset="-122"/>
              <a:sym typeface="+mn-ea"/>
            </a:endParaRPr>
          </a:p>
          <a:p>
            <a:pPr marL="0" lvl="0" indent="0" algn="l" fontAlgn="auto">
              <a:lnSpc>
                <a:spcPts val="3540"/>
              </a:lnSpc>
              <a:buFont typeface="Wingdings" panose="05000000000000000000" charset="0"/>
              <a:buNone/>
            </a:pPr>
            <a:r>
              <a:rPr lang="en-US" altLang="zh-CN" sz="2400" dirty="0">
                <a:latin typeface="华文楷体" panose="02010600040101010101" charset="-122"/>
                <a:ea typeface="华文楷体" panose="02010600040101010101" charset="-122"/>
                <a:cs typeface="华文楷体" panose="02010600040101010101" charset="-122"/>
                <a:sym typeface="+mn-ea"/>
              </a:rPr>
              <a:t>     </a:t>
            </a:r>
            <a:r>
              <a:rPr lang="zh-CN" altLang="en-US" sz="2400" dirty="0">
                <a:latin typeface="华文楷体" panose="02010600040101010101" charset="-122"/>
                <a:ea typeface="华文楷体" panose="02010600040101010101" charset="-122"/>
                <a:cs typeface="华文楷体" panose="02010600040101010101" charset="-122"/>
                <a:sym typeface="+mn-ea"/>
              </a:rPr>
              <a:t>等概时，平均信息量最大，此时有：</a:t>
            </a:r>
            <a:endParaRPr lang="zh-CN" altLang="en-US" sz="2400" dirty="0">
              <a:latin typeface="华文楷体" panose="02010600040101010101" charset="-122"/>
              <a:ea typeface="华文楷体" panose="02010600040101010101" charset="-122"/>
              <a:cs typeface="华文楷体" panose="02010600040101010101" charset="-122"/>
              <a:sym typeface="+mn-ea"/>
            </a:endParaRPr>
          </a:p>
          <a:p>
            <a:pPr marL="0" lvl="0" indent="0" algn="l" fontAlgn="auto">
              <a:lnSpc>
                <a:spcPts val="3540"/>
              </a:lnSpc>
              <a:buFont typeface="Wingdings" panose="05000000000000000000" charset="0"/>
              <a:buNone/>
            </a:pPr>
            <a:r>
              <a:rPr lang="en-US" altLang="zh-CN" sz="2400" dirty="0">
                <a:solidFill>
                  <a:schemeClr val="tx2"/>
                </a:solidFill>
                <a:latin typeface="华文楷体" panose="02010600040101010101" charset="-122"/>
                <a:ea typeface="华文楷体" panose="02010600040101010101" charset="-122"/>
                <a:cs typeface="华文楷体" panose="02010600040101010101" charset="-122"/>
                <a:sym typeface="+mn-ea"/>
              </a:rPr>
              <a:t>3)   </a:t>
            </a:r>
            <a:r>
              <a:rPr lang="zh-CN" altLang="en-US" sz="2400" dirty="0">
                <a:solidFill>
                  <a:schemeClr val="tx2"/>
                </a:solidFill>
                <a:latin typeface="华文楷体" panose="02010600040101010101" charset="-122"/>
                <a:ea typeface="华文楷体" panose="02010600040101010101" charset="-122"/>
                <a:cs typeface="华文楷体" panose="02010600040101010101" charset="-122"/>
                <a:sym typeface="+mn-ea"/>
              </a:rPr>
              <a:t>频带利用率：</a:t>
            </a:r>
            <a:r>
              <a:rPr lang="zh-CN" altLang="en-US" sz="2400" dirty="0">
                <a:latin typeface="华文楷体" panose="02010600040101010101" charset="-122"/>
                <a:ea typeface="华文楷体" panose="02010600040101010101" charset="-122"/>
                <a:cs typeface="华文楷体" panose="02010600040101010101" charset="-122"/>
                <a:sym typeface="+mn-ea"/>
              </a:rPr>
              <a:t>单位频带上的传输速率</a:t>
            </a:r>
            <a:endParaRPr lang="zh-CN" altLang="en-US" sz="2400" b="1" dirty="0">
              <a:solidFill>
                <a:schemeClr val="tx1"/>
              </a:solidFill>
              <a:latin typeface="华文楷体" panose="02010600040101010101" charset="-122"/>
              <a:ea typeface="华文楷体" panose="02010600040101010101" charset="-122"/>
              <a:cs typeface="华文楷体" panose="02010600040101010101" charset="-122"/>
              <a:sym typeface="+mn-ea"/>
            </a:endParaRPr>
          </a:p>
          <a:p>
            <a:pPr marL="0" lvl="0" indent="0" algn="l" fontAlgn="auto">
              <a:lnSpc>
                <a:spcPts val="3540"/>
              </a:lnSpc>
              <a:buFont typeface="Wingdings" panose="05000000000000000000" charset="0"/>
              <a:buNone/>
            </a:pPr>
            <a:r>
              <a:rPr lang="en-US" altLang="zh-CN" sz="2400" dirty="0">
                <a:latin typeface="华文楷体" panose="02010600040101010101" charset="-122"/>
                <a:ea typeface="华文楷体" panose="02010600040101010101" charset="-122"/>
                <a:cs typeface="华文楷体" panose="02010600040101010101" charset="-122"/>
                <a:sym typeface="+mn-ea"/>
              </a:rPr>
              <a:t>                        </a:t>
            </a:r>
            <a:endParaRPr lang="en-US" altLang="zh-CN" sz="2400"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graphicFrame>
        <p:nvGraphicFramePr>
          <p:cNvPr id="57347" name="Object 4"/>
          <p:cNvGraphicFramePr>
            <a:graphicFrameLocks noChangeAspect="1"/>
          </p:cNvGraphicFramePr>
          <p:nvPr>
            <p:custDataLst>
              <p:tags r:id="rId5"/>
            </p:custDataLst>
          </p:nvPr>
        </p:nvGraphicFramePr>
        <p:xfrm>
          <a:off x="3503295" y="2132965"/>
          <a:ext cx="2697480" cy="878205"/>
        </p:xfrm>
        <a:graphic>
          <a:graphicData uri="http://schemas.openxmlformats.org/presentationml/2006/ole">
            <mc:AlternateContent xmlns:mc="http://schemas.openxmlformats.org/markup-compatibility/2006">
              <mc:Choice xmlns:v="urn:schemas-microsoft-com:vml" Requires="v">
                <p:oleObj spid="_x0000_s57411" name="" r:id="rId6" imgW="862965" imgH="393700" progId="Equation.3">
                  <p:embed/>
                </p:oleObj>
              </mc:Choice>
              <mc:Fallback>
                <p:oleObj name="" r:id="rId6" imgW="862965" imgH="393700" progId="Equation.3">
                  <p:embed/>
                  <p:pic>
                    <p:nvPicPr>
                      <p:cNvPr id="0" name="Object 4"/>
                      <p:cNvPicPr/>
                      <p:nvPr/>
                    </p:nvPicPr>
                    <p:blipFill>
                      <a:blip r:embed="rId7"/>
                      <a:stretch>
                        <a:fillRect/>
                      </a:stretch>
                    </p:blipFill>
                    <p:spPr>
                      <a:xfrm>
                        <a:off x="3503295" y="2132965"/>
                        <a:ext cx="2697480" cy="878205"/>
                      </a:xfrm>
                      <a:prstGeom prst="rect">
                        <a:avLst/>
                      </a:prstGeom>
                      <a:noFill/>
                      <a:ln w="38100">
                        <a:noFill/>
                        <a:miter/>
                      </a:ln>
                    </p:spPr>
                  </p:pic>
                </p:oleObj>
              </mc:Fallback>
            </mc:AlternateContent>
          </a:graphicData>
        </a:graphic>
      </p:graphicFrame>
      <p:graphicFrame>
        <p:nvGraphicFramePr>
          <p:cNvPr id="4" name="Object 4"/>
          <p:cNvGraphicFramePr>
            <a:graphicFrameLocks noChangeAspect="1"/>
          </p:cNvGraphicFramePr>
          <p:nvPr>
            <p:custDataLst>
              <p:tags r:id="rId8"/>
            </p:custDataLst>
          </p:nvPr>
        </p:nvGraphicFramePr>
        <p:xfrm>
          <a:off x="4583430" y="3887470"/>
          <a:ext cx="2185670" cy="694055"/>
        </p:xfrm>
        <a:graphic>
          <a:graphicData uri="http://schemas.openxmlformats.org/presentationml/2006/ole">
            <mc:AlternateContent xmlns:mc="http://schemas.openxmlformats.org/markup-compatibility/2006">
              <mc:Choice xmlns:v="urn:schemas-microsoft-com:vml" Requires="v">
                <p:oleObj spid="_x0000_s58565" name="" r:id="rId9" imgW="762000" imgH="241300" progId="Equation.3">
                  <p:embed/>
                </p:oleObj>
              </mc:Choice>
              <mc:Fallback>
                <p:oleObj name="" r:id="rId9" imgW="762000" imgH="241300" progId="Equation.3">
                  <p:embed/>
                  <p:pic>
                    <p:nvPicPr>
                      <p:cNvPr id="0" name="Object 4"/>
                      <p:cNvPicPr/>
                      <p:nvPr/>
                    </p:nvPicPr>
                    <p:blipFill>
                      <a:blip r:embed="rId10"/>
                      <a:stretch>
                        <a:fillRect/>
                      </a:stretch>
                    </p:blipFill>
                    <p:spPr>
                      <a:xfrm>
                        <a:off x="4583430" y="3887470"/>
                        <a:ext cx="2185670" cy="694055"/>
                      </a:xfrm>
                      <a:prstGeom prst="rect">
                        <a:avLst/>
                      </a:prstGeom>
                      <a:noFill/>
                      <a:ln w="38100">
                        <a:noFill/>
                        <a:miter/>
                      </a:ln>
                    </p:spPr>
                  </p:pic>
                </p:oleObj>
              </mc:Fallback>
            </mc:AlternateContent>
          </a:graphicData>
        </a:graphic>
      </p:graphicFrame>
      <p:graphicFrame>
        <p:nvGraphicFramePr>
          <p:cNvPr id="49156" name="Object 4"/>
          <p:cNvGraphicFramePr>
            <a:graphicFrameLocks noChangeAspect="1"/>
          </p:cNvGraphicFramePr>
          <p:nvPr>
            <p:custDataLst>
              <p:tags r:id="rId11"/>
            </p:custDataLst>
          </p:nvPr>
        </p:nvGraphicFramePr>
        <p:xfrm>
          <a:off x="6096159" y="4820762"/>
          <a:ext cx="3797935" cy="575945"/>
        </p:xfrm>
        <a:graphic>
          <a:graphicData uri="http://schemas.openxmlformats.org/presentationml/2006/ole">
            <mc:AlternateContent xmlns:mc="http://schemas.openxmlformats.org/markup-compatibility/2006">
              <mc:Choice xmlns:v="urn:schemas-microsoft-com:vml" Requires="v">
                <p:oleObj spid="_x0000_s58566" name="" r:id="rId12" imgW="1511300" imgH="228600" progId="Equation.3">
                  <p:embed/>
                </p:oleObj>
              </mc:Choice>
              <mc:Fallback>
                <p:oleObj name="" r:id="rId12" imgW="1511300" imgH="228600" progId="Equation.3">
                  <p:embed/>
                  <p:pic>
                    <p:nvPicPr>
                      <p:cNvPr id="0" name="Object 4"/>
                      <p:cNvPicPr/>
                      <p:nvPr/>
                    </p:nvPicPr>
                    <p:blipFill>
                      <a:blip r:embed="rId13"/>
                      <a:stretch>
                        <a:fillRect/>
                      </a:stretch>
                    </p:blipFill>
                    <p:spPr>
                      <a:xfrm>
                        <a:off x="6096159" y="4820762"/>
                        <a:ext cx="3797935" cy="575945"/>
                      </a:xfrm>
                      <a:prstGeom prst="rect">
                        <a:avLst/>
                      </a:prstGeom>
                      <a:noFill/>
                      <a:ln w="38100">
                        <a:noFill/>
                        <a:miter/>
                      </a:ln>
                    </p:spPr>
                  </p:pic>
                </p:oleObj>
              </mc:Fallback>
            </mc:AlternateContent>
          </a:graphicData>
        </a:graphic>
      </p:graphicFrame>
      <p:graphicFrame>
        <p:nvGraphicFramePr>
          <p:cNvPr id="50182" name="Object 6"/>
          <p:cNvGraphicFramePr>
            <a:graphicFrameLocks noChangeAspect="1"/>
          </p:cNvGraphicFramePr>
          <p:nvPr>
            <p:custDataLst>
              <p:tags r:id="rId14"/>
            </p:custDataLst>
          </p:nvPr>
        </p:nvGraphicFramePr>
        <p:xfrm>
          <a:off x="3863340" y="5877560"/>
          <a:ext cx="4528820" cy="855345"/>
        </p:xfrm>
        <a:graphic>
          <a:graphicData uri="http://schemas.openxmlformats.org/presentationml/2006/ole">
            <mc:AlternateContent xmlns:mc="http://schemas.openxmlformats.org/markup-compatibility/2006">
              <mc:Choice xmlns:v="urn:schemas-microsoft-com:vml" Requires="v">
                <p:oleObj spid="_x0000_s59459" name="" r:id="rId15" imgW="2222500" imgH="419100" progId="Equation.3">
                  <p:embed/>
                </p:oleObj>
              </mc:Choice>
              <mc:Fallback>
                <p:oleObj name="" r:id="rId15" imgW="2222500" imgH="419100" progId="Equation.3">
                  <p:embed/>
                  <p:pic>
                    <p:nvPicPr>
                      <p:cNvPr id="0" name="Object 6"/>
                      <p:cNvPicPr/>
                      <p:nvPr/>
                    </p:nvPicPr>
                    <p:blipFill>
                      <a:blip r:embed="rId16"/>
                      <a:stretch>
                        <a:fillRect/>
                      </a:stretch>
                    </p:blipFill>
                    <p:spPr>
                      <a:xfrm>
                        <a:off x="3863340" y="5877560"/>
                        <a:ext cx="4528820" cy="85534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695325" y="1151890"/>
            <a:ext cx="10972800" cy="743585"/>
          </a:xfrm>
        </p:spPr>
        <p:txBody>
          <a:bodyPr/>
          <a:p>
            <a:pPr marL="0" indent="0">
              <a:buNone/>
            </a:pPr>
            <a:r>
              <a:rPr lang="zh-CN" altLang="en-US" sz="3600" b="1">
                <a:latin typeface="华文楷体" panose="02010600040101010101" charset="-122"/>
                <a:ea typeface="华文楷体" panose="02010600040101010101" charset="-122"/>
                <a:cs typeface="华文楷体" panose="02010600040101010101" charset="-122"/>
              </a:rPr>
              <a:t>2. 可靠性</a:t>
            </a:r>
            <a:endParaRPr lang="zh-CN" altLang="en-US" sz="3600" b="1">
              <a:latin typeface="华文楷体" panose="02010600040101010101" charset="-122"/>
              <a:ea typeface="华文楷体" panose="02010600040101010101" charset="-122"/>
              <a:cs typeface="华文楷体" panose="02010600040101010101" charset="-122"/>
            </a:endParaRPr>
          </a:p>
          <a:p>
            <a:pPr marL="0" indent="0">
              <a:buNone/>
            </a:pPr>
            <a:endParaRPr lang="zh-CN" altLang="en-US" sz="3600" b="1">
              <a:latin typeface="华文楷体" panose="02010600040101010101" charset="-122"/>
              <a:ea typeface="华文楷体" panose="02010600040101010101" charset="-122"/>
              <a:cs typeface="华文楷体" panose="02010600040101010101" charset="-122"/>
            </a:endParaRPr>
          </a:p>
        </p:txBody>
      </p:sp>
      <p:sp>
        <p:nvSpPr>
          <p:cNvPr id="6" name="文本框 5"/>
          <p:cNvSpPr txBox="1"/>
          <p:nvPr>
            <p:custDataLst>
              <p:tags r:id="rId3"/>
            </p:custDataLst>
          </p:nvPr>
        </p:nvSpPr>
        <p:spPr>
          <a:xfrm>
            <a:off x="1142365" y="3484245"/>
            <a:ext cx="2016760" cy="737235"/>
          </a:xfrm>
          <a:prstGeom prst="rect">
            <a:avLst/>
          </a:prstGeom>
          <a:noFill/>
        </p:spPr>
        <p:txBody>
          <a:bodyPr wrap="square" rtlCol="0" anchor="t">
            <a:spAutoFit/>
          </a:bodyPr>
          <a:p>
            <a:pPr indent="0" eaLnBrk="1" latinLnBrk="0" hangingPunct="1">
              <a:lnSpc>
                <a:spcPct val="150000"/>
              </a:lnSpc>
              <a:spcBef>
                <a:spcPts val="0"/>
              </a:spcBef>
              <a:buFont typeface="Wingdings" panose="05000000000000000000" charset="0"/>
              <a:buNone/>
            </a:pPr>
            <a:r>
              <a:rPr lang="zh-CN" altLang="en-US" sz="2800" b="1" dirty="0">
                <a:solidFill>
                  <a:schemeClr val="tx2"/>
                </a:solidFill>
                <a:latin typeface="华文楷体" panose="02010600040101010101" charset="-122"/>
                <a:ea typeface="华文楷体" panose="02010600040101010101" charset="-122"/>
                <a:sym typeface="+mn-ea"/>
              </a:rPr>
              <a:t>误信率</a:t>
            </a:r>
            <a:r>
              <a:rPr lang="zh-CN" altLang="en-US" sz="2800" dirty="0">
                <a:solidFill>
                  <a:schemeClr val="tx2"/>
                </a:solidFill>
                <a:latin typeface="华文楷体" panose="02010600040101010101" charset="-122"/>
                <a:ea typeface="华文楷体" panose="02010600040101010101" charset="-122"/>
                <a:sym typeface="+mn-ea"/>
              </a:rPr>
              <a:t>：</a:t>
            </a:r>
            <a:endParaRPr lang="zh-CN" altLang="en-US" sz="2800" dirty="0">
              <a:solidFill>
                <a:schemeClr val="tx2"/>
              </a:solidFill>
              <a:latin typeface="华文楷体" panose="02010600040101010101" charset="-122"/>
              <a:ea typeface="华文楷体" panose="02010600040101010101" charset="-122"/>
              <a:sym typeface="+mn-ea"/>
            </a:endParaRPr>
          </a:p>
        </p:txBody>
      </p:sp>
      <p:sp>
        <p:nvSpPr>
          <p:cNvPr id="7" name="文本框 6"/>
          <p:cNvSpPr txBox="1"/>
          <p:nvPr>
            <p:custDataLst>
              <p:tags r:id="rId4"/>
            </p:custDataLst>
          </p:nvPr>
        </p:nvSpPr>
        <p:spPr>
          <a:xfrm>
            <a:off x="1069975" y="2132330"/>
            <a:ext cx="1916430" cy="521970"/>
          </a:xfrm>
          <a:prstGeom prst="rect">
            <a:avLst/>
          </a:prstGeom>
          <a:noFill/>
        </p:spPr>
        <p:txBody>
          <a:bodyPr wrap="square" rtlCol="0" anchor="t">
            <a:spAutoFit/>
          </a:bodyPr>
          <a:p>
            <a:pPr eaLnBrk="1" hangingPunct="1">
              <a:buNone/>
            </a:pPr>
            <a:r>
              <a:rPr lang="en-US" altLang="zh-CN" sz="2800" b="1" dirty="0">
                <a:solidFill>
                  <a:schemeClr val="tx2"/>
                </a:solidFill>
                <a:latin typeface="华文楷体" panose="02010600040101010101" charset="-122"/>
                <a:ea typeface="华文楷体" panose="02010600040101010101" charset="-122"/>
                <a:cs typeface="华文楷体" panose="02010600040101010101" charset="-122"/>
                <a:sym typeface="+mn-ea"/>
              </a:rPr>
              <a:t> </a:t>
            </a:r>
            <a:r>
              <a:rPr lang="zh-CN" altLang="en-US" sz="2800" b="1" dirty="0">
                <a:solidFill>
                  <a:schemeClr val="tx2"/>
                </a:solidFill>
                <a:latin typeface="华文楷体" panose="02010600040101010101" charset="-122"/>
                <a:ea typeface="华文楷体" panose="02010600040101010101" charset="-122"/>
                <a:cs typeface="华文楷体" panose="02010600040101010101" charset="-122"/>
                <a:sym typeface="+mn-ea"/>
              </a:rPr>
              <a:t>误码率：</a:t>
            </a:r>
            <a:endParaRPr lang="zh-CN" altLang="en-US" sz="2800" b="1"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graphicFrame>
        <p:nvGraphicFramePr>
          <p:cNvPr id="61445" name="Object 8"/>
          <p:cNvGraphicFramePr>
            <a:graphicFrameLocks noChangeAspect="1"/>
          </p:cNvGraphicFramePr>
          <p:nvPr>
            <p:custDataLst>
              <p:tags r:id="rId5"/>
            </p:custDataLst>
          </p:nvPr>
        </p:nvGraphicFramePr>
        <p:xfrm>
          <a:off x="3085783" y="1991360"/>
          <a:ext cx="2988945" cy="917575"/>
        </p:xfrm>
        <a:graphic>
          <a:graphicData uri="http://schemas.openxmlformats.org/presentationml/2006/ole">
            <mc:AlternateContent xmlns:mc="http://schemas.openxmlformats.org/markup-compatibility/2006">
              <mc:Choice xmlns:v="urn:schemas-microsoft-com:vml" Requires="v">
                <p:oleObj spid="_x0000_s61637" name="" r:id="rId6" imgW="1270000" imgH="419100" progId="Equation.3">
                  <p:embed/>
                </p:oleObj>
              </mc:Choice>
              <mc:Fallback>
                <p:oleObj name="" r:id="rId6" imgW="1270000" imgH="419100" progId="Equation.3">
                  <p:embed/>
                  <p:pic>
                    <p:nvPicPr>
                      <p:cNvPr id="0" name="Object 8"/>
                      <p:cNvPicPr/>
                      <p:nvPr/>
                    </p:nvPicPr>
                    <p:blipFill>
                      <a:blip r:embed="rId7"/>
                      <a:stretch>
                        <a:fillRect/>
                      </a:stretch>
                    </p:blipFill>
                    <p:spPr>
                      <a:xfrm>
                        <a:off x="3085783" y="1991360"/>
                        <a:ext cx="2988945" cy="917575"/>
                      </a:xfrm>
                      <a:prstGeom prst="rect">
                        <a:avLst/>
                      </a:prstGeom>
                      <a:noFill/>
                      <a:ln w="38100">
                        <a:noFill/>
                        <a:miter/>
                      </a:ln>
                    </p:spPr>
                  </p:pic>
                </p:oleObj>
              </mc:Fallback>
            </mc:AlternateContent>
          </a:graphicData>
        </a:graphic>
      </p:graphicFrame>
      <p:graphicFrame>
        <p:nvGraphicFramePr>
          <p:cNvPr id="8" name="Object 8"/>
          <p:cNvGraphicFramePr>
            <a:graphicFrameLocks noChangeAspect="1"/>
          </p:cNvGraphicFramePr>
          <p:nvPr>
            <p:custDataLst>
              <p:tags r:id="rId8"/>
            </p:custDataLst>
          </p:nvPr>
        </p:nvGraphicFramePr>
        <p:xfrm>
          <a:off x="3014345" y="3500755"/>
          <a:ext cx="3054985" cy="937895"/>
        </p:xfrm>
        <a:graphic>
          <a:graphicData uri="http://schemas.openxmlformats.org/presentationml/2006/ole">
            <mc:AlternateContent xmlns:mc="http://schemas.openxmlformats.org/markup-compatibility/2006">
              <mc:Choice xmlns:v="urn:schemas-microsoft-com:vml" Requires="v">
                <p:oleObj spid="_x0000_s61638" name="" r:id="rId9" imgW="1270000" imgH="419100" progId="Equation.3">
                  <p:embed/>
                </p:oleObj>
              </mc:Choice>
              <mc:Fallback>
                <p:oleObj name="" r:id="rId9" imgW="1270000" imgH="419100" progId="Equation.3">
                  <p:embed/>
                  <p:pic>
                    <p:nvPicPr>
                      <p:cNvPr id="0" name="Object 8"/>
                      <p:cNvPicPr/>
                      <p:nvPr/>
                    </p:nvPicPr>
                    <p:blipFill>
                      <a:blip r:embed="rId10"/>
                      <a:stretch>
                        <a:fillRect/>
                      </a:stretch>
                    </p:blipFill>
                    <p:spPr>
                      <a:xfrm>
                        <a:off x="3014345" y="3500755"/>
                        <a:ext cx="3054985" cy="93789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graphicFrame>
        <p:nvGraphicFramePr>
          <p:cNvPr id="4" name="Object 108"/>
          <p:cNvGraphicFramePr>
            <a:graphicFrameLocks noChangeAspect="1"/>
          </p:cNvGraphicFramePr>
          <p:nvPr>
            <p:custDataLst>
              <p:tags r:id="rId2"/>
            </p:custDataLst>
          </p:nvPr>
        </p:nvGraphicFramePr>
        <p:xfrm>
          <a:off x="2935605" y="189230"/>
          <a:ext cx="5248275" cy="2757805"/>
        </p:xfrm>
        <a:graphic>
          <a:graphicData uri="http://schemas.openxmlformats.org/presentationml/2006/ole">
            <mc:AlternateContent xmlns:mc="http://schemas.openxmlformats.org/markup-compatibility/2006">
              <mc:Choice xmlns:v="urn:schemas-microsoft-com:vml" Requires="v">
                <p:oleObj spid="_x0000_s3076" name="" r:id="rId3" imgW="2153285" imgH="943610" progId="Visio.Drawing.11">
                  <p:embed/>
                </p:oleObj>
              </mc:Choice>
              <mc:Fallback>
                <p:oleObj name="" r:id="rId3" imgW="2153285" imgH="943610" progId="Visio.Drawing.11">
                  <p:embed/>
                  <p:pic>
                    <p:nvPicPr>
                      <p:cNvPr id="0" name="图片 3075"/>
                      <p:cNvPicPr/>
                      <p:nvPr/>
                    </p:nvPicPr>
                    <p:blipFill>
                      <a:blip r:embed="rId4"/>
                      <a:srcRect l="13728" r="3465"/>
                      <a:stretch>
                        <a:fillRect/>
                      </a:stretch>
                    </p:blipFill>
                    <p:spPr>
                      <a:xfrm>
                        <a:off x="2935605" y="189230"/>
                        <a:ext cx="5248275" cy="2757805"/>
                      </a:xfrm>
                      <a:prstGeom prst="rect">
                        <a:avLst/>
                      </a:prstGeom>
                      <a:noFill/>
                      <a:ln w="38100">
                        <a:noFill/>
                        <a:miter/>
                      </a:ln>
                    </p:spPr>
                  </p:pic>
                </p:oleObj>
              </mc:Fallback>
            </mc:AlternateContent>
          </a:graphicData>
        </a:graphic>
      </p:graphicFrame>
      <p:sp>
        <p:nvSpPr>
          <p:cNvPr id="33795" name="矩形 6"/>
          <p:cNvSpPr/>
          <p:nvPr>
            <p:custDataLst>
              <p:tags r:id="rId5"/>
            </p:custDataLst>
          </p:nvPr>
        </p:nvSpPr>
        <p:spPr>
          <a:xfrm>
            <a:off x="3647440" y="3141345"/>
            <a:ext cx="5120640" cy="3484880"/>
          </a:xfrm>
          <a:prstGeom prst="rect">
            <a:avLst/>
          </a:prstGeom>
          <a:solidFill>
            <a:srgbClr val="E7E7E7"/>
          </a:solidFill>
          <a:ln w="9525">
            <a:noFill/>
          </a:ln>
        </p:spPr>
        <p:txBody>
          <a:bodyPr wrap="square">
            <a:noAutofit/>
          </a:bodyPr>
          <a:p>
            <a:pPr marL="342900" indent="-342900">
              <a:lnSpc>
                <a:spcPct val="200000"/>
              </a:lnSpc>
              <a:spcBef>
                <a:spcPct val="20000"/>
              </a:spcBef>
              <a:buClr>
                <a:srgbClr val="0000CC"/>
              </a:buClr>
              <a:buSzPct val="60000"/>
            </a:pPr>
            <a:r>
              <a:rPr lang="zh-CN" altLang="en-US" sz="28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    调制信道</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华文中宋" panose="02010600040101010101" pitchFamily="2" charset="-122"/>
              </a:rPr>
              <a:t>分为：</a:t>
            </a:r>
            <a:endParaRPr lang="en-US" altLang="zh-CN" sz="2400" dirty="0">
              <a:solidFill>
                <a:srgbClr val="000000"/>
              </a:solidFill>
              <a:latin typeface="华文楷体" panose="02010600040101010101" charset="-122"/>
              <a:ea typeface="华文楷体" panose="02010600040101010101" charset="-122"/>
              <a:cs typeface="华文楷体" panose="02010600040101010101" charset="-122"/>
              <a:sym typeface="华文中宋" panose="02010600040101010101" pitchFamily="2" charset="-122"/>
            </a:endParaRPr>
          </a:p>
          <a:p>
            <a:pPr marL="342900" indent="-342900">
              <a:lnSpc>
                <a:spcPct val="120000"/>
              </a:lnSpc>
              <a:spcBef>
                <a:spcPct val="20000"/>
              </a:spcBef>
              <a:buClr>
                <a:srgbClr val="0000CC"/>
              </a:buClr>
              <a:buSzPct val="60000"/>
            </a:pP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隶书" panose="02010509060101010101" pitchFamily="49" charset="-122"/>
              </a:rPr>
              <a:t>    （根据信道的时变特性）</a:t>
            </a:r>
            <a:endPar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隶书" panose="02010509060101010101" pitchFamily="49" charset="-122"/>
            </a:endParaRPr>
          </a:p>
          <a:p>
            <a:pPr marL="800100" lvl="1" indent="-342900">
              <a:lnSpc>
                <a:spcPct val="120000"/>
              </a:lnSpc>
              <a:spcBef>
                <a:spcPct val="20000"/>
              </a:spcBef>
              <a:buClr>
                <a:srgbClr val="FF0000"/>
              </a:buClr>
              <a:buSzPct val="60000"/>
              <a:buFont typeface="Wingdings" panose="05000000000000000000" pitchFamily="2" charset="2"/>
              <a:buChar char="l"/>
            </a:pPr>
            <a:r>
              <a:rPr lang="zh-CN" altLang="en-US" sz="2400" dirty="0">
                <a:solidFill>
                  <a:srgbClr val="FF00FF"/>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 </a:t>
            </a:r>
            <a:r>
              <a:rPr lang="zh-CN" altLang="en-US" sz="2400" b="1" dirty="0">
                <a:solidFill>
                  <a:srgbClr val="FF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恒参</a:t>
            </a:r>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信道</a:t>
            </a:r>
            <a:endParaRPr lang="en-US" altLang="zh-CN" sz="24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endParaRPr>
          </a:p>
          <a:p>
            <a:pPr marL="342900" indent="-342900">
              <a:lnSpc>
                <a:spcPct val="120000"/>
              </a:lnSpc>
              <a:spcBef>
                <a:spcPct val="20000"/>
              </a:spcBef>
              <a:buClr>
                <a:srgbClr val="FF0000"/>
              </a:buClr>
              <a:buSzPct val="60000"/>
            </a:pPr>
            <a:r>
              <a:rPr lang="en-US" altLang="zh-CN" sz="2400" dirty="0">
                <a:solidFill>
                  <a:srgbClr val="000000"/>
                </a:solidFill>
                <a:latin typeface="华文楷体" panose="02010600040101010101" charset="-122"/>
                <a:ea typeface="华文楷体" panose="02010600040101010101" charset="-122"/>
                <a:cs typeface="华文楷体" panose="02010600040101010101" charset="-122"/>
                <a:sym typeface="华文中宋" panose="02010600040101010101" pitchFamily="2" charset="-122"/>
              </a:rPr>
              <a:t>   ——</a:t>
            </a:r>
            <a:r>
              <a:rPr lang="en-US" altLang="zh-CN" sz="2400" b="1">
                <a:latin typeface="华文楷体" panose="02010600040101010101" charset="-122"/>
                <a:ea typeface="华文楷体" panose="02010600040101010101" charset="-122"/>
                <a:cs typeface="华文楷体" panose="02010600040101010101" charset="-122"/>
                <a:sym typeface="+mn-ea"/>
              </a:rPr>
              <a:t>c</a:t>
            </a:r>
            <a:r>
              <a:rPr lang="zh-CN" altLang="zh-CN" sz="2400" b="1">
                <a:latin typeface="华文楷体" panose="02010600040101010101" charset="-122"/>
                <a:ea typeface="华文楷体" panose="02010600040101010101" charset="-122"/>
                <a:cs typeface="华文楷体" panose="02010600040101010101" charset="-122"/>
                <a:sym typeface="+mn-ea"/>
              </a:rPr>
              <a:t>(t)</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华文中宋" panose="02010600040101010101" pitchFamily="2" charset="-122"/>
              </a:rPr>
              <a:t>特性基本不随时间变化</a:t>
            </a:r>
            <a:endPar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华文中宋" panose="02010600040101010101" pitchFamily="2" charset="-122"/>
            </a:endParaRPr>
          </a:p>
          <a:p>
            <a:pPr marL="800100" lvl="1" indent="-342900">
              <a:lnSpc>
                <a:spcPct val="120000"/>
              </a:lnSpc>
              <a:spcBef>
                <a:spcPct val="20000"/>
              </a:spcBef>
              <a:buClr>
                <a:srgbClr val="FF0000"/>
              </a:buClr>
              <a:buSzPct val="60000"/>
              <a:buFont typeface="Wingdings" panose="05000000000000000000" pitchFamily="2" charset="2"/>
              <a:buChar char="l"/>
            </a:pP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华文中宋" panose="02010600040101010101" pitchFamily="2" charset="-122"/>
              </a:rPr>
              <a:t> </a:t>
            </a:r>
            <a:r>
              <a:rPr lang="zh-CN" altLang="en-US" sz="2400" b="1" dirty="0">
                <a:solidFill>
                  <a:srgbClr val="FF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随参</a:t>
            </a:r>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信道</a:t>
            </a:r>
            <a:endParaRPr lang="en-US" altLang="zh-CN" sz="24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endParaRPr>
          </a:p>
          <a:p>
            <a:pPr marL="342900" indent="-342900">
              <a:lnSpc>
                <a:spcPct val="120000"/>
              </a:lnSpc>
              <a:spcBef>
                <a:spcPct val="20000"/>
              </a:spcBef>
              <a:buClr>
                <a:srgbClr val="3333CC"/>
              </a:buClr>
              <a:buSzPct val="55000"/>
            </a:pPr>
            <a:r>
              <a:rPr lang="en-US" altLang="zh-CN" sz="2400" dirty="0">
                <a:solidFill>
                  <a:srgbClr val="000000"/>
                </a:solidFill>
                <a:latin typeface="华文楷体" panose="02010600040101010101" charset="-122"/>
                <a:ea typeface="华文楷体" panose="02010600040101010101" charset="-122"/>
                <a:cs typeface="华文楷体" panose="02010600040101010101" charset="-122"/>
                <a:sym typeface="华文中宋" panose="02010600040101010101" pitchFamily="2" charset="-122"/>
              </a:rPr>
              <a:t>   ——</a:t>
            </a:r>
            <a:r>
              <a:rPr lang="en-US" altLang="zh-CN" sz="2400" b="1">
                <a:latin typeface="华文楷体" panose="02010600040101010101" charset="-122"/>
                <a:ea typeface="华文楷体" panose="02010600040101010101" charset="-122"/>
                <a:cs typeface="华文楷体" panose="02010600040101010101" charset="-122"/>
                <a:sym typeface="+mn-ea"/>
              </a:rPr>
              <a:t>c</a:t>
            </a:r>
            <a:r>
              <a:rPr lang="zh-CN" altLang="zh-CN" sz="2400" b="1">
                <a:latin typeface="华文楷体" panose="02010600040101010101" charset="-122"/>
                <a:ea typeface="华文楷体" panose="02010600040101010101" charset="-122"/>
                <a:cs typeface="华文楷体" panose="02010600040101010101" charset="-122"/>
                <a:sym typeface="+mn-ea"/>
              </a:rPr>
              <a:t>(t)</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华文中宋" panose="02010600040101010101" pitchFamily="2" charset="-122"/>
              </a:rPr>
              <a:t>特性随时间随机快速变化</a:t>
            </a:r>
            <a:endParaRPr lang="en-US" altLang="zh-CN" sz="2400" dirty="0">
              <a:solidFill>
                <a:srgbClr val="000000"/>
              </a:solidFill>
              <a:latin typeface="华文楷体" panose="02010600040101010101" charset="-122"/>
              <a:ea typeface="华文楷体" panose="02010600040101010101" charset="-122"/>
              <a:cs typeface="华文楷体" panose="02010600040101010101" charset="-122"/>
              <a:sym typeface="华文中宋" panose="02010600040101010101" pitchFamily="2" charset="-122"/>
            </a:endParaRPr>
          </a:p>
          <a:p>
            <a:pPr marL="342900" indent="-342900">
              <a:lnSpc>
                <a:spcPct val="120000"/>
              </a:lnSpc>
              <a:spcBef>
                <a:spcPct val="20000"/>
              </a:spcBef>
              <a:buClr>
                <a:srgbClr val="3333CC"/>
              </a:buClr>
              <a:buSzPct val="55000"/>
            </a:pPr>
            <a:endPar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5" name="内容占位符 4"/>
          <p:cNvSpPr>
            <a:spLocks noGrp="1"/>
          </p:cNvSpPr>
          <p:nvPr>
            <p:ph idx="1"/>
            <p:custDataLst>
              <p:tags r:id="rId2"/>
            </p:custDataLst>
          </p:nvPr>
        </p:nvSpPr>
        <p:spPr>
          <a:xfrm>
            <a:off x="608330" y="692785"/>
            <a:ext cx="5596255" cy="614680"/>
          </a:xfrm>
        </p:spPr>
        <p:txBody>
          <a:bodyPr/>
          <a:p>
            <a:pPr marL="0" indent="0">
              <a:buNone/>
            </a:pPr>
            <a:r>
              <a:rPr lang="zh-CN" altLang="en-US" b="1">
                <a:latin typeface="华文楷体" panose="02010600040101010101" charset="-122"/>
                <a:ea typeface="华文楷体" panose="02010600040101010101" charset="-122"/>
                <a:cs typeface="华文楷体" panose="02010600040101010101" charset="-122"/>
              </a:rPr>
              <a:t>1) 理想恒参信道特性</a:t>
            </a:r>
            <a:endParaRPr lang="zh-CN" altLang="en-US" b="1">
              <a:latin typeface="华文楷体" panose="02010600040101010101" charset="-122"/>
              <a:ea typeface="华文楷体" panose="02010600040101010101" charset="-122"/>
              <a:cs typeface="华文楷体" panose="02010600040101010101" charset="-122"/>
            </a:endParaRPr>
          </a:p>
          <a:p>
            <a:pPr marL="0" indent="0">
              <a:buNone/>
            </a:pPr>
            <a:r>
              <a:rPr lang="en-US" altLang="zh-CN" b="1">
                <a:latin typeface="华文楷体" panose="02010600040101010101" charset="-122"/>
                <a:ea typeface="华文楷体" panose="02010600040101010101" charset="-122"/>
                <a:cs typeface="华文楷体" panose="02010600040101010101" charset="-122"/>
              </a:rPr>
              <a:t>  </a:t>
            </a:r>
            <a:endParaRPr lang="zh-CN" altLang="en-US" b="1">
              <a:latin typeface="华文楷体" panose="02010600040101010101" charset="-122"/>
              <a:ea typeface="华文楷体" panose="02010600040101010101" charset="-122"/>
              <a:cs typeface="华文楷体" panose="02010600040101010101" charset="-122"/>
            </a:endParaRPr>
          </a:p>
        </p:txBody>
      </p:sp>
      <p:graphicFrame>
        <p:nvGraphicFramePr>
          <p:cNvPr id="8" name="对象 7"/>
          <p:cNvGraphicFramePr/>
          <p:nvPr>
            <p:custDataLst>
              <p:tags r:id="rId3"/>
            </p:custDataLst>
          </p:nvPr>
        </p:nvGraphicFramePr>
        <p:xfrm>
          <a:off x="4511675" y="1489075"/>
          <a:ext cx="2562225" cy="861695"/>
        </p:xfrm>
        <a:graphic>
          <a:graphicData uri="http://schemas.openxmlformats.org/presentationml/2006/ole">
            <mc:AlternateContent xmlns:mc="http://schemas.openxmlformats.org/markup-compatibility/2006">
              <mc:Choice xmlns:v="urn:schemas-microsoft-com:vml" Requires="v">
                <p:oleObj spid="_x0000_s71811" name="" r:id="rId4" imgW="621665" imgH="203835" progId="">
                  <p:embed/>
                </p:oleObj>
              </mc:Choice>
              <mc:Fallback>
                <p:oleObj name="" r:id="rId4" imgW="621665" imgH="203835" progId="">
                  <p:embed/>
                  <p:pic>
                    <p:nvPicPr>
                      <p:cNvPr id="0" name="对象 7"/>
                      <p:cNvPicPr/>
                      <p:nvPr/>
                    </p:nvPicPr>
                    <p:blipFill>
                      <a:blip r:embed="rId5"/>
                      <a:stretch>
                        <a:fillRect/>
                      </a:stretch>
                    </p:blipFill>
                    <p:spPr>
                      <a:xfrm>
                        <a:off x="4511675" y="1489075"/>
                        <a:ext cx="2562225" cy="861695"/>
                      </a:xfrm>
                      <a:prstGeom prst="rect">
                        <a:avLst/>
                      </a:prstGeom>
                    </p:spPr>
                  </p:pic>
                </p:oleObj>
              </mc:Fallback>
            </mc:AlternateContent>
          </a:graphicData>
        </a:graphic>
      </p:graphicFrame>
      <p:graphicFrame>
        <p:nvGraphicFramePr>
          <p:cNvPr id="10" name="对象 9"/>
          <p:cNvGraphicFramePr/>
          <p:nvPr>
            <p:custDataLst>
              <p:tags r:id="rId6"/>
            </p:custDataLst>
          </p:nvPr>
        </p:nvGraphicFramePr>
        <p:xfrm>
          <a:off x="7824470" y="1298575"/>
          <a:ext cx="3136900" cy="1361440"/>
        </p:xfrm>
        <a:graphic>
          <a:graphicData uri="http://schemas.openxmlformats.org/presentationml/2006/ole">
            <mc:AlternateContent xmlns:mc="http://schemas.openxmlformats.org/markup-compatibility/2006">
              <mc:Choice xmlns:v="urn:schemas-microsoft-com:vml" Requires="v">
                <p:oleObj spid="_x0000_s71812" name="" r:id="rId7" imgW="988695" imgH="354965" progId="">
                  <p:embed/>
                </p:oleObj>
              </mc:Choice>
              <mc:Fallback>
                <p:oleObj name="" r:id="rId7" imgW="988695" imgH="354965" progId="">
                  <p:embed/>
                  <p:pic>
                    <p:nvPicPr>
                      <p:cNvPr id="0" name="对象 9"/>
                      <p:cNvPicPr/>
                      <p:nvPr/>
                    </p:nvPicPr>
                    <p:blipFill>
                      <a:blip r:embed="rId8"/>
                      <a:stretch>
                        <a:fillRect/>
                      </a:stretch>
                    </p:blipFill>
                    <p:spPr>
                      <a:xfrm>
                        <a:off x="7824470" y="1298575"/>
                        <a:ext cx="3136900" cy="1361440"/>
                      </a:xfrm>
                      <a:prstGeom prst="rect">
                        <a:avLst/>
                      </a:prstGeom>
                    </p:spPr>
                  </p:pic>
                </p:oleObj>
              </mc:Fallback>
            </mc:AlternateContent>
          </a:graphicData>
        </a:graphic>
      </p:graphicFrame>
      <p:pic>
        <p:nvPicPr>
          <p:cNvPr id="7" name="Object 19"/>
          <p:cNvPicPr>
            <a:picLocks noChangeAspect="1"/>
          </p:cNvPicPr>
          <p:nvPr>
            <p:custDataLst>
              <p:tags r:id="rId9"/>
            </p:custDataLst>
          </p:nvPr>
        </p:nvPicPr>
        <p:blipFill>
          <a:blip r:embed="rId10"/>
          <a:stretch>
            <a:fillRect/>
          </a:stretch>
        </p:blipFill>
        <p:spPr>
          <a:xfrm>
            <a:off x="5022215" y="690880"/>
            <a:ext cx="2711450" cy="579120"/>
          </a:xfrm>
          <a:prstGeom prst="rect">
            <a:avLst/>
          </a:prstGeom>
          <a:solidFill>
            <a:srgbClr val="E1FFE1"/>
          </a:solidFill>
          <a:ln w="9525" cap="flat" cmpd="sng">
            <a:solidFill>
              <a:srgbClr val="5F5F5F"/>
            </a:solidFill>
            <a:prstDash val="solid"/>
            <a:miter/>
            <a:headEnd type="none" w="med" len="med"/>
            <a:tailEnd type="none" w="med" len="med"/>
          </a:ln>
        </p:spPr>
      </p:pic>
      <p:pic>
        <p:nvPicPr>
          <p:cNvPr id="39941" name="Object 7"/>
          <p:cNvPicPr>
            <a:picLocks noChangeAspect="1"/>
          </p:cNvPicPr>
          <p:nvPr>
            <p:custDataLst>
              <p:tags r:id="rId11"/>
            </p:custDataLst>
          </p:nvPr>
        </p:nvPicPr>
        <p:blipFill>
          <a:blip r:embed="rId12"/>
          <a:stretch>
            <a:fillRect/>
          </a:stretch>
        </p:blipFill>
        <p:spPr>
          <a:xfrm>
            <a:off x="1487170" y="1536700"/>
            <a:ext cx="2090420" cy="742950"/>
          </a:xfrm>
          <a:prstGeom prst="rect">
            <a:avLst/>
          </a:prstGeom>
          <a:solidFill>
            <a:srgbClr val="FFFFFF"/>
          </a:solidFill>
          <a:ln w="9525">
            <a:noFill/>
          </a:ln>
        </p:spPr>
      </p:pic>
      <p:pic>
        <p:nvPicPr>
          <p:cNvPr id="39948" name="Object 28"/>
          <p:cNvPicPr>
            <a:picLocks noChangeAspect="1"/>
          </p:cNvPicPr>
          <p:nvPr>
            <p:custDataLst>
              <p:tags r:id="rId13"/>
            </p:custDataLst>
          </p:nvPr>
        </p:nvPicPr>
        <p:blipFill>
          <a:blip r:embed="rId14"/>
          <a:stretch>
            <a:fillRect/>
          </a:stretch>
        </p:blipFill>
        <p:spPr>
          <a:xfrm>
            <a:off x="1080770" y="2569845"/>
            <a:ext cx="10167620" cy="2233930"/>
          </a:xfrm>
          <a:prstGeom prst="rect">
            <a:avLst/>
          </a:prstGeom>
          <a:solidFill>
            <a:srgbClr val="DDDDDD"/>
          </a:solidFill>
          <a:ln w="9525" cap="flat" cmpd="sng">
            <a:solidFill>
              <a:srgbClr val="C0C0C0"/>
            </a:solidFill>
            <a:prstDash val="solid"/>
            <a:miter/>
            <a:headEnd type="none" w="med" len="med"/>
            <a:tailEnd type="none" w="med" len="med"/>
          </a:ln>
        </p:spPr>
      </p:pic>
      <p:sp>
        <p:nvSpPr>
          <p:cNvPr id="213006" name="AutoShape 14"/>
          <p:cNvSpPr>
            <a:spLocks noChangeArrowheads="1"/>
          </p:cNvSpPr>
          <p:nvPr>
            <p:custDataLst>
              <p:tags r:id="rId15"/>
            </p:custDataLst>
          </p:nvPr>
        </p:nvSpPr>
        <p:spPr bwMode="auto">
          <a:xfrm>
            <a:off x="5257165" y="6047740"/>
            <a:ext cx="1826260" cy="222250"/>
          </a:xfrm>
          <a:prstGeom prst="leftRightArrow">
            <a:avLst>
              <a:gd name="adj1" fmla="val 50000"/>
              <a:gd name="adj2" fmla="val 51972"/>
            </a:avLst>
          </a:prstGeom>
          <a:solidFill>
            <a:schemeClr val="bg2">
              <a:lumMod val="10000"/>
              <a:lumOff val="90000"/>
            </a:schemeClr>
          </a:solidFill>
          <a:ln w="9525">
            <a:solidFill>
              <a:srgbClr val="003399"/>
            </a:solidFill>
            <a:miter lim="800000"/>
          </a:ln>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华文楷体" panose="02010600040101010101" charset="-122"/>
              <a:ea typeface="华文楷体" panose="02010600040101010101" charset="-122"/>
              <a:cs typeface="+mn-cs"/>
            </a:endParaRPr>
          </a:p>
        </p:txBody>
      </p:sp>
      <p:graphicFrame>
        <p:nvGraphicFramePr>
          <p:cNvPr id="45063" name="Object 20"/>
          <p:cNvGraphicFramePr>
            <a:graphicFrameLocks noChangeAspect="1"/>
          </p:cNvGraphicFramePr>
          <p:nvPr>
            <p:custDataLst>
              <p:tags r:id="rId16"/>
            </p:custDataLst>
          </p:nvPr>
        </p:nvGraphicFramePr>
        <p:xfrm>
          <a:off x="2531110" y="5928360"/>
          <a:ext cx="2533650" cy="563563"/>
        </p:xfrm>
        <a:graphic>
          <a:graphicData uri="http://schemas.openxmlformats.org/presentationml/2006/ole">
            <mc:AlternateContent xmlns:mc="http://schemas.openxmlformats.org/markup-compatibility/2006">
              <mc:Choice xmlns:v="urn:schemas-microsoft-com:vml" Requires="v">
                <p:oleObj spid="_x0000_s3093" name="" r:id="rId17" imgW="965200" imgH="228600" progId="Equation.DSMT4">
                  <p:embed/>
                </p:oleObj>
              </mc:Choice>
              <mc:Fallback>
                <p:oleObj name="" r:id="rId17" imgW="965200" imgH="228600" progId="Equation.DSMT4">
                  <p:embed/>
                  <p:pic>
                    <p:nvPicPr>
                      <p:cNvPr id="0" name="图片 3092"/>
                      <p:cNvPicPr/>
                      <p:nvPr/>
                    </p:nvPicPr>
                    <p:blipFill>
                      <a:blip r:embed="rId18"/>
                      <a:stretch>
                        <a:fillRect/>
                      </a:stretch>
                    </p:blipFill>
                    <p:spPr>
                      <a:xfrm>
                        <a:off x="2531110" y="5928360"/>
                        <a:ext cx="2533650" cy="563563"/>
                      </a:xfrm>
                      <a:prstGeom prst="rect">
                        <a:avLst/>
                      </a:prstGeom>
                      <a:noFill/>
                      <a:ln w="38100">
                        <a:noFill/>
                        <a:miter/>
                      </a:ln>
                    </p:spPr>
                  </p:pic>
                </p:oleObj>
              </mc:Fallback>
            </mc:AlternateContent>
          </a:graphicData>
        </a:graphic>
      </p:graphicFrame>
      <p:sp>
        <p:nvSpPr>
          <p:cNvPr id="9" name="AutoShape 21"/>
          <p:cNvSpPr/>
          <p:nvPr>
            <p:custDataLst>
              <p:tags r:id="rId19"/>
            </p:custDataLst>
          </p:nvPr>
        </p:nvSpPr>
        <p:spPr>
          <a:xfrm>
            <a:off x="7187565" y="5831205"/>
            <a:ext cx="2533650" cy="630238"/>
          </a:xfrm>
          <a:prstGeom prst="flowChartAlternateProcess">
            <a:avLst/>
          </a:prstGeom>
          <a:noFill/>
          <a:ln w="9525" cap="flat" cmpd="sng">
            <a:solidFill>
              <a:srgbClr val="969696"/>
            </a:solidFill>
            <a:prstDash val="solid"/>
            <a:miter/>
            <a:headEnd type="none" w="med" len="med"/>
            <a:tailEnd type="none" w="med" len="med"/>
          </a:ln>
          <a:effectLst>
            <a:prstShdw prst="shdw17" dist="17961" dir="2699999">
              <a:srgbClr val="5A5A5A"/>
            </a:prstShdw>
          </a:effectLst>
        </p:spPr>
        <p:txBody>
          <a:bodyPr wrap="none" anchor="ctr" anchorCtr="0"/>
          <a:p>
            <a:pPr algn="ctr" eaLnBrk="1" hangingPunct="1"/>
            <a:endParaRPr lang="zh-CN" altLang="zh-CN" dirty="0">
              <a:latin typeface="华文楷体" panose="02010600040101010101" charset="-122"/>
              <a:ea typeface="华文楷体" panose="02010600040101010101" charset="-122"/>
            </a:endParaRPr>
          </a:p>
        </p:txBody>
      </p:sp>
      <p:sp>
        <p:nvSpPr>
          <p:cNvPr id="15" name="矩形 14"/>
          <p:cNvSpPr/>
          <p:nvPr>
            <p:custDataLst>
              <p:tags r:id="rId20"/>
            </p:custDataLst>
          </p:nvPr>
        </p:nvSpPr>
        <p:spPr>
          <a:xfrm>
            <a:off x="1775460" y="5085398"/>
            <a:ext cx="4000500" cy="553085"/>
          </a:xfrm>
          <a:prstGeom prst="rect">
            <a:avLst/>
          </a:prstGeom>
          <a:effectLst>
            <a:outerShdw blurRad="50800" dist="38100" dir="5400000" algn="t" rotWithShape="0">
              <a:prstClr val="black">
                <a:alpha val="40000"/>
              </a:prstClr>
            </a:outerShdw>
          </a:effectLst>
        </p:spPr>
        <p:txBody>
          <a:bodyPr>
            <a:spAutoFit/>
          </a:bodyPr>
          <a:p>
            <a:pPr marL="285750" marR="0" lvl="0" indent="-285750" algn="l" defTabSz="914400" rtl="0" eaLnBrk="1" fontAlgn="base" latinLnBrk="0" hangingPunct="1">
              <a:lnSpc>
                <a:spcPts val="3600"/>
              </a:lnSpc>
              <a:spcBef>
                <a:spcPct val="20000"/>
              </a:spcBef>
              <a:spcAft>
                <a:spcPct val="0"/>
              </a:spcAft>
              <a:buClr>
                <a:srgbClr val="0000CC"/>
              </a:buClr>
              <a:buSzPct val="65000"/>
              <a:buFont typeface="Wingdings" panose="05000000000000000000" pitchFamily="2" charset="2"/>
              <a:buChar char="u"/>
              <a:defRPr/>
            </a:pPr>
            <a:r>
              <a:rPr kumimoji="0" lang="zh-CN" altLang="en-US" sz="2400" i="0" u="none" strike="noStrike" kern="0" cap="none" spc="0" normalizeH="0" baseline="0" noProof="0" dirty="0">
                <a:ln>
                  <a:noFill/>
                </a:ln>
                <a:solidFill>
                  <a:srgbClr val="000000"/>
                </a:solidFill>
                <a:effectLst/>
                <a:uLnTx/>
                <a:uFillTx/>
                <a:latin typeface="华文楷体" panose="02010600040101010101" charset="-122"/>
                <a:ea typeface="华文楷体" panose="02010600040101010101" charset="-122"/>
                <a:cs typeface="华文楷体" panose="02010600040101010101" charset="-122"/>
              </a:rPr>
              <a:t>理想恒参信道的冲激响应</a:t>
            </a:r>
            <a:r>
              <a:rPr kumimoji="0" lang="en-US" altLang="zh-CN" sz="3200" i="0" u="none" strike="noStrike" kern="0" cap="none" spc="0" normalizeH="0" baseline="0" noProof="0" dirty="0">
                <a:ln>
                  <a:noFill/>
                </a:ln>
                <a:solidFill>
                  <a:srgbClr val="000000"/>
                </a:solidFill>
                <a:effectLst/>
                <a:uLnTx/>
                <a:uFillTx/>
                <a:latin typeface="华文楷体" panose="02010600040101010101" charset="-122"/>
                <a:ea typeface="华文楷体" panose="02010600040101010101" charset="-122"/>
                <a:cs typeface="华文楷体" panose="02010600040101010101" charset="-122"/>
              </a:rPr>
              <a:t>:</a:t>
            </a:r>
            <a:endParaRPr kumimoji="0" lang="zh-CN" altLang="en-US" sz="3200" i="0" u="none" strike="noStrike" kern="0" cap="none" spc="0" normalizeH="0" baseline="0" noProof="0" dirty="0">
              <a:ln>
                <a:noFill/>
              </a:ln>
              <a:solidFill>
                <a:srgbClr val="000000"/>
              </a:solidFill>
              <a:effectLst/>
              <a:uLnTx/>
              <a:uFillTx/>
              <a:latin typeface="华文楷体" panose="02010600040101010101" charset="-122"/>
              <a:ea typeface="华文楷体" panose="02010600040101010101" charset="-122"/>
              <a:cs typeface="华文楷体" panose="02010600040101010101" charset="-122"/>
            </a:endParaRPr>
          </a:p>
        </p:txBody>
      </p:sp>
      <p:sp>
        <p:nvSpPr>
          <p:cNvPr id="11" name="文本框 10"/>
          <p:cNvSpPr txBox="1"/>
          <p:nvPr>
            <p:custDataLst>
              <p:tags r:id="rId21"/>
            </p:custDataLst>
          </p:nvPr>
        </p:nvSpPr>
        <p:spPr>
          <a:xfrm>
            <a:off x="5518150" y="5596255"/>
            <a:ext cx="1614805" cy="368300"/>
          </a:xfrm>
          <a:prstGeom prst="rect">
            <a:avLst/>
          </a:prstGeom>
          <a:noFill/>
        </p:spPr>
        <p:txBody>
          <a:bodyPr wrap="square" rtlCol="0" anchor="t">
            <a:spAutoFit/>
          </a:bodyPr>
          <a:p>
            <a:r>
              <a:rPr lang="zh-CN" altLang="en-US">
                <a:latin typeface="华文楷体" panose="02010600040101010101" charset="-122"/>
                <a:ea typeface="华文楷体" panose="02010600040101010101" charset="-122"/>
                <a:sym typeface="+mn-ea"/>
              </a:rPr>
              <a:t>傅里叶反变换</a:t>
            </a:r>
            <a:endParaRPr lang="zh-CN" altLang="en-US">
              <a:latin typeface="华文楷体" panose="02010600040101010101" charset="-122"/>
              <a:ea typeface="华文楷体" panose="02010600040101010101" charset="-122"/>
              <a:sym typeface="+mn-ea"/>
            </a:endParaRPr>
          </a:p>
        </p:txBody>
      </p:sp>
      <p:graphicFrame>
        <p:nvGraphicFramePr>
          <p:cNvPr id="18444" name="Object 12"/>
          <p:cNvGraphicFramePr>
            <a:graphicFrameLocks noChangeAspect="1"/>
          </p:cNvGraphicFramePr>
          <p:nvPr>
            <p:custDataLst>
              <p:tags r:id="rId22"/>
            </p:custDataLst>
          </p:nvPr>
        </p:nvGraphicFramePr>
        <p:xfrm>
          <a:off x="7275513" y="5877243"/>
          <a:ext cx="2430462" cy="533400"/>
        </p:xfrm>
        <a:graphic>
          <a:graphicData uri="http://schemas.openxmlformats.org/presentationml/2006/ole">
            <mc:AlternateContent xmlns:mc="http://schemas.openxmlformats.org/markup-compatibility/2006">
              <mc:Choice xmlns:v="urn:schemas-microsoft-com:vml" Requires="v">
                <p:oleObj spid="_x0000_s3089" name="" r:id="rId23" imgW="1040765" imgH="228600" progId="Equation.DSMT4">
                  <p:embed/>
                </p:oleObj>
              </mc:Choice>
              <mc:Fallback>
                <p:oleObj name="" r:id="rId23" imgW="1040765" imgH="228600" progId="Equation.DSMT4">
                  <p:embed/>
                  <p:pic>
                    <p:nvPicPr>
                      <p:cNvPr id="0" name="图片 3088"/>
                      <p:cNvPicPr/>
                      <p:nvPr/>
                    </p:nvPicPr>
                    <p:blipFill>
                      <a:blip r:embed="rId24"/>
                      <a:stretch>
                        <a:fillRect/>
                      </a:stretch>
                    </p:blipFill>
                    <p:spPr>
                      <a:xfrm>
                        <a:off x="7275513" y="5877243"/>
                        <a:ext cx="2430462" cy="5334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608330" y="836930"/>
            <a:ext cx="11272520" cy="775970"/>
          </a:xfrm>
        </p:spPr>
        <p:txBody>
          <a:bodyPr/>
          <a:lstStyle/>
          <a:p>
            <a:r>
              <a:rPr lang="zh-CN" altLang="en-US" b="1">
                <a:cs typeface="华文楷体" panose="02010600040101010101" charset="-122"/>
              </a:rPr>
              <a:t>信道内的噪声</a:t>
            </a:r>
            <a:endParaRPr lang="zh-CN" altLang="en-US" b="1">
              <a:cs typeface="华文楷体" panose="02010600040101010101" charset="-122"/>
            </a:endParaRPr>
          </a:p>
        </p:txBody>
      </p:sp>
      <p:sp>
        <p:nvSpPr>
          <p:cNvPr id="8" name="Rectangle 3"/>
          <p:cNvSpPr>
            <a:spLocks noGrp="1"/>
          </p:cNvSpPr>
          <p:nvPr>
            <p:custDataLst>
              <p:tags r:id="rId3"/>
            </p:custDataLst>
          </p:nvPr>
        </p:nvSpPr>
        <p:spPr>
          <a:xfrm>
            <a:off x="407035" y="2369185"/>
            <a:ext cx="7793990" cy="5524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lvl="1" eaLnBrk="1" hangingPunct="1"/>
            <a:r>
              <a:rPr lang="zh-CN" altLang="en-US" sz="3200" b="1" dirty="0">
                <a:latin typeface="华文楷体" panose="02010600040101010101" charset="-122"/>
                <a:ea typeface="华文楷体" panose="02010600040101010101" charset="-122"/>
              </a:rPr>
              <a:t>加性噪声</a:t>
            </a:r>
            <a:endParaRPr lang="zh-CN" altLang="en-US" sz="3200" b="1" dirty="0">
              <a:latin typeface="华文楷体" panose="02010600040101010101" charset="-122"/>
              <a:ea typeface="华文楷体" panose="02010600040101010101" charset="-122"/>
            </a:endParaRPr>
          </a:p>
        </p:txBody>
      </p:sp>
      <p:sp>
        <p:nvSpPr>
          <p:cNvPr id="4" name="Rectangle 3"/>
          <p:cNvSpPr>
            <a:spLocks noGrp="1"/>
          </p:cNvSpPr>
          <p:nvPr>
            <p:custDataLst>
              <p:tags r:id="rId4"/>
            </p:custDataLst>
          </p:nvPr>
        </p:nvSpPr>
        <p:spPr>
          <a:xfrm>
            <a:off x="1038225" y="3223260"/>
            <a:ext cx="1233170" cy="2593975"/>
          </a:xfrm>
          <a:prstGeom prst="rect">
            <a:avLst/>
          </a:prstGeom>
          <a:noFill/>
          <a:ln w="12700" cmpd="sng">
            <a:solidFill>
              <a:schemeClr val="accent1">
                <a:shade val="50000"/>
              </a:schemeClr>
            </a:solidFill>
            <a:prstDash val="solid"/>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marL="457200" lvl="1" indent="0" eaLnBrk="1" hangingPunct="1">
              <a:buNone/>
            </a:pPr>
            <a:r>
              <a:rPr lang="zh-CN" altLang="en-US" b="1" dirty="0">
                <a:latin typeface="华文楷体" panose="02010600040101010101" charset="-122"/>
                <a:ea typeface="华文楷体" panose="02010600040101010101" charset="-122"/>
              </a:rPr>
              <a:t>按噪声来源</a:t>
            </a:r>
            <a:endParaRPr lang="zh-CN" altLang="en-US" b="1" dirty="0">
              <a:latin typeface="华文楷体" panose="02010600040101010101" charset="-122"/>
              <a:ea typeface="华文楷体" panose="02010600040101010101" charset="-122"/>
            </a:endParaRPr>
          </a:p>
        </p:txBody>
      </p:sp>
      <p:sp>
        <p:nvSpPr>
          <p:cNvPr id="5" name="Rectangle 3"/>
          <p:cNvSpPr>
            <a:spLocks noGrp="1"/>
          </p:cNvSpPr>
          <p:nvPr>
            <p:custDataLst>
              <p:tags r:id="rId5"/>
            </p:custDataLst>
          </p:nvPr>
        </p:nvSpPr>
        <p:spPr>
          <a:xfrm>
            <a:off x="1864995" y="3210560"/>
            <a:ext cx="2438400" cy="5524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lvl="1" eaLnBrk="1" hangingPunct="1">
              <a:buFont typeface="Wingdings" panose="05000000000000000000" charset="0"/>
              <a:buChar char="Ø"/>
            </a:pPr>
            <a:r>
              <a:rPr lang="zh-CN" altLang="en-US" b="1" dirty="0">
                <a:latin typeface="华文楷体" panose="02010600040101010101" charset="-122"/>
                <a:ea typeface="华文楷体" panose="02010600040101010101" charset="-122"/>
              </a:rPr>
              <a:t>人为噪声</a:t>
            </a:r>
            <a:endParaRPr lang="zh-CN" altLang="en-US" b="1" dirty="0">
              <a:latin typeface="华文楷体" panose="02010600040101010101" charset="-122"/>
              <a:ea typeface="华文楷体" panose="02010600040101010101" charset="-122"/>
            </a:endParaRPr>
          </a:p>
        </p:txBody>
      </p:sp>
      <p:sp>
        <p:nvSpPr>
          <p:cNvPr id="6" name="Rectangle 3"/>
          <p:cNvSpPr>
            <a:spLocks noGrp="1"/>
          </p:cNvSpPr>
          <p:nvPr>
            <p:custDataLst>
              <p:tags r:id="rId6"/>
            </p:custDataLst>
          </p:nvPr>
        </p:nvSpPr>
        <p:spPr>
          <a:xfrm>
            <a:off x="1864995" y="3881755"/>
            <a:ext cx="2438400" cy="5524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lvl="1" eaLnBrk="1" hangingPunct="1">
              <a:buFont typeface="Wingdings" panose="05000000000000000000" charset="0"/>
              <a:buChar char="Ø"/>
            </a:pPr>
            <a:r>
              <a:rPr lang="zh-CN" altLang="en-US" b="1" dirty="0">
                <a:latin typeface="华文楷体" panose="02010600040101010101" charset="-122"/>
                <a:ea typeface="华文楷体" panose="02010600040101010101" charset="-122"/>
              </a:rPr>
              <a:t>自然噪声</a:t>
            </a:r>
            <a:endParaRPr lang="zh-CN" altLang="en-US" b="1" dirty="0">
              <a:latin typeface="华文楷体" panose="02010600040101010101" charset="-122"/>
              <a:ea typeface="华文楷体" panose="02010600040101010101" charset="-122"/>
            </a:endParaRPr>
          </a:p>
        </p:txBody>
      </p:sp>
      <p:sp>
        <p:nvSpPr>
          <p:cNvPr id="7" name="Rectangle 3"/>
          <p:cNvSpPr>
            <a:spLocks noGrp="1"/>
          </p:cNvSpPr>
          <p:nvPr>
            <p:custDataLst>
              <p:tags r:id="rId7"/>
            </p:custDataLst>
          </p:nvPr>
        </p:nvSpPr>
        <p:spPr>
          <a:xfrm>
            <a:off x="1810385" y="4605655"/>
            <a:ext cx="3350895" cy="5524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lvl="1" eaLnBrk="1" hangingPunct="1">
              <a:buFont typeface="Wingdings" panose="05000000000000000000" charset="0"/>
              <a:buChar char="Ø"/>
            </a:pPr>
            <a:r>
              <a:rPr lang="zh-CN" altLang="en-US" b="1" dirty="0">
                <a:latin typeface="华文楷体" panose="02010600040101010101" charset="-122"/>
                <a:ea typeface="华文楷体" panose="02010600040101010101" charset="-122"/>
              </a:rPr>
              <a:t>内部噪声（如</a:t>
            </a:r>
            <a:r>
              <a:rPr lang="zh-CN" altLang="en-US" b="1" dirty="0">
                <a:gradFill>
                  <a:gsLst>
                    <a:gs pos="0">
                      <a:srgbClr val="FE4444"/>
                    </a:gs>
                    <a:gs pos="100000">
                      <a:srgbClr val="832B2B"/>
                    </a:gs>
                  </a:gsLst>
                  <a:lin scaled="0"/>
                </a:gradFill>
                <a:latin typeface="华文楷体" panose="02010600040101010101" charset="-122"/>
                <a:ea typeface="华文楷体" panose="02010600040101010101" charset="-122"/>
              </a:rPr>
              <a:t>热噪声</a:t>
            </a:r>
            <a:r>
              <a:rPr lang="zh-CN" altLang="en-US" b="1" dirty="0">
                <a:latin typeface="华文楷体" panose="02010600040101010101" charset="-122"/>
                <a:ea typeface="华文楷体" panose="02010600040101010101" charset="-122"/>
              </a:rPr>
              <a:t>）</a:t>
            </a:r>
            <a:endParaRPr lang="en-US" altLang="zh-CN" b="1" dirty="0">
              <a:latin typeface="华文楷体" panose="02010600040101010101" charset="-122"/>
              <a:ea typeface="华文楷体" panose="02010600040101010101" charset="-122"/>
            </a:endParaRPr>
          </a:p>
        </p:txBody>
      </p:sp>
      <p:sp>
        <p:nvSpPr>
          <p:cNvPr id="9" name="Rectangle 3"/>
          <p:cNvSpPr>
            <a:spLocks noGrp="1"/>
          </p:cNvSpPr>
          <p:nvPr>
            <p:custDataLst>
              <p:tags r:id="rId8"/>
            </p:custDataLst>
          </p:nvPr>
        </p:nvSpPr>
        <p:spPr>
          <a:xfrm>
            <a:off x="4953000" y="3086100"/>
            <a:ext cx="1265182" cy="2593975"/>
          </a:xfrm>
          <a:prstGeom prst="rect">
            <a:avLst/>
          </a:prstGeom>
          <a:noFill/>
          <a:ln w="12700" cmpd="sng">
            <a:solidFill>
              <a:schemeClr val="accent1">
                <a:shade val="50000"/>
              </a:schemeClr>
            </a:solidFill>
            <a:prstDash val="solid"/>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marL="457200" lvl="1" indent="0" eaLnBrk="1" hangingPunct="1">
              <a:buNone/>
            </a:pPr>
            <a:r>
              <a:rPr lang="zh-CN" altLang="en-US" b="1" dirty="0">
                <a:latin typeface="华文楷体" panose="02010600040101010101" charset="-122"/>
                <a:ea typeface="华文楷体" panose="02010600040101010101" charset="-122"/>
              </a:rPr>
              <a:t>按噪声性质</a:t>
            </a:r>
            <a:endParaRPr lang="zh-CN" altLang="en-US" b="1" dirty="0">
              <a:latin typeface="华文楷体" panose="02010600040101010101" charset="-122"/>
              <a:ea typeface="华文楷体" panose="02010600040101010101" charset="-122"/>
            </a:endParaRPr>
          </a:p>
        </p:txBody>
      </p:sp>
      <p:sp>
        <p:nvSpPr>
          <p:cNvPr id="10" name="Rectangle 3"/>
          <p:cNvSpPr>
            <a:spLocks noGrp="1"/>
          </p:cNvSpPr>
          <p:nvPr>
            <p:custDataLst>
              <p:tags r:id="rId9"/>
            </p:custDataLst>
          </p:nvPr>
        </p:nvSpPr>
        <p:spPr>
          <a:xfrm>
            <a:off x="5830570" y="3091180"/>
            <a:ext cx="6050280" cy="5524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lvl="1" eaLnBrk="1" hangingPunct="1">
              <a:buFont typeface="Wingdings" panose="05000000000000000000" charset="0"/>
              <a:buChar char="Ø"/>
            </a:pPr>
            <a:r>
              <a:rPr lang="zh-CN" altLang="en-US" sz="2400" b="1" dirty="0">
                <a:latin typeface="华文楷体" panose="02010600040101010101" charset="-122"/>
                <a:ea typeface="华文楷体" panose="02010600040101010101" charset="-122"/>
              </a:rPr>
              <a:t>脉冲噪声：</a:t>
            </a:r>
            <a:r>
              <a:rPr lang="zh-CN" altLang="en-US" sz="2400">
                <a:latin typeface="华文楷体" panose="02010600040101010101" charset="-122"/>
                <a:ea typeface="华文楷体" panose="02010600040101010101" charset="-122"/>
                <a:sym typeface="+mn-ea"/>
              </a:rPr>
              <a:t>突发性，干扰时间端、幅度大（如</a:t>
            </a:r>
            <a:r>
              <a:rPr lang="zh-CN" altLang="en-US" sz="2400" b="1" dirty="0">
                <a:latin typeface="华文楷体" panose="02010600040101010101" charset="-122"/>
                <a:ea typeface="华文楷体" panose="02010600040101010101" charset="-122"/>
              </a:rPr>
              <a:t>电火花、雷电）</a:t>
            </a:r>
            <a:endParaRPr lang="zh-CN" altLang="en-US" sz="2400" b="1" dirty="0">
              <a:latin typeface="华文楷体" panose="02010600040101010101" charset="-122"/>
              <a:ea typeface="华文楷体" panose="02010600040101010101" charset="-122"/>
            </a:endParaRPr>
          </a:p>
        </p:txBody>
      </p:sp>
      <p:sp>
        <p:nvSpPr>
          <p:cNvPr id="11" name="Rectangle 3"/>
          <p:cNvSpPr>
            <a:spLocks noGrp="1"/>
          </p:cNvSpPr>
          <p:nvPr>
            <p:custDataLst>
              <p:tags r:id="rId10"/>
            </p:custDataLst>
          </p:nvPr>
        </p:nvSpPr>
        <p:spPr>
          <a:xfrm>
            <a:off x="5827395" y="4037330"/>
            <a:ext cx="3414395" cy="5524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lvl="1" eaLnBrk="1" hangingPunct="1">
              <a:buFont typeface="Wingdings" panose="05000000000000000000" charset="0"/>
              <a:buChar char="Ø"/>
            </a:pPr>
            <a:r>
              <a:rPr lang="zh-CN" altLang="en-US" sz="2400" b="1" dirty="0">
                <a:latin typeface="华文楷体" panose="02010600040101010101" charset="-122"/>
                <a:ea typeface="华文楷体" panose="02010600040101010101" charset="-122"/>
                <a:cs typeface="华文楷体" panose="02010600040101010101" charset="-122"/>
              </a:rPr>
              <a:t>窄带</a:t>
            </a:r>
            <a:r>
              <a:rPr lang="en-US" altLang="zh-CN" sz="2400" b="1" dirty="0">
                <a:latin typeface="华文楷体" panose="02010600040101010101" charset="-122"/>
                <a:ea typeface="华文楷体" panose="02010600040101010101" charset="-122"/>
                <a:cs typeface="华文楷体" panose="02010600040101010101" charset="-122"/>
              </a:rPr>
              <a:t>/</a:t>
            </a:r>
            <a:r>
              <a:rPr lang="zh-CN" altLang="zh-CN" sz="2400" b="1" dirty="0">
                <a:latin typeface="华文楷体" panose="02010600040101010101" charset="-122"/>
                <a:ea typeface="华文楷体" panose="02010600040101010101" charset="-122"/>
                <a:cs typeface="华文楷体" panose="02010600040101010101" charset="-122"/>
              </a:rPr>
              <a:t>单频</a:t>
            </a:r>
            <a:r>
              <a:rPr lang="zh-CN" altLang="en-US" sz="2400" b="1" dirty="0">
                <a:latin typeface="华文楷体" panose="02010600040101010101" charset="-122"/>
                <a:ea typeface="华文楷体" panose="02010600040101010101" charset="-122"/>
                <a:cs typeface="华文楷体" panose="02010600040101010101" charset="-122"/>
              </a:rPr>
              <a:t>噪声</a:t>
            </a:r>
            <a:endParaRPr lang="zh-CN" altLang="en-US" sz="2400" b="1" dirty="0">
              <a:latin typeface="华文楷体" panose="02010600040101010101" charset="-122"/>
              <a:ea typeface="华文楷体" panose="02010600040101010101" charset="-122"/>
              <a:cs typeface="华文楷体" panose="02010600040101010101" charset="-122"/>
            </a:endParaRPr>
          </a:p>
        </p:txBody>
      </p:sp>
      <p:sp>
        <p:nvSpPr>
          <p:cNvPr id="12" name="Rectangle 3"/>
          <p:cNvSpPr>
            <a:spLocks noGrp="1"/>
          </p:cNvSpPr>
          <p:nvPr>
            <p:custDataLst>
              <p:tags r:id="rId11"/>
            </p:custDataLst>
          </p:nvPr>
        </p:nvSpPr>
        <p:spPr>
          <a:xfrm>
            <a:off x="5882640" y="4554855"/>
            <a:ext cx="5850255" cy="11449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lvl="1" eaLnBrk="1" hangingPunct="1">
              <a:buFont typeface="Wingdings" panose="05000000000000000000" charset="0"/>
              <a:buChar char="Ø"/>
            </a:pPr>
            <a:r>
              <a:rPr lang="zh-CN" altLang="en-US" sz="2400" b="1" dirty="0">
                <a:latin typeface="华文楷体" panose="02010600040101010101" charset="-122"/>
                <a:ea typeface="华文楷体" panose="02010600040101010101" charset="-122"/>
              </a:rPr>
              <a:t>起伏噪声：连续波随机噪声、始终</a:t>
            </a:r>
            <a:r>
              <a:rPr lang="zh-CN" altLang="en-US" sz="2400" b="1" dirty="0">
                <a:latin typeface="华文楷体" panose="02010600040101010101" charset="-122"/>
                <a:ea typeface="华文楷体" panose="02010600040101010101" charset="-122"/>
              </a:rPr>
              <a:t>存在（如</a:t>
            </a:r>
            <a:r>
              <a:rPr lang="zh-CN" altLang="en-US" sz="2400" b="1" dirty="0">
                <a:gradFill>
                  <a:gsLst>
                    <a:gs pos="0">
                      <a:srgbClr val="FE4444"/>
                    </a:gs>
                    <a:gs pos="100000">
                      <a:srgbClr val="832B2B"/>
                    </a:gs>
                  </a:gsLst>
                  <a:lin scaled="0"/>
                </a:gradFill>
                <a:latin typeface="华文楷体" panose="02010600040101010101" charset="-122"/>
                <a:ea typeface="华文楷体" panose="02010600040101010101" charset="-122"/>
              </a:rPr>
              <a:t>热噪声、</a:t>
            </a:r>
            <a:r>
              <a:rPr lang="zh-CN" altLang="en-US" sz="2400" b="1" dirty="0">
                <a:gradFill>
                  <a:gsLst>
                    <a:gs pos="0">
                      <a:srgbClr val="007BD3"/>
                    </a:gs>
                    <a:gs pos="100000">
                      <a:srgbClr val="034373"/>
                    </a:gs>
                  </a:gsLst>
                  <a:lin scaled="0"/>
                </a:gradFill>
                <a:latin typeface="华文楷体" panose="02010600040101010101" charset="-122"/>
                <a:ea typeface="华文楷体" panose="02010600040101010101" charset="-122"/>
              </a:rPr>
              <a:t>散弹噪声和宇宙噪声</a:t>
            </a:r>
            <a:r>
              <a:rPr lang="zh-CN" altLang="en-US" sz="2400" b="1" dirty="0">
                <a:latin typeface="华文楷体" panose="02010600040101010101" charset="-122"/>
                <a:ea typeface="华文楷体" panose="02010600040101010101" charset="-122"/>
              </a:rPr>
              <a:t>）</a:t>
            </a:r>
            <a:endParaRPr lang="zh-CN" altLang="en-US" sz="2400" b="1" dirty="0">
              <a:latin typeface="华文楷体" panose="02010600040101010101" charset="-122"/>
              <a:ea typeface="华文楷体" panose="02010600040101010101" charset="-122"/>
            </a:endParaRPr>
          </a:p>
        </p:txBody>
      </p:sp>
      <p:sp>
        <p:nvSpPr>
          <p:cNvPr id="14" name="Rectangle 3"/>
          <p:cNvSpPr>
            <a:spLocks noGrp="1"/>
          </p:cNvSpPr>
          <p:nvPr>
            <p:custDataLst>
              <p:tags r:id="rId12"/>
            </p:custDataLst>
          </p:nvPr>
        </p:nvSpPr>
        <p:spPr>
          <a:xfrm>
            <a:off x="407035" y="1478280"/>
            <a:ext cx="7793990" cy="5524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lvl="1" eaLnBrk="1" hangingPunct="1"/>
            <a:r>
              <a:rPr lang="zh-CN" altLang="en-US" sz="3200" b="1" dirty="0">
                <a:latin typeface="华文楷体" panose="02010600040101010101" charset="-122"/>
                <a:ea typeface="华文楷体" panose="02010600040101010101" charset="-122"/>
              </a:rPr>
              <a:t>乘</a:t>
            </a:r>
            <a:r>
              <a:rPr lang="zh-CN" altLang="en-US" sz="3200" b="1" dirty="0">
                <a:latin typeface="华文楷体" panose="02010600040101010101" charset="-122"/>
                <a:ea typeface="华文楷体" panose="02010600040101010101" charset="-122"/>
              </a:rPr>
              <a:t>性噪声</a:t>
            </a:r>
            <a:endParaRPr lang="zh-CN" altLang="en-US" sz="3200" b="1" dirty="0">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407035" y="836930"/>
            <a:ext cx="11567160" cy="864235"/>
          </a:xfrm>
        </p:spPr>
        <p:txBody>
          <a:bodyPr/>
          <a:lstStyle/>
          <a:p>
            <a:r>
              <a:rPr lang="zh-CN" altLang="en-US" sz="3600" b="1">
                <a:latin typeface="华文楷体" panose="02010600040101010101" charset="-122"/>
                <a:ea typeface="华文楷体" panose="02010600040101010101" charset="-122"/>
                <a:cs typeface="华文楷体" panose="02010600040101010101" charset="-122"/>
              </a:rPr>
              <a:t> 信道容量（</a:t>
            </a:r>
            <a:r>
              <a:rPr lang="zh-CN" altLang="en-US" sz="3600" b="1">
                <a:latin typeface="华文楷体" panose="02010600040101010101" charset="-122"/>
                <a:ea typeface="华文楷体" panose="02010600040101010101" charset="-122"/>
                <a:cs typeface="华文楷体" panose="02010600040101010101" charset="-122"/>
                <a:sym typeface="+mn-ea"/>
              </a:rPr>
              <a:t>香农公式</a:t>
            </a:r>
            <a:r>
              <a:rPr lang="zh-CN" altLang="en-US" sz="3600" b="1">
                <a:latin typeface="华文楷体" panose="02010600040101010101" charset="-122"/>
                <a:ea typeface="华文楷体" panose="02010600040101010101" charset="-122"/>
                <a:cs typeface="华文楷体" panose="02010600040101010101" charset="-122"/>
              </a:rPr>
              <a:t>）</a:t>
            </a:r>
            <a:endParaRPr lang="zh-CN" altLang="en-US" sz="3600" b="1">
              <a:latin typeface="华文楷体" panose="02010600040101010101" charset="-122"/>
              <a:ea typeface="华文楷体" panose="02010600040101010101" charset="-122"/>
              <a:cs typeface="华文楷体" panose="02010600040101010101" charset="-122"/>
            </a:endParaRPr>
          </a:p>
          <a:p>
            <a:pPr marL="0" indent="0">
              <a:buNone/>
            </a:pPr>
            <a:r>
              <a:rPr lang="en-US" altLang="zh-CN" sz="2800">
                <a:latin typeface="华文楷体" panose="02010600040101010101" charset="-122"/>
                <a:ea typeface="华文楷体" panose="02010600040101010101" charset="-122"/>
                <a:cs typeface="华文楷体" panose="02010600040101010101" charset="-122"/>
              </a:rPr>
              <a:t>    </a:t>
            </a:r>
            <a:endParaRPr lang="zh-CN" altLang="en-US" sz="2800">
              <a:latin typeface="华文楷体" panose="02010600040101010101" charset="-122"/>
              <a:ea typeface="华文楷体" panose="02010600040101010101" charset="-122"/>
              <a:cs typeface="华文楷体" panose="02010600040101010101" charset="-122"/>
            </a:endParaRPr>
          </a:p>
        </p:txBody>
      </p:sp>
      <p:sp>
        <p:nvSpPr>
          <p:cNvPr id="6" name="Rectangle 3"/>
          <p:cNvSpPr>
            <a:spLocks noGrp="1"/>
          </p:cNvSpPr>
          <p:nvPr>
            <p:custDataLst>
              <p:tags r:id="rId3"/>
            </p:custDataLst>
          </p:nvPr>
        </p:nvSpPr>
        <p:spPr>
          <a:xfrm>
            <a:off x="983615" y="1565275"/>
            <a:ext cx="10930890" cy="19386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9pPr>
          </a:lstStyle>
          <a:p>
            <a:pPr marL="0" lvl="1" algn="l" eaLnBrk="1" hangingPunct="1"/>
            <a:r>
              <a:rPr lang="zh-CN" altLang="en-US" sz="3200" b="1" dirty="0">
                <a:latin typeface="华文楷体" panose="02010600040101010101" charset="-122"/>
                <a:ea typeface="华文楷体" panose="02010600040101010101" charset="-122"/>
                <a:cs typeface="华文楷体" panose="02010600040101010101" charset="-122"/>
                <a:sym typeface="+mn-ea"/>
              </a:rPr>
              <a:t>设调制信道的加性高斯白噪声功率为 N（W），信道的带宽为B（Hz），信号功率为S（W） ，则信道的信道容量为：</a:t>
            </a:r>
            <a:endParaRPr lang="zh-CN" altLang="en-US" sz="3200" b="1" dirty="0">
              <a:latin typeface="华文楷体" panose="02010600040101010101" charset="-122"/>
              <a:ea typeface="华文楷体" panose="02010600040101010101" charset="-122"/>
              <a:cs typeface="华文楷体" panose="02010600040101010101" charset="-122"/>
              <a:sym typeface="+mn-ea"/>
            </a:endParaRPr>
          </a:p>
        </p:txBody>
      </p:sp>
      <p:graphicFrame>
        <p:nvGraphicFramePr>
          <p:cNvPr id="69636" name="Object 4"/>
          <p:cNvGraphicFramePr>
            <a:graphicFrameLocks noChangeAspect="1"/>
          </p:cNvGraphicFramePr>
          <p:nvPr>
            <p:custDataLst>
              <p:tags r:id="rId4"/>
            </p:custDataLst>
          </p:nvPr>
        </p:nvGraphicFramePr>
        <p:xfrm>
          <a:off x="2999105" y="2646045"/>
          <a:ext cx="5556885" cy="1239520"/>
        </p:xfrm>
        <a:graphic>
          <a:graphicData uri="http://schemas.openxmlformats.org/presentationml/2006/ole">
            <mc:AlternateContent xmlns:mc="http://schemas.openxmlformats.org/markup-compatibility/2006">
              <mc:Choice xmlns:v="urn:schemas-microsoft-com:vml" Requires="v">
                <p:oleObj spid="_x0000_s51267" name="" r:id="rId5" imgW="1917065" imgH="431800" progId="Equation.3">
                  <p:embed/>
                </p:oleObj>
              </mc:Choice>
              <mc:Fallback>
                <p:oleObj name="" r:id="rId5" imgW="1917065" imgH="431800" progId="Equation.3">
                  <p:embed/>
                  <p:pic>
                    <p:nvPicPr>
                      <p:cNvPr id="0" name="Object 4"/>
                      <p:cNvPicPr/>
                      <p:nvPr/>
                    </p:nvPicPr>
                    <p:blipFill>
                      <a:blip r:embed="rId6"/>
                      <a:stretch>
                        <a:fillRect/>
                      </a:stretch>
                    </p:blipFill>
                    <p:spPr>
                      <a:xfrm>
                        <a:off x="2999105" y="2646045"/>
                        <a:ext cx="5556885" cy="1239520"/>
                      </a:xfrm>
                      <a:prstGeom prst="rect">
                        <a:avLst/>
                      </a:prstGeom>
                      <a:noFill/>
                      <a:ln w="38100">
                        <a:noFill/>
                        <a:miter/>
                      </a:ln>
                    </p:spPr>
                  </p:pic>
                </p:oleObj>
              </mc:Fallback>
            </mc:AlternateContent>
          </a:graphicData>
        </a:graphic>
      </p:graphicFrame>
      <p:sp>
        <p:nvSpPr>
          <p:cNvPr id="4" name="文本框 3"/>
          <p:cNvSpPr txBox="1"/>
          <p:nvPr>
            <p:custDataLst>
              <p:tags r:id="rId7"/>
            </p:custDataLst>
          </p:nvPr>
        </p:nvSpPr>
        <p:spPr>
          <a:xfrm>
            <a:off x="1270000" y="3851275"/>
            <a:ext cx="6866890" cy="583565"/>
          </a:xfrm>
          <a:prstGeom prst="rect">
            <a:avLst/>
          </a:prstGeom>
          <a:noFill/>
        </p:spPr>
        <p:txBody>
          <a:bodyPr wrap="none" rtlCol="0" anchor="t">
            <a:spAutoFit/>
          </a:bodyPr>
          <a:p>
            <a:r>
              <a:rPr lang="zh-CN" altLang="en-US" sz="3200" b="1" dirty="0">
                <a:latin typeface="华文楷体" panose="02010600040101010101" charset="-122"/>
                <a:ea typeface="华文楷体" panose="02010600040101010101" charset="-122"/>
                <a:cs typeface="华文楷体" panose="02010600040101010101" charset="-122"/>
                <a:sym typeface="+mn-ea"/>
              </a:rPr>
              <a:t>令噪声</a:t>
            </a:r>
            <a:r>
              <a:rPr lang="en-US" altLang="zh-CN" sz="3200" b="1" i="1" dirty="0">
                <a:latin typeface="华文楷体" panose="02010600040101010101" charset="-122"/>
                <a:ea typeface="华文楷体" panose="02010600040101010101" charset="-122"/>
                <a:cs typeface="华文楷体" panose="02010600040101010101" charset="-122"/>
                <a:sym typeface="+mn-ea"/>
              </a:rPr>
              <a:t>n</a:t>
            </a:r>
            <a:r>
              <a:rPr lang="en-US" altLang="zh-CN" sz="3200" b="1" dirty="0">
                <a:latin typeface="华文楷体" panose="02010600040101010101" charset="-122"/>
                <a:ea typeface="华文楷体" panose="02010600040101010101" charset="-122"/>
                <a:cs typeface="华文楷体" panose="02010600040101010101" charset="-122"/>
                <a:sym typeface="+mn-ea"/>
              </a:rPr>
              <a:t>(</a:t>
            </a:r>
            <a:r>
              <a:rPr lang="en-US" altLang="zh-CN" sz="3200" b="1" i="1" dirty="0">
                <a:latin typeface="华文楷体" panose="02010600040101010101" charset="-122"/>
                <a:ea typeface="华文楷体" panose="02010600040101010101" charset="-122"/>
                <a:cs typeface="华文楷体" panose="02010600040101010101" charset="-122"/>
                <a:sym typeface="+mn-ea"/>
              </a:rPr>
              <a:t>t</a:t>
            </a:r>
            <a:r>
              <a:rPr lang="en-US" altLang="zh-CN" sz="3200" b="1" dirty="0">
                <a:latin typeface="华文楷体" panose="02010600040101010101" charset="-122"/>
                <a:ea typeface="华文楷体" panose="02010600040101010101" charset="-122"/>
                <a:cs typeface="华文楷体" panose="02010600040101010101" charset="-122"/>
                <a:sym typeface="+mn-ea"/>
              </a:rPr>
              <a:t>)</a:t>
            </a:r>
            <a:r>
              <a:rPr lang="zh-CN" altLang="en-US" sz="3200" b="1" dirty="0">
                <a:latin typeface="华文楷体" panose="02010600040101010101" charset="-122"/>
                <a:ea typeface="华文楷体" panose="02010600040101010101" charset="-122"/>
                <a:cs typeface="华文楷体" panose="02010600040101010101" charset="-122"/>
                <a:sym typeface="+mn-ea"/>
              </a:rPr>
              <a:t>的单边功率谱密度为</a:t>
            </a:r>
            <a:r>
              <a:rPr lang="en-US" altLang="zh-CN" sz="3200" b="1" i="1" dirty="0">
                <a:latin typeface="华文楷体" panose="02010600040101010101" charset="-122"/>
                <a:ea typeface="华文楷体" panose="02010600040101010101" charset="-122"/>
                <a:cs typeface="华文楷体" panose="02010600040101010101" charset="-122"/>
                <a:sym typeface="+mn-ea"/>
              </a:rPr>
              <a:t>n</a:t>
            </a:r>
            <a:r>
              <a:rPr lang="en-US" altLang="zh-CN" sz="3200" b="1" baseline="-25000" dirty="0">
                <a:latin typeface="华文楷体" panose="02010600040101010101" charset="-122"/>
                <a:ea typeface="华文楷体" panose="02010600040101010101" charset="-122"/>
                <a:cs typeface="华文楷体" panose="02010600040101010101" charset="-122"/>
                <a:sym typeface="+mn-ea"/>
              </a:rPr>
              <a:t>0</a:t>
            </a:r>
            <a:r>
              <a:rPr lang="zh-CN" altLang="en-US" sz="3200" b="1" dirty="0">
                <a:latin typeface="华文楷体" panose="02010600040101010101" charset="-122"/>
                <a:ea typeface="华文楷体" panose="02010600040101010101" charset="-122"/>
                <a:cs typeface="华文楷体" panose="02010600040101010101" charset="-122"/>
                <a:sym typeface="+mn-ea"/>
              </a:rPr>
              <a:t>，则</a:t>
            </a:r>
            <a:endParaRPr lang="zh-CN" altLang="en-US" sz="3200" b="1" dirty="0">
              <a:latin typeface="华文楷体" panose="02010600040101010101" charset="-122"/>
              <a:ea typeface="华文楷体" panose="02010600040101010101" charset="-122"/>
              <a:cs typeface="华文楷体" panose="02010600040101010101" charset="-122"/>
            </a:endParaRPr>
          </a:p>
        </p:txBody>
      </p:sp>
      <p:sp>
        <p:nvSpPr>
          <p:cNvPr id="8" name="文本框 7"/>
          <p:cNvSpPr txBox="1"/>
          <p:nvPr>
            <p:custDataLst>
              <p:tags r:id="rId8"/>
            </p:custDataLst>
          </p:nvPr>
        </p:nvSpPr>
        <p:spPr>
          <a:xfrm>
            <a:off x="8038465" y="3851275"/>
            <a:ext cx="1628140" cy="583565"/>
          </a:xfrm>
          <a:prstGeom prst="rect">
            <a:avLst/>
          </a:prstGeom>
          <a:noFill/>
        </p:spPr>
        <p:txBody>
          <a:bodyPr wrap="none" rtlCol="0" anchor="t">
            <a:spAutoFit/>
          </a:bodyPr>
          <a:p>
            <a:r>
              <a:rPr lang="en-US" altLang="zh-CN" sz="3200" b="1" i="1" dirty="0">
                <a:latin typeface="华文楷体" panose="02010600040101010101" charset="-122"/>
                <a:ea typeface="华文楷体" panose="02010600040101010101" charset="-122"/>
                <a:sym typeface="+mn-ea"/>
              </a:rPr>
              <a:t>N</a:t>
            </a:r>
            <a:r>
              <a:rPr lang="en-US" altLang="zh-CN" sz="3200" b="1" dirty="0">
                <a:latin typeface="华文楷体" panose="02010600040101010101" charset="-122"/>
                <a:ea typeface="华文楷体" panose="02010600040101010101" charset="-122"/>
                <a:sym typeface="+mn-ea"/>
              </a:rPr>
              <a:t> = </a:t>
            </a:r>
            <a:r>
              <a:rPr lang="en-US" altLang="zh-CN" sz="3200" b="1" i="1" dirty="0">
                <a:latin typeface="华文楷体" panose="02010600040101010101" charset="-122"/>
                <a:ea typeface="华文楷体" panose="02010600040101010101" charset="-122"/>
                <a:sym typeface="+mn-ea"/>
              </a:rPr>
              <a:t>n</a:t>
            </a:r>
            <a:r>
              <a:rPr lang="en-US" altLang="zh-CN" sz="3200" b="1" baseline="-25000" dirty="0">
                <a:latin typeface="华文楷体" panose="02010600040101010101" charset="-122"/>
                <a:ea typeface="华文楷体" panose="02010600040101010101" charset="-122"/>
                <a:sym typeface="+mn-ea"/>
              </a:rPr>
              <a:t>0</a:t>
            </a:r>
            <a:r>
              <a:rPr lang="en-US" altLang="zh-CN" sz="3200" b="1" i="1" dirty="0">
                <a:latin typeface="华文楷体" panose="02010600040101010101" charset="-122"/>
                <a:ea typeface="华文楷体" panose="02010600040101010101" charset="-122"/>
                <a:sym typeface="+mn-ea"/>
              </a:rPr>
              <a:t>B</a:t>
            </a:r>
            <a:endParaRPr lang="zh-CN" altLang="en-US" sz="3200" b="1">
              <a:latin typeface="华文楷体" panose="02010600040101010101" charset="-122"/>
              <a:ea typeface="华文楷体" panose="02010600040101010101" charset="-122"/>
            </a:endParaRPr>
          </a:p>
        </p:txBody>
      </p:sp>
      <p:graphicFrame>
        <p:nvGraphicFramePr>
          <p:cNvPr id="9" name="Object 6"/>
          <p:cNvGraphicFramePr>
            <a:graphicFrameLocks noChangeAspect="1"/>
          </p:cNvGraphicFramePr>
          <p:nvPr>
            <p:custDataLst>
              <p:tags r:id="rId9"/>
            </p:custDataLst>
          </p:nvPr>
        </p:nvGraphicFramePr>
        <p:xfrm>
          <a:off x="3074353" y="4443730"/>
          <a:ext cx="5868035" cy="1258570"/>
        </p:xfrm>
        <a:graphic>
          <a:graphicData uri="http://schemas.openxmlformats.org/presentationml/2006/ole">
            <mc:AlternateContent xmlns:mc="http://schemas.openxmlformats.org/markup-compatibility/2006">
              <mc:Choice xmlns:v="urn:schemas-microsoft-com:vml" Requires="v">
                <p:oleObj spid="_x0000_s52486" name="" r:id="rId10" imgW="2044700" imgH="482600" progId="Equation.3">
                  <p:embed/>
                </p:oleObj>
              </mc:Choice>
              <mc:Fallback>
                <p:oleObj name="" r:id="rId10" imgW="2044700" imgH="482600" progId="Equation.3">
                  <p:embed/>
                  <p:pic>
                    <p:nvPicPr>
                      <p:cNvPr id="0" name="Object 6"/>
                      <p:cNvPicPr/>
                      <p:nvPr/>
                    </p:nvPicPr>
                    <p:blipFill>
                      <a:blip r:embed="rId11"/>
                      <a:stretch>
                        <a:fillRect/>
                      </a:stretch>
                    </p:blipFill>
                    <p:spPr>
                      <a:xfrm>
                        <a:off x="3074353" y="4443730"/>
                        <a:ext cx="5868035" cy="125857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graphicFrame>
        <p:nvGraphicFramePr>
          <p:cNvPr id="210951" name="对象 210950"/>
          <p:cNvGraphicFramePr/>
          <p:nvPr>
            <p:custDataLst>
              <p:tags r:id="rId2"/>
            </p:custDataLst>
          </p:nvPr>
        </p:nvGraphicFramePr>
        <p:xfrm>
          <a:off x="911860" y="4364990"/>
          <a:ext cx="10612120" cy="1063625"/>
        </p:xfrm>
        <a:graphic>
          <a:graphicData uri="http://schemas.openxmlformats.org/presentationml/2006/ole">
            <mc:AlternateContent xmlns:mc="http://schemas.openxmlformats.org/markup-compatibility/2006">
              <mc:Choice xmlns:v="urn:schemas-microsoft-com:vml" Requires="v">
                <p:oleObj spid="_x0000_s54339" name="" r:id="rId3" imgW="4800600" imgH="482600" progId="Equation.3">
                  <p:embed/>
                </p:oleObj>
              </mc:Choice>
              <mc:Fallback>
                <p:oleObj name="" r:id="rId3" imgW="4800600" imgH="482600" progId="Equation.3">
                  <p:embed/>
                  <p:pic>
                    <p:nvPicPr>
                      <p:cNvPr id="0" name="对象 210950"/>
                      <p:cNvPicPr/>
                      <p:nvPr/>
                    </p:nvPicPr>
                    <p:blipFill>
                      <a:blip r:embed="rId4"/>
                      <a:stretch>
                        <a:fillRect/>
                      </a:stretch>
                    </p:blipFill>
                    <p:spPr>
                      <a:xfrm>
                        <a:off x="911860" y="4364990"/>
                        <a:ext cx="10612120" cy="1063625"/>
                      </a:xfrm>
                      <a:prstGeom prst="rect">
                        <a:avLst/>
                      </a:prstGeom>
                      <a:noFill/>
                      <a:ln w="38100">
                        <a:solidFill>
                          <a:srgbClr val="0070C0"/>
                        </a:solidFill>
                        <a:miter/>
                      </a:ln>
                    </p:spPr>
                  </p:pic>
                </p:oleObj>
              </mc:Fallback>
            </mc:AlternateContent>
          </a:graphicData>
        </a:graphic>
      </p:graphicFrame>
      <p:graphicFrame>
        <p:nvGraphicFramePr>
          <p:cNvPr id="118789" name="对象 118788"/>
          <p:cNvGraphicFramePr/>
          <p:nvPr>
            <p:custDataLst>
              <p:tags r:id="rId5"/>
            </p:custDataLst>
          </p:nvPr>
        </p:nvGraphicFramePr>
        <p:xfrm>
          <a:off x="843915" y="2000885"/>
          <a:ext cx="5049520" cy="1231900"/>
        </p:xfrm>
        <a:graphic>
          <a:graphicData uri="http://schemas.openxmlformats.org/presentationml/2006/ole">
            <mc:AlternateContent xmlns:mc="http://schemas.openxmlformats.org/markup-compatibility/2006">
              <mc:Choice xmlns:v="urn:schemas-microsoft-com:vml" Requires="v">
                <p:oleObj spid="_x0000_s53380" name="" r:id="rId6" imgW="2082800" imgH="482600" progId="Equation.3">
                  <p:embed/>
                </p:oleObj>
              </mc:Choice>
              <mc:Fallback>
                <p:oleObj name="" r:id="rId6" imgW="2082800" imgH="482600" progId="Equation.3">
                  <p:embed/>
                  <p:pic>
                    <p:nvPicPr>
                      <p:cNvPr id="0" name="对象 118788"/>
                      <p:cNvPicPr/>
                      <p:nvPr/>
                    </p:nvPicPr>
                    <p:blipFill>
                      <a:blip r:embed="rId7"/>
                      <a:stretch>
                        <a:fillRect/>
                      </a:stretch>
                    </p:blipFill>
                    <p:spPr>
                      <a:xfrm>
                        <a:off x="843915" y="2000885"/>
                        <a:ext cx="5049520" cy="1231900"/>
                      </a:xfrm>
                      <a:prstGeom prst="rect">
                        <a:avLst/>
                      </a:prstGeom>
                      <a:noFill/>
                      <a:ln w="38100">
                        <a:solidFill>
                          <a:srgbClr val="0070C0"/>
                        </a:solidFill>
                        <a:miter/>
                      </a:ln>
                    </p:spPr>
                  </p:pic>
                </p:oleObj>
              </mc:Fallback>
            </mc:AlternateContent>
          </a:graphicData>
        </a:graphic>
      </p:graphicFrame>
      <p:graphicFrame>
        <p:nvGraphicFramePr>
          <p:cNvPr id="118798" name="内容占位符 118797"/>
          <p:cNvGraphicFramePr>
            <a:graphicFrameLocks noGrp="1"/>
          </p:cNvGraphicFramePr>
          <p:nvPr>
            <p:ph idx="4294967295"/>
            <p:custDataLst>
              <p:tags r:id="rId8"/>
            </p:custDataLst>
          </p:nvPr>
        </p:nvGraphicFramePr>
        <p:xfrm>
          <a:off x="6456680" y="2016760"/>
          <a:ext cx="4687570" cy="1049655"/>
        </p:xfrm>
        <a:graphic>
          <a:graphicData uri="http://schemas.openxmlformats.org/presentationml/2006/ole">
            <mc:AlternateContent xmlns:mc="http://schemas.openxmlformats.org/markup-compatibility/2006">
              <mc:Choice xmlns:v="urn:schemas-microsoft-com:vml" Requires="v">
                <p:oleObj spid="_x0000_s53381" name="" r:id="rId9" imgW="1981200" imgH="431800" progId="Equation.3">
                  <p:embed/>
                </p:oleObj>
              </mc:Choice>
              <mc:Fallback>
                <p:oleObj name="" r:id="rId9" imgW="1981200" imgH="431800" progId="Equation.3">
                  <p:embed/>
                  <p:pic>
                    <p:nvPicPr>
                      <p:cNvPr id="0" name="内容占位符 118797"/>
                      <p:cNvPicPr/>
                      <p:nvPr/>
                    </p:nvPicPr>
                    <p:blipFill>
                      <a:blip r:embed="rId10"/>
                      <a:stretch>
                        <a:fillRect/>
                      </a:stretch>
                    </p:blipFill>
                    <p:spPr>
                      <a:xfrm>
                        <a:off x="6456680" y="2016760"/>
                        <a:ext cx="4687570" cy="1049655"/>
                      </a:xfrm>
                      <a:prstGeom prst="rect">
                        <a:avLst/>
                      </a:prstGeom>
                      <a:noFill/>
                      <a:ln w="38100">
                        <a:solidFill>
                          <a:srgbClr val="0070C0"/>
                        </a:solid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551180" y="405026"/>
            <a:ext cx="10972800" cy="1143000"/>
          </a:xfrm>
        </p:spPr>
        <p:txBody>
          <a:bodyPr/>
          <a:p>
            <a:r>
              <a:rPr lang="zh-CN" altLang="en-US">
                <a:latin typeface="华文楷体" panose="02010600040101010101" charset="-122"/>
                <a:ea typeface="华文楷体" panose="02010600040101010101" charset="-122"/>
              </a:rPr>
              <a:t>第二章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随机过程</a:t>
            </a:r>
            <a:endParaRPr lang="zh-CN" altLang="en-US">
              <a:latin typeface="华文楷体" panose="02010600040101010101" charset="-122"/>
              <a:ea typeface="华文楷体" panose="02010600040101010101" charset="-122"/>
            </a:endParaRPr>
          </a:p>
        </p:txBody>
      </p:sp>
      <p:sp>
        <p:nvSpPr>
          <p:cNvPr id="4" name="内容占位符 3"/>
          <p:cNvSpPr>
            <a:spLocks noGrp="1"/>
          </p:cNvSpPr>
          <p:nvPr>
            <p:ph idx="1"/>
            <p:custDataLst>
              <p:tags r:id="rId3"/>
            </p:custDataLst>
          </p:nvPr>
        </p:nvSpPr>
        <p:spPr>
          <a:xfrm>
            <a:off x="624205" y="1483995"/>
            <a:ext cx="10972800" cy="4526280"/>
          </a:xfrm>
        </p:spPr>
        <p:txBody>
          <a:bodyPr/>
          <a:p>
            <a:r>
              <a:rPr lang="zh-CN" altLang="en-US" sz="2800">
                <a:latin typeface="华文楷体" panose="02010600040101010101" charset="-122"/>
                <a:ea typeface="华文楷体" panose="02010600040101010101" charset="-122"/>
              </a:rPr>
              <a:t>识记——重要基本概念（随机信号、随机过程、分布函数F、概率密度函数f，随机过程的数学数字特征（数学期望、方差和自相关函数）、平稳、各态历经性、时间平均、空间平均、功率谱密度函数、平稳过程的自相关函数性质、高斯过程定义与重要性质、高斯随机变量定义及其性质、误差函数定义及其性质、理想白噪声定义、高斯白噪声定义、窄带高斯过程定义和数字特性、带限白噪声、窄带高斯噪声）。</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理解——使用数学工具定义和分类随机信号，以及使用傅里叶变换分析随机信号通过线性系统的变化（注：本书所有频谱分析，均为考研内容）。</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判断——判断随机过程是否平稳（若随机过程的数学期望为常数且自相关函数仅与时间间隔有关），2.2.1节例2。</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404391"/>
            <a:ext cx="10972800" cy="1143000"/>
          </a:xfrm>
        </p:spPr>
        <p:txBody>
          <a:bodyPr/>
          <a:p>
            <a:r>
              <a:rPr lang="zh-CN" altLang="en-US">
                <a:latin typeface="华文楷体" panose="02010600040101010101" charset="-122"/>
                <a:ea typeface="华文楷体" panose="02010600040101010101" charset="-122"/>
              </a:rPr>
              <a:t>第二章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随机</a:t>
            </a:r>
            <a:r>
              <a:rPr lang="zh-CN" altLang="en-US">
                <a:latin typeface="华文楷体" panose="02010600040101010101" charset="-122"/>
                <a:ea typeface="华文楷体" panose="02010600040101010101" charset="-122"/>
              </a:rPr>
              <a:t>过程</a:t>
            </a:r>
            <a:endParaRPr lang="zh-CN" altLang="en-US">
              <a:latin typeface="华文楷体" panose="02010600040101010101" charset="-122"/>
              <a:ea typeface="华文楷体" panose="02010600040101010101" charset="-122"/>
            </a:endParaRPr>
          </a:p>
        </p:txBody>
      </p:sp>
      <p:sp>
        <p:nvSpPr>
          <p:cNvPr id="4" name="内容占位符 3"/>
          <p:cNvSpPr>
            <a:spLocks noGrp="1"/>
          </p:cNvSpPr>
          <p:nvPr>
            <p:ph idx="1"/>
            <p:custDataLst>
              <p:tags r:id="rId3"/>
            </p:custDataLst>
          </p:nvPr>
        </p:nvSpPr>
        <p:spPr>
          <a:xfrm>
            <a:off x="624205" y="1627505"/>
            <a:ext cx="10972800" cy="4526280"/>
          </a:xfrm>
        </p:spPr>
        <p:txBody>
          <a:bodyPr/>
          <a:p>
            <a:r>
              <a:rPr lang="zh-CN" altLang="en-US" sz="2800">
                <a:latin typeface="华文楷体" panose="02010600040101010101" charset="-122"/>
                <a:ea typeface="华文楷体" panose="02010600040101010101" charset="-122"/>
              </a:rPr>
              <a:t>判断——判断平稳随机过程是否各态历经性（随机过程的数学期望和自相关函数空间平均等于时间平均），2.2.2节例3。</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推导——平稳随机过程的功率谱密度函数与自相关函数为一对傅里叶变换关系，称为维纳-辛钦定理。若给出功率谱密度函数或者自相关函数，能够推导出另外一个，例4。</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理解——平稳随机过程通过线性时不变系统后输出新的随机过程，掌握二随机过程的数学期望、自相关函数和功率谱密度函数的关系式，比如白噪声通过理想低通滤波器或者理想带通滤波器后以上指标的变化，例5。</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应用——正弦波随机过程加窄带高斯噪声的包络和相位的统计特性应用于数字信号的基带传输和频带传输。</a:t>
            </a:r>
            <a:endParaRPr lang="zh-CN" altLang="en-US" sz="2800">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404391"/>
            <a:ext cx="10972800" cy="1143000"/>
          </a:xfrm>
        </p:spPr>
        <p:txBody>
          <a:bodyPr/>
          <a:p>
            <a:r>
              <a:rPr lang="zh-CN" altLang="en-US">
                <a:latin typeface="华文楷体" panose="02010600040101010101" charset="-122"/>
                <a:ea typeface="华文楷体" panose="02010600040101010101" charset="-122"/>
              </a:rPr>
              <a:t>第二章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随机</a:t>
            </a:r>
            <a:r>
              <a:rPr lang="zh-CN" altLang="en-US">
                <a:latin typeface="华文楷体" panose="02010600040101010101" charset="-122"/>
                <a:ea typeface="华文楷体" panose="02010600040101010101" charset="-122"/>
              </a:rPr>
              <a:t>过程</a:t>
            </a:r>
            <a:endParaRPr lang="zh-CN" altLang="en-US">
              <a:latin typeface="华文楷体" panose="02010600040101010101" charset="-122"/>
              <a:ea typeface="华文楷体" panose="02010600040101010101" charset="-122"/>
            </a:endParaRPr>
          </a:p>
        </p:txBody>
      </p:sp>
      <p:sp>
        <p:nvSpPr>
          <p:cNvPr id="30" name="矩形 29"/>
          <p:cNvSpPr/>
          <p:nvPr>
            <p:custDataLst>
              <p:tags r:id="rId3"/>
            </p:custDataLst>
          </p:nvPr>
        </p:nvSpPr>
        <p:spPr>
          <a:xfrm>
            <a:off x="839470" y="2247900"/>
            <a:ext cx="1318260" cy="420370"/>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随机过程</a:t>
            </a:r>
            <a:endParaRPr lang="en-US" altLang="zh-CN">
              <a:latin typeface="华文楷体" panose="02010600040101010101" charset="-122"/>
              <a:ea typeface="华文楷体" panose="02010600040101010101" charset="-122"/>
            </a:endParaRPr>
          </a:p>
        </p:txBody>
      </p:sp>
      <p:sp>
        <p:nvSpPr>
          <p:cNvPr id="53" name="左大括号 52"/>
          <p:cNvSpPr/>
          <p:nvPr>
            <p:custDataLst>
              <p:tags r:id="rId4"/>
            </p:custDataLst>
          </p:nvPr>
        </p:nvSpPr>
        <p:spPr>
          <a:xfrm>
            <a:off x="2351405" y="1916430"/>
            <a:ext cx="227965" cy="103187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 name="矩形 4"/>
          <p:cNvSpPr/>
          <p:nvPr>
            <p:custDataLst>
              <p:tags r:id="rId5"/>
            </p:custDataLst>
          </p:nvPr>
        </p:nvSpPr>
        <p:spPr>
          <a:xfrm>
            <a:off x="839470" y="3642360"/>
            <a:ext cx="1318260" cy="420370"/>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平稳过程</a:t>
            </a:r>
            <a:endParaRPr lang="zh-CN" altLang="en-US">
              <a:solidFill>
                <a:srgbClr val="C00000"/>
              </a:solidFill>
              <a:latin typeface="华文楷体" panose="02010600040101010101" charset="-122"/>
              <a:ea typeface="华文楷体" panose="02010600040101010101" charset="-122"/>
            </a:endParaRPr>
          </a:p>
        </p:txBody>
      </p:sp>
      <p:sp>
        <p:nvSpPr>
          <p:cNvPr id="7" name="矩形 6"/>
          <p:cNvSpPr/>
          <p:nvPr>
            <p:custDataLst>
              <p:tags r:id="rId6"/>
            </p:custDataLst>
          </p:nvPr>
        </p:nvSpPr>
        <p:spPr>
          <a:xfrm>
            <a:off x="1920240" y="1340485"/>
            <a:ext cx="3275965" cy="42164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（定义、统计特性、</a:t>
            </a:r>
            <a:r>
              <a:rPr lang="zh-CN" altLang="en-US">
                <a:latin typeface="华文楷体" panose="02010600040101010101" charset="-122"/>
                <a:ea typeface="华文楷体" panose="02010600040101010101" charset="-122"/>
              </a:rPr>
              <a:t>数字特征）</a:t>
            </a:r>
            <a:endParaRPr lang="zh-CN" altLang="en-US">
              <a:latin typeface="华文楷体" panose="02010600040101010101" charset="-122"/>
              <a:ea typeface="华文楷体" panose="02010600040101010101" charset="-122"/>
            </a:endParaRPr>
          </a:p>
        </p:txBody>
      </p:sp>
      <p:sp>
        <p:nvSpPr>
          <p:cNvPr id="8" name="矩形 7"/>
          <p:cNvSpPr/>
          <p:nvPr>
            <p:custDataLst>
              <p:tags r:id="rId7"/>
            </p:custDataLst>
          </p:nvPr>
        </p:nvSpPr>
        <p:spPr>
          <a:xfrm>
            <a:off x="2855595" y="1772285"/>
            <a:ext cx="2771775" cy="423545"/>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分布函数、</a:t>
            </a:r>
            <a:r>
              <a:rPr lang="zh-CN" altLang="en-US">
                <a:latin typeface="华文楷体" panose="02010600040101010101" charset="-122"/>
                <a:ea typeface="华文楷体" panose="02010600040101010101" charset="-122"/>
              </a:rPr>
              <a:t>概率密度函数</a:t>
            </a:r>
            <a:endParaRPr lang="zh-CN" altLang="en-US">
              <a:latin typeface="华文楷体" panose="02010600040101010101" charset="-122"/>
              <a:ea typeface="华文楷体" panose="02010600040101010101" charset="-122"/>
            </a:endParaRPr>
          </a:p>
        </p:txBody>
      </p:sp>
      <p:sp>
        <p:nvSpPr>
          <p:cNvPr id="10" name="矩形 9"/>
          <p:cNvSpPr/>
          <p:nvPr>
            <p:custDataLst>
              <p:tags r:id="rId8"/>
            </p:custDataLst>
          </p:nvPr>
        </p:nvSpPr>
        <p:spPr>
          <a:xfrm>
            <a:off x="2855595" y="2635885"/>
            <a:ext cx="7487285" cy="439420"/>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均值、方差、自相关函数、自协方差函数、互相关函数、互协方差</a:t>
            </a:r>
            <a:r>
              <a:rPr lang="zh-CN" altLang="en-US">
                <a:latin typeface="华文楷体" panose="02010600040101010101" charset="-122"/>
                <a:ea typeface="华文楷体" panose="02010600040101010101" charset="-122"/>
              </a:rPr>
              <a:t>函数</a:t>
            </a:r>
            <a:endParaRPr lang="zh-CN" altLang="en-US">
              <a:latin typeface="华文楷体" panose="02010600040101010101" charset="-122"/>
              <a:ea typeface="华文楷体" panose="02010600040101010101" charset="-122"/>
            </a:endParaRPr>
          </a:p>
        </p:txBody>
      </p:sp>
      <p:sp>
        <p:nvSpPr>
          <p:cNvPr id="11" name="矩形 10"/>
          <p:cNvSpPr/>
          <p:nvPr>
            <p:custDataLst>
              <p:tags r:id="rId9"/>
            </p:custDataLst>
          </p:nvPr>
        </p:nvSpPr>
        <p:spPr>
          <a:xfrm>
            <a:off x="1346200" y="3164205"/>
            <a:ext cx="6334125" cy="4235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定义：一维概率密度函数、二维概率密度函数；重要性质</a:t>
            </a:r>
            <a:r>
              <a:rPr lang="zh-CN" altLang="en-US">
                <a:latin typeface="华文楷体" panose="02010600040101010101" charset="-122"/>
                <a:ea typeface="华文楷体" panose="02010600040101010101" charset="-122"/>
              </a:rPr>
              <a:t>）</a:t>
            </a:r>
            <a:endParaRPr lang="zh-CN" altLang="en-US">
              <a:latin typeface="华文楷体" panose="02010600040101010101" charset="-122"/>
              <a:ea typeface="华文楷体" panose="02010600040101010101" charset="-122"/>
            </a:endParaRPr>
          </a:p>
        </p:txBody>
      </p:sp>
      <p:sp>
        <p:nvSpPr>
          <p:cNvPr id="12" name="矩形 11"/>
          <p:cNvSpPr/>
          <p:nvPr>
            <p:custDataLst>
              <p:tags r:id="rId10"/>
            </p:custDataLst>
          </p:nvPr>
        </p:nvSpPr>
        <p:spPr>
          <a:xfrm>
            <a:off x="2499360" y="3662045"/>
            <a:ext cx="1456055" cy="439420"/>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各态历经性</a:t>
            </a:r>
            <a:endParaRPr lang="zh-CN" altLang="en-US">
              <a:solidFill>
                <a:srgbClr val="C00000"/>
              </a:solidFill>
              <a:latin typeface="华文楷体" panose="02010600040101010101" charset="-122"/>
              <a:ea typeface="华文楷体" panose="02010600040101010101" charset="-122"/>
            </a:endParaRPr>
          </a:p>
        </p:txBody>
      </p:sp>
      <p:sp>
        <p:nvSpPr>
          <p:cNvPr id="13" name="矩形 12"/>
          <p:cNvSpPr/>
          <p:nvPr>
            <p:custDataLst>
              <p:tags r:id="rId11"/>
            </p:custDataLst>
          </p:nvPr>
        </p:nvSpPr>
        <p:spPr>
          <a:xfrm>
            <a:off x="4367530" y="3655060"/>
            <a:ext cx="1456055" cy="439420"/>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自相关函数</a:t>
            </a:r>
            <a:endParaRPr lang="zh-CN" altLang="en-US">
              <a:latin typeface="华文楷体" panose="02010600040101010101" charset="-122"/>
              <a:ea typeface="华文楷体" panose="02010600040101010101" charset="-122"/>
            </a:endParaRPr>
          </a:p>
        </p:txBody>
      </p:sp>
      <p:sp>
        <p:nvSpPr>
          <p:cNvPr id="14" name="矩形 13"/>
          <p:cNvSpPr/>
          <p:nvPr>
            <p:custDataLst>
              <p:tags r:id="rId12"/>
            </p:custDataLst>
          </p:nvPr>
        </p:nvSpPr>
        <p:spPr>
          <a:xfrm>
            <a:off x="7962265" y="3642995"/>
            <a:ext cx="1456055" cy="439420"/>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功率谱密度</a:t>
            </a:r>
            <a:endParaRPr lang="zh-CN" altLang="en-US">
              <a:latin typeface="华文楷体" panose="02010600040101010101" charset="-122"/>
              <a:ea typeface="华文楷体" panose="02010600040101010101" charset="-122"/>
            </a:endParaRPr>
          </a:p>
        </p:txBody>
      </p:sp>
      <p:sp>
        <p:nvSpPr>
          <p:cNvPr id="15" name="矩形 14"/>
          <p:cNvSpPr/>
          <p:nvPr>
            <p:custDataLst>
              <p:tags r:id="rId13"/>
            </p:custDataLst>
          </p:nvPr>
        </p:nvSpPr>
        <p:spPr>
          <a:xfrm>
            <a:off x="839470" y="4435475"/>
            <a:ext cx="3688715" cy="4108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平稳过程</a:t>
            </a:r>
            <a:r>
              <a:rPr lang="en-US" altLang="zh-CN">
                <a:latin typeface="华文楷体" panose="02010600040101010101" charset="-122"/>
                <a:ea typeface="华文楷体" panose="02010600040101010101" charset="-122"/>
              </a:rPr>
              <a:t> &amp; </a:t>
            </a:r>
            <a:r>
              <a:rPr lang="zh-CN" altLang="en-US">
                <a:latin typeface="华文楷体" panose="02010600040101010101" charset="-122"/>
                <a:ea typeface="华文楷体" panose="02010600040101010101" charset="-122"/>
              </a:rPr>
              <a:t>线性时不变</a:t>
            </a:r>
            <a:r>
              <a:rPr lang="zh-CN" altLang="en-US">
                <a:latin typeface="华文楷体" panose="02010600040101010101" charset="-122"/>
                <a:ea typeface="华文楷体" panose="02010600040101010101" charset="-122"/>
              </a:rPr>
              <a:t>确定系统</a:t>
            </a:r>
            <a:endParaRPr lang="zh-CN" altLang="en-US">
              <a:latin typeface="华文楷体" panose="02010600040101010101" charset="-122"/>
              <a:ea typeface="华文楷体" panose="02010600040101010101" charset="-122"/>
            </a:endParaRPr>
          </a:p>
        </p:txBody>
      </p:sp>
      <p:sp>
        <p:nvSpPr>
          <p:cNvPr id="16" name="矩形 15"/>
          <p:cNvSpPr/>
          <p:nvPr>
            <p:custDataLst>
              <p:tags r:id="rId14"/>
            </p:custDataLst>
          </p:nvPr>
        </p:nvSpPr>
        <p:spPr>
          <a:xfrm>
            <a:off x="839470" y="5803265"/>
            <a:ext cx="1318260" cy="42037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高斯过程</a:t>
            </a:r>
            <a:endParaRPr lang="zh-CN" altLang="en-US">
              <a:latin typeface="华文楷体" panose="02010600040101010101" charset="-122"/>
              <a:ea typeface="华文楷体" panose="02010600040101010101" charset="-122"/>
            </a:endParaRPr>
          </a:p>
        </p:txBody>
      </p:sp>
      <p:sp>
        <p:nvSpPr>
          <p:cNvPr id="17" name="矩形 16"/>
          <p:cNvSpPr/>
          <p:nvPr>
            <p:custDataLst>
              <p:tags r:id="rId15"/>
            </p:custDataLst>
          </p:nvPr>
        </p:nvSpPr>
        <p:spPr>
          <a:xfrm>
            <a:off x="1199515" y="5180330"/>
            <a:ext cx="2943225" cy="42164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（定义、概率密度函数、</a:t>
            </a:r>
            <a:endParaRPr lang="zh-CN" altLang="en-US">
              <a:latin typeface="华文楷体" panose="02010600040101010101" charset="-122"/>
              <a:ea typeface="华文楷体" panose="02010600040101010101" charset="-122"/>
            </a:endParaRPr>
          </a:p>
          <a:p>
            <a:pPr algn="ctr"/>
            <a:r>
              <a:rPr lang="zh-CN" altLang="en-US">
                <a:latin typeface="华文楷体" panose="02010600040101010101" charset="-122"/>
                <a:ea typeface="华文楷体" panose="02010600040101010101" charset="-122"/>
              </a:rPr>
              <a:t>正态分布</a:t>
            </a:r>
            <a:r>
              <a:rPr lang="zh-CN" altLang="en-US">
                <a:latin typeface="华文楷体" panose="02010600040101010101" charset="-122"/>
                <a:ea typeface="华文楷体" panose="02010600040101010101" charset="-122"/>
              </a:rPr>
              <a:t>函数）</a:t>
            </a:r>
            <a:endParaRPr lang="zh-CN" altLang="en-US">
              <a:latin typeface="华文楷体" panose="02010600040101010101" charset="-122"/>
              <a:ea typeface="华文楷体" panose="02010600040101010101" charset="-122"/>
            </a:endParaRPr>
          </a:p>
        </p:txBody>
      </p:sp>
      <p:sp>
        <p:nvSpPr>
          <p:cNvPr id="18" name="矩形 17"/>
          <p:cNvSpPr/>
          <p:nvPr>
            <p:custDataLst>
              <p:tags r:id="rId16"/>
            </p:custDataLst>
          </p:nvPr>
        </p:nvSpPr>
        <p:spPr>
          <a:xfrm>
            <a:off x="2687320" y="5813425"/>
            <a:ext cx="1837055" cy="410845"/>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理想高斯白噪声</a:t>
            </a:r>
            <a:endParaRPr lang="zh-CN" altLang="en-US">
              <a:solidFill>
                <a:srgbClr val="C00000"/>
              </a:solidFill>
              <a:latin typeface="华文楷体" panose="02010600040101010101" charset="-122"/>
              <a:ea typeface="华文楷体" panose="02010600040101010101" charset="-122"/>
            </a:endParaRPr>
          </a:p>
        </p:txBody>
      </p:sp>
      <p:sp>
        <p:nvSpPr>
          <p:cNvPr id="19" name="矩形 18"/>
          <p:cNvSpPr/>
          <p:nvPr>
            <p:custDataLst>
              <p:tags r:id="rId17"/>
            </p:custDataLst>
          </p:nvPr>
        </p:nvSpPr>
        <p:spPr>
          <a:xfrm>
            <a:off x="5062855" y="5813425"/>
            <a:ext cx="1558925" cy="410845"/>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窄带高斯过程</a:t>
            </a:r>
            <a:endParaRPr lang="zh-CN" altLang="en-US">
              <a:solidFill>
                <a:srgbClr val="C00000"/>
              </a:solidFill>
              <a:latin typeface="华文楷体" panose="02010600040101010101" charset="-122"/>
              <a:ea typeface="华文楷体" panose="02010600040101010101" charset="-122"/>
            </a:endParaRPr>
          </a:p>
        </p:txBody>
      </p:sp>
      <p:sp>
        <p:nvSpPr>
          <p:cNvPr id="21" name="矩形 20"/>
          <p:cNvSpPr/>
          <p:nvPr>
            <p:custDataLst>
              <p:tags r:id="rId18"/>
            </p:custDataLst>
          </p:nvPr>
        </p:nvSpPr>
        <p:spPr>
          <a:xfrm>
            <a:off x="7331710" y="5784215"/>
            <a:ext cx="3689985" cy="439420"/>
          </a:xfrm>
          <a:prstGeom prst="rect">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正弦波随机过程</a:t>
            </a:r>
            <a:r>
              <a:rPr lang="en-US" altLang="zh-CN">
                <a:latin typeface="华文楷体" panose="02010600040101010101" charset="-122"/>
                <a:ea typeface="华文楷体" panose="02010600040101010101" charset="-122"/>
              </a:rPr>
              <a:t> &amp; </a:t>
            </a:r>
            <a:r>
              <a:rPr lang="zh-CN" altLang="en-US">
                <a:latin typeface="华文楷体" panose="02010600040101010101" charset="-122"/>
                <a:ea typeface="华文楷体" panose="02010600040101010101" charset="-122"/>
              </a:rPr>
              <a:t>窄带</a:t>
            </a:r>
            <a:r>
              <a:rPr lang="zh-CN" altLang="en-US">
                <a:latin typeface="华文楷体" panose="02010600040101010101" charset="-122"/>
                <a:ea typeface="华文楷体" panose="02010600040101010101" charset="-122"/>
              </a:rPr>
              <a:t>高斯噪声</a:t>
            </a:r>
            <a:endParaRPr lang="zh-CN" altLang="en-US">
              <a:latin typeface="华文楷体" panose="02010600040101010101" charset="-122"/>
              <a:ea typeface="华文楷体" panose="02010600040101010101" charset="-122"/>
            </a:endParaRPr>
          </a:p>
        </p:txBody>
      </p:sp>
      <p:cxnSp>
        <p:nvCxnSpPr>
          <p:cNvPr id="22" name="直接箭头连接符 21"/>
          <p:cNvCxnSpPr>
            <a:stCxn id="12" idx="3"/>
            <a:endCxn id="13" idx="1"/>
          </p:cNvCxnSpPr>
          <p:nvPr>
            <p:custDataLst>
              <p:tags r:id="rId19"/>
            </p:custDataLst>
          </p:nvPr>
        </p:nvCxnSpPr>
        <p:spPr>
          <a:xfrm flipV="1">
            <a:off x="3955415" y="3874770"/>
            <a:ext cx="412115" cy="69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a:endCxn id="16" idx="0"/>
          </p:cNvCxnSpPr>
          <p:nvPr>
            <p:custDataLst>
              <p:tags r:id="rId20"/>
            </p:custDataLst>
          </p:nvPr>
        </p:nvCxnSpPr>
        <p:spPr>
          <a:xfrm>
            <a:off x="1487805" y="4869180"/>
            <a:ext cx="10795" cy="9340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5" name="直接箭头连接符 24"/>
          <p:cNvCxnSpPr>
            <a:stCxn id="5" idx="2"/>
          </p:cNvCxnSpPr>
          <p:nvPr>
            <p:custDataLst>
              <p:tags r:id="rId21"/>
            </p:custDataLst>
          </p:nvPr>
        </p:nvCxnSpPr>
        <p:spPr>
          <a:xfrm flipH="1">
            <a:off x="1487170" y="4062730"/>
            <a:ext cx="11430" cy="3740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a:stCxn id="16" idx="3"/>
            <a:endCxn id="18" idx="1"/>
          </p:cNvCxnSpPr>
          <p:nvPr>
            <p:custDataLst>
              <p:tags r:id="rId22"/>
            </p:custDataLst>
          </p:nvPr>
        </p:nvCxnSpPr>
        <p:spPr>
          <a:xfrm>
            <a:off x="2157730" y="6013450"/>
            <a:ext cx="529590"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直接箭头连接符 26"/>
          <p:cNvCxnSpPr>
            <a:stCxn id="18" idx="3"/>
            <a:endCxn id="19" idx="1"/>
          </p:cNvCxnSpPr>
          <p:nvPr>
            <p:custDataLst>
              <p:tags r:id="rId23"/>
            </p:custDataLst>
          </p:nvPr>
        </p:nvCxnSpPr>
        <p:spPr>
          <a:xfrm>
            <a:off x="4524375" y="6019165"/>
            <a:ext cx="53848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直接箭头连接符 27"/>
          <p:cNvCxnSpPr>
            <a:stCxn id="19" idx="3"/>
            <a:endCxn id="21" idx="1"/>
          </p:cNvCxnSpPr>
          <p:nvPr>
            <p:custDataLst>
              <p:tags r:id="rId24"/>
            </p:custDataLst>
          </p:nvPr>
        </p:nvCxnSpPr>
        <p:spPr>
          <a:xfrm flipV="1">
            <a:off x="6621780" y="6003925"/>
            <a:ext cx="709930" cy="152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9" name="矩形 28"/>
          <p:cNvSpPr/>
          <p:nvPr>
            <p:custDataLst>
              <p:tags r:id="rId25"/>
            </p:custDataLst>
          </p:nvPr>
        </p:nvSpPr>
        <p:spPr>
          <a:xfrm>
            <a:off x="2902585" y="2318385"/>
            <a:ext cx="1558925" cy="42164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7030A0"/>
                </a:solidFill>
                <a:latin typeface="华文楷体" panose="02010600040101010101" charset="-122"/>
                <a:ea typeface="华文楷体" panose="02010600040101010101" charset="-122"/>
              </a:rPr>
              <a:t>单随机过程、孤立时刻</a:t>
            </a:r>
            <a:endParaRPr lang="zh-CN" altLang="en-US">
              <a:solidFill>
                <a:srgbClr val="7030A0"/>
              </a:solidFill>
              <a:latin typeface="华文楷体" panose="02010600040101010101" charset="-122"/>
              <a:ea typeface="华文楷体" panose="02010600040101010101" charset="-122"/>
            </a:endParaRPr>
          </a:p>
        </p:txBody>
      </p:sp>
      <p:sp>
        <p:nvSpPr>
          <p:cNvPr id="31" name="矩形 30"/>
          <p:cNvSpPr/>
          <p:nvPr>
            <p:custDataLst>
              <p:tags r:id="rId26"/>
            </p:custDataLst>
          </p:nvPr>
        </p:nvSpPr>
        <p:spPr>
          <a:xfrm>
            <a:off x="4584700" y="2246630"/>
            <a:ext cx="2522855" cy="42164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7030A0"/>
                </a:solidFill>
                <a:latin typeface="华文楷体" panose="02010600040101010101" charset="-122"/>
                <a:ea typeface="华文楷体" panose="02010600040101010101" charset="-122"/>
                <a:sym typeface="+mn-ea"/>
              </a:rPr>
              <a:t>单随机过程、</a:t>
            </a:r>
            <a:r>
              <a:rPr lang="zh-CN" altLang="en-US">
                <a:solidFill>
                  <a:srgbClr val="7030A0"/>
                </a:solidFill>
                <a:latin typeface="华文楷体" panose="02010600040101010101" charset="-122"/>
                <a:ea typeface="华文楷体" panose="02010600040101010101" charset="-122"/>
              </a:rPr>
              <a:t>多个时刻</a:t>
            </a:r>
            <a:endParaRPr lang="zh-CN" altLang="en-US">
              <a:solidFill>
                <a:srgbClr val="7030A0"/>
              </a:solidFill>
              <a:latin typeface="华文楷体" panose="02010600040101010101" charset="-122"/>
              <a:ea typeface="华文楷体" panose="02010600040101010101" charset="-122"/>
            </a:endParaRPr>
          </a:p>
        </p:txBody>
      </p:sp>
      <p:sp>
        <p:nvSpPr>
          <p:cNvPr id="32" name="矩形 31"/>
          <p:cNvSpPr/>
          <p:nvPr>
            <p:custDataLst>
              <p:tags r:id="rId27"/>
            </p:custDataLst>
          </p:nvPr>
        </p:nvSpPr>
        <p:spPr>
          <a:xfrm>
            <a:off x="7484745" y="2276475"/>
            <a:ext cx="2522855" cy="42164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7030A0"/>
                </a:solidFill>
                <a:latin typeface="华文楷体" panose="02010600040101010101" charset="-122"/>
                <a:ea typeface="华文楷体" panose="02010600040101010101" charset="-122"/>
                <a:sym typeface="+mn-ea"/>
              </a:rPr>
              <a:t>多随机过程、</a:t>
            </a:r>
            <a:r>
              <a:rPr lang="zh-CN" altLang="en-US">
                <a:solidFill>
                  <a:srgbClr val="7030A0"/>
                </a:solidFill>
                <a:latin typeface="华文楷体" panose="02010600040101010101" charset="-122"/>
                <a:ea typeface="华文楷体" panose="02010600040101010101" charset="-122"/>
              </a:rPr>
              <a:t>多个时刻</a:t>
            </a:r>
            <a:endParaRPr lang="zh-CN" altLang="en-US">
              <a:solidFill>
                <a:srgbClr val="7030A0"/>
              </a:solidFill>
              <a:latin typeface="华文楷体" panose="02010600040101010101" charset="-122"/>
              <a:ea typeface="华文楷体" panose="02010600040101010101" charset="-122"/>
            </a:endParaRPr>
          </a:p>
        </p:txBody>
      </p:sp>
      <p:cxnSp>
        <p:nvCxnSpPr>
          <p:cNvPr id="6" name="直接箭头连接符 5"/>
          <p:cNvCxnSpPr>
            <a:stCxn id="30" idx="2"/>
            <a:endCxn id="5" idx="0"/>
          </p:cNvCxnSpPr>
          <p:nvPr>
            <p:custDataLst>
              <p:tags r:id="rId28"/>
            </p:custDataLst>
          </p:nvPr>
        </p:nvCxnSpPr>
        <p:spPr>
          <a:xfrm>
            <a:off x="1498600" y="2668270"/>
            <a:ext cx="0" cy="9740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a:stCxn id="13" idx="3"/>
            <a:endCxn id="14" idx="1"/>
          </p:cNvCxnSpPr>
          <p:nvPr>
            <p:custDataLst>
              <p:tags r:id="rId29"/>
            </p:custDataLst>
          </p:nvPr>
        </p:nvCxnSpPr>
        <p:spPr>
          <a:xfrm flipV="1">
            <a:off x="5823585" y="3862705"/>
            <a:ext cx="2138680" cy="1206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20" name="矩形 19"/>
          <p:cNvSpPr/>
          <p:nvPr>
            <p:custDataLst>
              <p:tags r:id="rId30"/>
            </p:custDataLst>
          </p:nvPr>
        </p:nvSpPr>
        <p:spPr>
          <a:xfrm>
            <a:off x="2157730" y="6308090"/>
            <a:ext cx="2943225" cy="42164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功率谱密度、自相关函数、概率密度函数</a:t>
            </a:r>
            <a:r>
              <a:rPr lang="zh-CN" altLang="en-US">
                <a:latin typeface="华文楷体" panose="02010600040101010101" charset="-122"/>
                <a:ea typeface="华文楷体" panose="02010600040101010101" charset="-122"/>
              </a:rPr>
              <a:t>）</a:t>
            </a:r>
            <a:endParaRPr lang="zh-CN" altLang="en-US">
              <a:latin typeface="华文楷体" panose="02010600040101010101" charset="-122"/>
              <a:ea typeface="华文楷体" panose="02010600040101010101" charset="-122"/>
            </a:endParaRPr>
          </a:p>
        </p:txBody>
      </p:sp>
      <p:sp>
        <p:nvSpPr>
          <p:cNvPr id="23" name="矩形 22"/>
          <p:cNvSpPr/>
          <p:nvPr>
            <p:custDataLst>
              <p:tags r:id="rId31"/>
            </p:custDataLst>
          </p:nvPr>
        </p:nvSpPr>
        <p:spPr>
          <a:xfrm>
            <a:off x="5062855" y="5288280"/>
            <a:ext cx="2157730" cy="42164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定义、数字特征：包络、相位</a:t>
            </a:r>
            <a:r>
              <a:rPr lang="zh-CN" altLang="en-US">
                <a:latin typeface="华文楷体" panose="02010600040101010101" charset="-122"/>
                <a:ea typeface="华文楷体" panose="02010600040101010101" charset="-122"/>
              </a:rPr>
              <a:t>）</a:t>
            </a:r>
            <a:endParaRPr lang="zh-CN" altLang="en-US">
              <a:latin typeface="华文楷体" panose="02010600040101010101" charset="-122"/>
              <a:ea typeface="华文楷体" panose="02010600040101010101" charset="-122"/>
            </a:endParaRPr>
          </a:p>
        </p:txBody>
      </p:sp>
      <p:sp>
        <p:nvSpPr>
          <p:cNvPr id="33" name="矩形 32"/>
          <p:cNvSpPr/>
          <p:nvPr>
            <p:custDataLst>
              <p:tags r:id="rId32"/>
            </p:custDataLst>
          </p:nvPr>
        </p:nvSpPr>
        <p:spPr>
          <a:xfrm>
            <a:off x="5950585" y="3877310"/>
            <a:ext cx="2109470" cy="42164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维纳</a:t>
            </a:r>
            <a:r>
              <a:rPr lang="en-US" altLang="zh-CN">
                <a:solidFill>
                  <a:srgbClr val="C00000"/>
                </a:solidFill>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辛钦定理</a:t>
            </a:r>
            <a:r>
              <a:rPr lang="zh-CN" altLang="en-US">
                <a:latin typeface="华文楷体" panose="02010600040101010101" charset="-122"/>
                <a:ea typeface="华文楷体" panose="02010600040101010101" charset="-122"/>
              </a:rPr>
              <a:t>）</a:t>
            </a:r>
            <a:endParaRPr lang="zh-CN" altLang="en-US">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9223" name="Object 15"/>
          <p:cNvPicPr>
            <a:picLocks noChangeAspect="1"/>
          </p:cNvPicPr>
          <p:nvPr>
            <p:custDataLst>
              <p:tags r:id="rId2"/>
            </p:custDataLst>
          </p:nvPr>
        </p:nvPicPr>
        <p:blipFill>
          <a:blip r:embed="rId3"/>
          <a:stretch>
            <a:fillRect/>
          </a:stretch>
        </p:blipFill>
        <p:spPr>
          <a:xfrm>
            <a:off x="4079875" y="1268730"/>
            <a:ext cx="3289300" cy="586105"/>
          </a:xfrm>
          <a:prstGeom prst="rect">
            <a:avLst/>
          </a:prstGeom>
          <a:solidFill>
            <a:srgbClr val="BBE0E3"/>
          </a:solidFill>
          <a:ln w="9525" cap="flat" cmpd="sng">
            <a:solidFill>
              <a:srgbClr val="000000"/>
            </a:solidFill>
            <a:prstDash val="solid"/>
            <a:miter/>
            <a:headEnd type="none" w="med" len="med"/>
            <a:tailEnd type="none" w="med" len="med"/>
          </a:ln>
        </p:spPr>
      </p:pic>
      <p:pic>
        <p:nvPicPr>
          <p:cNvPr id="9224" name="Object 16"/>
          <p:cNvPicPr>
            <a:picLocks noChangeAspect="1"/>
          </p:cNvPicPr>
          <p:nvPr>
            <p:custDataLst>
              <p:tags r:id="rId4"/>
            </p:custDataLst>
          </p:nvPr>
        </p:nvPicPr>
        <p:blipFill>
          <a:blip r:embed="rId5"/>
          <a:stretch>
            <a:fillRect/>
          </a:stretch>
        </p:blipFill>
        <p:spPr>
          <a:xfrm>
            <a:off x="2645410" y="2677795"/>
            <a:ext cx="3609975" cy="933450"/>
          </a:xfrm>
          <a:prstGeom prst="rect">
            <a:avLst/>
          </a:prstGeom>
          <a:solidFill>
            <a:srgbClr val="BBE0E3"/>
          </a:solidFill>
          <a:ln w="9525" cap="flat" cmpd="sng">
            <a:solidFill>
              <a:srgbClr val="000000"/>
            </a:solidFill>
            <a:prstDash val="solid"/>
            <a:miter/>
            <a:headEnd type="none" w="med" len="med"/>
            <a:tailEnd type="none" w="med" len="med"/>
          </a:ln>
        </p:spPr>
      </p:pic>
      <p:pic>
        <p:nvPicPr>
          <p:cNvPr id="9225" name="Object 17"/>
          <p:cNvPicPr>
            <a:picLocks noChangeAspect="1"/>
          </p:cNvPicPr>
          <p:nvPr>
            <p:custDataLst>
              <p:tags r:id="rId6"/>
            </p:custDataLst>
          </p:nvPr>
        </p:nvPicPr>
        <p:blipFill>
          <a:blip r:embed="rId7"/>
          <a:stretch>
            <a:fillRect/>
          </a:stretch>
        </p:blipFill>
        <p:spPr>
          <a:xfrm>
            <a:off x="9048115" y="3068955"/>
            <a:ext cx="1803400" cy="385445"/>
          </a:xfrm>
          <a:prstGeom prst="rect">
            <a:avLst/>
          </a:prstGeom>
          <a:solidFill>
            <a:srgbClr val="BBE0E3"/>
          </a:solidFill>
          <a:ln w="38100" cap="flat" cmpd="sng">
            <a:solidFill>
              <a:srgbClr val="6666FF"/>
            </a:solidFill>
            <a:prstDash val="solid"/>
            <a:miter/>
            <a:headEnd type="none" w="med" len="med"/>
            <a:tailEnd type="none" w="med" len="med"/>
          </a:ln>
        </p:spPr>
      </p:pic>
      <p:sp>
        <p:nvSpPr>
          <p:cNvPr id="9227" name="矩形 15"/>
          <p:cNvSpPr/>
          <p:nvPr>
            <p:custDataLst>
              <p:tags r:id="rId8"/>
            </p:custDataLst>
          </p:nvPr>
        </p:nvSpPr>
        <p:spPr>
          <a:xfrm>
            <a:off x="2645410" y="1384300"/>
            <a:ext cx="1312545" cy="36830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en-US" altLang="zh-CN" sz="1800" dirty="0">
                <a:solidFill>
                  <a:srgbClr val="00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a:t>
            </a:r>
            <a:r>
              <a:rPr lang="zh-CN" altLang="en-US" sz="1800" dirty="0">
                <a:solidFill>
                  <a:srgbClr val="00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摆动中心</a:t>
            </a:r>
            <a:endParaRPr lang="zh-CN" altLang="en-US" sz="1800" dirty="0">
              <a:solidFill>
                <a:srgbClr val="00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endParaRPr>
          </a:p>
        </p:txBody>
      </p:sp>
      <p:sp>
        <p:nvSpPr>
          <p:cNvPr id="9228" name="矩形 44"/>
          <p:cNvSpPr/>
          <p:nvPr>
            <p:custDataLst>
              <p:tags r:id="rId9"/>
            </p:custDataLst>
          </p:nvPr>
        </p:nvSpPr>
        <p:spPr>
          <a:xfrm>
            <a:off x="911225" y="2132648"/>
            <a:ext cx="1357313" cy="36830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90000"/>
              </a:lnSpc>
              <a:spcBef>
                <a:spcPct val="0"/>
              </a:spcBef>
              <a:spcAft>
                <a:spcPct val="35000"/>
              </a:spcAft>
              <a:buClr>
                <a:srgbClr val="FF0000"/>
              </a:buClr>
              <a:buSzPct val="70000"/>
              <a:buFont typeface="Wingdings" panose="05000000000000000000" pitchFamily="2" charset="2"/>
              <a:buChar char="n"/>
            </a:pP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黑体" panose="02010609060101010101" pitchFamily="49" charset="-122"/>
              </a:rPr>
              <a:t> 方差</a:t>
            </a:r>
            <a:endPar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黑体" panose="02010609060101010101" pitchFamily="49" charset="-122"/>
            </a:endParaRPr>
          </a:p>
        </p:txBody>
      </p:sp>
      <p:sp>
        <p:nvSpPr>
          <p:cNvPr id="9229" name="矩形 17"/>
          <p:cNvSpPr/>
          <p:nvPr>
            <p:custDataLst>
              <p:tags r:id="rId10"/>
            </p:custDataLst>
          </p:nvPr>
        </p:nvSpPr>
        <p:spPr>
          <a:xfrm>
            <a:off x="2062798" y="2132648"/>
            <a:ext cx="5198745" cy="36830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l" defTabSz="914400">
              <a:spcBef>
                <a:spcPct val="0"/>
              </a:spcBef>
              <a:buNone/>
            </a:pPr>
            <a:r>
              <a:rPr lang="en-US" altLang="zh-CN" sz="1800" dirty="0">
                <a:solidFill>
                  <a:srgbClr val="00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a:t>
            </a:r>
            <a:r>
              <a:rPr lang="zh-CN" altLang="en-US" sz="1800" dirty="0">
                <a:solidFill>
                  <a:srgbClr val="00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偏离程度、</a:t>
            </a:r>
            <a:r>
              <a:rPr lang="zh-CN" altLang="en-US" sz="1800" dirty="0">
                <a:solidFill>
                  <a:srgbClr val="000099"/>
                </a:solidFill>
                <a:latin typeface="华文楷体" panose="02010600040101010101" charset="-122"/>
                <a:ea typeface="华文楷体" panose="02010600040101010101" charset="-122"/>
                <a:cs typeface="华文楷体" panose="02010600040101010101" charset="-122"/>
                <a:sym typeface="+mn-ea"/>
              </a:rPr>
              <a:t>描述随机过程在各个孤立时刻的特征</a:t>
            </a:r>
            <a:endParaRPr lang="zh-CN" altLang="en-US" sz="1800" dirty="0">
              <a:solidFill>
                <a:srgbClr val="000099"/>
              </a:solidFill>
              <a:latin typeface="华文楷体" panose="02010600040101010101" charset="-122"/>
              <a:ea typeface="华文楷体" panose="02010600040101010101" charset="-122"/>
              <a:cs typeface="华文楷体" panose="02010600040101010101" charset="-122"/>
              <a:sym typeface="+mn-ea"/>
            </a:endParaRPr>
          </a:p>
        </p:txBody>
      </p:sp>
      <p:sp>
        <p:nvSpPr>
          <p:cNvPr id="9230" name="矩形 18"/>
          <p:cNvSpPr/>
          <p:nvPr>
            <p:custDataLst>
              <p:tags r:id="rId11"/>
            </p:custDataLst>
          </p:nvPr>
        </p:nvSpPr>
        <p:spPr>
          <a:xfrm>
            <a:off x="7047548" y="2640013"/>
            <a:ext cx="1625600" cy="39878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rPr>
              <a:t>当</a:t>
            </a:r>
            <a:r>
              <a:rPr lang="en-US" altLang="zh-CN" sz="2000" i="1"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a:t>
            </a:r>
            <a:r>
              <a:rPr lang="en-US" altLang="zh-CN" sz="20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(t)=0</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rPr>
              <a:t>时： </a:t>
            </a:r>
            <a:endParaRPr lang="zh-CN" altLang="en-US" sz="2000" b="1" dirty="0">
              <a:solidFill>
                <a:srgbClr val="000000"/>
              </a:solidFill>
              <a:latin typeface="华文楷体" panose="02010600040101010101" charset="-122"/>
              <a:ea typeface="华文楷体" panose="02010600040101010101" charset="-122"/>
              <a:cs typeface="华文楷体" panose="02010600040101010101" charset="-122"/>
            </a:endParaRPr>
          </a:p>
        </p:txBody>
      </p:sp>
      <p:sp>
        <p:nvSpPr>
          <p:cNvPr id="9231" name="矩形 20"/>
          <p:cNvSpPr/>
          <p:nvPr>
            <p:custDataLst>
              <p:tags r:id="rId12"/>
            </p:custDataLst>
          </p:nvPr>
        </p:nvSpPr>
        <p:spPr>
          <a:xfrm>
            <a:off x="8112125" y="1412558"/>
            <a:ext cx="1722120" cy="36830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en-US" altLang="zh-CN" sz="1800" dirty="0">
                <a:solidFill>
                  <a:srgbClr val="000000"/>
                </a:solidFill>
                <a:latin typeface="华文楷体" panose="02010600040101010101" charset="-122"/>
                <a:ea typeface="华文楷体" panose="02010600040101010101" charset="-122"/>
                <a:cs typeface="华文楷体" panose="02010600040101010101" charset="-122"/>
              </a:rPr>
              <a:t>---</a:t>
            </a:r>
            <a:r>
              <a:rPr lang="zh-CN" altLang="en-US" sz="1800" dirty="0">
                <a:solidFill>
                  <a:srgbClr val="000000"/>
                </a:solidFill>
                <a:latin typeface="华文楷体" panose="02010600040101010101" charset="-122"/>
                <a:ea typeface="华文楷体" panose="02010600040101010101" charset="-122"/>
                <a:cs typeface="华文楷体" panose="02010600040101010101" charset="-122"/>
              </a:rPr>
              <a:t> </a:t>
            </a:r>
            <a:r>
              <a:rPr lang="en-US" altLang="zh-CN" sz="1800" i="1" dirty="0">
                <a:solidFill>
                  <a:srgbClr val="000000"/>
                </a:solidFill>
                <a:latin typeface="华文楷体" panose="02010600040101010101" charset="-122"/>
                <a:ea typeface="华文楷体" panose="02010600040101010101" charset="-122"/>
                <a:cs typeface="华文楷体" panose="02010600040101010101" charset="-122"/>
              </a:rPr>
              <a:t>t </a:t>
            </a:r>
            <a:r>
              <a:rPr lang="zh-CN" altLang="en-US" sz="1800" dirty="0">
                <a:solidFill>
                  <a:srgbClr val="000000"/>
                </a:solidFill>
                <a:latin typeface="华文楷体" panose="02010600040101010101" charset="-122"/>
                <a:ea typeface="华文楷体" panose="02010600040101010101" charset="-122"/>
                <a:cs typeface="华文楷体" panose="02010600040101010101" charset="-122"/>
              </a:rPr>
              <a:t>的确定函数</a:t>
            </a:r>
            <a:endParaRPr lang="zh-CN" altLang="en-US" sz="1800" dirty="0">
              <a:solidFill>
                <a:srgbClr val="000000"/>
              </a:solidFill>
              <a:latin typeface="华文楷体" panose="02010600040101010101" charset="-122"/>
              <a:ea typeface="华文楷体" panose="02010600040101010101" charset="-122"/>
              <a:cs typeface="华文楷体" panose="02010600040101010101" charset="-122"/>
            </a:endParaRPr>
          </a:p>
        </p:txBody>
      </p:sp>
      <p:sp>
        <p:nvSpPr>
          <p:cNvPr id="9232" name="矩形 44"/>
          <p:cNvSpPr/>
          <p:nvPr>
            <p:custDataLst>
              <p:tags r:id="rId13"/>
            </p:custDataLst>
          </p:nvPr>
        </p:nvSpPr>
        <p:spPr>
          <a:xfrm>
            <a:off x="857250" y="1374775"/>
            <a:ext cx="2176780" cy="368300"/>
          </a:xfrm>
          <a:prstGeom prst="rect">
            <a:avLst/>
          </a:prstGeom>
          <a:noFill/>
          <a:ln w="9525">
            <a:noFill/>
          </a:ln>
        </p:spPr>
        <p:txBody>
          <a:bodyPr wrap="squar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90000"/>
              </a:lnSpc>
              <a:spcBef>
                <a:spcPct val="0"/>
              </a:spcBef>
              <a:spcAft>
                <a:spcPct val="35000"/>
              </a:spcAft>
              <a:buClr>
                <a:srgbClr val="FF0000"/>
              </a:buClr>
              <a:buSzPct val="70000"/>
              <a:buFont typeface="Wingdings" panose="05000000000000000000" pitchFamily="2" charset="2"/>
              <a:buChar char="n"/>
            </a:pP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黑体" panose="02010609060101010101" pitchFamily="49" charset="-122"/>
              </a:rPr>
              <a:t> </a:t>
            </a:r>
            <a:r>
              <a:rPr kumimoji="1" lang="zh-CN" altLang="en-US" sz="2000" b="1" dirty="0">
                <a:latin typeface="华文楷体" panose="02010600040101010101" charset="-122"/>
                <a:ea typeface="华文楷体" panose="02010600040101010101" charset="-122"/>
                <a:cs typeface="华文楷体" panose="02010600040101010101" charset="-122"/>
                <a:sym typeface="+mn-ea"/>
              </a:rPr>
              <a:t>数学期望</a:t>
            </a:r>
            <a:endParaRPr kumimoji="1" lang="zh-CN" altLang="en-US" sz="2000" b="1" dirty="0">
              <a:latin typeface="华文楷体" panose="02010600040101010101" charset="-122"/>
              <a:ea typeface="华文楷体" panose="02010600040101010101" charset="-122"/>
              <a:cs typeface="华文楷体" panose="02010600040101010101" charset="-122"/>
              <a:sym typeface="+mn-ea"/>
            </a:endParaRPr>
          </a:p>
        </p:txBody>
      </p:sp>
      <p:sp>
        <p:nvSpPr>
          <p:cNvPr id="2" name="内容占位符 1"/>
          <p:cNvSpPr>
            <a:spLocks noGrp="1"/>
          </p:cNvSpPr>
          <p:nvPr>
            <p:ph idx="1"/>
            <p:custDataLst>
              <p:tags r:id="rId14"/>
            </p:custDataLst>
          </p:nvPr>
        </p:nvSpPr>
        <p:spPr>
          <a:xfrm>
            <a:off x="608330" y="836930"/>
            <a:ext cx="11272520" cy="775970"/>
          </a:xfrm>
        </p:spPr>
        <p:txBody>
          <a:bodyPr/>
          <a:p>
            <a:r>
              <a:rPr lang="zh-CN" altLang="en-US" sz="2400" b="1">
                <a:latin typeface="华文楷体" panose="02010600040101010101" charset="-122"/>
                <a:ea typeface="华文楷体" panose="02010600040101010101" charset="-122"/>
                <a:cs typeface="华文楷体" panose="02010600040101010101" charset="-122"/>
              </a:rPr>
              <a:t>随机过程的统计特性</a:t>
            </a:r>
            <a:endParaRPr lang="zh-CN" altLang="en-US" sz="2400" b="1">
              <a:latin typeface="华文楷体" panose="02010600040101010101" charset="-122"/>
              <a:ea typeface="华文楷体" panose="02010600040101010101" charset="-122"/>
              <a:cs typeface="华文楷体" panose="02010600040101010101" charset="-122"/>
            </a:endParaRPr>
          </a:p>
        </p:txBody>
      </p:sp>
      <p:sp>
        <p:nvSpPr>
          <p:cNvPr id="11266" name="矩形 15"/>
          <p:cNvSpPr/>
          <p:nvPr>
            <p:custDataLst>
              <p:tags r:id="rId15"/>
            </p:custDataLst>
          </p:nvPr>
        </p:nvSpPr>
        <p:spPr>
          <a:xfrm>
            <a:off x="6920548" y="4603750"/>
            <a:ext cx="2297430" cy="36830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令                ， 则有：</a:t>
            </a:r>
            <a:endPar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endParaRPr>
          </a:p>
        </p:txBody>
      </p:sp>
      <p:pic>
        <p:nvPicPr>
          <p:cNvPr id="11267" name="Object 5"/>
          <p:cNvPicPr>
            <a:picLocks noChangeAspect="1"/>
          </p:cNvPicPr>
          <p:nvPr>
            <p:custDataLst>
              <p:tags r:id="rId16"/>
            </p:custDataLst>
          </p:nvPr>
        </p:nvPicPr>
        <p:blipFill>
          <a:blip r:embed="rId17"/>
          <a:stretch>
            <a:fillRect/>
          </a:stretch>
        </p:blipFill>
        <p:spPr>
          <a:xfrm>
            <a:off x="2423160" y="4472940"/>
            <a:ext cx="3456305" cy="961390"/>
          </a:xfrm>
          <a:prstGeom prst="rect">
            <a:avLst/>
          </a:prstGeom>
          <a:solidFill>
            <a:srgbClr val="BBE0E3"/>
          </a:solidFill>
          <a:ln w="9525" cap="flat" cmpd="sng">
            <a:solidFill>
              <a:srgbClr val="000000"/>
            </a:solidFill>
            <a:prstDash val="solid"/>
            <a:miter/>
            <a:headEnd type="none" w="med" len="med"/>
            <a:tailEnd type="none" w="med" len="med"/>
          </a:ln>
        </p:spPr>
      </p:pic>
      <p:pic>
        <p:nvPicPr>
          <p:cNvPr id="11268" name="Object 7"/>
          <p:cNvPicPr>
            <a:picLocks noChangeAspect="1"/>
          </p:cNvPicPr>
          <p:nvPr>
            <p:custDataLst>
              <p:tags r:id="rId18"/>
            </p:custDataLst>
          </p:nvPr>
        </p:nvPicPr>
        <p:blipFill>
          <a:blip r:embed="rId19"/>
          <a:stretch>
            <a:fillRect/>
          </a:stretch>
        </p:blipFill>
        <p:spPr>
          <a:xfrm>
            <a:off x="9119870" y="4603750"/>
            <a:ext cx="2452370" cy="433070"/>
          </a:xfrm>
          <a:prstGeom prst="rect">
            <a:avLst/>
          </a:prstGeom>
          <a:solidFill>
            <a:srgbClr val="BBE0E3"/>
          </a:solidFill>
          <a:ln w="9525" cap="flat" cmpd="sng">
            <a:solidFill>
              <a:srgbClr val="000000"/>
            </a:solidFill>
            <a:prstDash val="solid"/>
            <a:miter/>
            <a:headEnd type="none" w="med" len="med"/>
            <a:tailEnd type="none" w="med" len="med"/>
          </a:ln>
        </p:spPr>
      </p:pic>
      <p:sp>
        <p:nvSpPr>
          <p:cNvPr id="11270" name="矩形 44"/>
          <p:cNvSpPr/>
          <p:nvPr>
            <p:custDataLst>
              <p:tags r:id="rId20"/>
            </p:custDataLst>
          </p:nvPr>
        </p:nvSpPr>
        <p:spPr>
          <a:xfrm>
            <a:off x="878840" y="5711190"/>
            <a:ext cx="2721610" cy="368300"/>
          </a:xfrm>
          <a:prstGeom prst="rect">
            <a:avLst/>
          </a:prstGeom>
          <a:noFill/>
          <a:ln w="9525">
            <a:noFill/>
          </a:ln>
        </p:spPr>
        <p:txBody>
          <a:bodyPr wrap="squar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90000"/>
              </a:lnSpc>
              <a:spcBef>
                <a:spcPct val="0"/>
              </a:spcBef>
              <a:spcAft>
                <a:spcPct val="35000"/>
              </a:spcAft>
              <a:buClr>
                <a:srgbClr val="FF0000"/>
              </a:buClr>
              <a:buSzPct val="70000"/>
              <a:buFont typeface="Wingdings" panose="05000000000000000000" pitchFamily="2" charset="2"/>
              <a:buChar char="n"/>
            </a:pP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 </a:t>
            </a:r>
            <a:r>
              <a:rPr kumimoji="1" lang="zh-CN" altLang="zh-CN" sz="2000" b="1" dirty="0">
                <a:latin typeface="楷体" panose="02010609060101010101" pitchFamily="49" charset="-122"/>
                <a:ea typeface="楷体" panose="02010609060101010101" pitchFamily="49" charset="-122"/>
                <a:sym typeface="+mn-ea"/>
              </a:rPr>
              <a:t>自协方差函数</a:t>
            </a:r>
            <a:endParaRPr kumimoji="1" lang="zh-CN" altLang="zh-CN" sz="2000" b="1" dirty="0">
              <a:latin typeface="楷体" panose="02010609060101010101" pitchFamily="49" charset="-122"/>
              <a:ea typeface="楷体" panose="02010609060101010101" pitchFamily="49" charset="-122"/>
              <a:cs typeface="华文楷体" panose="02010600040101010101" charset="-122"/>
              <a:sym typeface="+mn-ea"/>
            </a:endParaRPr>
          </a:p>
        </p:txBody>
      </p:sp>
      <p:sp>
        <p:nvSpPr>
          <p:cNvPr id="11271" name="矩形 44"/>
          <p:cNvSpPr/>
          <p:nvPr>
            <p:custDataLst>
              <p:tags r:id="rId21"/>
            </p:custDataLst>
          </p:nvPr>
        </p:nvSpPr>
        <p:spPr>
          <a:xfrm>
            <a:off x="857250" y="3966528"/>
            <a:ext cx="2214563" cy="36830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90000"/>
              </a:lnSpc>
              <a:spcBef>
                <a:spcPct val="0"/>
              </a:spcBef>
              <a:spcAft>
                <a:spcPct val="35000"/>
              </a:spcAft>
              <a:buClr>
                <a:srgbClr val="FF0000"/>
              </a:buClr>
              <a:buSzPct val="70000"/>
              <a:buFont typeface="Wingdings" panose="05000000000000000000" pitchFamily="2" charset="2"/>
              <a:buChar char="n"/>
            </a:pP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黑体" panose="02010609060101010101" pitchFamily="49" charset="-122"/>
              </a:rPr>
              <a:t> 自相关函数</a:t>
            </a:r>
            <a:endPar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黑体" panose="02010609060101010101" pitchFamily="49" charset="-122"/>
            </a:endParaRPr>
          </a:p>
        </p:txBody>
      </p:sp>
      <p:sp>
        <p:nvSpPr>
          <p:cNvPr id="11272" name="矩形 14"/>
          <p:cNvSpPr/>
          <p:nvPr>
            <p:custDataLst>
              <p:tags r:id="rId22"/>
            </p:custDataLst>
          </p:nvPr>
        </p:nvSpPr>
        <p:spPr>
          <a:xfrm>
            <a:off x="2886075" y="4004628"/>
            <a:ext cx="4512945" cy="36830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en-US" altLang="zh-CN" sz="1800" dirty="0">
                <a:solidFill>
                  <a:srgbClr val="00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a:t>
            </a:r>
            <a:r>
              <a:rPr lang="zh-CN" altLang="en-US" sz="1800" dirty="0">
                <a:solidFill>
                  <a:srgbClr val="00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同一过程在两个不同时刻</a:t>
            </a:r>
            <a:r>
              <a:rPr lang="zh-CN" altLang="en-US" sz="1800" dirty="0">
                <a:solidFill>
                  <a:srgbClr val="00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状态的关联程度</a:t>
            </a:r>
            <a:endParaRPr lang="zh-CN" altLang="en-US" sz="1800" dirty="0">
              <a:solidFill>
                <a:srgbClr val="00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endParaRPr>
          </a:p>
        </p:txBody>
      </p:sp>
      <p:pic>
        <p:nvPicPr>
          <p:cNvPr id="11273" name="Object 12"/>
          <p:cNvPicPr>
            <a:picLocks noChangeAspect="1"/>
          </p:cNvPicPr>
          <p:nvPr>
            <p:custDataLst>
              <p:tags r:id="rId23"/>
            </p:custDataLst>
          </p:nvPr>
        </p:nvPicPr>
        <p:blipFill>
          <a:blip r:embed="rId24"/>
          <a:stretch>
            <a:fillRect/>
          </a:stretch>
        </p:blipFill>
        <p:spPr>
          <a:xfrm>
            <a:off x="7277735" y="4537075"/>
            <a:ext cx="1003300" cy="420370"/>
          </a:xfrm>
          <a:prstGeom prst="rect">
            <a:avLst/>
          </a:prstGeom>
          <a:solidFill>
            <a:srgbClr val="BBE0E3"/>
          </a:solidFill>
          <a:ln w="9525" cap="flat" cmpd="sng">
            <a:solidFill>
              <a:srgbClr val="000000"/>
            </a:solidFill>
            <a:prstDash val="solid"/>
            <a:miter/>
            <a:headEnd type="none" w="med" len="med"/>
            <a:tailEnd type="none" w="med" len="med"/>
          </a:ln>
        </p:spPr>
      </p:pic>
      <mc:AlternateContent xmlns:mc="http://schemas.openxmlformats.org/markup-compatibility/2006">
        <mc:Choice xmlns:a14="http://schemas.microsoft.com/office/drawing/2010/main" Requires="a14">
          <p:sp>
            <p:nvSpPr>
              <p:cNvPr id="6" name="文本框 5"/>
              <p:cNvSpPr txBox="1"/>
              <p:nvPr/>
            </p:nvSpPr>
            <p:spPr>
              <a:xfrm>
                <a:off x="3024505" y="5563235"/>
                <a:ext cx="6096000" cy="1104900"/>
              </a:xfrm>
              <a:prstGeom prst="rect">
                <a:avLst/>
              </a:prstGeom>
              <a:noFill/>
            </p:spPr>
            <p:txBody>
              <a:bodyPr wrap="square" rtlCol="0" anchor="t">
                <a:spAutoFit/>
              </a:bodyPr>
              <a:p>
                <a:r>
                  <a:rPr kumimoji="1" lang="en-US" altLang="zh-CN" sz="1800" b="1" dirty="0">
                    <a:latin typeface="楷体" panose="02010609060101010101" pitchFamily="49" charset="-122"/>
                    <a:ea typeface="楷体" panose="02010609060101010101" pitchFamily="49" charset="-122"/>
                    <a:sym typeface="+mn-ea"/>
                  </a:rPr>
                  <a:t> </a:t>
                </a:r>
                <a14:m>
                  <m:oMath xmlns:m="http://schemas.openxmlformats.org/officeDocument/2006/math">
                    <m:eqArr>
                      <m:eqArr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eqArrPr>
                      <m:e>
                        <m:r>
                          <a:rPr kumimoji="1" lang="en-US" altLang="zh-CN" sz="1800" b="1">
                            <a:latin typeface="DejaVu Math TeX Gyre" panose="02000503000000000000" charset="0"/>
                            <a:ea typeface="楷体" panose="02010609060101010101" pitchFamily="49" charset="-122"/>
                            <a:cs typeface="DejaVu Math TeX Gyre" panose="02000503000000000000" charset="0"/>
                          </a:rPr>
                          <m:t>𝐶</m:t>
                        </m:r>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𝑡</m:t>
                            </m:r>
                          </m:e>
                          <m:sub>
                            <m:r>
                              <a:rPr kumimoji="1" lang="en-US" altLang="zh-CN" sz="1800" b="1">
                                <a:latin typeface="DejaVu Math TeX Gyre" panose="02000503000000000000" charset="0"/>
                                <a:ea typeface="宋体" pitchFamily="2" charset="-122"/>
                                <a:cs typeface="DejaVu Math TeX Gyre" panose="02000503000000000000" charset="0"/>
                              </a:rPr>
                              <m:t>1</m:t>
                            </m:r>
                          </m:sub>
                        </m:sSub>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𝑡</m:t>
                            </m:r>
                          </m:e>
                          <m:sub>
                            <m:r>
                              <a:rPr kumimoji="1" lang="en-US" altLang="zh-CN" sz="1800" b="1">
                                <a:latin typeface="DejaVu Math TeX Gyre" panose="02000503000000000000" charset="0"/>
                                <a:ea typeface="宋体" pitchFamily="2" charset="-122"/>
                                <a:cs typeface="DejaVu Math TeX Gyre" panose="02000503000000000000" charset="0"/>
                              </a:rPr>
                              <m:t>2</m:t>
                            </m:r>
                          </m:sub>
                        </m:sSub>
                        <m:r>
                          <a:rPr kumimoji="1" lang="en-US" altLang="zh-CN" sz="1800" b="1">
                            <a:latin typeface="DejaVu Math TeX Gyre" panose="02000503000000000000" charset="0"/>
                            <a:ea typeface="宋体" pitchFamily="2" charset="-122"/>
                            <a:cs typeface="DejaVu Math TeX Gyre" panose="02000503000000000000" charset="0"/>
                          </a:rPr>
                          <m:t>)=</m:t>
                        </m:r>
                        <m:r>
                          <a:rPr kumimoji="1" lang="en-US" altLang="zh-CN" sz="1800" b="1">
                            <a:latin typeface="DejaVu Math TeX Gyre" panose="02000503000000000000" charset="0"/>
                            <a:ea typeface="楷体" panose="02010609060101010101" pitchFamily="49" charset="-122"/>
                            <a:cs typeface="DejaVu Math TeX Gyre" panose="02000503000000000000" charset="0"/>
                          </a:rPr>
                          <m:t>𝐸</m:t>
                        </m:r>
                        <m:r>
                          <m:rPr>
                            <m:nor/>
                          </m:rPr>
                          <a:rPr kumimoji="1" lang="en-US" altLang="zh-CN" sz="1800" b="1">
                            <a:latin typeface="DejaVu Math TeX Gyre" panose="02000503000000000000" charset="0"/>
                            <a:ea typeface="宋体" pitchFamily="2" charset="-122"/>
                            <a:cs typeface="DejaVu Math TeX Gyre" panose="02000503000000000000" charset="0"/>
                          </a:rPr>
                          <m:t>{</m:t>
                        </m:r>
                        <m:r>
                          <a:rPr kumimoji="1" lang="en-US" altLang="zh-CN" sz="1800" b="1">
                            <a:latin typeface="DejaVu Math TeX Gyre" panose="02000503000000000000" charset="0"/>
                            <a:ea typeface="宋体" pitchFamily="2" charset="-122"/>
                            <a:cs typeface="DejaVu Math TeX Gyre" panose="02000503000000000000" charset="0"/>
                          </a:rPr>
                          <m:t>[</m:t>
                        </m:r>
                        <m:r>
                          <a:rPr kumimoji="1" lang="en-US" altLang="zh-CN" sz="1800" b="1">
                            <a:latin typeface="DejaVu Math TeX Gyre" panose="02000503000000000000" charset="0"/>
                            <a:ea typeface="宋体" pitchFamily="2" charset="-122"/>
                            <a:cs typeface="DejaVu Math TeX Gyre" panose="02000503000000000000" charset="0"/>
                          </a:rPr>
                          <m:t>𝜉</m:t>
                        </m:r>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𝑡</m:t>
                            </m:r>
                          </m:e>
                          <m:sub>
                            <m:r>
                              <a:rPr kumimoji="1" lang="en-US" altLang="zh-CN" sz="1800" b="1">
                                <a:latin typeface="DejaVu Math TeX Gyre" panose="02000503000000000000" charset="0"/>
                                <a:ea typeface="宋体" pitchFamily="2" charset="-122"/>
                                <a:cs typeface="DejaVu Math TeX Gyre" panose="02000503000000000000" charset="0"/>
                              </a:rPr>
                              <m:t>1</m:t>
                            </m:r>
                          </m:sub>
                        </m:sSub>
                        <m:r>
                          <a:rPr kumimoji="1" lang="en-US" altLang="zh-CN" sz="1800" b="1">
                            <a:latin typeface="DejaVu Math TeX Gyre" panose="02000503000000000000" charset="0"/>
                            <a:ea typeface="宋体" pitchFamily="2" charset="-122"/>
                            <a:cs typeface="DejaVu Math TeX Gyre" panose="02000503000000000000" charset="0"/>
                          </a:rPr>
                          <m:t>)−</m:t>
                        </m:r>
                        <m:r>
                          <a:rPr kumimoji="1" lang="en-US" altLang="zh-CN" sz="1800" b="1">
                            <a:latin typeface="DejaVu Math TeX Gyre" panose="02000503000000000000" charset="0"/>
                            <a:ea typeface="楷体" panose="02010609060101010101" pitchFamily="49" charset="-122"/>
                            <a:cs typeface="DejaVu Math TeX Gyre" panose="02000503000000000000" charset="0"/>
                          </a:rPr>
                          <m:t>𝑎</m:t>
                        </m:r>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𝑡</m:t>
                            </m:r>
                          </m:e>
                          <m:sub>
                            <m:r>
                              <a:rPr kumimoji="1" lang="en-US" altLang="zh-CN" sz="1800" b="1">
                                <a:latin typeface="DejaVu Math TeX Gyre" panose="02000503000000000000" charset="0"/>
                                <a:ea typeface="宋体" pitchFamily="2" charset="-122"/>
                                <a:cs typeface="DejaVu Math TeX Gyre" panose="02000503000000000000" charset="0"/>
                              </a:rPr>
                              <m:t>1</m:t>
                            </m:r>
                          </m:sub>
                        </m:sSub>
                        <m:r>
                          <a:rPr kumimoji="1" lang="en-US" altLang="zh-CN" sz="1800" b="1">
                            <a:latin typeface="DejaVu Math TeX Gyre" panose="02000503000000000000" charset="0"/>
                            <a:ea typeface="宋体" pitchFamily="2" charset="-122"/>
                            <a:cs typeface="DejaVu Math TeX Gyre" panose="02000503000000000000" charset="0"/>
                          </a:rPr>
                          <m:t>)][</m:t>
                        </m:r>
                        <m:r>
                          <a:rPr kumimoji="1" lang="en-US" altLang="zh-CN" sz="1800" b="1">
                            <a:latin typeface="DejaVu Math TeX Gyre" panose="02000503000000000000" charset="0"/>
                            <a:ea typeface="宋体" pitchFamily="2" charset="-122"/>
                            <a:cs typeface="DejaVu Math TeX Gyre" panose="02000503000000000000" charset="0"/>
                          </a:rPr>
                          <m:t>𝜉</m:t>
                        </m:r>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𝑡</m:t>
                            </m:r>
                          </m:e>
                          <m:sub>
                            <m:r>
                              <a:rPr kumimoji="1" lang="en-US" altLang="zh-CN" sz="1800" b="1">
                                <a:latin typeface="DejaVu Math TeX Gyre" panose="02000503000000000000" charset="0"/>
                                <a:ea typeface="宋体" pitchFamily="2" charset="-122"/>
                                <a:cs typeface="DejaVu Math TeX Gyre" panose="02000503000000000000" charset="0"/>
                              </a:rPr>
                              <m:t>2</m:t>
                            </m:r>
                          </m:sub>
                        </m:sSub>
                        <m:r>
                          <a:rPr kumimoji="1" lang="en-US" altLang="zh-CN" sz="1800" b="1">
                            <a:latin typeface="DejaVu Math TeX Gyre" panose="02000503000000000000" charset="0"/>
                            <a:ea typeface="宋体" pitchFamily="2" charset="-122"/>
                            <a:cs typeface="DejaVu Math TeX Gyre" panose="02000503000000000000" charset="0"/>
                          </a:rPr>
                          <m:t>)−</m:t>
                        </m:r>
                        <m:r>
                          <a:rPr kumimoji="1" lang="en-US" altLang="zh-CN" sz="1800" b="1">
                            <a:latin typeface="DejaVu Math TeX Gyre" panose="02000503000000000000" charset="0"/>
                            <a:ea typeface="楷体" panose="02010609060101010101" pitchFamily="49" charset="-122"/>
                            <a:cs typeface="DejaVu Math TeX Gyre" panose="02000503000000000000" charset="0"/>
                          </a:rPr>
                          <m:t>𝑎</m:t>
                        </m:r>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𝑡</m:t>
                            </m:r>
                          </m:e>
                          <m:sub>
                            <m:r>
                              <a:rPr kumimoji="1" lang="en-US" altLang="zh-CN" sz="1800" b="1">
                                <a:latin typeface="DejaVu Math TeX Gyre" panose="02000503000000000000" charset="0"/>
                                <a:ea typeface="宋体" pitchFamily="2" charset="-122"/>
                                <a:cs typeface="DejaVu Math TeX Gyre" panose="02000503000000000000" charset="0"/>
                              </a:rPr>
                              <m:t>2</m:t>
                            </m:r>
                          </m:sub>
                        </m:sSub>
                        <m:r>
                          <a:rPr kumimoji="1" lang="en-US" altLang="zh-CN" sz="1800" b="1">
                            <a:latin typeface="DejaVu Math TeX Gyre" panose="02000503000000000000" charset="0"/>
                            <a:ea typeface="宋体" pitchFamily="2" charset="-122"/>
                            <a:cs typeface="DejaVu Math TeX Gyre" panose="02000503000000000000" charset="0"/>
                          </a:rPr>
                          <m:t>)]}</m:t>
                        </m:r>
                      </m:e>
                      <m:e>
                        <m:r>
                          <a:rPr kumimoji="1" lang="en-US" altLang="zh-CN" sz="1800" b="1">
                            <a:latin typeface="DejaVu Math TeX Gyre" panose="02000503000000000000" charset="0"/>
                            <a:ea typeface="宋体" pitchFamily="2" charset="-122"/>
                            <a:cs typeface="DejaVu Math TeX Gyre" panose="02000503000000000000" charset="0"/>
                          </a:rPr>
                          <m:t>=</m:t>
                        </m:r>
                        <m:nary>
                          <m:naryPr>
                            <m:grow m:val="on"/>
                            <m:limLoc m:val="subSup"/>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naryPr>
                          <m:sub>
                            <m:r>
                              <a:rPr kumimoji="1" lang="en-US" altLang="zh-CN" sz="1800" b="1">
                                <a:latin typeface="DejaVu Math TeX Gyre" panose="02000503000000000000" charset="0"/>
                                <a:ea typeface="宋体" pitchFamily="2" charset="-122"/>
                                <a:cs typeface="DejaVu Math TeX Gyre" panose="02000503000000000000" charset="0"/>
                              </a:rPr>
                              <m:t>−∞</m:t>
                            </m:r>
                          </m:sub>
                          <m:sup>
                            <m:r>
                              <a:rPr kumimoji="1" lang="en-US" altLang="zh-CN" sz="1800" b="1">
                                <a:latin typeface="DejaVu Math TeX Gyre" panose="02000503000000000000" charset="0"/>
                                <a:ea typeface="宋体" pitchFamily="2" charset="-122"/>
                                <a:cs typeface="DejaVu Math TeX Gyre" panose="02000503000000000000" charset="0"/>
                              </a:rPr>
                              <m:t>∞</m:t>
                            </m:r>
                          </m:sup>
                          <m:e>
                            <m:nary>
                              <m:naryPr>
                                <m:grow m:val="on"/>
                                <m:limLoc m:val="subSup"/>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naryPr>
                              <m:sub>
                                <m:r>
                                  <a:rPr kumimoji="1" lang="en-US" altLang="zh-CN" sz="1800" b="1">
                                    <a:latin typeface="DejaVu Math TeX Gyre" panose="02000503000000000000" charset="0"/>
                                    <a:ea typeface="宋体" pitchFamily="2" charset="-122"/>
                                    <a:cs typeface="DejaVu Math TeX Gyre" panose="02000503000000000000" charset="0"/>
                                  </a:rPr>
                                  <m:t>−∞</m:t>
                                </m:r>
                              </m:sub>
                              <m:sup>
                                <m:r>
                                  <a:rPr kumimoji="1" lang="en-US" altLang="zh-CN" sz="1800" b="1">
                                    <a:latin typeface="DejaVu Math TeX Gyre" panose="02000503000000000000" charset="0"/>
                                    <a:ea typeface="宋体" pitchFamily="2" charset="-122"/>
                                    <a:cs typeface="DejaVu Math TeX Gyre" panose="02000503000000000000" charset="0"/>
                                  </a:rPr>
                                  <m:t>∞</m:t>
                                </m:r>
                              </m:sup>
                              <m:e>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𝑥</m:t>
                                    </m:r>
                                  </m:e>
                                  <m:sub>
                                    <m:r>
                                      <a:rPr kumimoji="1" lang="en-US" altLang="zh-CN" sz="1800" b="1">
                                        <a:latin typeface="DejaVu Math TeX Gyre" panose="02000503000000000000" charset="0"/>
                                        <a:ea typeface="宋体" pitchFamily="2" charset="-122"/>
                                        <a:cs typeface="DejaVu Math TeX Gyre" panose="02000503000000000000" charset="0"/>
                                      </a:rPr>
                                      <m:t>1</m:t>
                                    </m:r>
                                  </m:sub>
                                </m:sSub>
                                <m:r>
                                  <a:rPr kumimoji="1" lang="en-US" altLang="zh-CN" sz="1800" b="1">
                                    <a:latin typeface="DejaVu Math TeX Gyre" panose="02000503000000000000" charset="0"/>
                                    <a:ea typeface="宋体" pitchFamily="2" charset="-122"/>
                                    <a:cs typeface="DejaVu Math TeX Gyre" panose="02000503000000000000" charset="0"/>
                                  </a:rPr>
                                  <m:t>−</m:t>
                                </m:r>
                                <m:r>
                                  <a:rPr kumimoji="1" lang="en-US" altLang="zh-CN" sz="1800" b="1">
                                    <a:latin typeface="DejaVu Math TeX Gyre" panose="02000503000000000000" charset="0"/>
                                    <a:ea typeface="楷体" panose="02010609060101010101" pitchFamily="49" charset="-122"/>
                                    <a:cs typeface="DejaVu Math TeX Gyre" panose="02000503000000000000" charset="0"/>
                                  </a:rPr>
                                  <m:t>𝑎</m:t>
                                </m:r>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𝑡</m:t>
                                    </m:r>
                                  </m:e>
                                  <m:sub>
                                    <m:r>
                                      <a:rPr kumimoji="1" lang="en-US" altLang="zh-CN" sz="1800" b="1">
                                        <a:latin typeface="DejaVu Math TeX Gyre" panose="02000503000000000000" charset="0"/>
                                        <a:ea typeface="宋体" pitchFamily="2" charset="-122"/>
                                        <a:cs typeface="DejaVu Math TeX Gyre" panose="02000503000000000000" charset="0"/>
                                      </a:rPr>
                                      <m:t>1</m:t>
                                    </m:r>
                                  </m:sub>
                                </m:sSub>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𝑥</m:t>
                                    </m:r>
                                  </m:e>
                                  <m:sub>
                                    <m:r>
                                      <a:rPr kumimoji="1" lang="en-US" altLang="zh-CN" sz="1800" b="1">
                                        <a:latin typeface="DejaVu Math TeX Gyre" panose="02000503000000000000" charset="0"/>
                                        <a:ea typeface="宋体" pitchFamily="2" charset="-122"/>
                                        <a:cs typeface="DejaVu Math TeX Gyre" panose="02000503000000000000" charset="0"/>
                                      </a:rPr>
                                      <m:t>2</m:t>
                                    </m:r>
                                  </m:sub>
                                </m:sSub>
                                <m:r>
                                  <a:rPr kumimoji="1" lang="en-US" altLang="zh-CN" sz="1800" b="1">
                                    <a:latin typeface="DejaVu Math TeX Gyre" panose="02000503000000000000" charset="0"/>
                                    <a:ea typeface="宋体" pitchFamily="2" charset="-122"/>
                                    <a:cs typeface="DejaVu Math TeX Gyre" panose="02000503000000000000" charset="0"/>
                                  </a:rPr>
                                  <m:t>−</m:t>
                                </m:r>
                                <m:r>
                                  <a:rPr kumimoji="1" lang="en-US" altLang="zh-CN" sz="1800" b="1">
                                    <a:latin typeface="DejaVu Math TeX Gyre" panose="02000503000000000000" charset="0"/>
                                    <a:ea typeface="楷体" panose="02010609060101010101" pitchFamily="49" charset="-122"/>
                                    <a:cs typeface="DejaVu Math TeX Gyre" panose="02000503000000000000" charset="0"/>
                                  </a:rPr>
                                  <m:t>𝑎</m:t>
                                </m:r>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𝑡</m:t>
                                    </m:r>
                                  </m:e>
                                  <m:sub>
                                    <m:r>
                                      <a:rPr kumimoji="1" lang="en-US" altLang="zh-CN" sz="1800" b="1">
                                        <a:latin typeface="DejaVu Math TeX Gyre" panose="02000503000000000000" charset="0"/>
                                        <a:ea typeface="宋体" pitchFamily="2" charset="-122"/>
                                        <a:cs typeface="DejaVu Math TeX Gyre" panose="02000503000000000000" charset="0"/>
                                      </a:rPr>
                                      <m:t>2</m:t>
                                    </m:r>
                                  </m:sub>
                                </m:sSub>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𝑓</m:t>
                                    </m:r>
                                  </m:e>
                                  <m:sub>
                                    <m:r>
                                      <a:rPr kumimoji="1" lang="en-US" altLang="zh-CN" sz="1800" b="1">
                                        <a:latin typeface="DejaVu Math TeX Gyre" panose="02000503000000000000" charset="0"/>
                                        <a:ea typeface="宋体" pitchFamily="2" charset="-122"/>
                                        <a:cs typeface="DejaVu Math TeX Gyre" panose="02000503000000000000" charset="0"/>
                                      </a:rPr>
                                      <m:t>2</m:t>
                                    </m:r>
                                  </m:sub>
                                </m:sSub>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𝑥</m:t>
                                    </m:r>
                                  </m:e>
                                  <m:sub>
                                    <m:r>
                                      <a:rPr kumimoji="1" lang="en-US" altLang="zh-CN" sz="1800" b="1">
                                        <a:latin typeface="DejaVu Math TeX Gyre" panose="02000503000000000000" charset="0"/>
                                        <a:ea typeface="宋体" pitchFamily="2" charset="-122"/>
                                        <a:cs typeface="DejaVu Math TeX Gyre" panose="02000503000000000000" charset="0"/>
                                      </a:rPr>
                                      <m:t>1</m:t>
                                    </m:r>
                                  </m:sub>
                                </m:sSub>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𝑥</m:t>
                                    </m:r>
                                  </m:e>
                                  <m:sub>
                                    <m:r>
                                      <a:rPr kumimoji="1" lang="en-US" altLang="zh-CN" sz="1800" b="1">
                                        <a:latin typeface="DejaVu Math TeX Gyre" panose="02000503000000000000" charset="0"/>
                                        <a:ea typeface="宋体" pitchFamily="2" charset="-122"/>
                                        <a:cs typeface="DejaVu Math TeX Gyre" panose="02000503000000000000" charset="0"/>
                                      </a:rPr>
                                      <m:t>2</m:t>
                                    </m:r>
                                  </m:sub>
                                </m:sSub>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𝑡</m:t>
                                    </m:r>
                                  </m:e>
                                  <m:sub>
                                    <m:r>
                                      <a:rPr kumimoji="1" lang="en-US" altLang="zh-CN" sz="1800" b="1">
                                        <a:latin typeface="DejaVu Math TeX Gyre" panose="02000503000000000000" charset="0"/>
                                        <a:ea typeface="宋体" pitchFamily="2" charset="-122"/>
                                        <a:cs typeface="DejaVu Math TeX Gyre" panose="02000503000000000000" charset="0"/>
                                      </a:rPr>
                                      <m:t>1</m:t>
                                    </m:r>
                                  </m:sub>
                                </m:sSub>
                                <m:r>
                                  <a:rPr kumimoji="1" lang="en-US" altLang="zh-CN" sz="1800" b="1">
                                    <a:latin typeface="DejaVu Math TeX Gyre" panose="02000503000000000000" charset="0"/>
                                    <a:ea typeface="宋体" pitchFamily="2" charset="-122"/>
                                    <a:cs typeface="DejaVu Math TeX Gyre" panose="02000503000000000000" charset="0"/>
                                  </a:rPr>
                                  <m:t>,</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𝑡</m:t>
                                    </m:r>
                                  </m:e>
                                  <m:sub>
                                    <m:r>
                                      <a:rPr kumimoji="1" lang="en-US" altLang="zh-CN" sz="1800" b="1">
                                        <a:latin typeface="DejaVu Math TeX Gyre" panose="02000503000000000000" charset="0"/>
                                        <a:ea typeface="宋体" pitchFamily="2" charset="-122"/>
                                        <a:cs typeface="DejaVu Math TeX Gyre" panose="02000503000000000000" charset="0"/>
                                      </a:rPr>
                                      <m:t>2</m:t>
                                    </m:r>
                                  </m:sub>
                                </m:sSub>
                                <m:r>
                                  <a:rPr kumimoji="1" lang="en-US" altLang="zh-CN" sz="1800" b="1">
                                    <a:latin typeface="DejaVu Math TeX Gyre" panose="02000503000000000000" charset="0"/>
                                    <a:ea typeface="宋体" pitchFamily="2" charset="-122"/>
                                    <a:cs typeface="DejaVu Math TeX Gyre" panose="02000503000000000000" charset="0"/>
                                  </a:rPr>
                                  <m:t>)</m:t>
                                </m:r>
                                <m:r>
                                  <a:rPr kumimoji="1" lang="en-US" altLang="zh-CN" sz="1800" b="1">
                                    <a:latin typeface="DejaVu Math TeX Gyre" panose="02000503000000000000" charset="0"/>
                                    <a:ea typeface="楷体" panose="02010609060101010101" pitchFamily="49" charset="-122"/>
                                    <a:cs typeface="DejaVu Math TeX Gyre" panose="02000503000000000000" charset="0"/>
                                  </a:rPr>
                                  <m:t>𝑑</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𝑥</m:t>
                                    </m:r>
                                  </m:e>
                                  <m:sub>
                                    <m:r>
                                      <a:rPr kumimoji="1" lang="en-US" altLang="zh-CN" sz="1800" b="1">
                                        <a:latin typeface="DejaVu Math TeX Gyre" panose="02000503000000000000" charset="0"/>
                                        <a:ea typeface="宋体" pitchFamily="2" charset="-122"/>
                                        <a:cs typeface="DejaVu Math TeX Gyre" panose="02000503000000000000" charset="0"/>
                                      </a:rPr>
                                      <m:t>1</m:t>
                                    </m:r>
                                  </m:sub>
                                </m:sSub>
                                <m:r>
                                  <a:rPr kumimoji="1" lang="en-US" altLang="zh-CN" sz="1800" b="1">
                                    <a:latin typeface="DejaVu Math TeX Gyre" panose="02000503000000000000" charset="0"/>
                                    <a:ea typeface="楷体" panose="02010609060101010101" pitchFamily="49" charset="-122"/>
                                    <a:cs typeface="DejaVu Math TeX Gyre" panose="02000503000000000000" charset="0"/>
                                  </a:rPr>
                                  <m:t>𝑑</m:t>
                                </m:r>
                                <m:sSub>
                                  <m:sSubPr>
                                    <m:ctrlPr>
                                      <a:rPr kumimoji="1" lang="zh-CN" altLang="zh-CN" sz="1800" b="1" i="1">
                                        <a:latin typeface="DejaVu Math TeX Gyre" panose="02000503000000000000" charset="0"/>
                                        <a:ea typeface="楷体" panose="02010609060101010101" pitchFamily="49" charset="-122"/>
                                        <a:cs typeface="DejaVu Math TeX Gyre" panose="02000503000000000000" charset="0"/>
                                      </a:rPr>
                                    </m:ctrlPr>
                                  </m:sSubPr>
                                  <m:e>
                                    <m:r>
                                      <a:rPr kumimoji="1" lang="en-US" altLang="zh-CN" sz="1800" b="1">
                                        <a:latin typeface="DejaVu Math TeX Gyre" panose="02000503000000000000" charset="0"/>
                                        <a:ea typeface="楷体" panose="02010609060101010101" pitchFamily="49" charset="-122"/>
                                        <a:cs typeface="DejaVu Math TeX Gyre" panose="02000503000000000000" charset="0"/>
                                      </a:rPr>
                                      <m:t>𝑥</m:t>
                                    </m:r>
                                  </m:e>
                                  <m:sub>
                                    <m:r>
                                      <a:rPr kumimoji="1" lang="en-US" altLang="zh-CN" sz="1800" b="1">
                                        <a:latin typeface="DejaVu Math TeX Gyre" panose="02000503000000000000" charset="0"/>
                                        <a:ea typeface="宋体" pitchFamily="2" charset="-122"/>
                                        <a:cs typeface="DejaVu Math TeX Gyre" panose="02000503000000000000" charset="0"/>
                                      </a:rPr>
                                      <m:t>2</m:t>
                                    </m:r>
                                  </m:sub>
                                </m:sSub>
                              </m:e>
                            </m:nary>
                          </m:e>
                        </m:nary>
                      </m:e>
                    </m:eqArr>
                  </m:oMath>
                </a14:m>
                <a:endParaRPr kumimoji="1" lang="en-US" altLang="zh-CN" sz="1800" b="1">
                  <a:latin typeface="DejaVu Math TeX Gyre" panose="02000503000000000000" charset="0"/>
                  <a:ea typeface="宋体" pitchFamily="2" charset="-122"/>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3024505" y="5563235"/>
                <a:ext cx="6096000" cy="1104900"/>
              </a:xfrm>
              <a:prstGeom prst="rect">
                <a:avLst/>
              </a:prstGeom>
              <a:blipFill rotWithShape="1">
                <a:blip r:embed="rId25"/>
                <a:stretch>
                  <a:fillRect r="-6094"/>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608330" y="836930"/>
            <a:ext cx="11272520" cy="775970"/>
          </a:xfrm>
        </p:spPr>
        <p:txBody>
          <a:bodyPr/>
          <a:p>
            <a:r>
              <a:rPr lang="zh-CN" altLang="en-US" sz="2400" b="1">
                <a:latin typeface="华文楷体" panose="02010600040101010101" charset="-122"/>
                <a:ea typeface="华文楷体" panose="02010600040101010101" charset="-122"/>
                <a:cs typeface="华文楷体" panose="02010600040101010101" charset="-122"/>
              </a:rPr>
              <a:t>平稳随机过程</a:t>
            </a:r>
            <a:endParaRPr lang="zh-CN" altLang="en-US" sz="2400" b="1">
              <a:latin typeface="华文楷体" panose="02010600040101010101" charset="-122"/>
              <a:ea typeface="华文楷体" panose="02010600040101010101" charset="-122"/>
              <a:cs typeface="华文楷体" panose="02010600040101010101" charset="-122"/>
            </a:endParaRPr>
          </a:p>
          <a:p>
            <a:pPr lvl="1"/>
            <a:r>
              <a:rPr lang="zh-CN" altLang="en-US" sz="2100" b="1">
                <a:latin typeface="华文楷体" panose="02010600040101010101" charset="-122"/>
                <a:ea typeface="华文楷体" panose="02010600040101010101" charset="-122"/>
                <a:cs typeface="华文楷体" panose="02010600040101010101" charset="-122"/>
              </a:rPr>
              <a:t>定义</a:t>
            </a:r>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r>
              <a:rPr lang="zh-CN" altLang="en-US" sz="2100" b="1">
                <a:latin typeface="华文楷体" panose="02010600040101010101" charset="-122"/>
                <a:ea typeface="华文楷体" panose="02010600040101010101" charset="-122"/>
                <a:cs typeface="华文楷体" panose="02010600040101010101" charset="-122"/>
              </a:rPr>
              <a:t>各态历经性</a:t>
            </a:r>
            <a:endParaRPr lang="zh-CN" altLang="en-US" sz="2100" b="1">
              <a:latin typeface="华文楷体" panose="02010600040101010101" charset="-122"/>
              <a:ea typeface="华文楷体" panose="02010600040101010101" charset="-122"/>
              <a:cs typeface="华文楷体" panose="02010600040101010101" charset="-122"/>
            </a:endParaRPr>
          </a:p>
        </p:txBody>
      </p:sp>
      <p:sp>
        <p:nvSpPr>
          <p:cNvPr id="12299" name="矩形 44"/>
          <p:cNvSpPr/>
          <p:nvPr>
            <p:custDataLst>
              <p:tags r:id="rId3"/>
            </p:custDataLst>
          </p:nvPr>
        </p:nvSpPr>
        <p:spPr>
          <a:xfrm>
            <a:off x="2279650" y="2596198"/>
            <a:ext cx="2214563" cy="339725"/>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90000"/>
              </a:lnSpc>
              <a:spcBef>
                <a:spcPct val="0"/>
              </a:spcBef>
              <a:spcAft>
                <a:spcPct val="35000"/>
              </a:spcAft>
              <a:buClr>
                <a:srgbClr val="FF0000"/>
              </a:buClr>
              <a:buSzPct val="70000"/>
              <a:buFont typeface="Wingdings" panose="05000000000000000000" pitchFamily="2" charset="2"/>
              <a:buChar char="n"/>
            </a:pPr>
            <a:r>
              <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黑体" panose="02010609060101010101" pitchFamily="49" charset="-122"/>
              </a:rPr>
              <a:t> 广义平稳</a:t>
            </a:r>
            <a:endPar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黑体" panose="02010609060101010101" pitchFamily="49" charset="-122"/>
            </a:endParaRPr>
          </a:p>
        </p:txBody>
      </p:sp>
      <p:sp>
        <p:nvSpPr>
          <p:cNvPr id="12300" name="矩形 21"/>
          <p:cNvSpPr/>
          <p:nvPr>
            <p:custDataLst>
              <p:tags r:id="rId4"/>
            </p:custDataLst>
          </p:nvPr>
        </p:nvSpPr>
        <p:spPr>
          <a:xfrm>
            <a:off x="2566988" y="2936240"/>
            <a:ext cx="3643312" cy="92202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150000"/>
              </a:lnSpc>
              <a:spcBef>
                <a:spcPct val="0"/>
              </a:spcBef>
              <a:buClr>
                <a:srgbClr val="0000CC"/>
              </a:buClr>
              <a:buSzPct val="60000"/>
              <a:buFont typeface="Wingdings" panose="05000000000000000000" pitchFamily="2" charset="2"/>
              <a:buChar char="l"/>
            </a:pPr>
            <a:r>
              <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 均值与时间 </a:t>
            </a:r>
            <a:r>
              <a:rPr lang="en-US" altLang="zh-CN" sz="1800" i="1" dirty="0">
                <a:solidFill>
                  <a:srgbClr val="000000"/>
                </a:solidFill>
                <a:latin typeface="华文楷体" panose="02010600040101010101" charset="-122"/>
                <a:ea typeface="华文楷体" panose="02010600040101010101" charset="-122"/>
                <a:cs typeface="华文楷体" panose="02010600040101010101" charset="-122"/>
              </a:rPr>
              <a:t>t </a:t>
            </a:r>
            <a:r>
              <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无关</a:t>
            </a:r>
            <a:r>
              <a:rPr lang="en-US" altLang="zh-CN"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a:t>
            </a:r>
            <a:endParaRPr lang="en-US" altLang="zh-CN"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endParaRPr>
          </a:p>
          <a:p>
            <a:pPr marL="0" lvl="0" indent="0" defTabSz="914400">
              <a:lnSpc>
                <a:spcPct val="150000"/>
              </a:lnSpc>
              <a:spcBef>
                <a:spcPct val="0"/>
              </a:spcBef>
              <a:buClr>
                <a:srgbClr val="0000CC"/>
              </a:buClr>
              <a:buSzPct val="60000"/>
              <a:buFont typeface="Wingdings" panose="05000000000000000000" pitchFamily="2" charset="2"/>
              <a:buChar char="l"/>
            </a:pPr>
            <a:r>
              <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 相关函数仅与 </a:t>
            </a:r>
            <a:r>
              <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τ</a:t>
            </a:r>
            <a:r>
              <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有关</a:t>
            </a:r>
            <a:r>
              <a:rPr lang="en-US" altLang="zh-CN"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a:t>
            </a:r>
            <a:endParaRPr lang="en-US" altLang="zh-CN"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endParaRPr>
          </a:p>
        </p:txBody>
      </p:sp>
      <p:pic>
        <p:nvPicPr>
          <p:cNvPr id="12303" name="Object 16"/>
          <p:cNvPicPr>
            <a:picLocks noChangeAspect="1"/>
          </p:cNvPicPr>
          <p:nvPr>
            <p:custDataLst>
              <p:tags r:id="rId5"/>
            </p:custDataLst>
          </p:nvPr>
        </p:nvPicPr>
        <p:blipFill>
          <a:blip r:embed="rId6"/>
          <a:stretch>
            <a:fillRect/>
          </a:stretch>
        </p:blipFill>
        <p:spPr>
          <a:xfrm>
            <a:off x="5231765" y="3028315"/>
            <a:ext cx="2022475" cy="772160"/>
          </a:xfrm>
          <a:prstGeom prst="rect">
            <a:avLst/>
          </a:prstGeom>
          <a:solidFill>
            <a:srgbClr val="BBE0E3"/>
          </a:solidFill>
          <a:ln w="38100" cap="flat" cmpd="sng">
            <a:solidFill>
              <a:srgbClr val="9966FF"/>
            </a:solidFill>
            <a:prstDash val="solid"/>
            <a:miter/>
            <a:headEnd type="none" w="med" len="med"/>
            <a:tailEnd type="none" w="med" len="med"/>
          </a:ln>
        </p:spPr>
      </p:pic>
      <p:sp>
        <p:nvSpPr>
          <p:cNvPr id="12296" name="矩形 44"/>
          <p:cNvSpPr/>
          <p:nvPr>
            <p:custDataLst>
              <p:tags r:id="rId7"/>
            </p:custDataLst>
          </p:nvPr>
        </p:nvSpPr>
        <p:spPr>
          <a:xfrm>
            <a:off x="2063115" y="1341120"/>
            <a:ext cx="2214563" cy="339725"/>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90000"/>
              </a:lnSpc>
              <a:spcBef>
                <a:spcPct val="0"/>
              </a:spcBef>
              <a:spcAft>
                <a:spcPct val="35000"/>
              </a:spcAft>
              <a:buClr>
                <a:srgbClr val="FF0000"/>
              </a:buClr>
              <a:buSzPct val="70000"/>
              <a:buFont typeface="Wingdings" panose="05000000000000000000" pitchFamily="2" charset="2"/>
              <a:buChar char="n"/>
            </a:pPr>
            <a:r>
              <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黑体" panose="02010609060101010101" pitchFamily="49" charset="-122"/>
              </a:rPr>
              <a:t> 狭义平稳</a:t>
            </a:r>
            <a:endPar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黑体" panose="02010609060101010101" pitchFamily="49" charset="-122"/>
            </a:endParaRPr>
          </a:p>
        </p:txBody>
      </p:sp>
      <p:sp>
        <p:nvSpPr>
          <p:cNvPr id="12297" name="矩形 18"/>
          <p:cNvSpPr/>
          <p:nvPr>
            <p:custDataLst>
              <p:tags r:id="rId8"/>
            </p:custDataLst>
          </p:nvPr>
        </p:nvSpPr>
        <p:spPr>
          <a:xfrm>
            <a:off x="3431223" y="1312228"/>
            <a:ext cx="4786312" cy="36830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Clr>
                <a:srgbClr val="0000CC"/>
              </a:buClr>
              <a:buSzPct val="60000"/>
              <a:buFont typeface="Wingdings" panose="05000000000000000000" pitchFamily="2" charset="2"/>
              <a:buChar char="l"/>
            </a:pPr>
            <a:r>
              <a:rPr lang="zh-CN" altLang="en-US" sz="1800" b="1" dirty="0">
                <a:solidFill>
                  <a:srgbClr val="000000"/>
                </a:solidFill>
                <a:latin typeface="华文楷体" panose="02010600040101010101" charset="-122"/>
                <a:ea typeface="华文楷体" panose="02010600040101010101" charset="-122"/>
                <a:sym typeface="宋体" pitchFamily="2" charset="-122"/>
              </a:rPr>
              <a:t>它的统计特性与时间起点无关。</a:t>
            </a:r>
            <a:endParaRPr lang="zh-CN" altLang="en-US" sz="1800" b="1" dirty="0">
              <a:solidFill>
                <a:srgbClr val="000000"/>
              </a:solidFill>
              <a:latin typeface="华文楷体" panose="02010600040101010101" charset="-122"/>
              <a:ea typeface="华文楷体" panose="02010600040101010101" charset="-122"/>
              <a:sym typeface="宋体" pitchFamily="2" charset="-122"/>
            </a:endParaRPr>
          </a:p>
        </p:txBody>
      </p:sp>
      <p:sp>
        <p:nvSpPr>
          <p:cNvPr id="12298" name="矩形 19"/>
          <p:cNvSpPr/>
          <p:nvPr>
            <p:custDataLst>
              <p:tags r:id="rId9"/>
            </p:custDataLst>
          </p:nvPr>
        </p:nvSpPr>
        <p:spPr>
          <a:xfrm>
            <a:off x="2711450" y="1612900"/>
            <a:ext cx="4214813" cy="92202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just" defTabSz="914400">
              <a:lnSpc>
                <a:spcPct val="150000"/>
              </a:lnSpc>
              <a:spcBef>
                <a:spcPct val="0"/>
              </a:spcBef>
              <a:buClr>
                <a:srgbClr val="7F7F7F"/>
              </a:buClr>
              <a:buSzPct val="80000"/>
              <a:buFont typeface="Wingdings" panose="05000000000000000000" pitchFamily="2" charset="2"/>
              <a:buChar char="Ø"/>
            </a:pPr>
            <a:r>
              <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 一维分布则与时间</a:t>
            </a:r>
            <a:r>
              <a:rPr lang="en-US" altLang="zh-CN" sz="1800" i="1"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t </a:t>
            </a:r>
            <a:r>
              <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无关： </a:t>
            </a:r>
            <a:endParaRPr lang="en-US" altLang="zh-CN"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endParaRPr>
          </a:p>
          <a:p>
            <a:pPr marL="0" lvl="0" indent="0" algn="just" defTabSz="914400">
              <a:lnSpc>
                <a:spcPct val="150000"/>
              </a:lnSpc>
              <a:spcBef>
                <a:spcPct val="0"/>
              </a:spcBef>
              <a:buClr>
                <a:srgbClr val="7F7F7F"/>
              </a:buClr>
              <a:buSzPct val="80000"/>
              <a:buFont typeface="Wingdings" panose="05000000000000000000" pitchFamily="2" charset="2"/>
              <a:buChar char="Ø"/>
            </a:pPr>
            <a:r>
              <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 二维分布只与间隔</a:t>
            </a:r>
            <a:r>
              <a:rPr lang="zh-CN" altLang="en-US" sz="1800" i="1" dirty="0">
                <a:solidFill>
                  <a:srgbClr val="00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τ</a:t>
            </a:r>
            <a:r>
              <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有关：</a:t>
            </a:r>
            <a:endPar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endParaRPr>
          </a:p>
        </p:txBody>
      </p:sp>
      <p:pic>
        <p:nvPicPr>
          <p:cNvPr id="12301" name="Object 12"/>
          <p:cNvPicPr>
            <a:picLocks noChangeAspect="1"/>
          </p:cNvPicPr>
          <p:nvPr>
            <p:custDataLst>
              <p:tags r:id="rId10"/>
            </p:custDataLst>
          </p:nvPr>
        </p:nvPicPr>
        <p:blipFill>
          <a:blip r:embed="rId11"/>
          <a:stretch>
            <a:fillRect/>
          </a:stretch>
        </p:blipFill>
        <p:spPr>
          <a:xfrm>
            <a:off x="5951855" y="1701165"/>
            <a:ext cx="1689100" cy="370205"/>
          </a:xfrm>
          <a:prstGeom prst="rect">
            <a:avLst/>
          </a:prstGeom>
          <a:solidFill>
            <a:srgbClr val="BBE0E3"/>
          </a:solidFill>
          <a:ln w="9525" cap="flat" cmpd="sng">
            <a:solidFill>
              <a:srgbClr val="000000"/>
            </a:solidFill>
            <a:prstDash val="solid"/>
            <a:miter/>
            <a:headEnd type="none" w="med" len="med"/>
            <a:tailEnd type="none" w="med" len="med"/>
          </a:ln>
        </p:spPr>
      </p:pic>
      <p:pic>
        <p:nvPicPr>
          <p:cNvPr id="12302" name="Object 13"/>
          <p:cNvPicPr>
            <a:picLocks noChangeAspect="1"/>
          </p:cNvPicPr>
          <p:nvPr>
            <p:custDataLst>
              <p:tags r:id="rId12"/>
            </p:custDataLst>
          </p:nvPr>
        </p:nvPicPr>
        <p:blipFill>
          <a:blip r:embed="rId13"/>
          <a:stretch>
            <a:fillRect/>
          </a:stretch>
        </p:blipFill>
        <p:spPr>
          <a:xfrm>
            <a:off x="5807710" y="2180590"/>
            <a:ext cx="2847340" cy="376555"/>
          </a:xfrm>
          <a:prstGeom prst="rect">
            <a:avLst/>
          </a:prstGeom>
          <a:solidFill>
            <a:srgbClr val="BBE0E3"/>
          </a:solidFill>
          <a:ln w="9525" cap="flat" cmpd="sng">
            <a:solidFill>
              <a:srgbClr val="000000"/>
            </a:solidFill>
            <a:prstDash val="solid"/>
            <a:miter/>
            <a:headEnd type="none" w="med" len="med"/>
            <a:tailEnd type="none" w="med" len="med"/>
          </a:ln>
        </p:spPr>
      </p:pic>
      <p:grpSp>
        <p:nvGrpSpPr>
          <p:cNvPr id="13326" name="组合 34"/>
          <p:cNvGrpSpPr/>
          <p:nvPr/>
        </p:nvGrpSpPr>
        <p:grpSpPr>
          <a:xfrm>
            <a:off x="8039735" y="5111750"/>
            <a:ext cx="3560763" cy="1524898"/>
            <a:chOff x="0" y="0"/>
            <a:chExt cx="3560590" cy="1524783"/>
          </a:xfrm>
        </p:grpSpPr>
        <p:sp>
          <p:nvSpPr>
            <p:cNvPr id="12314" name="Rectangle 25"/>
            <p:cNvSpPr/>
            <p:nvPr>
              <p:custDataLst>
                <p:tags r:id="rId14"/>
              </p:custDataLst>
            </p:nvPr>
          </p:nvSpPr>
          <p:spPr>
            <a:xfrm>
              <a:off x="746058" y="1126033"/>
              <a:ext cx="1960785" cy="39875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buClr>
                  <a:schemeClr val="hlink"/>
                </a:buClr>
                <a:buSzPct val="70000"/>
                <a:buFont typeface="Wingdings" panose="05000000000000000000" pitchFamily="2" charset="2"/>
                <a:buNone/>
              </a:pPr>
              <a:r>
                <a:rPr lang="zh-CN" altLang="en-US" sz="2000" dirty="0">
                  <a:solidFill>
                    <a:srgbClr val="0000CC"/>
                  </a:solidFill>
                  <a:latin typeface="华文楷体" panose="02010600040101010101" charset="-122"/>
                  <a:ea typeface="华文楷体" panose="02010600040101010101" charset="-122"/>
                  <a:sym typeface="黑体" panose="02010609060101010101" pitchFamily="49" charset="-122"/>
                </a:rPr>
                <a:t>使计算大为简化</a:t>
              </a:r>
              <a:endParaRPr lang="zh-CN" altLang="en-US" sz="2000" dirty="0">
                <a:solidFill>
                  <a:srgbClr val="0000CC"/>
                </a:solidFill>
                <a:latin typeface="华文楷体" panose="02010600040101010101" charset="-122"/>
                <a:ea typeface="华文楷体" panose="02010600040101010101" charset="-122"/>
                <a:sym typeface="黑体" panose="02010609060101010101" pitchFamily="49" charset="-122"/>
              </a:endParaRPr>
            </a:p>
          </p:txBody>
        </p:sp>
        <p:grpSp>
          <p:nvGrpSpPr>
            <p:cNvPr id="12315" name="组合 33"/>
            <p:cNvGrpSpPr/>
            <p:nvPr/>
          </p:nvGrpSpPr>
          <p:grpSpPr>
            <a:xfrm>
              <a:off x="0" y="0"/>
              <a:ext cx="3560590" cy="1521675"/>
              <a:chOff x="0" y="0"/>
              <a:chExt cx="3560590" cy="1521675"/>
            </a:xfrm>
          </p:grpSpPr>
          <p:sp>
            <p:nvSpPr>
              <p:cNvPr id="12316" name="矩形 26"/>
              <p:cNvSpPr/>
              <p:nvPr>
                <p:custDataLst>
                  <p:tags r:id="rId15"/>
                </p:custDataLst>
              </p:nvPr>
            </p:nvSpPr>
            <p:spPr>
              <a:xfrm>
                <a:off x="0" y="45411"/>
                <a:ext cx="3560590" cy="1476264"/>
              </a:xfrm>
              <a:prstGeom prst="rect">
                <a:avLst/>
              </a:prstGeom>
              <a:noFill/>
              <a:ln w="9525" cap="flat" cmpd="sng">
                <a:solidFill>
                  <a:srgbClr val="A5A5A5"/>
                </a:solidFill>
                <a:prstDash val="solid"/>
                <a:miter/>
                <a:headEnd type="none" w="med" len="med"/>
                <a:tailEnd type="none" w="med" len="med"/>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150000"/>
                  </a:lnSpc>
                  <a:spcBef>
                    <a:spcPct val="0"/>
                  </a:spcBef>
                  <a:buNone/>
                </a:pP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rPr>
                  <a:t> 统计平均值</a:t>
                </a:r>
                <a:r>
                  <a:rPr lang="en-US" altLang="zh-CN" sz="2000" b="1" dirty="0">
                    <a:solidFill>
                      <a:srgbClr val="800080"/>
                    </a:solidFill>
                    <a:latin typeface="华文楷体" panose="02010600040101010101" charset="-122"/>
                    <a:ea typeface="华文楷体" panose="02010600040101010101" charset="-122"/>
                    <a:cs typeface="华文楷体" panose="02010600040101010101" charset="-122"/>
                  </a:rPr>
                  <a:t>=</a:t>
                </a: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rPr>
                  <a:t>时间平均值</a:t>
                </a:r>
                <a:endParaRPr lang="en-US" altLang="zh-CN" sz="2000" b="1" dirty="0">
                  <a:solidFill>
                    <a:srgbClr val="003399"/>
                  </a:solidFill>
                  <a:latin typeface="华文楷体" panose="02010600040101010101" charset="-122"/>
                  <a:ea typeface="华文楷体" panose="02010600040101010101" charset="-122"/>
                  <a:cs typeface="华文楷体" panose="02010600040101010101" charset="-122"/>
                </a:endParaRPr>
              </a:p>
              <a:p>
                <a:pPr marL="0" lvl="0" indent="0" defTabSz="914400">
                  <a:spcBef>
                    <a:spcPct val="0"/>
                  </a:spcBef>
                  <a:buNone/>
                </a:pPr>
                <a:endParaRPr lang="zh-CN" altLang="en-US" sz="2000" b="1" dirty="0">
                  <a:solidFill>
                    <a:srgbClr val="003399"/>
                  </a:solidFill>
                  <a:latin typeface="华文楷体" panose="02010600040101010101" charset="-122"/>
                  <a:ea typeface="华文楷体" panose="02010600040101010101" charset="-122"/>
                  <a:cs typeface="华文楷体" panose="02010600040101010101" charset="-122"/>
                </a:endParaRPr>
              </a:p>
              <a:p>
                <a:pPr marL="0" lvl="0" indent="0" defTabSz="914400">
                  <a:spcBef>
                    <a:spcPct val="0"/>
                  </a:spcBef>
                  <a:buNone/>
                </a:pPr>
                <a:endParaRPr lang="zh-CN" altLang="en-US" sz="2000" b="1" dirty="0">
                  <a:solidFill>
                    <a:srgbClr val="003399"/>
                  </a:solidFill>
                  <a:latin typeface="华文楷体" panose="02010600040101010101" charset="-122"/>
                  <a:ea typeface="华文楷体" panose="02010600040101010101" charset="-122"/>
                  <a:cs typeface="华文楷体" panose="02010600040101010101" charset="-122"/>
                </a:endParaRPr>
              </a:p>
              <a:p>
                <a:pPr marL="0" lvl="0" indent="0" defTabSz="914400">
                  <a:spcBef>
                    <a:spcPct val="0"/>
                  </a:spcBef>
                  <a:buNone/>
                </a:pPr>
                <a:endParaRPr lang="zh-CN" altLang="en-US" sz="2000" b="1" dirty="0">
                  <a:solidFill>
                    <a:srgbClr val="003399"/>
                  </a:solidFill>
                  <a:latin typeface="华文楷体" panose="02010600040101010101" charset="-122"/>
                  <a:ea typeface="华文楷体" panose="02010600040101010101" charset="-122"/>
                  <a:cs typeface="华文楷体" panose="02010600040101010101" charset="-122"/>
                </a:endParaRPr>
              </a:p>
            </p:txBody>
          </p:sp>
          <p:sp>
            <p:nvSpPr>
              <p:cNvPr id="12317" name="矩形 28"/>
              <p:cNvSpPr/>
              <p:nvPr>
                <p:custDataLst>
                  <p:tags r:id="rId16"/>
                </p:custDataLst>
              </p:nvPr>
            </p:nvSpPr>
            <p:spPr>
              <a:xfrm>
                <a:off x="1516951" y="880926"/>
                <a:ext cx="640049" cy="368272"/>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zh-CN" altLang="en-US" sz="1800" dirty="0">
                    <a:solidFill>
                      <a:srgbClr val="800080"/>
                    </a:solidFill>
                    <a:latin typeface="华文楷体" panose="02010600040101010101" charset="-122"/>
                    <a:ea typeface="华文楷体" panose="02010600040101010101" charset="-122"/>
                    <a:sym typeface="微软雅黑" panose="020B0503020204020204" pitchFamily="34" charset="-122"/>
                  </a:rPr>
                  <a:t>替代</a:t>
                </a:r>
                <a:endParaRPr lang="zh-CN" altLang="en-US" sz="1800" dirty="0">
                  <a:solidFill>
                    <a:srgbClr val="800080"/>
                  </a:solidFill>
                  <a:latin typeface="华文楷体" panose="02010600040101010101" charset="-122"/>
                  <a:ea typeface="华文楷体" panose="02010600040101010101" charset="-122"/>
                  <a:sym typeface="微软雅黑" panose="020B0503020204020204" pitchFamily="34" charset="-122"/>
                </a:endParaRPr>
              </a:p>
            </p:txBody>
          </p:sp>
          <p:sp>
            <p:nvSpPr>
              <p:cNvPr id="12318" name="Freeform 10"/>
              <p:cNvSpPr/>
              <p:nvPr>
                <p:custDataLst>
                  <p:tags r:id="rId17"/>
                </p:custDataLst>
              </p:nvPr>
            </p:nvSpPr>
            <p:spPr>
              <a:xfrm rot="-2698076">
                <a:off x="1261805" y="0"/>
                <a:ext cx="1333471" cy="1091885"/>
              </a:xfrm>
              <a:custGeom>
                <a:avLst/>
                <a:gdLst>
                  <a:gd name="txL" fmla="*/ 0 w 1612"/>
                  <a:gd name="txT" fmla="*/ 0 h 1618"/>
                  <a:gd name="txR" fmla="*/ 1612 w 1612"/>
                  <a:gd name="txB" fmla="*/ 1618 h 161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612" h="1618">
                    <a:moveTo>
                      <a:pt x="464" y="966"/>
                    </a:moveTo>
                    <a:lnTo>
                      <a:pt x="464" y="966"/>
                    </a:lnTo>
                    <a:lnTo>
                      <a:pt x="418" y="892"/>
                    </a:lnTo>
                    <a:lnTo>
                      <a:pt x="378" y="822"/>
                    </a:lnTo>
                    <a:lnTo>
                      <a:pt x="342" y="754"/>
                    </a:lnTo>
                    <a:lnTo>
                      <a:pt x="310" y="690"/>
                    </a:lnTo>
                    <a:lnTo>
                      <a:pt x="280" y="630"/>
                    </a:lnTo>
                    <a:lnTo>
                      <a:pt x="256" y="572"/>
                    </a:lnTo>
                    <a:lnTo>
                      <a:pt x="234" y="520"/>
                    </a:lnTo>
                    <a:lnTo>
                      <a:pt x="214" y="472"/>
                    </a:lnTo>
                    <a:lnTo>
                      <a:pt x="184" y="390"/>
                    </a:lnTo>
                    <a:lnTo>
                      <a:pt x="166" y="328"/>
                    </a:lnTo>
                    <a:lnTo>
                      <a:pt x="156" y="290"/>
                    </a:lnTo>
                    <a:lnTo>
                      <a:pt x="152" y="276"/>
                    </a:lnTo>
                    <a:lnTo>
                      <a:pt x="244" y="300"/>
                    </a:lnTo>
                    <a:lnTo>
                      <a:pt x="34" y="0"/>
                    </a:lnTo>
                    <a:lnTo>
                      <a:pt x="0" y="396"/>
                    </a:lnTo>
                    <a:lnTo>
                      <a:pt x="82" y="294"/>
                    </a:lnTo>
                    <a:lnTo>
                      <a:pt x="86" y="308"/>
                    </a:lnTo>
                    <a:lnTo>
                      <a:pt x="98" y="350"/>
                    </a:lnTo>
                    <a:lnTo>
                      <a:pt x="120" y="414"/>
                    </a:lnTo>
                    <a:lnTo>
                      <a:pt x="152" y="500"/>
                    </a:lnTo>
                    <a:lnTo>
                      <a:pt x="174" y="550"/>
                    </a:lnTo>
                    <a:lnTo>
                      <a:pt x="200" y="604"/>
                    </a:lnTo>
                    <a:lnTo>
                      <a:pt x="228" y="662"/>
                    </a:lnTo>
                    <a:lnTo>
                      <a:pt x="260" y="722"/>
                    </a:lnTo>
                    <a:lnTo>
                      <a:pt x="296" y="788"/>
                    </a:lnTo>
                    <a:lnTo>
                      <a:pt x="336" y="856"/>
                    </a:lnTo>
                    <a:lnTo>
                      <a:pt x="382" y="926"/>
                    </a:lnTo>
                    <a:lnTo>
                      <a:pt x="430" y="998"/>
                    </a:lnTo>
                    <a:lnTo>
                      <a:pt x="472" y="1052"/>
                    </a:lnTo>
                    <a:lnTo>
                      <a:pt x="514" y="1104"/>
                    </a:lnTo>
                    <a:lnTo>
                      <a:pt x="558" y="1152"/>
                    </a:lnTo>
                    <a:lnTo>
                      <a:pt x="602" y="1196"/>
                    </a:lnTo>
                    <a:lnTo>
                      <a:pt x="650" y="1238"/>
                    </a:lnTo>
                    <a:lnTo>
                      <a:pt x="696" y="1278"/>
                    </a:lnTo>
                    <a:lnTo>
                      <a:pt x="744" y="1314"/>
                    </a:lnTo>
                    <a:lnTo>
                      <a:pt x="794" y="1348"/>
                    </a:lnTo>
                    <a:lnTo>
                      <a:pt x="842" y="1380"/>
                    </a:lnTo>
                    <a:lnTo>
                      <a:pt x="892" y="1408"/>
                    </a:lnTo>
                    <a:lnTo>
                      <a:pt x="942" y="1434"/>
                    </a:lnTo>
                    <a:lnTo>
                      <a:pt x="990" y="1458"/>
                    </a:lnTo>
                    <a:lnTo>
                      <a:pt x="1038" y="1480"/>
                    </a:lnTo>
                    <a:lnTo>
                      <a:pt x="1086" y="1500"/>
                    </a:lnTo>
                    <a:lnTo>
                      <a:pt x="1134" y="1518"/>
                    </a:lnTo>
                    <a:lnTo>
                      <a:pt x="1180" y="1534"/>
                    </a:lnTo>
                    <a:lnTo>
                      <a:pt x="1224" y="1548"/>
                    </a:lnTo>
                    <a:lnTo>
                      <a:pt x="1268" y="1560"/>
                    </a:lnTo>
                    <a:lnTo>
                      <a:pt x="1350" y="1580"/>
                    </a:lnTo>
                    <a:lnTo>
                      <a:pt x="1424" y="1596"/>
                    </a:lnTo>
                    <a:lnTo>
                      <a:pt x="1486" y="1606"/>
                    </a:lnTo>
                    <a:lnTo>
                      <a:pt x="1540" y="1612"/>
                    </a:lnTo>
                    <a:lnTo>
                      <a:pt x="1578" y="1616"/>
                    </a:lnTo>
                    <a:lnTo>
                      <a:pt x="1612" y="1618"/>
                    </a:lnTo>
                    <a:lnTo>
                      <a:pt x="1580" y="1616"/>
                    </a:lnTo>
                    <a:lnTo>
                      <a:pt x="1540" y="1612"/>
                    </a:lnTo>
                    <a:lnTo>
                      <a:pt x="1488" y="1606"/>
                    </a:lnTo>
                    <a:lnTo>
                      <a:pt x="1426" y="1594"/>
                    </a:lnTo>
                    <a:lnTo>
                      <a:pt x="1354" y="1578"/>
                    </a:lnTo>
                    <a:lnTo>
                      <a:pt x="1274" y="1558"/>
                    </a:lnTo>
                    <a:lnTo>
                      <a:pt x="1230" y="1544"/>
                    </a:lnTo>
                    <a:lnTo>
                      <a:pt x="1186" y="1530"/>
                    </a:lnTo>
                    <a:lnTo>
                      <a:pt x="1142" y="1512"/>
                    </a:lnTo>
                    <a:lnTo>
                      <a:pt x="1096" y="1494"/>
                    </a:lnTo>
                    <a:lnTo>
                      <a:pt x="1048" y="1474"/>
                    </a:lnTo>
                    <a:lnTo>
                      <a:pt x="1002" y="1450"/>
                    </a:lnTo>
                    <a:lnTo>
                      <a:pt x="954" y="1426"/>
                    </a:lnTo>
                    <a:lnTo>
                      <a:pt x="906" y="1398"/>
                    </a:lnTo>
                    <a:lnTo>
                      <a:pt x="858" y="1368"/>
                    </a:lnTo>
                    <a:lnTo>
                      <a:pt x="810" y="1336"/>
                    </a:lnTo>
                    <a:lnTo>
                      <a:pt x="764" y="1300"/>
                    </a:lnTo>
                    <a:lnTo>
                      <a:pt x="718" y="1262"/>
                    </a:lnTo>
                    <a:lnTo>
                      <a:pt x="672" y="1220"/>
                    </a:lnTo>
                    <a:lnTo>
                      <a:pt x="626" y="1176"/>
                    </a:lnTo>
                    <a:lnTo>
                      <a:pt x="584" y="1128"/>
                    </a:lnTo>
                    <a:lnTo>
                      <a:pt x="542" y="1078"/>
                    </a:lnTo>
                    <a:lnTo>
                      <a:pt x="502" y="1024"/>
                    </a:lnTo>
                    <a:lnTo>
                      <a:pt x="464" y="966"/>
                    </a:lnTo>
                    <a:close/>
                  </a:path>
                </a:pathLst>
              </a:custGeom>
              <a:solidFill>
                <a:srgbClr val="601986">
                  <a:alpha val="100000"/>
                </a:srgbClr>
              </a:solidFill>
              <a:ln w="9525">
                <a:noFill/>
              </a:ln>
            </p:spPr>
            <p:txBody>
              <a:bodyPr/>
              <a:p>
                <a:endParaRPr lang="zh-CN" altLang="en-US" sz="1600">
                  <a:latin typeface="华文楷体" panose="02010600040101010101" charset="-122"/>
                  <a:ea typeface="华文楷体" panose="02010600040101010101" charset="-122"/>
                </a:endParaRPr>
              </a:p>
            </p:txBody>
          </p:sp>
        </p:grpSp>
      </p:grpSp>
      <p:sp>
        <p:nvSpPr>
          <p:cNvPr id="13338" name="椭圆 30"/>
          <p:cNvSpPr/>
          <p:nvPr>
            <p:custDataLst>
              <p:tags r:id="rId18"/>
            </p:custDataLst>
          </p:nvPr>
        </p:nvSpPr>
        <p:spPr>
          <a:xfrm>
            <a:off x="7857173" y="4611688"/>
            <a:ext cx="928687" cy="571500"/>
          </a:xfrm>
          <a:prstGeom prst="ellipse">
            <a:avLst/>
          </a:prstGeom>
          <a:solidFill>
            <a:srgbClr val="F1F1F1"/>
          </a:solidFill>
          <a:ln w="9525" cap="flat" cmpd="sng">
            <a:solidFill>
              <a:srgbClr val="666666"/>
            </a:solidFill>
            <a:prstDash val="solid"/>
            <a:headEnd type="none" w="med" len="med"/>
            <a:tailEnd type="none" w="med" len="med"/>
          </a:ln>
        </p:spPr>
        <p:txBody>
          <a:bodyPr wrap="none"/>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endParaRPr lang="zh-CN" altLang="zh-CN" sz="1800" dirty="0">
              <a:solidFill>
                <a:srgbClr val="000000"/>
              </a:solidFill>
              <a:latin typeface="华文楷体" panose="02010600040101010101" charset="-122"/>
              <a:ea typeface="华文楷体" panose="02010600040101010101" charset="-122"/>
            </a:endParaRPr>
          </a:p>
        </p:txBody>
      </p:sp>
      <p:sp>
        <p:nvSpPr>
          <p:cNvPr id="13339" name="矩形 24"/>
          <p:cNvSpPr/>
          <p:nvPr>
            <p:custDataLst>
              <p:tags r:id="rId19"/>
            </p:custDataLst>
          </p:nvPr>
        </p:nvSpPr>
        <p:spPr>
          <a:xfrm>
            <a:off x="7857173" y="4683125"/>
            <a:ext cx="946150" cy="39878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zh-CN" altLang="en-US" sz="2000" b="1" dirty="0">
                <a:solidFill>
                  <a:srgbClr val="0000CC"/>
                </a:solidFill>
                <a:latin typeface="华文楷体" panose="02010600040101010101" charset="-122"/>
                <a:ea typeface="华文楷体" panose="02010600040101010101" charset="-122"/>
                <a:sym typeface="黑体" panose="02010609060101010101" pitchFamily="49" charset="-122"/>
              </a:rPr>
              <a:t>意义</a:t>
            </a:r>
            <a:r>
              <a:rPr lang="zh-CN" altLang="en-US" sz="2000" dirty="0">
                <a:solidFill>
                  <a:srgbClr val="0000CC"/>
                </a:solidFill>
                <a:latin typeface="华文楷体" panose="02010600040101010101" charset="-122"/>
                <a:ea typeface="华文楷体" panose="02010600040101010101" charset="-122"/>
                <a:sym typeface="黑体" panose="02010609060101010101" pitchFamily="49" charset="-122"/>
              </a:rPr>
              <a:t>：</a:t>
            </a:r>
            <a:endParaRPr lang="zh-CN" altLang="en-US" sz="2000" dirty="0">
              <a:solidFill>
                <a:srgbClr val="0000CC"/>
              </a:solidFill>
              <a:latin typeface="华文楷体" panose="02010600040101010101" charset="-122"/>
              <a:ea typeface="华文楷体" panose="02010600040101010101" charset="-122"/>
              <a:sym typeface="黑体" panose="02010609060101010101" pitchFamily="49" charset="-122"/>
            </a:endParaRPr>
          </a:p>
        </p:txBody>
      </p:sp>
      <p:pic>
        <p:nvPicPr>
          <p:cNvPr id="13322" name="Object 15"/>
          <p:cNvPicPr>
            <a:picLocks noChangeAspect="1"/>
          </p:cNvPicPr>
          <p:nvPr>
            <p:custDataLst>
              <p:tags r:id="rId20"/>
            </p:custDataLst>
          </p:nvPr>
        </p:nvPicPr>
        <p:blipFill>
          <a:blip r:embed="rId21"/>
          <a:stretch>
            <a:fillRect/>
          </a:stretch>
        </p:blipFill>
        <p:spPr>
          <a:xfrm>
            <a:off x="3647123" y="4959668"/>
            <a:ext cx="3757612" cy="1571625"/>
          </a:xfrm>
          <a:prstGeom prst="rect">
            <a:avLst/>
          </a:prstGeom>
          <a:solidFill>
            <a:srgbClr val="BBE0E3"/>
          </a:solidFill>
          <a:ln w="38100" cap="flat" cmpd="sng">
            <a:solidFill>
              <a:srgbClr val="6666FF"/>
            </a:solidFill>
            <a:prstDash val="solid"/>
            <a:miter/>
            <a:headEnd type="none" w="med" len="med"/>
            <a:tailEnd type="none" w="med" len="med"/>
          </a:ln>
        </p:spPr>
      </p:pic>
      <p:pic>
        <p:nvPicPr>
          <p:cNvPr id="13323" name="Object 4"/>
          <p:cNvPicPr>
            <a:picLocks noChangeAspect="1"/>
          </p:cNvPicPr>
          <p:nvPr>
            <p:custDataLst>
              <p:tags r:id="rId22"/>
            </p:custDataLst>
          </p:nvPr>
        </p:nvPicPr>
        <p:blipFill>
          <a:blip r:embed="rId23"/>
          <a:stretch>
            <a:fillRect/>
          </a:stretch>
        </p:blipFill>
        <p:spPr>
          <a:xfrm>
            <a:off x="761048" y="5245418"/>
            <a:ext cx="1833562" cy="1000125"/>
          </a:xfrm>
          <a:prstGeom prst="rect">
            <a:avLst/>
          </a:prstGeom>
          <a:solidFill>
            <a:srgbClr val="BBE0E3"/>
          </a:solidFill>
          <a:ln w="38100" cap="flat" cmpd="sng">
            <a:solidFill>
              <a:srgbClr val="CC99FF"/>
            </a:solidFill>
            <a:prstDash val="solid"/>
            <a:miter/>
            <a:headEnd type="none" w="med" len="med"/>
            <a:tailEnd type="none" w="med" len="med"/>
          </a:ln>
        </p:spPr>
      </p:pic>
      <p:cxnSp>
        <p:nvCxnSpPr>
          <p:cNvPr id="13332" name="直接箭头连接符 38"/>
          <p:cNvCxnSpPr/>
          <p:nvPr>
            <p:custDataLst>
              <p:tags r:id="rId24"/>
            </p:custDataLst>
          </p:nvPr>
        </p:nvCxnSpPr>
        <p:spPr>
          <a:xfrm rot="10800000">
            <a:off x="2661285" y="5745480"/>
            <a:ext cx="857250" cy="1588"/>
          </a:xfrm>
          <a:prstGeom prst="straightConnector1">
            <a:avLst/>
          </a:prstGeom>
          <a:ln w="28575" cap="flat" cmpd="sng">
            <a:solidFill>
              <a:srgbClr val="9933FF"/>
            </a:solidFill>
            <a:prstDash val="solid"/>
            <a:headEnd type="none" w="med" len="med"/>
            <a:tailEnd type="arrow" w="med" len="med"/>
          </a:ln>
        </p:spPr>
      </p:cxnSp>
      <p:sp>
        <p:nvSpPr>
          <p:cNvPr id="13337" name="圆角矩形 27"/>
          <p:cNvSpPr/>
          <p:nvPr>
            <p:custDataLst>
              <p:tags r:id="rId25"/>
            </p:custDataLst>
          </p:nvPr>
        </p:nvSpPr>
        <p:spPr>
          <a:xfrm>
            <a:off x="3618548" y="5016818"/>
            <a:ext cx="3857625" cy="1500187"/>
          </a:xfrm>
          <a:prstGeom prst="roundRect">
            <a:avLst>
              <a:gd name="adj" fmla="val 16667"/>
            </a:avLst>
          </a:prstGeom>
          <a:noFill/>
          <a:ln w="12700" cap="flat" cmpd="sng">
            <a:solidFill>
              <a:srgbClr val="003399"/>
            </a:solidFill>
            <a:prstDash val="dash"/>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2000" dirty="0">
              <a:solidFill>
                <a:srgbClr val="FFFFFF"/>
              </a:solidFill>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608330" y="836930"/>
            <a:ext cx="11272520" cy="775970"/>
          </a:xfrm>
        </p:spPr>
        <p:txBody>
          <a:bodyPr/>
          <a:p>
            <a:r>
              <a:rPr lang="zh-CN" altLang="en-US" sz="2400" b="1">
                <a:latin typeface="华文楷体" panose="02010600040101010101" charset="-122"/>
                <a:ea typeface="华文楷体" panose="02010600040101010101" charset="-122"/>
                <a:cs typeface="华文楷体" panose="02010600040101010101" charset="-122"/>
              </a:rPr>
              <a:t>平稳随机过程</a:t>
            </a:r>
            <a:endParaRPr lang="zh-CN" altLang="en-US" sz="2400" b="1">
              <a:latin typeface="华文楷体" panose="02010600040101010101" charset="-122"/>
              <a:ea typeface="华文楷体" panose="02010600040101010101" charset="-122"/>
              <a:cs typeface="华文楷体" panose="02010600040101010101" charset="-122"/>
            </a:endParaRPr>
          </a:p>
          <a:p>
            <a:pPr lvl="1"/>
            <a:r>
              <a:rPr lang="zh-CN" altLang="en-US" sz="2100" b="1">
                <a:latin typeface="华文楷体" panose="02010600040101010101" charset="-122"/>
                <a:ea typeface="华文楷体" panose="02010600040101010101" charset="-122"/>
                <a:cs typeface="华文楷体" panose="02010600040101010101" charset="-122"/>
              </a:rPr>
              <a:t>重要</a:t>
            </a:r>
            <a:r>
              <a:rPr lang="zh-CN" altLang="en-US" sz="2100" b="1">
                <a:latin typeface="华文楷体" panose="02010600040101010101" charset="-122"/>
                <a:ea typeface="华文楷体" panose="02010600040101010101" charset="-122"/>
                <a:cs typeface="华文楷体" panose="02010600040101010101" charset="-122"/>
              </a:rPr>
              <a:t>性质</a:t>
            </a:r>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endParaRPr lang="zh-CN" altLang="en-US" sz="2100" b="1">
              <a:latin typeface="华文楷体" panose="02010600040101010101" charset="-122"/>
              <a:ea typeface="华文楷体" panose="02010600040101010101" charset="-122"/>
              <a:cs typeface="华文楷体" panose="02010600040101010101" charset="-122"/>
            </a:endParaRPr>
          </a:p>
          <a:p>
            <a:pPr lvl="1"/>
            <a:r>
              <a:rPr lang="zh-CN" altLang="en-US" sz="2100" b="1">
                <a:latin typeface="华文楷体" panose="02010600040101010101" charset="-122"/>
                <a:ea typeface="华文楷体" panose="02010600040101010101" charset="-122"/>
                <a:cs typeface="华文楷体" panose="02010600040101010101" charset="-122"/>
              </a:rPr>
              <a:t>维纳</a:t>
            </a:r>
            <a:r>
              <a:rPr lang="en-US" altLang="zh-CN" sz="2100" b="1">
                <a:latin typeface="华文楷体" panose="02010600040101010101" charset="-122"/>
                <a:ea typeface="华文楷体" panose="02010600040101010101" charset="-122"/>
                <a:cs typeface="华文楷体" panose="02010600040101010101" charset="-122"/>
              </a:rPr>
              <a:t>-</a:t>
            </a:r>
            <a:r>
              <a:rPr lang="zh-CN" altLang="en-US" sz="2100" b="1">
                <a:latin typeface="华文楷体" panose="02010600040101010101" charset="-122"/>
                <a:ea typeface="华文楷体" panose="02010600040101010101" charset="-122"/>
                <a:cs typeface="华文楷体" panose="02010600040101010101" charset="-122"/>
              </a:rPr>
              <a:t>辛钦</a:t>
            </a:r>
            <a:r>
              <a:rPr lang="zh-CN" altLang="en-US" sz="2100" b="1">
                <a:latin typeface="华文楷体" panose="02010600040101010101" charset="-122"/>
                <a:ea typeface="华文楷体" panose="02010600040101010101" charset="-122"/>
                <a:cs typeface="华文楷体" panose="02010600040101010101" charset="-122"/>
              </a:rPr>
              <a:t>定理</a:t>
            </a:r>
            <a:endParaRPr lang="zh-CN" altLang="en-US" sz="2100" b="1">
              <a:latin typeface="华文楷体" panose="02010600040101010101" charset="-122"/>
              <a:ea typeface="华文楷体" panose="02010600040101010101" charset="-122"/>
              <a:cs typeface="华文楷体" panose="02010600040101010101" charset="-122"/>
            </a:endParaRPr>
          </a:p>
        </p:txBody>
      </p:sp>
      <p:sp>
        <p:nvSpPr>
          <p:cNvPr id="14338" name="Rectangle 2"/>
          <p:cNvSpPr>
            <a:spLocks noGrp="1"/>
          </p:cNvSpPr>
          <p:nvPr>
            <p:custDataLst>
              <p:tags r:id="rId3"/>
            </p:custDataLst>
          </p:nvPr>
        </p:nvSpPr>
        <p:spPr>
          <a:xfrm>
            <a:off x="1513523" y="1810703"/>
            <a:ext cx="995362" cy="32639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90204" pitchFamily="34" charset="0"/>
              <a:buChar char="•"/>
              <a:defRPr sz="3200">
                <a:solidFill>
                  <a:schemeClr val="tx1"/>
                </a:solidFill>
                <a:latin typeface="华文楷体" panose="02010600040101010101" charset="-122"/>
                <a:ea typeface="华文楷体" panose="02010600040101010101" charset="-122"/>
                <a:cs typeface="+mn-cs"/>
              </a:defRPr>
            </a:lvl1pPr>
            <a:lvl2pPr marL="742950" indent="-285750" algn="l" rtl="0" eaLnBrk="0" fontAlgn="base" hangingPunct="0">
              <a:spcBef>
                <a:spcPct val="20000"/>
              </a:spcBef>
              <a:spcAft>
                <a:spcPct val="0"/>
              </a:spcAft>
              <a:buFont typeface="Arial" panose="020B0604020202090204" pitchFamily="34" charset="0"/>
              <a:buChar char="–"/>
              <a:defRPr sz="2800">
                <a:solidFill>
                  <a:schemeClr val="tx1"/>
                </a:solidFill>
                <a:latin typeface="华文楷体" panose="02010600040101010101" charset="-122"/>
                <a:ea typeface="华文楷体" panose="02010600040101010101" charset="-122"/>
              </a:defRPr>
            </a:lvl2pPr>
            <a:lvl3pPr marL="1143000" indent="-228600" algn="l" rtl="0" eaLnBrk="0" fontAlgn="base" hangingPunct="0">
              <a:spcBef>
                <a:spcPct val="20000"/>
              </a:spcBef>
              <a:spcAft>
                <a:spcPct val="0"/>
              </a:spcAft>
              <a:buFont typeface="Arial" panose="020B0604020202090204" pitchFamily="34" charset="0"/>
              <a:buChar char="•"/>
              <a:defRPr sz="2400">
                <a:solidFill>
                  <a:schemeClr val="tx1"/>
                </a:solidFill>
                <a:latin typeface="华文楷体" panose="02010600040101010101" charset="-122"/>
                <a:ea typeface="华文楷体" panose="02010600040101010101" charset="-122"/>
              </a:defRPr>
            </a:lvl3pPr>
            <a:lvl4pPr marL="16002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华文楷体" panose="02010600040101010101" charset="-122"/>
                <a:ea typeface="华文楷体" panose="02010600040101010101" charset="-122"/>
              </a:defRPr>
            </a:lvl4pPr>
            <a:lvl5pPr marL="20574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华文楷体" panose="02010600040101010101" charset="-122"/>
                <a:ea typeface="华文楷体" panose="02010600040101010101" charset="-122"/>
              </a:defRPr>
            </a:lvl5pPr>
            <a:lvl6pPr marL="25146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90204" pitchFamily="34" charset="0"/>
              <a:buChar char="»"/>
              <a:defRPr sz="2000">
                <a:solidFill>
                  <a:schemeClr val="tx1"/>
                </a:solidFill>
                <a:latin typeface="+mn-lt"/>
                <a:ea typeface="+mn-ea"/>
              </a:defRPr>
            </a:lvl9pPr>
          </a:lstStyle>
          <a:p>
            <a:pPr marL="0" indent="0" algn="just" defTabSz="0" eaLnBrk="1" hangingPunct="1">
              <a:lnSpc>
                <a:spcPct val="150000"/>
              </a:lnSpc>
              <a:buClrTx/>
              <a:buSzTx/>
              <a:buFont typeface="Wingdings" panose="05000000000000000000" pitchFamily="2" charset="2"/>
              <a:buNone/>
            </a:pPr>
            <a:r>
              <a:rPr lang="zh-CN" altLang="en-US" sz="2000" kern="1200" dirty="0">
                <a:cs typeface="华文楷体" panose="02010600040101010101" charset="-122"/>
                <a:sym typeface="Times New Roman" panose="02020603050405020304" pitchFamily="18" charset="0"/>
              </a:rPr>
              <a:t>（</a:t>
            </a:r>
            <a:r>
              <a:rPr lang="en-US" altLang="zh-CN" sz="2000" kern="1200" dirty="0">
                <a:cs typeface="华文楷体" panose="02010600040101010101" charset="-122"/>
                <a:sym typeface="Times New Roman" panose="02020603050405020304" pitchFamily="18" charset="0"/>
              </a:rPr>
              <a:t>1</a:t>
            </a:r>
            <a:r>
              <a:rPr lang="zh-CN" altLang="en-US" sz="2000" kern="1200" dirty="0">
                <a:cs typeface="华文楷体" panose="02010600040101010101" charset="-122"/>
                <a:sym typeface="Times New Roman" panose="02020603050405020304" pitchFamily="18" charset="0"/>
              </a:rPr>
              <a:t>）</a:t>
            </a:r>
            <a:endParaRPr lang="zh-CN" altLang="en-US" sz="2000" kern="1200" dirty="0">
              <a:cs typeface="华文楷体" panose="02010600040101010101" charset="-122"/>
              <a:sym typeface="Times New Roman" panose="02020603050405020304" pitchFamily="18" charset="0"/>
            </a:endParaRPr>
          </a:p>
          <a:p>
            <a:pPr marL="0" indent="0" algn="just" defTabSz="0" eaLnBrk="1" hangingPunct="1">
              <a:lnSpc>
                <a:spcPct val="150000"/>
              </a:lnSpc>
              <a:buClrTx/>
              <a:buSzTx/>
              <a:buFont typeface="Wingdings" panose="05000000000000000000" pitchFamily="2" charset="2"/>
              <a:buNone/>
            </a:pPr>
            <a:r>
              <a:rPr lang="zh-CN" altLang="en-US" sz="2000" kern="1200" dirty="0">
                <a:cs typeface="华文楷体" panose="02010600040101010101" charset="-122"/>
                <a:sym typeface="Times New Roman" panose="02020603050405020304" pitchFamily="18" charset="0"/>
              </a:rPr>
              <a:t>（</a:t>
            </a:r>
            <a:r>
              <a:rPr lang="en-US" altLang="zh-CN" sz="2000" kern="1200" dirty="0">
                <a:cs typeface="华文楷体" panose="02010600040101010101" charset="-122"/>
                <a:sym typeface="Times New Roman" panose="02020603050405020304" pitchFamily="18" charset="0"/>
              </a:rPr>
              <a:t>2</a:t>
            </a:r>
            <a:r>
              <a:rPr lang="zh-CN" altLang="en-US" sz="2000" kern="1200" dirty="0">
                <a:cs typeface="华文楷体" panose="02010600040101010101" charset="-122"/>
                <a:sym typeface="Times New Roman" panose="02020603050405020304" pitchFamily="18" charset="0"/>
              </a:rPr>
              <a:t>）</a:t>
            </a:r>
            <a:endParaRPr lang="zh-CN" altLang="en-US" sz="2000" kern="1200" dirty="0">
              <a:cs typeface="华文楷体" panose="02010600040101010101" charset="-122"/>
              <a:sym typeface="Times New Roman" panose="02020603050405020304" pitchFamily="18" charset="0"/>
            </a:endParaRPr>
          </a:p>
          <a:p>
            <a:pPr marL="0" indent="0" algn="just" defTabSz="0" eaLnBrk="1" hangingPunct="1">
              <a:lnSpc>
                <a:spcPct val="150000"/>
              </a:lnSpc>
              <a:buClrTx/>
              <a:buSzTx/>
              <a:buFont typeface="Wingdings" panose="05000000000000000000" pitchFamily="2" charset="2"/>
              <a:buNone/>
            </a:pPr>
            <a:r>
              <a:rPr lang="zh-CN" altLang="en-US" sz="2000" kern="1200" dirty="0">
                <a:cs typeface="华文楷体" panose="02010600040101010101" charset="-122"/>
                <a:sym typeface="Times New Roman" panose="02020603050405020304" pitchFamily="18" charset="0"/>
              </a:rPr>
              <a:t>（</a:t>
            </a:r>
            <a:r>
              <a:rPr lang="en-US" altLang="zh-CN" sz="2000" kern="1200" dirty="0">
                <a:cs typeface="华文楷体" panose="02010600040101010101" charset="-122"/>
                <a:sym typeface="Times New Roman" panose="02020603050405020304" pitchFamily="18" charset="0"/>
              </a:rPr>
              <a:t>3</a:t>
            </a:r>
            <a:r>
              <a:rPr lang="zh-CN" altLang="en-US" sz="2000" kern="1200" dirty="0">
                <a:cs typeface="华文楷体" panose="02010600040101010101" charset="-122"/>
                <a:sym typeface="Times New Roman" panose="02020603050405020304" pitchFamily="18" charset="0"/>
              </a:rPr>
              <a:t>）</a:t>
            </a:r>
            <a:endParaRPr lang="zh-CN" altLang="en-US" sz="2000" kern="1200" dirty="0">
              <a:cs typeface="华文楷体" panose="02010600040101010101" charset="-122"/>
              <a:sym typeface="Times New Roman" panose="02020603050405020304" pitchFamily="18" charset="0"/>
            </a:endParaRPr>
          </a:p>
          <a:p>
            <a:pPr marL="0" indent="0" algn="just" defTabSz="0" eaLnBrk="1" hangingPunct="1">
              <a:lnSpc>
                <a:spcPct val="150000"/>
              </a:lnSpc>
              <a:buClrTx/>
              <a:buSzTx/>
              <a:buFont typeface="Wingdings" panose="05000000000000000000" pitchFamily="2" charset="2"/>
              <a:buNone/>
            </a:pPr>
            <a:r>
              <a:rPr lang="zh-CN" altLang="en-US" sz="2000" kern="1200" dirty="0">
                <a:cs typeface="华文楷体" panose="02010600040101010101" charset="-122"/>
                <a:sym typeface="Times New Roman" panose="02020603050405020304" pitchFamily="18" charset="0"/>
              </a:rPr>
              <a:t>（</a:t>
            </a:r>
            <a:r>
              <a:rPr lang="en-US" altLang="zh-CN" sz="2000" kern="1200" dirty="0">
                <a:cs typeface="华文楷体" panose="02010600040101010101" charset="-122"/>
                <a:sym typeface="Times New Roman" panose="02020603050405020304" pitchFamily="18" charset="0"/>
              </a:rPr>
              <a:t>4</a:t>
            </a:r>
            <a:r>
              <a:rPr lang="zh-CN" altLang="en-US" sz="2000" kern="1200" dirty="0">
                <a:cs typeface="华文楷体" panose="02010600040101010101" charset="-122"/>
                <a:sym typeface="Times New Roman" panose="02020603050405020304" pitchFamily="18" charset="0"/>
              </a:rPr>
              <a:t>）</a:t>
            </a:r>
            <a:endParaRPr lang="zh-CN" altLang="en-US" sz="2000" kern="1200" dirty="0">
              <a:cs typeface="华文楷体" panose="02010600040101010101" charset="-122"/>
              <a:sym typeface="Times New Roman" panose="02020603050405020304" pitchFamily="18" charset="0"/>
            </a:endParaRPr>
          </a:p>
          <a:p>
            <a:pPr marL="0" indent="0" algn="just" defTabSz="0" eaLnBrk="1" hangingPunct="1">
              <a:lnSpc>
                <a:spcPct val="150000"/>
              </a:lnSpc>
              <a:buClrTx/>
              <a:buSzTx/>
              <a:buFont typeface="Wingdings" panose="05000000000000000000" pitchFamily="2" charset="2"/>
              <a:buNone/>
            </a:pPr>
            <a:r>
              <a:rPr lang="zh-CN" altLang="en-US" sz="2000" kern="1200" dirty="0">
                <a:cs typeface="华文楷体" panose="02010600040101010101" charset="-122"/>
                <a:sym typeface="Times New Roman" panose="02020603050405020304" pitchFamily="18" charset="0"/>
              </a:rPr>
              <a:t>（</a:t>
            </a:r>
            <a:r>
              <a:rPr lang="en-US" altLang="zh-CN" sz="2000" kern="1200" dirty="0">
                <a:cs typeface="华文楷体" panose="02010600040101010101" charset="-122"/>
                <a:sym typeface="Times New Roman" panose="02020603050405020304" pitchFamily="18" charset="0"/>
              </a:rPr>
              <a:t>5</a:t>
            </a:r>
            <a:r>
              <a:rPr lang="zh-CN" altLang="en-US" sz="2000" kern="1200" dirty="0">
                <a:cs typeface="华文楷体" panose="02010600040101010101" charset="-122"/>
                <a:sym typeface="Times New Roman" panose="02020603050405020304" pitchFamily="18" charset="0"/>
              </a:rPr>
              <a:t>）</a:t>
            </a:r>
            <a:endParaRPr lang="zh-CN" altLang="en-US" sz="2000" kern="1200" dirty="0">
              <a:cs typeface="华文楷体" panose="02010600040101010101" charset="-122"/>
              <a:sym typeface="Times New Roman" panose="02020603050405020304" pitchFamily="18" charset="0"/>
            </a:endParaRPr>
          </a:p>
        </p:txBody>
      </p:sp>
      <p:pic>
        <p:nvPicPr>
          <p:cNvPr id="14349" name="Object 4"/>
          <p:cNvPicPr>
            <a:picLocks noChangeAspect="1"/>
          </p:cNvPicPr>
          <p:nvPr>
            <p:custDataLst>
              <p:tags r:id="rId4"/>
            </p:custDataLst>
          </p:nvPr>
        </p:nvPicPr>
        <p:blipFill>
          <a:blip r:embed="rId5"/>
          <a:stretch>
            <a:fillRect/>
          </a:stretch>
        </p:blipFill>
        <p:spPr>
          <a:xfrm>
            <a:off x="2567305" y="1901190"/>
            <a:ext cx="2460625" cy="406400"/>
          </a:xfrm>
          <a:prstGeom prst="rect">
            <a:avLst/>
          </a:prstGeom>
          <a:noFill/>
          <a:ln w="9525">
            <a:noFill/>
          </a:ln>
        </p:spPr>
      </p:pic>
      <p:pic>
        <p:nvPicPr>
          <p:cNvPr id="14350" name="Object 6"/>
          <p:cNvPicPr>
            <a:picLocks noChangeAspect="1"/>
          </p:cNvPicPr>
          <p:nvPr>
            <p:custDataLst>
              <p:tags r:id="rId6"/>
            </p:custDataLst>
          </p:nvPr>
        </p:nvPicPr>
        <p:blipFill>
          <a:blip r:embed="rId7"/>
          <a:stretch>
            <a:fillRect/>
          </a:stretch>
        </p:blipFill>
        <p:spPr>
          <a:xfrm>
            <a:off x="2570480" y="2439035"/>
            <a:ext cx="2174875" cy="381000"/>
          </a:xfrm>
          <a:prstGeom prst="rect">
            <a:avLst/>
          </a:prstGeom>
          <a:noFill/>
          <a:ln w="9525">
            <a:noFill/>
          </a:ln>
        </p:spPr>
      </p:pic>
      <p:pic>
        <p:nvPicPr>
          <p:cNvPr id="14351" name="Object 8"/>
          <p:cNvPicPr>
            <a:picLocks noChangeAspect="1"/>
          </p:cNvPicPr>
          <p:nvPr>
            <p:custDataLst>
              <p:tags r:id="rId8"/>
            </p:custDataLst>
          </p:nvPr>
        </p:nvPicPr>
        <p:blipFill>
          <a:blip r:embed="rId9"/>
          <a:stretch>
            <a:fillRect/>
          </a:stretch>
        </p:blipFill>
        <p:spPr>
          <a:xfrm>
            <a:off x="2711450" y="3573145"/>
            <a:ext cx="1786255" cy="419100"/>
          </a:xfrm>
          <a:prstGeom prst="rect">
            <a:avLst/>
          </a:prstGeom>
          <a:noFill/>
          <a:ln w="9525">
            <a:noFill/>
          </a:ln>
        </p:spPr>
      </p:pic>
      <p:pic>
        <p:nvPicPr>
          <p:cNvPr id="14352" name="Object 12"/>
          <p:cNvPicPr>
            <a:picLocks noChangeAspect="1"/>
          </p:cNvPicPr>
          <p:nvPr>
            <p:custDataLst>
              <p:tags r:id="rId10"/>
            </p:custDataLst>
          </p:nvPr>
        </p:nvPicPr>
        <p:blipFill>
          <a:blip r:embed="rId11"/>
          <a:stretch>
            <a:fillRect/>
          </a:stretch>
        </p:blipFill>
        <p:spPr>
          <a:xfrm>
            <a:off x="2639695" y="2985135"/>
            <a:ext cx="1975485" cy="402590"/>
          </a:xfrm>
          <a:prstGeom prst="rect">
            <a:avLst/>
          </a:prstGeom>
          <a:solidFill>
            <a:srgbClr val="BBE0E3"/>
          </a:solidFill>
          <a:ln w="9525" cap="flat" cmpd="sng">
            <a:solidFill>
              <a:srgbClr val="000000"/>
            </a:solidFill>
            <a:prstDash val="solid"/>
            <a:miter/>
            <a:headEnd type="none" w="med" len="med"/>
            <a:tailEnd type="none" w="med" len="med"/>
          </a:ln>
        </p:spPr>
      </p:pic>
      <p:pic>
        <p:nvPicPr>
          <p:cNvPr id="14353" name="Object 16"/>
          <p:cNvPicPr>
            <a:picLocks noChangeAspect="1"/>
          </p:cNvPicPr>
          <p:nvPr>
            <p:custDataLst>
              <p:tags r:id="rId12"/>
            </p:custDataLst>
          </p:nvPr>
        </p:nvPicPr>
        <p:blipFill>
          <a:blip r:embed="rId13"/>
          <a:stretch>
            <a:fillRect/>
          </a:stretch>
        </p:blipFill>
        <p:spPr>
          <a:xfrm>
            <a:off x="2809875" y="3964940"/>
            <a:ext cx="1635125" cy="515620"/>
          </a:xfrm>
          <a:prstGeom prst="rect">
            <a:avLst/>
          </a:prstGeom>
          <a:noFill/>
          <a:ln w="9525">
            <a:noFill/>
          </a:ln>
        </p:spPr>
      </p:pic>
      <p:sp>
        <p:nvSpPr>
          <p:cNvPr id="14356" name="矩形 32"/>
          <p:cNvSpPr/>
          <p:nvPr>
            <p:custDataLst>
              <p:tags r:id="rId14"/>
            </p:custDataLst>
          </p:nvPr>
        </p:nvSpPr>
        <p:spPr>
          <a:xfrm>
            <a:off x="5635943" y="1939290"/>
            <a:ext cx="1730375" cy="39878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en-US" altLang="zh-CN" sz="2000" dirty="0">
                <a:solidFill>
                  <a:srgbClr val="000000"/>
                </a:solidFill>
                <a:latin typeface="华文楷体" panose="02010600040101010101" charset="-122"/>
                <a:ea typeface="华文楷体" panose="02010600040101010101" charset="-122"/>
                <a:cs typeface="华文楷体" panose="02010600040101010101" charset="-122"/>
              </a:rPr>
              <a:t>---</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平均功率</a:t>
            </a:r>
            <a:endPar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endParaRPr>
          </a:p>
        </p:txBody>
      </p:sp>
      <p:sp>
        <p:nvSpPr>
          <p:cNvPr id="14357" name="矩形 33"/>
          <p:cNvSpPr/>
          <p:nvPr>
            <p:custDataLst>
              <p:tags r:id="rId15"/>
            </p:custDataLst>
          </p:nvPr>
        </p:nvSpPr>
        <p:spPr>
          <a:xfrm>
            <a:off x="5635943" y="2510790"/>
            <a:ext cx="1730375" cy="39878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en-US" altLang="zh-CN" sz="2000" dirty="0">
                <a:solidFill>
                  <a:srgbClr val="000000"/>
                </a:solidFill>
                <a:latin typeface="华文楷体" panose="02010600040101010101" charset="-122"/>
                <a:ea typeface="华文楷体" panose="02010600040101010101" charset="-122"/>
                <a:cs typeface="华文楷体" panose="02010600040101010101" charset="-122"/>
              </a:rPr>
              <a:t>---</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直流功率</a:t>
            </a:r>
            <a:endPar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endParaRPr>
          </a:p>
        </p:txBody>
      </p:sp>
      <p:sp>
        <p:nvSpPr>
          <p:cNvPr id="14358" name="矩形 34"/>
          <p:cNvSpPr/>
          <p:nvPr>
            <p:custDataLst>
              <p:tags r:id="rId16"/>
            </p:custDataLst>
          </p:nvPr>
        </p:nvSpPr>
        <p:spPr>
          <a:xfrm>
            <a:off x="5662613" y="2996883"/>
            <a:ext cx="3357562" cy="39878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en-US" altLang="zh-CN" sz="2000" dirty="0">
                <a:solidFill>
                  <a:srgbClr val="000000"/>
                </a:solidFill>
                <a:latin typeface="华文楷体" panose="02010600040101010101" charset="-122"/>
                <a:ea typeface="华文楷体" panose="02010600040101010101" charset="-122"/>
                <a:cs typeface="华文楷体" panose="02010600040101010101" charset="-122"/>
              </a:rPr>
              <a:t>---</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交流功率（方差）</a:t>
            </a:r>
            <a:endPar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endParaRPr>
          </a:p>
        </p:txBody>
      </p:sp>
      <p:sp>
        <p:nvSpPr>
          <p:cNvPr id="14359" name="矩形 35"/>
          <p:cNvSpPr/>
          <p:nvPr>
            <p:custDataLst>
              <p:tags r:id="rId17"/>
            </p:custDataLst>
          </p:nvPr>
        </p:nvSpPr>
        <p:spPr>
          <a:xfrm>
            <a:off x="5663565" y="3573145"/>
            <a:ext cx="1420813" cy="39878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rPr>
              <a:t>---</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rPr>
              <a:t>偶函数</a:t>
            </a:r>
            <a:endParaRPr lang="zh-CN" altLang="en-US" sz="2000" b="1" dirty="0">
              <a:solidFill>
                <a:srgbClr val="000000"/>
              </a:solidFill>
              <a:latin typeface="华文楷体" panose="02010600040101010101" charset="-122"/>
              <a:ea typeface="华文楷体" panose="02010600040101010101" charset="-122"/>
              <a:cs typeface="华文楷体" panose="02010600040101010101" charset="-122"/>
            </a:endParaRPr>
          </a:p>
        </p:txBody>
      </p:sp>
      <p:sp>
        <p:nvSpPr>
          <p:cNvPr id="14360" name="矩形 36"/>
          <p:cNvSpPr/>
          <p:nvPr>
            <p:custDataLst>
              <p:tags r:id="rId18"/>
            </p:custDataLst>
          </p:nvPr>
        </p:nvSpPr>
        <p:spPr>
          <a:xfrm>
            <a:off x="5735955" y="4059873"/>
            <a:ext cx="1419225" cy="39878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rPr>
              <a:t>---</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rPr>
              <a:t>上    界</a:t>
            </a:r>
            <a:endParaRPr lang="zh-CN" altLang="en-US" sz="2000" b="1" dirty="0">
              <a:solidFill>
                <a:srgbClr val="000000"/>
              </a:solidFill>
              <a:latin typeface="华文楷体" panose="02010600040101010101" charset="-122"/>
              <a:ea typeface="华文楷体" panose="02010600040101010101" charset="-122"/>
              <a:cs typeface="华文楷体" panose="02010600040101010101" charset="-122"/>
            </a:endParaRPr>
          </a:p>
        </p:txBody>
      </p:sp>
      <p:pic>
        <p:nvPicPr>
          <p:cNvPr id="16392" name="Object 16"/>
          <p:cNvPicPr>
            <a:picLocks noChangeAspect="1"/>
          </p:cNvPicPr>
          <p:nvPr>
            <p:custDataLst>
              <p:tags r:id="rId19"/>
            </p:custDataLst>
          </p:nvPr>
        </p:nvPicPr>
        <p:blipFill>
          <a:blip r:embed="rId20"/>
          <a:stretch>
            <a:fillRect/>
          </a:stretch>
        </p:blipFill>
        <p:spPr>
          <a:xfrm>
            <a:off x="6816090" y="4940300"/>
            <a:ext cx="1766570" cy="466725"/>
          </a:xfrm>
          <a:prstGeom prst="rect">
            <a:avLst/>
          </a:prstGeom>
          <a:solidFill>
            <a:srgbClr val="BBE0E3"/>
          </a:solidFill>
          <a:ln w="9525" cap="flat" cmpd="sng">
            <a:solidFill>
              <a:srgbClr val="000000"/>
            </a:solidFill>
            <a:prstDash val="solid"/>
            <a:miter/>
            <a:headEnd type="none" w="med" len="med"/>
            <a:tailEnd type="none" w="med" len="med"/>
          </a:ln>
        </p:spPr>
      </p:pic>
      <p:pic>
        <p:nvPicPr>
          <p:cNvPr id="16396" name="Object 5"/>
          <p:cNvPicPr>
            <a:picLocks noChangeAspect="1"/>
          </p:cNvPicPr>
          <p:nvPr>
            <p:custDataLst>
              <p:tags r:id="rId21"/>
            </p:custDataLst>
          </p:nvPr>
        </p:nvPicPr>
        <p:blipFill>
          <a:blip r:embed="rId22"/>
          <a:stretch>
            <a:fillRect/>
          </a:stretch>
        </p:blipFill>
        <p:spPr>
          <a:xfrm>
            <a:off x="2135505" y="5338445"/>
            <a:ext cx="3286125" cy="1306830"/>
          </a:xfrm>
          <a:prstGeom prst="rect">
            <a:avLst/>
          </a:prstGeom>
          <a:solidFill>
            <a:srgbClr val="BBE0E3"/>
          </a:solidFill>
          <a:ln w="38100" cap="flat" cmpd="sng">
            <a:solidFill>
              <a:srgbClr val="6666FF"/>
            </a:solidFill>
            <a:prstDash val="solid"/>
            <a:miter/>
            <a:headEnd type="none" w="med" len="med"/>
            <a:tailEnd type="none" w="med" len="med"/>
          </a:ln>
        </p:spPr>
      </p:pic>
      <p:pic>
        <p:nvPicPr>
          <p:cNvPr id="16400" name="Object 7"/>
          <p:cNvPicPr>
            <a:picLocks noChangeAspect="1"/>
          </p:cNvPicPr>
          <p:nvPr>
            <p:custDataLst>
              <p:tags r:id="rId23"/>
            </p:custDataLst>
          </p:nvPr>
        </p:nvPicPr>
        <p:blipFill>
          <a:blip r:embed="rId24"/>
          <a:stretch>
            <a:fillRect/>
          </a:stretch>
        </p:blipFill>
        <p:spPr>
          <a:xfrm>
            <a:off x="6311900" y="5517515"/>
            <a:ext cx="3001645" cy="1136650"/>
          </a:xfrm>
          <a:prstGeom prst="rect">
            <a:avLst/>
          </a:prstGeom>
          <a:noFill/>
          <a:ln w="38100" cap="flat" cmpd="sng">
            <a:solidFill>
              <a:srgbClr val="6666FF"/>
            </a:solidFill>
            <a:prstDash val="solid"/>
            <a:miter/>
            <a:headEnd type="none" w="med" len="med"/>
            <a:tailEnd type="none" w="med" len="me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graphicFrame>
        <p:nvGraphicFramePr>
          <p:cNvPr id="7" name="对象 6"/>
          <p:cNvGraphicFramePr>
            <a:graphicFrameLocks noChangeAspect="1"/>
          </p:cNvGraphicFramePr>
          <p:nvPr/>
        </p:nvGraphicFramePr>
        <p:xfrm>
          <a:off x="6380480" y="668020"/>
          <a:ext cx="4239895" cy="1108075"/>
        </p:xfrm>
        <a:graphic>
          <a:graphicData uri="http://schemas.openxmlformats.org/presentationml/2006/ole">
            <mc:AlternateContent xmlns:mc="http://schemas.openxmlformats.org/markup-compatibility/2006">
              <mc:Choice xmlns:v="urn:schemas-microsoft-com:vml" Requires="v">
                <p:oleObj spid="_x0000_s4110" name="Visio" r:id="rId2" imgW="1455420" imgH="383540" progId="Visio.Drawing.11">
                  <p:embed/>
                </p:oleObj>
              </mc:Choice>
              <mc:Fallback>
                <p:oleObj name="Visio" r:id="rId2" imgW="1455420" imgH="38354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0480" y="668020"/>
                        <a:ext cx="4239895" cy="1108075"/>
                      </a:xfrm>
                      <a:prstGeom prst="rect">
                        <a:avLst/>
                      </a:prstGeom>
                      <a:noFill/>
                    </p:spPr>
                  </p:pic>
                </p:oleObj>
              </mc:Fallback>
            </mc:AlternateContent>
          </a:graphicData>
        </a:graphic>
      </p:graphicFrame>
      <p:sp>
        <p:nvSpPr>
          <p:cNvPr id="2" name="内容占位符 1"/>
          <p:cNvSpPr>
            <a:spLocks noGrp="1"/>
          </p:cNvSpPr>
          <p:nvPr>
            <p:ph idx="1"/>
            <p:custDataLst>
              <p:tags r:id="rId4"/>
            </p:custDataLst>
          </p:nvPr>
        </p:nvSpPr>
        <p:spPr>
          <a:xfrm>
            <a:off x="608330" y="836930"/>
            <a:ext cx="11272520" cy="775970"/>
          </a:xfrm>
        </p:spPr>
        <p:txBody>
          <a:bodyPr/>
          <a:p>
            <a:r>
              <a:rPr lang="zh-CN" altLang="en-US" sz="2400" b="1">
                <a:latin typeface="华文楷体" panose="02010600040101010101" charset="-122"/>
                <a:ea typeface="华文楷体" panose="02010600040101010101" charset="-122"/>
                <a:cs typeface="华文楷体" panose="02010600040101010101" charset="-122"/>
              </a:rPr>
              <a:t>平稳随机过程经过线性时不变</a:t>
            </a:r>
            <a:r>
              <a:rPr lang="zh-CN" altLang="en-US" sz="2400" b="1">
                <a:latin typeface="华文楷体" panose="02010600040101010101" charset="-122"/>
                <a:ea typeface="华文楷体" panose="02010600040101010101" charset="-122"/>
                <a:cs typeface="华文楷体" panose="02010600040101010101" charset="-122"/>
              </a:rPr>
              <a:t>系统</a:t>
            </a:r>
            <a:endParaRPr lang="zh-CN" altLang="en-US" sz="2400" b="1">
              <a:latin typeface="华文楷体" panose="02010600040101010101" charset="-122"/>
              <a:ea typeface="华文楷体" panose="02010600040101010101" charset="-122"/>
              <a:cs typeface="华文楷体" panose="02010600040101010101" charset="-122"/>
            </a:endParaRPr>
          </a:p>
        </p:txBody>
      </p:sp>
      <mc:AlternateContent xmlns:mc="http://schemas.openxmlformats.org/markup-compatibility/2006" xmlns:a14="http://schemas.microsoft.com/office/drawing/2010/main">
        <mc:Choice Requires="a14">
          <p:graphicFrame>
            <p:nvGraphicFramePr>
              <p:cNvPr id="27650" name="Group 2"/>
              <p:cNvGraphicFramePr>
                <a:graphicFrameLocks noGrp="1"/>
              </p:cNvGraphicFramePr>
              <p:nvPr>
                <p:custDataLst>
                  <p:tags r:id="rId5"/>
                </p:custDataLst>
              </p:nvPr>
            </p:nvGraphicFramePr>
            <p:xfrm>
              <a:off x="1487488" y="1845310"/>
              <a:ext cx="7643813" cy="4073527"/>
            </p:xfrm>
            <a:graphic>
              <a:graphicData uri="http://schemas.openxmlformats.org/drawingml/2006/table">
                <a:tbl>
                  <a:tblPr/>
                  <a:tblGrid>
                    <a:gridCol w="1645920"/>
                    <a:gridCol w="2568892"/>
                    <a:gridCol w="3429000"/>
                  </a:tblGrid>
                  <a:tr h="814388">
                    <a:tc>
                      <a:txBody>
                        <a:bodyPr/>
                        <a:lstStyle>
                          <a:lvl1pPr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0" algn="just"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cap="flat">
                          <a:noFill/>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l" defTabSz="0" rtl="0" eaLnBrk="1" fontAlgn="base" latinLnBrk="0" hangingPunct="1">
                            <a:lnSpc>
                              <a:spcPct val="200000"/>
                            </a:lnSpc>
                            <a:spcBef>
                              <a:spcPts val="200"/>
                            </a:spcBef>
                            <a:spcAft>
                              <a:spcPts val="200"/>
                            </a:spcAft>
                            <a:buClrTx/>
                            <a:buSzTx/>
                            <a:buFontTx/>
                            <a:buNone/>
                          </a:pPr>
                          <a:r>
                            <a:rPr kumimoji="0" lang="en-US" sz="2000" b="1" i="0" u="none" strike="noStrike" cap="none" normalizeH="0" baseline="0" smtClean="0">
                              <a:ln>
                                <a:noFill/>
                              </a:ln>
                              <a:solidFill>
                                <a:schemeClr val="tx1"/>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kumimoji="0" lang="zh-CN" altLang="en-US" sz="2000" b="1" i="0" u="none" strike="noStrike" cap="none" normalizeH="0" baseline="0" smtClean="0">
                              <a:ln>
                                <a:noFill/>
                              </a:ln>
                              <a:solidFill>
                                <a:schemeClr val="tx1"/>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输</a:t>
                          </a:r>
                          <a:r>
                            <a:rPr kumimoji="0" lang="zh-CN" altLang="en-US" sz="2400" b="1" i="0" u="none" strike="noStrike" cap="none" normalizeH="0" baseline="0" smtClean="0">
                              <a:ln>
                                <a:noFill/>
                              </a:ln>
                              <a:solidFill>
                                <a:srgbClr val="FF0000"/>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入</a:t>
                          </a:r>
                          <a:r>
                            <a:rPr kumimoji="0" lang="zh-CN" altLang="en-US" sz="2000" b="1" i="0" u="none" strike="noStrike" cap="none" normalizeH="0" baseline="0" smtClean="0">
                              <a:ln>
                                <a:noFill/>
                              </a:ln>
                              <a:solidFill>
                                <a:schemeClr val="tx1"/>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过程</a:t>
                          </a:r>
                          <a14:m>
                            <m:oMath xmlns:m="http://schemas.openxmlformats.org/officeDocument/2006/math">
                              <m:r>
                                <a:rPr lang="en-US" altLang="zh-CN" sz="2000" kern="0">
                                  <a:solidFill>
                                    <a:srgbClr val="0070C0"/>
                                  </a:solidFill>
                                  <a:latin typeface="DejaVu Math TeX Gyre" panose="02000503000000000000" charset="0"/>
                                  <a:ea typeface="宋体" pitchFamily="2" charset="-122"/>
                                  <a:cs typeface="DejaVu Math TeX Gyre" panose="02000503000000000000" charset="0"/>
                                </a:rPr>
                                <m:t>𝜉</m:t>
                              </m:r>
                              <m:r>
                                <a:rPr lang="en-US" altLang="zh-CN" sz="2000" kern="0">
                                  <a:solidFill>
                                    <a:srgbClr val="0070C0"/>
                                  </a:solidFill>
                                  <a:latin typeface="DejaVu Math TeX Gyre" panose="02000503000000000000" charset="0"/>
                                  <a:ea typeface="宋体" pitchFamily="2" charset="-122"/>
                                  <a:cs typeface="DejaVu Math TeX Gyre" panose="02000503000000000000" charset="0"/>
                                </a:rPr>
                                <m:t>(</m:t>
                              </m:r>
                              <m:r>
                                <m:rPr>
                                  <m:sty m:val="p"/>
                                </m:rPr>
                                <a:rPr lang="en-US" altLang="zh-CN" sz="2000" kern="0">
                                  <a:solidFill>
                                    <a:srgbClr val="0070C0"/>
                                  </a:solidFill>
                                  <a:latin typeface="DejaVu Math TeX Gyre" panose="02000503000000000000" charset="0"/>
                                  <a:ea typeface="华文楷体" panose="02010600040101010101" charset="-122"/>
                                  <a:cs typeface="DejaVu Math TeX Gyre" panose="02000503000000000000" charset="0"/>
                                </a:rPr>
                                <m:t>t</m:t>
                              </m:r>
                              <m:r>
                                <a:rPr lang="en-US" altLang="zh-CN" sz="2000" kern="0">
                                  <a:solidFill>
                                    <a:srgbClr val="0070C0"/>
                                  </a:solidFill>
                                  <a:latin typeface="DejaVu Math TeX Gyre" panose="02000503000000000000" charset="0"/>
                                  <a:ea typeface="宋体" pitchFamily="2" charset="-122"/>
                                  <a:cs typeface="DejaVu Math TeX Gyre" panose="02000503000000000000" charset="0"/>
                                </a:rPr>
                                <m:t>)</m:t>
                              </m:r>
                            </m:oMath>
                          </a14:m>
                          <a:r>
                            <a:rPr kumimoji="0" lang="zh-CN" altLang="en-US" sz="2000" b="1" i="0" u="none" strike="noStrike" cap="none" normalizeH="0" baseline="0" smtClean="0">
                              <a:ln>
                                <a:noFill/>
                              </a:ln>
                              <a:solidFill>
                                <a:schemeClr val="tx1"/>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endParaRPr kumimoji="0" lang="zh-CN" altLang="en-US" sz="2000" b="1" i="0" u="none" strike="noStrike" cap="none" normalizeH="0" baseline="0" smtClean="0">
                            <a:ln>
                              <a:noFill/>
                            </a:ln>
                            <a:solidFill>
                              <a:schemeClr val="tx1"/>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txBody>
                      <a:tcPr marL="68580" marR="68580" marT="0" marB="0"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l" defTabSz="0" rtl="0" eaLnBrk="1" fontAlgn="base" latinLnBrk="0" hangingPunct="1">
                            <a:lnSpc>
                              <a:spcPct val="200000"/>
                            </a:lnSpc>
                            <a:spcBef>
                              <a:spcPts val="200"/>
                            </a:spcBef>
                            <a:spcAft>
                              <a:spcPts val="200"/>
                            </a:spcAft>
                            <a:buClrTx/>
                            <a:buSzTx/>
                            <a:buFontTx/>
                            <a:buNone/>
                          </a:pPr>
                          <a:r>
                            <a:rPr kumimoji="0" lang="en-US" sz="2000" b="1" i="0" u="none" strike="noStrike" cap="none" normalizeH="0" baseline="0" smtClean="0">
                              <a:ln>
                                <a:noFill/>
                              </a:ln>
                              <a:solidFill>
                                <a:schemeClr val="tx1"/>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kumimoji="0" lang="zh-CN" altLang="en-US" sz="2000" b="1" i="0" u="none" strike="noStrike" cap="none" normalizeH="0" baseline="0" smtClean="0">
                              <a:ln>
                                <a:noFill/>
                              </a:ln>
                              <a:solidFill>
                                <a:schemeClr val="tx1"/>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输</a:t>
                          </a:r>
                          <a:r>
                            <a:rPr kumimoji="0" lang="zh-CN" altLang="en-US" sz="2400" b="1" i="0" u="none" strike="noStrike" cap="none" normalizeH="0" baseline="0" smtClean="0">
                              <a:ln>
                                <a:noFill/>
                              </a:ln>
                              <a:solidFill>
                                <a:srgbClr val="FF0000"/>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出</a:t>
                          </a:r>
                          <a:r>
                            <a:rPr kumimoji="0" lang="zh-CN" altLang="en-US" sz="2000" b="1" i="0" u="none" strike="noStrike" cap="none" normalizeH="0" baseline="0" smtClean="0">
                              <a:ln>
                                <a:noFill/>
                              </a:ln>
                              <a:solidFill>
                                <a:schemeClr val="tx1"/>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过程</a:t>
                          </a:r>
                          <a14:m>
                            <m:oMath xmlns:m="http://schemas.openxmlformats.org/officeDocument/2006/math">
                              <m:r>
                                <a:rPr lang="en-US" altLang="zh-CN" sz="2000" kern="0">
                                  <a:solidFill>
                                    <a:srgbClr val="0070C0"/>
                                  </a:solidFill>
                                  <a:latin typeface="DejaVu Math TeX Gyre" panose="02000503000000000000" charset="0"/>
                                  <a:ea typeface="宋体" pitchFamily="2" charset="-122"/>
                                  <a:cs typeface="DejaVu Math TeX Gyre" panose="02000503000000000000" charset="0"/>
                                </a:rPr>
                                <m:t>𝜂</m:t>
                              </m:r>
                              <m:r>
                                <a:rPr lang="en-US" altLang="zh-CN" sz="2000" kern="0">
                                  <a:solidFill>
                                    <a:srgbClr val="0070C0"/>
                                  </a:solidFill>
                                  <a:latin typeface="DejaVu Math TeX Gyre" panose="02000503000000000000" charset="0"/>
                                  <a:ea typeface="宋体" pitchFamily="2" charset="-122"/>
                                  <a:cs typeface="DejaVu Math TeX Gyre" panose="02000503000000000000" charset="0"/>
                                </a:rPr>
                                <m:t>(</m:t>
                              </m:r>
                              <m:r>
                                <m:rPr>
                                  <m:sty m:val="p"/>
                                </m:rPr>
                                <a:rPr lang="en-US" altLang="zh-CN" sz="2000" kern="0">
                                  <a:solidFill>
                                    <a:srgbClr val="0070C0"/>
                                  </a:solidFill>
                                  <a:latin typeface="DejaVu Math TeX Gyre" panose="02000503000000000000" charset="0"/>
                                  <a:ea typeface="华文楷体" panose="02010600040101010101" charset="-122"/>
                                  <a:cs typeface="DejaVu Math TeX Gyre" panose="02000503000000000000" charset="0"/>
                                </a:rPr>
                                <m:t>t</m:t>
                              </m:r>
                              <m:r>
                                <a:rPr lang="en-US" altLang="zh-CN" sz="2000" kern="0">
                                  <a:solidFill>
                                    <a:srgbClr val="0070C0"/>
                                  </a:solidFill>
                                  <a:latin typeface="DejaVu Math TeX Gyre" panose="02000503000000000000" charset="0"/>
                                  <a:ea typeface="宋体" pitchFamily="2" charset="-122"/>
                                  <a:cs typeface="DejaVu Math TeX Gyre" panose="02000503000000000000" charset="0"/>
                                </a:rPr>
                                <m:t>)</m:t>
                              </m:r>
                            </m:oMath>
                          </a14:m>
                          <a:r>
                            <a:rPr kumimoji="0" lang="zh-CN" altLang="en-US" sz="2000" b="1" i="0" u="none" strike="noStrike" cap="none" normalizeH="0" baseline="0" smtClean="0">
                              <a:ln>
                                <a:noFill/>
                              </a:ln>
                              <a:solidFill>
                                <a:schemeClr val="tx1"/>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endParaRPr kumimoji="0" lang="zh-CN" altLang="en-US" sz="2000" b="1" i="0" u="none" strike="noStrike" cap="none" normalizeH="0" baseline="0" smtClean="0">
                            <a:ln>
                              <a:noFill/>
                            </a:ln>
                            <a:solidFill>
                              <a:schemeClr val="tx1"/>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txBody>
                      <a:tcPr marL="68580" marR="68580" marT="0" marB="0" horzOverflow="overflow">
                        <a:lnL w="12700" cap="flat" cmpd="sng" algn="ctr">
                          <a:solidFill>
                            <a:srgbClr val="808080"/>
                          </a:solidFill>
                          <a:prstDash val="solid"/>
                          <a:round/>
                          <a:headEnd type="none" w="med" len="med"/>
                          <a:tailEnd type="none" w="med" len="med"/>
                        </a:lnL>
                        <a:lnR cap="flat">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r>
                  <a:tr h="814388">
                    <a:tc>
                      <a:txBody>
                        <a:bodyPr/>
                        <a:lstStyle>
                          <a:lvl1pPr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0" algn="just" defTabSz="0" rtl="0" eaLnBrk="1" fontAlgn="base" latinLnBrk="0" hangingPunct="1">
                            <a:lnSpc>
                              <a:spcPts val="1900"/>
                            </a:lnSpc>
                            <a:spcBef>
                              <a:spcPts val="200"/>
                            </a:spcBef>
                            <a:spcAft>
                              <a:spcPts val="200"/>
                            </a:spcAft>
                            <a:buClrTx/>
                            <a:buSzTx/>
                            <a:buFontTx/>
                            <a:buNone/>
                          </a:pPr>
                          <a:r>
                            <a:rPr kumimoji="0" 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kumimoji="0" lang="zh-CN" alt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概率分布</a:t>
                          </a:r>
                          <a:endParaRPr kumimoji="0" lang="zh-CN" alt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txBody>
                      <a:tcPr marL="68580" marR="68580" marT="0" marB="0" anchor="ctr" horzOverflow="overflow">
                        <a:lnL cap="flat">
                          <a:noFill/>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ctr"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l"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cap="flat">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r>
                  <a:tr h="815975">
                    <a:tc>
                      <a:txBody>
                        <a:bodyPr/>
                        <a:lstStyle>
                          <a:lvl1pPr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0" algn="just" defTabSz="0" rtl="0" eaLnBrk="1" fontAlgn="base" latinLnBrk="0" hangingPunct="1">
                            <a:lnSpc>
                              <a:spcPts val="1900"/>
                            </a:lnSpc>
                            <a:spcBef>
                              <a:spcPts val="200"/>
                            </a:spcBef>
                            <a:spcAft>
                              <a:spcPts val="200"/>
                            </a:spcAft>
                            <a:buClrTx/>
                            <a:buSzTx/>
                            <a:buFontTx/>
                            <a:buNone/>
                          </a:pPr>
                          <a:r>
                            <a:rPr kumimoji="0" 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kumimoji="0" lang="zh-CN" alt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均</a:t>
                          </a:r>
                          <a:r>
                            <a:rPr kumimoji="0" 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kumimoji="0" lang="zh-CN" alt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值</a:t>
                          </a:r>
                          <a:endParaRPr kumimoji="0" lang="zh-CN" alt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txBody>
                      <a:tcPr marL="68580" marR="68580" marT="0" marB="0" anchor="ctr" horzOverflow="overflow">
                        <a:lnL cap="flat">
                          <a:noFill/>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r>
                            <a:rPr kumimoji="0" lang="en-US"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rPr>
                            <a:t>            </a:t>
                          </a:r>
                          <a:endParaRPr kumimoji="0" lang="en-US"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r>
                            <a:rPr kumimoji="0" lang="en-US"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rPr>
                            <a:t>                   </a:t>
                          </a:r>
                          <a:endParaRPr kumimoji="0" lang="en-US"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cap="flat">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r>
                  <a:tr h="814388">
                    <a:tc>
                      <a:txBody>
                        <a:bodyPr/>
                        <a:lstStyle>
                          <a:lvl1pPr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0" algn="just" defTabSz="0" rtl="0" eaLnBrk="1" fontAlgn="base" latinLnBrk="0" hangingPunct="1">
                            <a:lnSpc>
                              <a:spcPts val="1900"/>
                            </a:lnSpc>
                            <a:spcBef>
                              <a:spcPts val="200"/>
                            </a:spcBef>
                            <a:spcAft>
                              <a:spcPts val="200"/>
                            </a:spcAft>
                            <a:buClrTx/>
                            <a:buSzTx/>
                            <a:buFontTx/>
                            <a:buNone/>
                          </a:pPr>
                          <a:r>
                            <a:rPr kumimoji="0" lang="zh-CN" sz="2000" b="0" i="0" u="none" strike="noStrike" cap="none" normalizeH="0" baseline="0" smtClean="0">
                              <a:ln>
                                <a:noFill/>
                              </a:ln>
                              <a:solidFill>
                                <a:srgbClr val="003399"/>
                              </a:solidFill>
                              <a:effectLst/>
                              <a:latin typeface="华文楷体" panose="02010600040101010101" charset="-122"/>
                              <a:ea typeface="华文楷体" panose="02010600040101010101" charset="-122"/>
                              <a:sym typeface="Times New Roman" panose="02020603050405020304" pitchFamily="18" charset="0"/>
                            </a:rPr>
                            <a:t>功率谱密度</a:t>
                          </a:r>
                          <a:endParaRPr kumimoji="0" lang="zh-CN" sz="2000" b="0" i="0" u="none" strike="noStrike" cap="none" normalizeH="0" baseline="0" smtClean="0">
                            <a:ln>
                              <a:noFill/>
                            </a:ln>
                            <a:solidFill>
                              <a:srgbClr val="003399"/>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cap="flat">
                          <a:noFill/>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cap="flat">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r>
                  <a:tr h="814388">
                    <a:tc>
                      <a:txBody>
                        <a:bodyPr/>
                        <a:lstStyle>
                          <a:lvl1pPr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0" algn="just" defTabSz="0" rtl="0" eaLnBrk="1" fontAlgn="base" latinLnBrk="0" hangingPunct="1">
                            <a:lnSpc>
                              <a:spcPts val="1900"/>
                            </a:lnSpc>
                            <a:spcBef>
                              <a:spcPts val="200"/>
                            </a:spcBef>
                            <a:spcAft>
                              <a:spcPts val="200"/>
                            </a:spcAft>
                            <a:buClrTx/>
                            <a:buSzTx/>
                            <a:buFontTx/>
                            <a:buNone/>
                          </a:pPr>
                          <a:r>
                            <a:rPr kumimoji="0" lang="zh-CN" sz="2000" b="0" i="0" u="none" strike="noStrike" cap="none" normalizeH="0" baseline="0" smtClean="0">
                              <a:ln>
                                <a:noFill/>
                              </a:ln>
                              <a:solidFill>
                                <a:srgbClr val="003399"/>
                              </a:solidFill>
                              <a:effectLst/>
                              <a:latin typeface="华文楷体" panose="02010600040101010101" charset="-122"/>
                              <a:ea typeface="华文楷体" panose="02010600040101010101" charset="-122"/>
                              <a:sym typeface="Times New Roman" panose="02020603050405020304" pitchFamily="18" charset="0"/>
                            </a:rPr>
                            <a:t>自相关函数</a:t>
                          </a:r>
                          <a:endParaRPr kumimoji="0" lang="zh-CN" sz="2000" b="0" i="0" u="none" strike="noStrike" cap="none" normalizeH="0" baseline="0" smtClean="0">
                            <a:ln>
                              <a:noFill/>
                            </a:ln>
                            <a:solidFill>
                              <a:srgbClr val="003399"/>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cap="flat">
                          <a:noFill/>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cap="flat">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27650" name="Group 2"/>
              <p:cNvGraphicFramePr>
                <a:graphicFrameLocks noGrp="1"/>
              </p:cNvGraphicFramePr>
              <p:nvPr>
                <p:custDataLst>
                  <p:tags r:id="rId6"/>
                </p:custDataLst>
              </p:nvPr>
            </p:nvGraphicFramePr>
            <p:xfrm>
              <a:off x="1487488" y="1845310"/>
              <a:ext cx="7643813" cy="4073527"/>
            </p:xfrm>
            <a:graphic>
              <a:graphicData uri="http://schemas.openxmlformats.org/drawingml/2006/table">
                <a:tbl>
                  <a:tblPr/>
                  <a:tblGrid>
                    <a:gridCol w="1645920"/>
                    <a:gridCol w="2568892"/>
                    <a:gridCol w="3429000"/>
                  </a:tblGrid>
                  <a:tr h="814705">
                    <a:tc>
                      <a:txBody>
                        <a:bodyPr/>
                        <a:lstStyle>
                          <a:lvl1pPr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0" algn="just"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cap="flat">
                          <a:noFill/>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p>
                          <a:endParaRPr lang="zh-CN"/>
                        </a:p>
                      </a:txBody>
                      <a:tcPr marL="68580" marR="68580" marT="0" marB="0"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blipFill>
                          <a:blip r:embed="rId7"/>
                        </a:blipFill>
                      </a:tcPr>
                    </a:tc>
                    <a:tc>
                      <a:txBody>
                        <a:bodyPr/>
                        <a:lstStyle/>
                        <a:p>
                          <a:endParaRPr lang="zh-CN"/>
                        </a:p>
                      </a:txBody>
                      <a:tcPr marL="68580" marR="68580" marT="0" marB="0" horzOverflow="overflow">
                        <a:lnL w="12700" cap="flat" cmpd="sng" algn="ctr">
                          <a:solidFill>
                            <a:srgbClr val="808080"/>
                          </a:solidFill>
                          <a:prstDash val="solid"/>
                          <a:round/>
                          <a:headEnd type="none" w="med" len="med"/>
                          <a:tailEnd type="none" w="med" len="med"/>
                        </a:lnL>
                        <a:lnR cap="flat">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blipFill>
                          <a:blip r:embed="rId7"/>
                        </a:blipFill>
                      </a:tcPr>
                    </a:tc>
                  </a:tr>
                  <a:tr h="814388">
                    <a:tc>
                      <a:txBody>
                        <a:bodyPr/>
                        <a:lstStyle>
                          <a:lvl1pPr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0" algn="just" defTabSz="0" rtl="0" eaLnBrk="1" fontAlgn="base" latinLnBrk="0" hangingPunct="1">
                            <a:lnSpc>
                              <a:spcPts val="1900"/>
                            </a:lnSpc>
                            <a:spcBef>
                              <a:spcPts val="200"/>
                            </a:spcBef>
                            <a:spcAft>
                              <a:spcPts val="200"/>
                            </a:spcAft>
                            <a:buClrTx/>
                            <a:buSzTx/>
                            <a:buFontTx/>
                            <a:buNone/>
                          </a:pPr>
                          <a:r>
                            <a:rPr kumimoji="0" 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kumimoji="0" lang="zh-CN" alt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概率分布</a:t>
                          </a:r>
                          <a:endParaRPr kumimoji="0" lang="zh-CN" alt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txBody>
                      <a:tcPr marL="68580" marR="68580" marT="0" marB="0" anchor="ctr" horzOverflow="overflow">
                        <a:lnL cap="flat">
                          <a:noFill/>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ctr"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l"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cap="flat">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r>
                  <a:tr h="815975">
                    <a:tc>
                      <a:txBody>
                        <a:bodyPr/>
                        <a:lstStyle>
                          <a:lvl1pPr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0" algn="just" defTabSz="0" rtl="0" eaLnBrk="1" fontAlgn="base" latinLnBrk="0" hangingPunct="1">
                            <a:lnSpc>
                              <a:spcPts val="1900"/>
                            </a:lnSpc>
                            <a:spcBef>
                              <a:spcPts val="200"/>
                            </a:spcBef>
                            <a:spcAft>
                              <a:spcPts val="200"/>
                            </a:spcAft>
                            <a:buClrTx/>
                            <a:buSzTx/>
                            <a:buFontTx/>
                            <a:buNone/>
                          </a:pPr>
                          <a:r>
                            <a:rPr kumimoji="0" 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kumimoji="0" lang="zh-CN" alt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均</a:t>
                          </a:r>
                          <a:r>
                            <a:rPr kumimoji="0" 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kumimoji="0" lang="zh-CN" alt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rPr>
                            <a:t>值</a:t>
                          </a:r>
                          <a:endParaRPr kumimoji="0" lang="zh-CN" altLang="en-US" sz="2000" b="0" i="0" u="none" strike="noStrike" cap="none" normalizeH="0" baseline="0" smtClean="0">
                            <a:ln>
                              <a:noFill/>
                            </a:ln>
                            <a:solidFill>
                              <a:srgbClr val="003399"/>
                            </a:solidFill>
                            <a:effectLst/>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txBody>
                      <a:tcPr marL="68580" marR="68580" marT="0" marB="0" anchor="ctr" horzOverflow="overflow">
                        <a:lnL cap="flat">
                          <a:noFill/>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r>
                            <a:rPr kumimoji="0" lang="en-US"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rPr>
                            <a:t>            </a:t>
                          </a:r>
                          <a:endParaRPr kumimoji="0" lang="en-US"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r>
                            <a:rPr kumimoji="0" lang="en-US"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rPr>
                            <a:t>                   </a:t>
                          </a:r>
                          <a:endParaRPr kumimoji="0" lang="en-US"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cap="flat">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r>
                  <a:tr h="814388">
                    <a:tc>
                      <a:txBody>
                        <a:bodyPr/>
                        <a:lstStyle>
                          <a:lvl1pPr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0" algn="just" defTabSz="0" rtl="0" eaLnBrk="1" fontAlgn="base" latinLnBrk="0" hangingPunct="1">
                            <a:lnSpc>
                              <a:spcPts val="1900"/>
                            </a:lnSpc>
                            <a:spcBef>
                              <a:spcPts val="200"/>
                            </a:spcBef>
                            <a:spcAft>
                              <a:spcPts val="200"/>
                            </a:spcAft>
                            <a:buClrTx/>
                            <a:buSzTx/>
                            <a:buFontTx/>
                            <a:buNone/>
                          </a:pPr>
                          <a:r>
                            <a:rPr kumimoji="0" lang="zh-CN" sz="2000" b="0" i="0" u="none" strike="noStrike" cap="none" normalizeH="0" baseline="0" smtClean="0">
                              <a:ln>
                                <a:noFill/>
                              </a:ln>
                              <a:solidFill>
                                <a:srgbClr val="003399"/>
                              </a:solidFill>
                              <a:effectLst/>
                              <a:latin typeface="华文楷体" panose="02010600040101010101" charset="-122"/>
                              <a:ea typeface="华文楷体" panose="02010600040101010101" charset="-122"/>
                              <a:sym typeface="Times New Roman" panose="02020603050405020304" pitchFamily="18" charset="0"/>
                            </a:rPr>
                            <a:t>功率谱密度</a:t>
                          </a:r>
                          <a:endParaRPr kumimoji="0" lang="zh-CN" sz="2000" b="0" i="0" u="none" strike="noStrike" cap="none" normalizeH="0" baseline="0" smtClean="0">
                            <a:ln>
                              <a:noFill/>
                            </a:ln>
                            <a:solidFill>
                              <a:srgbClr val="003399"/>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cap="flat">
                          <a:noFill/>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cap="flat">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r>
                  <a:tr h="814388">
                    <a:tc>
                      <a:txBody>
                        <a:bodyPr/>
                        <a:lstStyle>
                          <a:lvl1pPr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0" algn="just" defTabSz="0" rtl="0" eaLnBrk="1" fontAlgn="base" latinLnBrk="0" hangingPunct="1">
                            <a:lnSpc>
                              <a:spcPts val="1900"/>
                            </a:lnSpc>
                            <a:spcBef>
                              <a:spcPts val="200"/>
                            </a:spcBef>
                            <a:spcAft>
                              <a:spcPts val="200"/>
                            </a:spcAft>
                            <a:buClrTx/>
                            <a:buSzTx/>
                            <a:buFontTx/>
                            <a:buNone/>
                          </a:pPr>
                          <a:r>
                            <a:rPr kumimoji="0" lang="zh-CN" sz="2000" b="0" i="0" u="none" strike="noStrike" cap="none" normalizeH="0" baseline="0" smtClean="0">
                              <a:ln>
                                <a:noFill/>
                              </a:ln>
                              <a:solidFill>
                                <a:srgbClr val="003399"/>
                              </a:solidFill>
                              <a:effectLst/>
                              <a:latin typeface="华文楷体" panose="02010600040101010101" charset="-122"/>
                              <a:ea typeface="华文楷体" panose="02010600040101010101" charset="-122"/>
                              <a:sym typeface="Times New Roman" panose="02020603050405020304" pitchFamily="18" charset="0"/>
                            </a:rPr>
                            <a:t>自相关函数</a:t>
                          </a:r>
                          <a:endParaRPr kumimoji="0" lang="zh-CN" sz="2000" b="0" i="0" u="none" strike="noStrike" cap="none" normalizeH="0" baseline="0" smtClean="0">
                            <a:ln>
                              <a:noFill/>
                            </a:ln>
                            <a:solidFill>
                              <a:srgbClr val="003399"/>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cap="flat">
                          <a:noFill/>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indent="76200" defTabSz="0">
                            <a:spcBef>
                              <a:spcPct val="20000"/>
                            </a:spcBef>
                            <a:defRPr sz="2800">
                              <a:solidFill>
                                <a:schemeClr val="tx1"/>
                              </a:solidFill>
                              <a:latin typeface="Arial" panose="020B0604020202090204" pitchFamily="34" charset="0"/>
                              <a:ea typeface="宋体" pitchFamily="2" charset="-122"/>
                              <a:sym typeface="Arial" panose="020B0604020202090204" pitchFamily="34" charset="0"/>
                            </a:defRPr>
                          </a:lvl1pPr>
                          <a:lvl2pPr defTabSz="0">
                            <a:spcBef>
                              <a:spcPct val="20000"/>
                            </a:spcBef>
                            <a:defRPr sz="2400">
                              <a:solidFill>
                                <a:schemeClr val="tx1"/>
                              </a:solidFill>
                              <a:latin typeface="Arial" panose="020B0604020202090204" pitchFamily="34" charset="0"/>
                              <a:ea typeface="宋体" pitchFamily="2" charset="-122"/>
                              <a:sym typeface="Arial" panose="020B0604020202090204" pitchFamily="34" charset="0"/>
                            </a:defRPr>
                          </a:lvl2pPr>
                          <a:lvl3pPr defTabSz="0">
                            <a:spcBef>
                              <a:spcPct val="20000"/>
                            </a:spcBef>
                            <a:defRPr sz="2000">
                              <a:solidFill>
                                <a:schemeClr val="tx1"/>
                              </a:solidFill>
                              <a:latin typeface="Arial" panose="020B0604020202090204" pitchFamily="34" charset="0"/>
                              <a:ea typeface="宋体" pitchFamily="2" charset="-122"/>
                              <a:sym typeface="Arial" panose="020B0604020202090204" pitchFamily="34" charset="0"/>
                            </a:defRPr>
                          </a:lvl3pPr>
                          <a:lvl4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4pPr>
                          <a:lvl5pPr defTabSz="0">
                            <a:spcBef>
                              <a:spcPct val="20000"/>
                            </a:spcBef>
                            <a:defRPr>
                              <a:solidFill>
                                <a:schemeClr val="tx1"/>
                              </a:solidFill>
                              <a:latin typeface="Arial" panose="020B0604020202090204" pitchFamily="34" charset="0"/>
                              <a:ea typeface="宋体" pitchFamily="2" charset="-122"/>
                              <a:sym typeface="Arial" panose="020B0604020202090204" pitchFamily="34" charset="0"/>
                            </a:defRPr>
                          </a:lvl5pPr>
                          <a:lvl6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6pPr>
                          <a:lvl7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7pPr>
                          <a:lvl8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8pPr>
                          <a:lvl9pPr defTabSz="0" eaLnBrk="0" fontAlgn="base" hangingPunct="0">
                            <a:spcBef>
                              <a:spcPct val="20000"/>
                            </a:spcBef>
                            <a:spcAft>
                              <a:spcPct val="0"/>
                            </a:spcAft>
                            <a:defRPr>
                              <a:solidFill>
                                <a:schemeClr val="tx1"/>
                              </a:solidFill>
                              <a:latin typeface="Arial" panose="020B0604020202090204" pitchFamily="34" charset="0"/>
                              <a:ea typeface="宋体" pitchFamily="2" charset="-122"/>
                              <a:sym typeface="Arial" panose="020B0604020202090204" pitchFamily="34" charset="0"/>
                            </a:defRPr>
                          </a:lvl9pPr>
                        </a:lstStyle>
                        <a:p>
                          <a:pPr marL="0" marR="0" lvl="0" indent="76200" algn="just" defTabSz="0" rtl="0" eaLnBrk="1" fontAlgn="base" latinLnBrk="0" hangingPunct="1">
                            <a:lnSpc>
                              <a:spcPts val="1900"/>
                            </a:lnSpc>
                            <a:spcBef>
                              <a:spcPts val="200"/>
                            </a:spcBef>
                            <a:spcAft>
                              <a:spcPts val="200"/>
                            </a:spcAft>
                            <a:buClrTx/>
                            <a:buSzTx/>
                            <a:buFontTx/>
                            <a:buNone/>
                          </a:pPr>
                          <a:endParaRPr kumimoji="0" lang="zh-CN" altLang="zh-CN" sz="2000" b="1" i="0" u="none" strike="noStrike" cap="none" normalizeH="0" baseline="0" smtClean="0">
                            <a:ln>
                              <a:noFill/>
                            </a:ln>
                            <a:solidFill>
                              <a:srgbClr val="000000"/>
                            </a:solidFill>
                            <a:effectLst/>
                            <a:latin typeface="华文楷体" panose="02010600040101010101" charset="-122"/>
                            <a:ea typeface="华文楷体" panose="02010600040101010101" charset="-122"/>
                            <a:sym typeface="Times New Roman" panose="02020603050405020304" pitchFamily="18" charset="0"/>
                          </a:endParaRPr>
                        </a:p>
                      </a:txBody>
                      <a:tcPr marL="68580" marR="68580" marT="0" marB="0" anchor="ctr" horzOverflow="overflow">
                        <a:lnL w="12700" cap="flat" cmpd="sng" algn="ctr">
                          <a:solidFill>
                            <a:srgbClr val="808080"/>
                          </a:solidFill>
                          <a:prstDash val="solid"/>
                          <a:round/>
                          <a:headEnd type="none" w="med" len="med"/>
                          <a:tailEnd type="none" w="med" len="med"/>
                        </a:lnL>
                        <a:lnR cap="flat">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r>
                </a:tbl>
              </a:graphicData>
            </a:graphic>
          </p:graphicFrame>
        </mc:Fallback>
      </mc:AlternateContent>
      <p:pic>
        <p:nvPicPr>
          <p:cNvPr id="27680" name="Object 2"/>
          <p:cNvPicPr>
            <a:picLocks noChangeAspect="1"/>
          </p:cNvPicPr>
          <p:nvPr>
            <p:custDataLst>
              <p:tags r:id="rId8"/>
            </p:custDataLst>
          </p:nvPr>
        </p:nvPicPr>
        <p:blipFill>
          <a:blip r:embed="rId9"/>
          <a:stretch>
            <a:fillRect/>
          </a:stretch>
        </p:blipFill>
        <p:spPr>
          <a:xfrm>
            <a:off x="3630613" y="5317173"/>
            <a:ext cx="1971675" cy="500062"/>
          </a:xfrm>
          <a:prstGeom prst="rect">
            <a:avLst/>
          </a:prstGeom>
          <a:noFill/>
          <a:ln w="9525">
            <a:noFill/>
          </a:ln>
        </p:spPr>
      </p:pic>
      <p:pic>
        <p:nvPicPr>
          <p:cNvPr id="27681" name="Object 1"/>
          <p:cNvPicPr>
            <a:picLocks noChangeAspect="1"/>
          </p:cNvPicPr>
          <p:nvPr>
            <p:custDataLst>
              <p:tags r:id="rId10"/>
            </p:custDataLst>
          </p:nvPr>
        </p:nvPicPr>
        <p:blipFill>
          <a:blip r:embed="rId11"/>
          <a:stretch>
            <a:fillRect/>
          </a:stretch>
        </p:blipFill>
        <p:spPr>
          <a:xfrm>
            <a:off x="6273800" y="5317173"/>
            <a:ext cx="2024063" cy="500062"/>
          </a:xfrm>
          <a:prstGeom prst="rect">
            <a:avLst/>
          </a:prstGeom>
          <a:noFill/>
          <a:ln w="9525">
            <a:noFill/>
          </a:ln>
        </p:spPr>
      </p:pic>
      <p:sp>
        <p:nvSpPr>
          <p:cNvPr id="27682" name="矩形 15"/>
          <p:cNvSpPr/>
          <p:nvPr>
            <p:custDataLst>
              <p:tags r:id="rId12"/>
            </p:custDataLst>
          </p:nvPr>
        </p:nvSpPr>
        <p:spPr>
          <a:xfrm>
            <a:off x="3130550" y="6231573"/>
            <a:ext cx="3571875" cy="40005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304800" defTabSz="914400">
              <a:spcBef>
                <a:spcPct val="0"/>
              </a:spcBef>
              <a:buNone/>
            </a:pP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是线性系统的直流增益</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endParaRPr lang="zh-CN" altLang="en-US" sz="2000" dirty="0">
              <a:latin typeface="华文楷体" panose="02010600040101010101" charset="-122"/>
              <a:ea typeface="华文楷体" panose="02010600040101010101" charset="-122"/>
              <a:cs typeface="华文楷体" panose="02010600040101010101" charset="-122"/>
            </a:endParaRPr>
          </a:p>
        </p:txBody>
      </p:sp>
      <p:pic>
        <p:nvPicPr>
          <p:cNvPr id="27684" name="Object 20"/>
          <p:cNvPicPr>
            <a:picLocks noChangeAspect="1"/>
          </p:cNvPicPr>
          <p:nvPr>
            <p:custDataLst>
              <p:tags r:id="rId13"/>
            </p:custDataLst>
          </p:nvPr>
        </p:nvPicPr>
        <p:blipFill>
          <a:blip r:embed="rId14"/>
          <a:stretch>
            <a:fillRect/>
          </a:stretch>
        </p:blipFill>
        <p:spPr>
          <a:xfrm>
            <a:off x="1614488" y="6131560"/>
            <a:ext cx="1944687" cy="642938"/>
          </a:xfrm>
          <a:prstGeom prst="rect">
            <a:avLst/>
          </a:prstGeom>
          <a:noFill/>
          <a:ln w="9525">
            <a:noFill/>
          </a:ln>
        </p:spPr>
      </p:pic>
      <p:sp>
        <p:nvSpPr>
          <p:cNvPr id="27687" name="矩形 17"/>
          <p:cNvSpPr/>
          <p:nvPr>
            <p:custDataLst>
              <p:tags r:id="rId15"/>
            </p:custDataLst>
          </p:nvPr>
        </p:nvSpPr>
        <p:spPr>
          <a:xfrm>
            <a:off x="3487738" y="2945448"/>
            <a:ext cx="1808162" cy="334962"/>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76200" algn="ctr" defTabSz="914400">
              <a:lnSpc>
                <a:spcPts val="1900"/>
              </a:lnSpc>
              <a:spcBef>
                <a:spcPts val="200"/>
              </a:spcBef>
              <a:spcAft>
                <a:spcPts val="200"/>
              </a:spcAft>
              <a:buNone/>
            </a:pPr>
            <a:r>
              <a:rPr lang="zh-CN" altLang="en-US" sz="2400" b="1" dirty="0">
                <a:solidFill>
                  <a:srgbClr val="000000"/>
                </a:solidFill>
                <a:latin typeface="华文楷体" panose="02010600040101010101" charset="-122"/>
                <a:ea typeface="华文楷体" panose="02010600040101010101" charset="-122"/>
                <a:sym typeface="Times New Roman" panose="02020603050405020304" pitchFamily="18" charset="0"/>
              </a:rPr>
              <a:t>平稳、高斯</a:t>
            </a:r>
            <a:endParaRPr lang="zh-CN" altLang="en-US" sz="2400" b="1" dirty="0">
              <a:solidFill>
                <a:srgbClr val="000000"/>
              </a:solidFill>
              <a:latin typeface="华文楷体" panose="02010600040101010101" charset="-122"/>
              <a:ea typeface="华文楷体" panose="02010600040101010101" charset="-122"/>
              <a:sym typeface="Times New Roman" panose="02020603050405020304" pitchFamily="18" charset="0"/>
            </a:endParaRPr>
          </a:p>
        </p:txBody>
      </p:sp>
      <p:sp>
        <p:nvSpPr>
          <p:cNvPr id="27688" name="矩形 18"/>
          <p:cNvSpPr/>
          <p:nvPr>
            <p:custDataLst>
              <p:tags r:id="rId16"/>
            </p:custDataLst>
          </p:nvPr>
        </p:nvSpPr>
        <p:spPr>
          <a:xfrm>
            <a:off x="6130925" y="2937510"/>
            <a:ext cx="1808163" cy="33655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76200" algn="ctr" defTabSz="914400">
              <a:lnSpc>
                <a:spcPts val="1900"/>
              </a:lnSpc>
              <a:spcBef>
                <a:spcPts val="200"/>
              </a:spcBef>
              <a:spcAft>
                <a:spcPts val="200"/>
              </a:spcAft>
              <a:buNone/>
            </a:pPr>
            <a:r>
              <a:rPr lang="zh-CN" altLang="en-US" sz="2400" b="1" dirty="0">
                <a:solidFill>
                  <a:srgbClr val="000000"/>
                </a:solidFill>
                <a:latin typeface="华文楷体" panose="02010600040101010101" charset="-122"/>
                <a:ea typeface="华文楷体" panose="02010600040101010101" charset="-122"/>
                <a:sym typeface="Times New Roman" panose="02020603050405020304" pitchFamily="18" charset="0"/>
              </a:rPr>
              <a:t>平稳、高斯</a:t>
            </a:r>
            <a:endParaRPr lang="zh-CN" altLang="en-US" sz="2400" b="1" dirty="0">
              <a:solidFill>
                <a:srgbClr val="000000"/>
              </a:solidFill>
              <a:latin typeface="华文楷体" panose="02010600040101010101" charset="-122"/>
              <a:ea typeface="华文楷体" panose="02010600040101010101" charset="-122"/>
              <a:sym typeface="Times New Roman" panose="02020603050405020304" pitchFamily="18" charset="0"/>
            </a:endParaRPr>
          </a:p>
        </p:txBody>
      </p:sp>
      <p:sp>
        <p:nvSpPr>
          <p:cNvPr id="27689" name="矩形 19"/>
          <p:cNvSpPr/>
          <p:nvPr>
            <p:custDataLst>
              <p:tags r:id="rId17"/>
            </p:custDataLst>
          </p:nvPr>
        </p:nvSpPr>
        <p:spPr>
          <a:xfrm>
            <a:off x="8059738" y="3731260"/>
            <a:ext cx="881062" cy="34290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76200" algn="just" defTabSz="914400">
              <a:lnSpc>
                <a:spcPts val="1900"/>
              </a:lnSpc>
              <a:spcBef>
                <a:spcPts val="200"/>
              </a:spcBef>
              <a:spcAft>
                <a:spcPts val="200"/>
              </a:spcAft>
              <a:buNone/>
            </a:pPr>
            <a:r>
              <a:rPr lang="en-US" altLang="zh-CN" sz="2400" b="1" dirty="0">
                <a:solidFill>
                  <a:srgbClr val="000000"/>
                </a:solidFill>
                <a:latin typeface="华文楷体" panose="02010600040101010101" charset="-122"/>
                <a:ea typeface="华文楷体" panose="02010600040101010101" charset="-122"/>
                <a:sym typeface="Times New Roman" panose="02020603050405020304" pitchFamily="18" charset="0"/>
              </a:rPr>
              <a:t>常数</a:t>
            </a:r>
            <a:endParaRPr lang="en-US" altLang="zh-CN" sz="2400" b="1" dirty="0">
              <a:solidFill>
                <a:srgbClr val="000000"/>
              </a:solidFill>
              <a:latin typeface="华文楷体" panose="02010600040101010101" charset="-122"/>
              <a:ea typeface="华文楷体" panose="02010600040101010101" charset="-122"/>
              <a:sym typeface="Times New Roman" panose="02020603050405020304" pitchFamily="18" charset="0"/>
            </a:endParaRPr>
          </a:p>
        </p:txBody>
      </p:sp>
      <p:sp>
        <p:nvSpPr>
          <p:cNvPr id="27690" name="矩形 20"/>
          <p:cNvSpPr/>
          <p:nvPr>
            <p:custDataLst>
              <p:tags r:id="rId18"/>
            </p:custDataLst>
          </p:nvPr>
        </p:nvSpPr>
        <p:spPr>
          <a:xfrm>
            <a:off x="4271328" y="3757930"/>
            <a:ext cx="881062" cy="34290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76200" algn="just" defTabSz="914400">
              <a:lnSpc>
                <a:spcPts val="1900"/>
              </a:lnSpc>
              <a:spcBef>
                <a:spcPts val="200"/>
              </a:spcBef>
              <a:spcAft>
                <a:spcPts val="200"/>
              </a:spcAft>
              <a:buNone/>
            </a:pPr>
            <a:r>
              <a:rPr lang="en-US" altLang="zh-CN" sz="2400" b="1" dirty="0">
                <a:solidFill>
                  <a:srgbClr val="000000"/>
                </a:solidFill>
                <a:latin typeface="华文楷体" panose="02010600040101010101" charset="-122"/>
                <a:ea typeface="华文楷体" panose="02010600040101010101" charset="-122"/>
                <a:sym typeface="Times New Roman" panose="02020603050405020304" pitchFamily="18" charset="0"/>
              </a:rPr>
              <a:t>常数</a:t>
            </a:r>
            <a:endParaRPr lang="en-US" altLang="zh-CN" sz="2400" b="1" dirty="0">
              <a:solidFill>
                <a:srgbClr val="000000"/>
              </a:solidFill>
              <a:latin typeface="华文楷体" panose="02010600040101010101" charset="-122"/>
              <a:ea typeface="华文楷体" panose="02010600040101010101" charset="-122"/>
              <a:sym typeface="Times New Roman" panose="02020603050405020304" pitchFamily="18" charset="0"/>
            </a:endParaRPr>
          </a:p>
        </p:txBody>
      </p:sp>
      <p:sp>
        <p:nvSpPr>
          <p:cNvPr id="27691" name="矩形 22"/>
          <p:cNvSpPr/>
          <p:nvPr>
            <p:custDataLst>
              <p:tags r:id="rId19"/>
            </p:custDataLst>
          </p:nvPr>
        </p:nvSpPr>
        <p:spPr>
          <a:xfrm>
            <a:off x="7416800" y="6231573"/>
            <a:ext cx="1466850" cy="40005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zh-CN" altLang="en-US" sz="2000" dirty="0">
                <a:solidFill>
                  <a:srgbClr val="000000"/>
                </a:solidFill>
                <a:latin typeface="华文楷体" panose="02010600040101010101" charset="-122"/>
                <a:ea typeface="华文楷体" panose="02010600040101010101" charset="-122"/>
                <a:sym typeface="Times New Roman" panose="02020603050405020304" pitchFamily="18" charset="0"/>
              </a:rPr>
              <a:t>是功率增益</a:t>
            </a:r>
            <a:endParaRPr lang="zh-CN" altLang="en-US" sz="2000" dirty="0">
              <a:solidFill>
                <a:srgbClr val="000000"/>
              </a:solidFill>
              <a:latin typeface="华文楷体" panose="02010600040101010101" charset="-122"/>
              <a:ea typeface="华文楷体" panose="02010600040101010101" charset="-122"/>
              <a:sym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文本框 3"/>
              <p:cNvSpPr txBox="1"/>
              <p:nvPr/>
            </p:nvSpPr>
            <p:spPr>
              <a:xfrm>
                <a:off x="3503930" y="3613785"/>
                <a:ext cx="785495" cy="48260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zh-CN" altLang="zh-CN" sz="2400" i="1" kern="0">
                              <a:solidFill>
                                <a:srgbClr val="000000"/>
                              </a:solidFill>
                              <a:latin typeface="DejaVu Math TeX Gyre" panose="02000503000000000000" charset="0"/>
                              <a:ea typeface="华文楷体" panose="02010600040101010101" charset="-122"/>
                              <a:cs typeface="DejaVu Math TeX Gyre" panose="02000503000000000000" charset="0"/>
                            </a:rPr>
                          </m:ctrlPr>
                        </m:sSubPr>
                        <m:e>
                          <m:r>
                            <m:rPr>
                              <m:sty m:val="p"/>
                            </m:rPr>
                            <a:rPr lang="en-US" altLang="zh-CN" sz="2400" kern="0">
                              <a:solidFill>
                                <a:srgbClr val="000000"/>
                              </a:solidFill>
                              <a:latin typeface="DejaVu Math TeX Gyre" panose="02000503000000000000" charset="0"/>
                              <a:ea typeface="华文楷体" panose="02010600040101010101" charset="-122"/>
                              <a:cs typeface="DejaVu Math TeX Gyre" panose="02000503000000000000" charset="0"/>
                            </a:rPr>
                            <m:t>a</m:t>
                          </m:r>
                        </m:e>
                        <m:sub>
                          <m:r>
                            <a:rPr lang="en-US" altLang="zh-CN" sz="2400" kern="0">
                              <a:solidFill>
                                <a:srgbClr val="000000"/>
                              </a:solidFill>
                              <a:latin typeface="DejaVu Math TeX Gyre" panose="02000503000000000000" charset="0"/>
                              <a:ea typeface="宋体" pitchFamily="2" charset="-122"/>
                              <a:cs typeface="DejaVu Math TeX Gyre" panose="02000503000000000000" charset="0"/>
                            </a:rPr>
                            <m:t>𝜉</m:t>
                          </m:r>
                        </m:sub>
                      </m:sSub>
                    </m:oMath>
                  </m:oMathPara>
                </a14:m>
                <a:endParaRPr lang="en-US" altLang="zh-CN" sz="2400" kern="0">
                  <a:solidFill>
                    <a:srgbClr val="000000"/>
                  </a:solidFill>
                  <a:latin typeface="华文楷体" panose="02010600040101010101" charset="-122"/>
                  <a:ea typeface="华文楷体" panose="02010600040101010101" charset="-122"/>
                  <a:cs typeface="华文楷体" panose="02010600040101010101"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3503930" y="3613785"/>
                <a:ext cx="785495" cy="482600"/>
              </a:xfrm>
              <a:prstGeom prst="rect">
                <a:avLst/>
              </a:prstGeom>
              <a:blipFill rotWithShape="1">
                <a:blip r:embed="rId2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5664200" y="3683000"/>
                <a:ext cx="2753995" cy="40513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zh-CN" altLang="zh-CN" sz="2000" i="1" kern="0">
                              <a:solidFill>
                                <a:srgbClr val="C00000"/>
                              </a:solidFill>
                              <a:latin typeface="DejaVu Math TeX Gyre" panose="02000503000000000000" charset="0"/>
                              <a:ea typeface="华文楷体" panose="02010600040101010101" charset="-122"/>
                              <a:cs typeface="DejaVu Math TeX Gyre" panose="02000503000000000000" charset="0"/>
                            </a:rPr>
                          </m:ctrlPr>
                        </m:sSubPr>
                        <m:e>
                          <m:r>
                            <m:rPr>
                              <m:sty m:val="p"/>
                            </m:rPr>
                            <a:rPr lang="en-US" altLang="zh-CN" sz="2000" kern="0">
                              <a:solidFill>
                                <a:srgbClr val="C00000"/>
                              </a:solidFill>
                              <a:latin typeface="DejaVu Math TeX Gyre" panose="02000503000000000000" charset="0"/>
                              <a:ea typeface="华文楷体" panose="02010600040101010101" charset="-122"/>
                              <a:cs typeface="DejaVu Math TeX Gyre" panose="02000503000000000000" charset="0"/>
                            </a:rPr>
                            <m:t>a</m:t>
                          </m:r>
                        </m:e>
                        <m:sub>
                          <m:r>
                            <a:rPr lang="en-US" altLang="zh-CN" sz="2000" kern="0">
                              <a:solidFill>
                                <a:srgbClr val="C00000"/>
                              </a:solidFill>
                              <a:latin typeface="DejaVu Math TeX Gyre" panose="02000503000000000000" charset="0"/>
                              <a:ea typeface="宋体" pitchFamily="2" charset="-122"/>
                              <a:cs typeface="DejaVu Math TeX Gyre" panose="02000503000000000000" charset="0"/>
                            </a:rPr>
                            <m:t>𝜂</m:t>
                          </m:r>
                        </m:sub>
                      </m:sSub>
                      <m:r>
                        <a:rPr lang="en-US" altLang="zh-CN" sz="2000" kern="0">
                          <a:solidFill>
                            <a:srgbClr val="C00000"/>
                          </a:solidFill>
                          <a:latin typeface="DejaVu Math TeX Gyre" panose="02000503000000000000" charset="0"/>
                          <a:ea typeface="宋体" pitchFamily="2" charset="-122"/>
                          <a:cs typeface="DejaVu Math TeX Gyre" panose="02000503000000000000" charset="0"/>
                        </a:rPr>
                        <m:t>=</m:t>
                      </m:r>
                      <m:sSub>
                        <m:sSubPr>
                          <m:ctrlPr>
                            <a:rPr lang="zh-CN" altLang="zh-CN" sz="2000" i="1" kern="0">
                              <a:solidFill>
                                <a:srgbClr val="C00000"/>
                              </a:solidFill>
                              <a:latin typeface="DejaVu Math TeX Gyre" panose="02000503000000000000" charset="0"/>
                              <a:ea typeface="华文楷体" panose="02010600040101010101" charset="-122"/>
                              <a:cs typeface="DejaVu Math TeX Gyre" panose="02000503000000000000" charset="0"/>
                            </a:rPr>
                          </m:ctrlPr>
                        </m:sSubPr>
                        <m:e>
                          <m:r>
                            <m:rPr>
                              <m:sty m:val="p"/>
                            </m:rPr>
                            <a:rPr lang="en-US" altLang="zh-CN" sz="2000" kern="0">
                              <a:solidFill>
                                <a:srgbClr val="C00000"/>
                              </a:solidFill>
                              <a:latin typeface="DejaVu Math TeX Gyre" panose="02000503000000000000" charset="0"/>
                              <a:ea typeface="华文楷体" panose="02010600040101010101" charset="-122"/>
                              <a:cs typeface="DejaVu Math TeX Gyre" panose="02000503000000000000" charset="0"/>
                            </a:rPr>
                            <m:t>a</m:t>
                          </m:r>
                        </m:e>
                        <m:sub>
                          <m:r>
                            <a:rPr lang="en-US" altLang="zh-CN" sz="2000" kern="0">
                              <a:solidFill>
                                <a:srgbClr val="C00000"/>
                              </a:solidFill>
                              <a:latin typeface="DejaVu Math TeX Gyre" panose="02000503000000000000" charset="0"/>
                              <a:ea typeface="宋体" pitchFamily="2" charset="-122"/>
                              <a:cs typeface="DejaVu Math TeX Gyre" panose="02000503000000000000" charset="0"/>
                            </a:rPr>
                            <m:t>𝜉</m:t>
                          </m:r>
                        </m:sub>
                      </m:sSub>
                      <m:r>
                        <m:rPr>
                          <m:sty m:val="p"/>
                        </m:rPr>
                        <a:rPr lang="en-US" altLang="zh-CN" sz="2000" kern="0">
                          <a:solidFill>
                            <a:srgbClr val="C00000"/>
                          </a:solidFill>
                          <a:latin typeface="DejaVu Math TeX Gyre" panose="02000503000000000000" charset="0"/>
                          <a:ea typeface="华文楷体" panose="02010600040101010101" charset="-122"/>
                          <a:cs typeface="DejaVu Math TeX Gyre" panose="02000503000000000000" charset="0"/>
                        </a:rPr>
                        <m:t>H</m:t>
                      </m:r>
                      <m:r>
                        <a:rPr lang="en-US" altLang="zh-CN" sz="2000" kern="0">
                          <a:solidFill>
                            <a:srgbClr val="C00000"/>
                          </a:solidFill>
                          <a:latin typeface="DejaVu Math TeX Gyre" panose="02000503000000000000" charset="0"/>
                          <a:ea typeface="宋体" pitchFamily="2" charset="-122"/>
                          <a:cs typeface="DejaVu Math TeX Gyre" panose="02000503000000000000" charset="0"/>
                        </a:rPr>
                        <m:t>(</m:t>
                      </m:r>
                      <m:r>
                        <a:rPr lang="en-US" altLang="zh-CN" sz="2000" kern="0">
                          <a:solidFill>
                            <a:srgbClr val="C00000"/>
                          </a:solidFill>
                          <a:latin typeface="DejaVu Math TeX Gyre" panose="02000503000000000000" charset="0"/>
                          <a:ea typeface="宋体" pitchFamily="2" charset="-122"/>
                          <a:cs typeface="DejaVu Math TeX Gyre" panose="02000503000000000000" charset="0"/>
                        </a:rPr>
                        <m:t>0</m:t>
                      </m:r>
                      <m:r>
                        <a:rPr lang="en-US" altLang="zh-CN" sz="2000" kern="0">
                          <a:solidFill>
                            <a:srgbClr val="C00000"/>
                          </a:solidFill>
                          <a:latin typeface="DejaVu Math TeX Gyre" panose="02000503000000000000" charset="0"/>
                          <a:ea typeface="MS Mincho" charset="0"/>
                          <a:cs typeface="DejaVu Math TeX Gyre" panose="02000503000000000000" charset="0"/>
                        </a:rPr>
                        <m:t>)</m:t>
                      </m:r>
                    </m:oMath>
                  </m:oMathPara>
                </a14:m>
                <a:endParaRPr lang="en-US" altLang="zh-CN" sz="2000" kern="0">
                  <a:solidFill>
                    <a:srgbClr val="C00000"/>
                  </a:solidFill>
                  <a:latin typeface="DejaVu Math TeX Gyre" panose="02000503000000000000" charset="0"/>
                  <a:ea typeface="宋体" pitchFamily="2" charset="-122"/>
                  <a:cs typeface="DejaVu Math TeX Gyre" panose="02000503000000000000"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5664200" y="3683000"/>
                <a:ext cx="2753995" cy="405130"/>
              </a:xfrm>
              <a:prstGeom prst="rect">
                <a:avLst/>
              </a:prstGeom>
              <a:blipFill rotWithShape="1">
                <a:blip r:embed="rId2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3575685" y="4478020"/>
                <a:ext cx="1491615" cy="40132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zh-CN" altLang="zh-CN" sz="2000" i="1" kern="0">
                              <a:solidFill>
                                <a:srgbClr val="C00000"/>
                              </a:solidFill>
                              <a:latin typeface="DejaVu Math TeX Gyre" panose="02000503000000000000" charset="0"/>
                              <a:ea typeface="华文楷体" panose="02010600040101010101" charset="-122"/>
                              <a:cs typeface="DejaVu Math TeX Gyre" panose="02000503000000000000" charset="0"/>
                            </a:rPr>
                          </m:ctrlPr>
                        </m:sSubPr>
                        <m:e>
                          <m:r>
                            <m:rPr>
                              <m:sty m:val="p"/>
                            </m:rPr>
                            <a:rPr lang="en-US" altLang="zh-CN" sz="2000" kern="0">
                              <a:solidFill>
                                <a:srgbClr val="C00000"/>
                              </a:solidFill>
                              <a:latin typeface="DejaVu Math TeX Gyre" panose="02000503000000000000" charset="0"/>
                              <a:ea typeface="华文楷体" panose="02010600040101010101" charset="-122"/>
                              <a:cs typeface="DejaVu Math TeX Gyre" panose="02000503000000000000" charset="0"/>
                            </a:rPr>
                            <m:t>P</m:t>
                          </m:r>
                        </m:e>
                        <m:sub>
                          <m:r>
                            <a:rPr lang="en-US" altLang="zh-CN" sz="2000" kern="0">
                              <a:solidFill>
                                <a:srgbClr val="C00000"/>
                              </a:solidFill>
                              <a:latin typeface="DejaVu Math TeX Gyre" panose="02000503000000000000" charset="0"/>
                              <a:ea typeface="宋体" pitchFamily="2" charset="-122"/>
                              <a:cs typeface="DejaVu Math TeX Gyre" panose="02000503000000000000" charset="0"/>
                            </a:rPr>
                            <m:t>𝜉</m:t>
                          </m:r>
                        </m:sub>
                      </m:sSub>
                      <m:r>
                        <a:rPr lang="en-US" altLang="zh-CN" sz="2000" kern="0">
                          <a:solidFill>
                            <a:srgbClr val="C00000"/>
                          </a:solidFill>
                          <a:latin typeface="DejaVu Math TeX Gyre" panose="02000503000000000000" charset="0"/>
                          <a:ea typeface="宋体" pitchFamily="2" charset="-122"/>
                          <a:cs typeface="DejaVu Math TeX Gyre" panose="02000503000000000000" charset="0"/>
                        </a:rPr>
                        <m:t>(</m:t>
                      </m:r>
                      <m:r>
                        <a:rPr lang="en-US" altLang="zh-CN" sz="2000" kern="0">
                          <a:solidFill>
                            <a:srgbClr val="C00000"/>
                          </a:solidFill>
                          <a:latin typeface="DejaVu Math TeX Gyre" panose="02000503000000000000" charset="0"/>
                          <a:ea typeface="宋体" pitchFamily="2" charset="-122"/>
                          <a:cs typeface="DejaVu Math TeX Gyre" panose="02000503000000000000" charset="0"/>
                        </a:rPr>
                        <m:t>𝜔</m:t>
                      </m:r>
                      <m:r>
                        <a:rPr lang="en-US" altLang="zh-CN" sz="2000" kern="0">
                          <a:solidFill>
                            <a:srgbClr val="C00000"/>
                          </a:solidFill>
                          <a:latin typeface="DejaVu Math TeX Gyre" panose="02000503000000000000" charset="0"/>
                          <a:ea typeface="MS Mincho" charset="0"/>
                          <a:cs typeface="DejaVu Math TeX Gyre" panose="02000503000000000000" charset="0"/>
                        </a:rPr>
                        <m:t>)</m:t>
                      </m:r>
                    </m:oMath>
                  </m:oMathPara>
                </a14:m>
                <a:endParaRPr lang="en-US" altLang="zh-CN" sz="2000" kern="0">
                  <a:solidFill>
                    <a:srgbClr val="C00000"/>
                  </a:solidFill>
                  <a:latin typeface="DejaVu Math TeX Gyre" panose="02000503000000000000" charset="0"/>
                  <a:ea typeface="宋体" pitchFamily="2" charset="-122"/>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3575685" y="4478020"/>
                <a:ext cx="1491615" cy="401320"/>
              </a:xfrm>
              <a:prstGeom prst="rect">
                <a:avLst/>
              </a:prstGeom>
              <a:blipFill rotWithShape="1">
                <a:blip r:embed="rId2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5735955" y="4457065"/>
                <a:ext cx="3601085" cy="44640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zh-CN" altLang="zh-CN" sz="2000" i="1" kern="0">
                              <a:solidFill>
                                <a:srgbClr val="C00000"/>
                              </a:solidFill>
                              <a:latin typeface="DejaVu Math TeX Gyre" panose="02000503000000000000" charset="0"/>
                              <a:ea typeface="华文楷体" panose="02010600040101010101" charset="-122"/>
                              <a:cs typeface="DejaVu Math TeX Gyre" panose="02000503000000000000" charset="0"/>
                            </a:rPr>
                          </m:ctrlPr>
                        </m:sSubPr>
                        <m:e>
                          <m:r>
                            <m:rPr>
                              <m:sty m:val="p"/>
                            </m:rPr>
                            <a:rPr lang="en-US" altLang="zh-CN" sz="2000" kern="0">
                              <a:solidFill>
                                <a:srgbClr val="C00000"/>
                              </a:solidFill>
                              <a:latin typeface="DejaVu Math TeX Gyre" panose="02000503000000000000" charset="0"/>
                              <a:ea typeface="华文楷体" panose="02010600040101010101" charset="-122"/>
                              <a:cs typeface="DejaVu Math TeX Gyre" panose="02000503000000000000" charset="0"/>
                            </a:rPr>
                            <m:t>P</m:t>
                          </m:r>
                        </m:e>
                        <m:sub>
                          <m:r>
                            <a:rPr lang="en-US" altLang="zh-CN" sz="2000" kern="0">
                              <a:solidFill>
                                <a:srgbClr val="C00000"/>
                              </a:solidFill>
                              <a:latin typeface="DejaVu Math TeX Gyre" panose="02000503000000000000" charset="0"/>
                              <a:ea typeface="宋体" pitchFamily="2" charset="-122"/>
                              <a:cs typeface="DejaVu Math TeX Gyre" panose="02000503000000000000" charset="0"/>
                            </a:rPr>
                            <m:t>𝜂</m:t>
                          </m:r>
                        </m:sub>
                      </m:sSub>
                      <m:r>
                        <a:rPr lang="en-US" altLang="zh-CN" sz="2000" kern="0">
                          <a:solidFill>
                            <a:srgbClr val="C00000"/>
                          </a:solidFill>
                          <a:latin typeface="DejaVu Math TeX Gyre" panose="02000503000000000000" charset="0"/>
                          <a:ea typeface="宋体" pitchFamily="2" charset="-122"/>
                          <a:cs typeface="DejaVu Math TeX Gyre" panose="02000503000000000000" charset="0"/>
                        </a:rPr>
                        <m:t>(</m:t>
                      </m:r>
                      <m:r>
                        <a:rPr lang="en-US" altLang="zh-CN" sz="2000" kern="0">
                          <a:solidFill>
                            <a:srgbClr val="C00000"/>
                          </a:solidFill>
                          <a:latin typeface="DejaVu Math TeX Gyre" panose="02000503000000000000" charset="0"/>
                          <a:ea typeface="宋体" pitchFamily="2" charset="-122"/>
                          <a:cs typeface="DejaVu Math TeX Gyre" panose="02000503000000000000" charset="0"/>
                        </a:rPr>
                        <m:t>𝜔</m:t>
                      </m:r>
                      <m:r>
                        <a:rPr lang="en-US" altLang="zh-CN" sz="2000" kern="0">
                          <a:solidFill>
                            <a:srgbClr val="C00000"/>
                          </a:solidFill>
                          <a:latin typeface="DejaVu Math TeX Gyre" panose="02000503000000000000" charset="0"/>
                          <a:ea typeface="宋体" pitchFamily="2" charset="-122"/>
                          <a:cs typeface="DejaVu Math TeX Gyre" panose="02000503000000000000" charset="0"/>
                        </a:rPr>
                        <m:t>)=</m:t>
                      </m:r>
                      <m:sSup>
                        <m:sSupPr>
                          <m:ctrlPr>
                            <a:rPr lang="zh-CN" altLang="zh-CN" sz="2000" i="1" kern="0">
                              <a:solidFill>
                                <a:srgbClr val="C00000"/>
                              </a:solidFill>
                              <a:latin typeface="DejaVu Math TeX Gyre" panose="02000503000000000000" charset="0"/>
                              <a:ea typeface="华文楷体" panose="02010600040101010101" charset="-122"/>
                              <a:cs typeface="DejaVu Math TeX Gyre" panose="02000503000000000000" charset="0"/>
                            </a:rPr>
                          </m:ctrlPr>
                        </m:sSupPr>
                        <m:e>
                          <m:d>
                            <m:dPr>
                              <m:begChr m:val="|"/>
                              <m:endChr m:val="|"/>
                              <m:ctrlPr>
                                <a:rPr lang="zh-CN" altLang="zh-CN" sz="2000" i="1" kern="0">
                                  <a:solidFill>
                                    <a:srgbClr val="C00000"/>
                                  </a:solidFill>
                                  <a:latin typeface="DejaVu Math TeX Gyre" panose="02000503000000000000" charset="0"/>
                                  <a:ea typeface="华文楷体" panose="02010600040101010101" charset="-122"/>
                                  <a:cs typeface="DejaVu Math TeX Gyre" panose="02000503000000000000" charset="0"/>
                                </a:rPr>
                              </m:ctrlPr>
                            </m:dPr>
                            <m:e>
                              <m:r>
                                <m:rPr>
                                  <m:sty m:val="p"/>
                                </m:rPr>
                                <a:rPr lang="en-US" altLang="zh-CN" sz="2000" kern="0">
                                  <a:solidFill>
                                    <a:srgbClr val="C00000"/>
                                  </a:solidFill>
                                  <a:latin typeface="DejaVu Math TeX Gyre" panose="02000503000000000000" charset="0"/>
                                  <a:ea typeface="华文楷体" panose="02010600040101010101" charset="-122"/>
                                  <a:cs typeface="DejaVu Math TeX Gyre" panose="02000503000000000000" charset="0"/>
                                </a:rPr>
                                <m:t>H</m:t>
                              </m:r>
                              <m:r>
                                <a:rPr lang="en-US" altLang="zh-CN" sz="2000" kern="0">
                                  <a:solidFill>
                                    <a:srgbClr val="C00000"/>
                                  </a:solidFill>
                                  <a:latin typeface="DejaVu Math TeX Gyre" panose="02000503000000000000" charset="0"/>
                                  <a:ea typeface="宋体" pitchFamily="2" charset="-122"/>
                                  <a:cs typeface="DejaVu Math TeX Gyre" panose="02000503000000000000" charset="0"/>
                                </a:rPr>
                                <m:t>(</m:t>
                              </m:r>
                              <m:r>
                                <a:rPr lang="en-US" altLang="zh-CN" sz="2000" kern="0">
                                  <a:solidFill>
                                    <a:srgbClr val="C00000"/>
                                  </a:solidFill>
                                  <a:latin typeface="DejaVu Math TeX Gyre" panose="02000503000000000000" charset="0"/>
                                  <a:ea typeface="宋体" pitchFamily="2" charset="-122"/>
                                  <a:cs typeface="DejaVu Math TeX Gyre" panose="02000503000000000000" charset="0"/>
                                </a:rPr>
                                <m:t>𝜔</m:t>
                              </m:r>
                              <m:r>
                                <a:rPr lang="en-US" altLang="zh-CN" sz="2000" kern="0">
                                  <a:solidFill>
                                    <a:srgbClr val="C00000"/>
                                  </a:solidFill>
                                  <a:latin typeface="DejaVu Math TeX Gyre" panose="02000503000000000000" charset="0"/>
                                  <a:ea typeface="宋体" pitchFamily="2" charset="-122"/>
                                  <a:cs typeface="DejaVu Math TeX Gyre" panose="02000503000000000000" charset="0"/>
                                </a:rPr>
                                <m:t>)</m:t>
                              </m:r>
                            </m:e>
                          </m:d>
                        </m:e>
                        <m:sup>
                          <m:r>
                            <a:rPr lang="en-US" altLang="zh-CN" sz="2000" kern="0">
                              <a:solidFill>
                                <a:srgbClr val="C00000"/>
                              </a:solidFill>
                              <a:latin typeface="DejaVu Math TeX Gyre" panose="02000503000000000000" charset="0"/>
                              <a:ea typeface="宋体" pitchFamily="2" charset="-122"/>
                              <a:cs typeface="DejaVu Math TeX Gyre" panose="02000503000000000000" charset="0"/>
                            </a:rPr>
                            <m:t>2</m:t>
                          </m:r>
                        </m:sup>
                      </m:sSup>
                      <m:r>
                        <a:rPr lang="en-US" altLang="zh-CN" sz="2000" kern="0">
                          <a:solidFill>
                            <a:srgbClr val="C00000"/>
                          </a:solidFill>
                          <a:latin typeface="DejaVu Math TeX Gyre" panose="02000503000000000000" charset="0"/>
                          <a:ea typeface="宋体" pitchFamily="2" charset="-122"/>
                          <a:cs typeface="DejaVu Math TeX Gyre" panose="02000503000000000000" charset="0"/>
                        </a:rPr>
                        <m:t>⋅</m:t>
                      </m:r>
                      <m:sSub>
                        <m:sSubPr>
                          <m:ctrlPr>
                            <a:rPr lang="zh-CN" altLang="zh-CN" sz="2000" i="1" kern="0">
                              <a:solidFill>
                                <a:srgbClr val="C00000"/>
                              </a:solidFill>
                              <a:latin typeface="DejaVu Math TeX Gyre" panose="02000503000000000000" charset="0"/>
                              <a:ea typeface="华文楷体" panose="02010600040101010101" charset="-122"/>
                              <a:cs typeface="DejaVu Math TeX Gyre" panose="02000503000000000000" charset="0"/>
                            </a:rPr>
                          </m:ctrlPr>
                        </m:sSubPr>
                        <m:e>
                          <m:r>
                            <m:rPr>
                              <m:sty m:val="p"/>
                            </m:rPr>
                            <a:rPr lang="en-US" altLang="zh-CN" sz="2000" kern="0">
                              <a:solidFill>
                                <a:srgbClr val="C00000"/>
                              </a:solidFill>
                              <a:latin typeface="DejaVu Math TeX Gyre" panose="02000503000000000000" charset="0"/>
                              <a:ea typeface="华文楷体" panose="02010600040101010101" charset="-122"/>
                              <a:cs typeface="DejaVu Math TeX Gyre" panose="02000503000000000000" charset="0"/>
                            </a:rPr>
                            <m:t>P</m:t>
                          </m:r>
                        </m:e>
                        <m:sub>
                          <m:r>
                            <a:rPr lang="en-US" altLang="zh-CN" sz="2000" kern="0">
                              <a:solidFill>
                                <a:srgbClr val="C00000"/>
                              </a:solidFill>
                              <a:latin typeface="DejaVu Math TeX Gyre" panose="02000503000000000000" charset="0"/>
                              <a:ea typeface="宋体" pitchFamily="2" charset="-122"/>
                              <a:cs typeface="DejaVu Math TeX Gyre" panose="02000503000000000000" charset="0"/>
                            </a:rPr>
                            <m:t>𝜉</m:t>
                          </m:r>
                        </m:sub>
                      </m:sSub>
                      <m:r>
                        <a:rPr lang="en-US" altLang="zh-CN" sz="2000" kern="0">
                          <a:solidFill>
                            <a:srgbClr val="C00000"/>
                          </a:solidFill>
                          <a:latin typeface="DejaVu Math TeX Gyre" panose="02000503000000000000" charset="0"/>
                          <a:ea typeface="宋体" pitchFamily="2" charset="-122"/>
                          <a:cs typeface="DejaVu Math TeX Gyre" panose="02000503000000000000" charset="0"/>
                        </a:rPr>
                        <m:t>(</m:t>
                      </m:r>
                      <m:r>
                        <a:rPr lang="en-US" altLang="zh-CN" sz="2000" kern="0">
                          <a:solidFill>
                            <a:srgbClr val="C00000"/>
                          </a:solidFill>
                          <a:latin typeface="DejaVu Math TeX Gyre" panose="02000503000000000000" charset="0"/>
                          <a:ea typeface="宋体" pitchFamily="2" charset="-122"/>
                          <a:cs typeface="DejaVu Math TeX Gyre" panose="02000503000000000000" charset="0"/>
                        </a:rPr>
                        <m:t>𝜔</m:t>
                      </m:r>
                      <m:r>
                        <a:rPr lang="en-US" altLang="zh-CN" sz="2000" kern="0">
                          <a:solidFill>
                            <a:srgbClr val="C00000"/>
                          </a:solidFill>
                          <a:latin typeface="DejaVu Math TeX Gyre" panose="02000503000000000000" charset="0"/>
                          <a:ea typeface="MS Mincho" charset="0"/>
                          <a:cs typeface="DejaVu Math TeX Gyre" panose="02000503000000000000" charset="0"/>
                        </a:rPr>
                        <m:t>)</m:t>
                      </m:r>
                    </m:oMath>
                  </m:oMathPara>
                </a14:m>
                <a:endParaRPr lang="en-US" altLang="zh-CN" sz="2000" kern="0">
                  <a:solidFill>
                    <a:srgbClr val="C00000"/>
                  </a:solidFill>
                  <a:latin typeface="DejaVu Math TeX Gyre" panose="02000503000000000000" charset="0"/>
                  <a:ea typeface="宋体" pitchFamily="2" charset="-122"/>
                  <a:cs typeface="DejaVu Math TeX Gyre" panose="02000503000000000000"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5735955" y="4457065"/>
                <a:ext cx="3601085" cy="446405"/>
              </a:xfrm>
              <a:prstGeom prst="rect">
                <a:avLst/>
              </a:prstGeom>
              <a:blipFill rotWithShape="1">
                <a:blip r:embed="rId2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6312535" y="6169660"/>
                <a:ext cx="987425" cy="46291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p>
                        <m:sSupPr>
                          <m:ctrlPr>
                            <a:rPr lang="zh-CN" altLang="zh-CN" sz="2400" i="1" kern="0">
                              <a:solidFill>
                                <a:schemeClr val="tx1"/>
                              </a:solidFill>
                              <a:latin typeface="DejaVu Math TeX Gyre" panose="02000503000000000000" charset="0"/>
                              <a:ea typeface="华文楷体" panose="02010600040101010101" charset="-122"/>
                              <a:cs typeface="DejaVu Math TeX Gyre" panose="02000503000000000000" charset="0"/>
                            </a:rPr>
                          </m:ctrlPr>
                        </m:sSupPr>
                        <m:e>
                          <m:d>
                            <m:dPr>
                              <m:begChr m:val="|"/>
                              <m:endChr m:val="|"/>
                              <m:ctrlPr>
                                <a:rPr lang="zh-CN" altLang="zh-CN" sz="2400" i="1" kern="0">
                                  <a:solidFill>
                                    <a:schemeClr val="tx1"/>
                                  </a:solidFill>
                                  <a:latin typeface="DejaVu Math TeX Gyre" panose="02000503000000000000" charset="0"/>
                                  <a:ea typeface="华文楷体" panose="02010600040101010101" charset="-122"/>
                                  <a:cs typeface="DejaVu Math TeX Gyre" panose="02000503000000000000" charset="0"/>
                                </a:rPr>
                              </m:ctrlPr>
                            </m:dPr>
                            <m:e>
                              <m:r>
                                <m:rPr>
                                  <m:sty m:val="p"/>
                                </m:rPr>
                                <a:rPr lang="en-US" altLang="zh-CN" sz="2400" kern="0">
                                  <a:solidFill>
                                    <a:schemeClr val="tx1"/>
                                  </a:solidFill>
                                  <a:latin typeface="DejaVu Math TeX Gyre" panose="02000503000000000000" charset="0"/>
                                  <a:ea typeface="华文楷体" panose="02010600040101010101" charset="-122"/>
                                  <a:cs typeface="DejaVu Math TeX Gyre" panose="02000503000000000000" charset="0"/>
                                </a:rPr>
                                <m:t>H</m:t>
                              </m:r>
                              <m:r>
                                <a:rPr lang="en-US" altLang="zh-CN" sz="2400" kern="0">
                                  <a:solidFill>
                                    <a:schemeClr val="tx1"/>
                                  </a:solidFill>
                                  <a:latin typeface="DejaVu Math TeX Gyre" panose="02000503000000000000" charset="0"/>
                                  <a:ea typeface="宋体" pitchFamily="2" charset="-122"/>
                                  <a:cs typeface="DejaVu Math TeX Gyre" panose="02000503000000000000" charset="0"/>
                                </a:rPr>
                                <m:t>(</m:t>
                              </m:r>
                              <m:r>
                                <a:rPr lang="en-US" altLang="zh-CN" sz="2400" kern="0">
                                  <a:solidFill>
                                    <a:schemeClr val="tx1"/>
                                  </a:solidFill>
                                  <a:latin typeface="DejaVu Math TeX Gyre" panose="02000503000000000000" charset="0"/>
                                  <a:ea typeface="宋体" pitchFamily="2" charset="-122"/>
                                  <a:cs typeface="DejaVu Math TeX Gyre" panose="02000503000000000000" charset="0"/>
                                </a:rPr>
                                <m:t>𝜔</m:t>
                              </m:r>
                              <m:r>
                                <a:rPr lang="en-US" altLang="zh-CN" sz="2400" kern="0">
                                  <a:solidFill>
                                    <a:schemeClr val="tx1"/>
                                  </a:solidFill>
                                  <a:latin typeface="DejaVu Math TeX Gyre" panose="02000503000000000000" charset="0"/>
                                  <a:ea typeface="宋体" pitchFamily="2" charset="-122"/>
                                  <a:cs typeface="DejaVu Math TeX Gyre" panose="02000503000000000000" charset="0"/>
                                </a:rPr>
                                <m:t>)</m:t>
                              </m:r>
                            </m:e>
                          </m:d>
                        </m:e>
                        <m:sup>
                          <m:r>
                            <a:rPr lang="en-US" altLang="zh-CN" sz="2400" kern="0">
                              <a:solidFill>
                                <a:schemeClr val="tx1"/>
                              </a:solidFill>
                              <a:latin typeface="DejaVu Math TeX Gyre" panose="02000503000000000000" charset="0"/>
                              <a:ea typeface="宋体" pitchFamily="2" charset="-122"/>
                              <a:cs typeface="DejaVu Math TeX Gyre" panose="02000503000000000000" charset="0"/>
                            </a:rPr>
                            <m:t>2</m:t>
                          </m:r>
                        </m:sup>
                      </m:sSup>
                    </m:oMath>
                  </m:oMathPara>
                </a14:m>
                <a:endParaRPr lang="en-US" altLang="zh-CN" sz="2400" kern="0">
                  <a:solidFill>
                    <a:schemeClr val="tx1"/>
                  </a:solidFill>
                  <a:latin typeface="华文楷体" panose="02010600040101010101" charset="-122"/>
                  <a:ea typeface="华文楷体" panose="02010600040101010101" charset="-122"/>
                  <a:cs typeface="华文楷体" panose="02010600040101010101" charset="-122"/>
                </a:endParaRPr>
              </a:p>
            </p:txBody>
          </p:sp>
        </mc:Choice>
        <mc:Fallback>
          <p:sp>
            <p:nvSpPr>
              <p:cNvPr id="9" name="文本框 8"/>
              <p:cNvSpPr txBox="1">
                <a:spLocks noRot="1" noChangeAspect="1" noMove="1" noResize="1" noEditPoints="1" noAdjustHandles="1" noChangeArrowheads="1" noChangeShapeType="1" noTextEdit="1"/>
              </p:cNvSpPr>
              <p:nvPr/>
            </p:nvSpPr>
            <p:spPr>
              <a:xfrm>
                <a:off x="6312535" y="6169660"/>
                <a:ext cx="987425" cy="462915"/>
              </a:xfrm>
              <a:prstGeom prst="rect">
                <a:avLst/>
              </a:prstGeom>
              <a:blipFill rotWithShape="1">
                <a:blip r:embed="rId24"/>
                <a:stretch>
                  <a:fillRect r="-19743"/>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608330" y="836930"/>
            <a:ext cx="11272520" cy="775970"/>
          </a:xfrm>
        </p:spPr>
        <p:txBody>
          <a:bodyPr/>
          <a:p>
            <a:r>
              <a:rPr lang="zh-CN" altLang="en-US" sz="2400" b="1">
                <a:latin typeface="华文楷体" panose="02010600040101010101" charset="-122"/>
                <a:ea typeface="华文楷体" panose="02010600040101010101" charset="-122"/>
                <a:cs typeface="华文楷体" panose="02010600040101010101" charset="-122"/>
              </a:rPr>
              <a:t>理想高斯白噪声：</a:t>
            </a:r>
            <a:r>
              <a:rPr lang="zh-CN" altLang="en-US" sz="2400" dirty="0">
                <a:solidFill>
                  <a:srgbClr val="000000"/>
                </a:solidFill>
                <a:latin typeface="楷体" panose="02010609060101010101" pitchFamily="49" charset="-122"/>
                <a:ea typeface="楷体" panose="02010609060101010101" pitchFamily="49" charset="-122"/>
                <a:sym typeface="+mn-ea"/>
              </a:rPr>
              <a:t>指噪声的概率密度函数满足正态分布统计特性，同时它的功率谱密度函数是常数的一类噪声</a:t>
            </a:r>
            <a:endParaRPr lang="zh-CN" altLang="en-US" sz="2400" b="1">
              <a:latin typeface="华文楷体" panose="02010600040101010101" charset="-122"/>
              <a:ea typeface="华文楷体" panose="02010600040101010101" charset="-122"/>
              <a:cs typeface="华文楷体" panose="02010600040101010101" charset="-122"/>
            </a:endParaRPr>
          </a:p>
        </p:txBody>
      </p:sp>
      <p:graphicFrame>
        <p:nvGraphicFramePr>
          <p:cNvPr id="7" name="对象 6"/>
          <p:cNvGraphicFramePr>
            <a:graphicFrameLocks noChangeAspect="1"/>
          </p:cNvGraphicFramePr>
          <p:nvPr/>
        </p:nvGraphicFramePr>
        <p:xfrm>
          <a:off x="2351405" y="1628775"/>
          <a:ext cx="6529705" cy="2395220"/>
        </p:xfrm>
        <a:graphic>
          <a:graphicData uri="http://schemas.openxmlformats.org/presentationml/2006/ole">
            <mc:AlternateContent xmlns:mc="http://schemas.openxmlformats.org/markup-compatibility/2006">
              <mc:Choice xmlns:v="urn:schemas-microsoft-com:vml" Requires="v">
                <p:oleObj spid="_x0000_s6154" name="Visio" r:id="rId3" imgW="2999105" imgH="1101090" progId="Visio.Drawing.11">
                  <p:embed/>
                </p:oleObj>
              </mc:Choice>
              <mc:Fallback>
                <p:oleObj name="Visio" r:id="rId3" imgW="2999105" imgH="110109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1405" y="1628775"/>
                        <a:ext cx="6529705" cy="2395220"/>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5" name="文本框 4"/>
              <p:cNvSpPr txBox="1"/>
              <p:nvPr/>
            </p:nvSpPr>
            <p:spPr>
              <a:xfrm>
                <a:off x="407035" y="4109085"/>
                <a:ext cx="11506835" cy="2491105"/>
              </a:xfrm>
              <a:prstGeom prst="rect">
                <a:avLst/>
              </a:prstGeom>
              <a:noFill/>
            </p:spPr>
            <p:txBody>
              <a:bodyPr wrap="square">
                <a:spAutoFit/>
              </a:bodyPr>
              <a:p>
                <a:pPr marL="800100" lvl="1" indent="-342900" algn="just">
                  <a:lnSpc>
                    <a:spcPct val="100000"/>
                  </a:lnSpc>
                  <a:buFont typeface="Arial" panose="020B0604020202090204" pitchFamily="34" charset="0"/>
                  <a:buChar char="•"/>
                </a:pP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黑体" panose="02010609060101010101" pitchFamily="49" charset="-122"/>
                  </a:rPr>
                  <a:t>一维概率密度函数：</a:t>
                </a:r>
                <a:endPar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黑体" panose="02010609060101010101" pitchFamily="49" charset="-122"/>
                </a:endParaRPr>
              </a:p>
              <a:p>
                <a:pPr marL="800100" lvl="1" indent="-342900" algn="just">
                  <a:lnSpc>
                    <a:spcPct val="100000"/>
                  </a:lnSpc>
                  <a:buFont typeface="Arial" panose="020B0604020202090204" pitchFamily="34" charset="0"/>
                  <a:buChar char="•"/>
                </a:pPr>
                <a:endParaRPr lang="zh-CN" altLang="zh-CN" sz="2000" kern="0" dirty="0">
                  <a:solidFill>
                    <a:srgbClr val="0070C0"/>
                  </a:solidFill>
                  <a:latin typeface="华文楷体" panose="02010600040101010101" charset="-122"/>
                  <a:ea typeface="华文楷体" panose="02010600040101010101" charset="-122"/>
                  <a:cs typeface="华文楷体" panose="02010600040101010101" charset="-122"/>
                </a:endParaRPr>
              </a:p>
              <a:p>
                <a:pPr marL="800100" lvl="1" indent="-342900" algn="just">
                  <a:lnSpc>
                    <a:spcPct val="100000"/>
                  </a:lnSpc>
                  <a:buFont typeface="Arial" panose="020B0604020202090204" pitchFamily="34" charset="0"/>
                  <a:buChar char="•"/>
                </a:pPr>
                <a:r>
                  <a:rPr lang="zh-CN" altLang="zh-CN" sz="2000" kern="0" dirty="0">
                    <a:solidFill>
                      <a:srgbClr val="0070C0"/>
                    </a:solidFill>
                    <a:latin typeface="华文楷体" panose="02010600040101010101" charset="-122"/>
                    <a:ea typeface="华文楷体" panose="02010600040101010101" charset="-122"/>
                    <a:cs typeface="华文楷体" panose="02010600040101010101" charset="-122"/>
                  </a:rPr>
                  <a:t>双边功率谱密度</a:t>
                </a:r>
                <a14:m>
                  <m:oMath xmlns:m="http://schemas.openxmlformats.org/officeDocument/2006/math">
                    <m:r>
                      <a:rPr lang="en-US" altLang="zh-CN" sz="2000" kern="0" dirty="0">
                        <a:solidFill>
                          <a:srgbClr val="0070C0"/>
                        </a:solidFill>
                        <a:latin typeface="华文楷体" panose="02010600040101010101" charset="-122"/>
                        <a:ea typeface="华文楷体" panose="02010600040101010101" charset="-122"/>
                        <a:cs typeface="华文楷体" panose="02010600040101010101" charset="-122"/>
                      </a:rPr>
                      <m:t>：</m:t>
                    </m:r>
                    <m:sSub>
                      <m:sSubPr>
                        <m:ctrlPr>
                          <a:rPr lang="zh-CN" altLang="zh-CN" sz="2000" i="1" kern="0">
                            <a:solidFill>
                              <a:srgbClr val="000000"/>
                            </a:solidFill>
                            <a:latin typeface="DejaVu Math TeX Gyre" panose="02000503000000000000" charset="0"/>
                            <a:ea typeface="华文楷体" panose="02010600040101010101" charset="-122"/>
                            <a:cs typeface="DejaVu Math TeX Gyre" panose="02000503000000000000" charset="0"/>
                          </a:rPr>
                        </m:ctrlPr>
                      </m:sSubPr>
                      <m:e>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P</m:t>
                        </m:r>
                      </m:e>
                      <m:sub>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n</m:t>
                        </m:r>
                      </m:sub>
                    </m:sSub>
                    <m:r>
                      <a:rPr lang="en-US" altLang="zh-CN" sz="2000" kern="0">
                        <a:solidFill>
                          <a:srgbClr val="000000"/>
                        </a:solidFill>
                        <a:latin typeface="DejaVu Math TeX Gyre" panose="02000503000000000000" charset="0"/>
                        <a:ea typeface="宋体" pitchFamily="2" charset="-122"/>
                        <a:cs typeface="DejaVu Math TeX Gyre" panose="02000503000000000000" charset="0"/>
                      </a:rPr>
                      <m:t>(</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𝜔</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m:t>
                    </m:r>
                    <m:f>
                      <m:fPr>
                        <m:ctrlPr>
                          <a:rPr lang="zh-CN" altLang="zh-CN" sz="2000" i="1" kern="0">
                            <a:solidFill>
                              <a:srgbClr val="000000"/>
                            </a:solidFill>
                            <a:latin typeface="DejaVu Math TeX Gyre" panose="02000503000000000000" charset="0"/>
                            <a:ea typeface="华文楷体" panose="02010600040101010101" charset="-122"/>
                            <a:cs typeface="DejaVu Math TeX Gyre" panose="02000503000000000000" charset="0"/>
                          </a:rPr>
                        </m:ctrlPr>
                      </m:fPr>
                      <m:num>
                        <m:sSub>
                          <m:sSubPr>
                            <m:ctrlPr>
                              <a:rPr lang="zh-CN" altLang="zh-CN" sz="2000" i="1" kern="0">
                                <a:solidFill>
                                  <a:srgbClr val="000000"/>
                                </a:solidFill>
                                <a:latin typeface="DejaVu Math TeX Gyre" panose="02000503000000000000" charset="0"/>
                                <a:ea typeface="华文楷体" panose="02010600040101010101" charset="-122"/>
                                <a:cs typeface="DejaVu Math TeX Gyre" panose="02000503000000000000" charset="0"/>
                              </a:rPr>
                            </m:ctrlPr>
                          </m:sSubPr>
                          <m:e>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n</m:t>
                            </m:r>
                          </m:e>
                          <m:sub>
                            <m:r>
                              <a:rPr lang="en-US" altLang="zh-CN" sz="2000" kern="0">
                                <a:solidFill>
                                  <a:srgbClr val="000000"/>
                                </a:solidFill>
                                <a:latin typeface="DejaVu Math TeX Gyre" panose="02000503000000000000" charset="0"/>
                                <a:ea typeface="宋体" pitchFamily="2" charset="-122"/>
                                <a:cs typeface="DejaVu Math TeX Gyre" panose="02000503000000000000" charset="0"/>
                              </a:rPr>
                              <m:t>0</m:t>
                            </m:r>
                          </m:sub>
                        </m:sSub>
                      </m:num>
                      <m:den>
                        <m:r>
                          <a:rPr lang="en-US" altLang="zh-CN" sz="2000" kern="0">
                            <a:solidFill>
                              <a:srgbClr val="000000"/>
                            </a:solidFill>
                            <a:latin typeface="DejaVu Math TeX Gyre" panose="02000503000000000000" charset="0"/>
                            <a:ea typeface="宋体" pitchFamily="2" charset="-122"/>
                            <a:cs typeface="DejaVu Math TeX Gyre" panose="02000503000000000000" charset="0"/>
                          </a:rPr>
                          <m:t>2</m:t>
                        </m:r>
                      </m:den>
                    </m:f>
                  </m:oMath>
                </a14:m>
                <a:r>
                  <a:rPr lang="en-US" altLang="zh-CN" sz="2000" kern="0" dirty="0">
                    <a:solidFill>
                      <a:srgbClr val="000000"/>
                    </a:solidFill>
                    <a:latin typeface="华文楷体" panose="02010600040101010101" charset="-122"/>
                    <a:ea typeface="华文楷体" panose="02010600040101010101" charset="-122"/>
                    <a:cs typeface="华文楷体" panose="02010600040101010101" charset="-122"/>
                  </a:rPr>
                  <a:t>	</a:t>
                </a:r>
                <a14:m>
                  <m:oMath xmlns:m="http://schemas.openxmlformats.org/officeDocument/2006/math">
                    <m:r>
                      <a:rPr lang="en-US" altLang="zh-CN" sz="2000" kern="0">
                        <a:solidFill>
                          <a:srgbClr val="000000"/>
                        </a:solidFill>
                        <a:latin typeface="DejaVu Math TeX Gyre" panose="02000503000000000000" charset="0"/>
                        <a:ea typeface="宋体" pitchFamily="2" charset="-122"/>
                        <a:cs typeface="DejaVu Math TeX Gyre" panose="02000503000000000000" charset="0"/>
                      </a:rPr>
                      <m:t>(−∞&lt;</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𝜔</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&lt;+∞)</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m:t>
                    </m:r>
                    <m:sSub>
                      <m:sSubPr>
                        <m:ctrlPr>
                          <a:rPr lang="zh-CN" altLang="zh-CN" sz="2000" i="1" kern="0">
                            <a:solidFill>
                              <a:srgbClr val="000000"/>
                            </a:solidFill>
                            <a:latin typeface="DejaVu Math TeX Gyre" panose="02000503000000000000" charset="0"/>
                            <a:ea typeface="华文楷体" panose="02010600040101010101" charset="-122"/>
                            <a:cs typeface="DejaVu Math TeX Gyre" panose="02000503000000000000" charset="0"/>
                          </a:rPr>
                        </m:ctrlPr>
                      </m:sSubPr>
                      <m:e>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n</m:t>
                        </m:r>
                      </m:e>
                      <m:sub>
                        <m:r>
                          <a:rPr lang="en-US" altLang="zh-CN" sz="2000" kern="0">
                            <a:solidFill>
                              <a:srgbClr val="000000"/>
                            </a:solidFill>
                            <a:latin typeface="DejaVu Math TeX Gyre" panose="02000503000000000000" charset="0"/>
                            <a:ea typeface="宋体" pitchFamily="2" charset="-122"/>
                            <a:cs typeface="DejaVu Math TeX Gyre" panose="02000503000000000000" charset="0"/>
                          </a:rPr>
                          <m:t>0</m:t>
                        </m:r>
                      </m:sub>
                    </m:sSub>
                  </m:oMath>
                </a14:m>
                <a:r>
                  <a:rPr lang="zh-CN" altLang="zh-CN" sz="2000" kern="0" dirty="0">
                    <a:solidFill>
                      <a:srgbClr val="000000"/>
                    </a:solidFill>
                    <a:latin typeface="华文楷体" panose="02010600040101010101" charset="-122"/>
                    <a:ea typeface="华文楷体" panose="02010600040101010101" charset="-122"/>
                    <a:cs typeface="华文楷体" panose="02010600040101010101" charset="-122"/>
                  </a:rPr>
                  <a:t>的单位是</a:t>
                </a:r>
                <a14:m>
                  <m:oMath xmlns:m="http://schemas.openxmlformats.org/officeDocument/2006/math">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W</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m:t>
                    </m:r>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Hz</m:t>
                    </m:r>
                  </m:oMath>
                </a14:m>
                <a:r>
                  <a:rPr lang="zh-CN" altLang="zh-CN" sz="2000" kern="0" dirty="0">
                    <a:solidFill>
                      <a:srgbClr val="000000"/>
                    </a:solidFill>
                    <a:latin typeface="华文楷体" panose="02010600040101010101" charset="-122"/>
                    <a:ea typeface="华文楷体" panose="02010600040101010101" charset="-122"/>
                    <a:cs typeface="华文楷体" panose="02010600040101010101" charset="-122"/>
                  </a:rPr>
                  <a:t>。</a:t>
                </a:r>
                <a:endParaRPr lang="en-US" altLang="zh-CN" sz="2000" kern="100" dirty="0">
                  <a:effectLst/>
                  <a:latin typeface="华文楷体" panose="02010600040101010101" charset="-122"/>
                  <a:ea typeface="华文楷体" panose="02010600040101010101" charset="-122"/>
                  <a:cs typeface="华文楷体" panose="02010600040101010101" charset="-122"/>
                </a:endParaRPr>
              </a:p>
              <a:p>
                <a:pPr indent="266700" algn="just">
                  <a:lnSpc>
                    <a:spcPct val="100000"/>
                  </a:lnSpc>
                </a:pPr>
                <a:endParaRPr lang="zh-CN" altLang="zh-CN" sz="2000" kern="0" dirty="0">
                  <a:solidFill>
                    <a:srgbClr val="000000"/>
                  </a:solidFill>
                  <a:latin typeface="华文楷体" panose="02010600040101010101" charset="-122"/>
                  <a:ea typeface="华文楷体" panose="02010600040101010101" charset="-122"/>
                  <a:cs typeface="华文楷体" panose="02010600040101010101" charset="-122"/>
                </a:endParaRPr>
              </a:p>
              <a:p>
                <a:pPr marL="800100" lvl="1" indent="-342900" algn="just">
                  <a:lnSpc>
                    <a:spcPct val="100000"/>
                  </a:lnSpc>
                  <a:buFont typeface="Arial" panose="020B0604020202090204" pitchFamily="34" charset="0"/>
                  <a:buChar char="•"/>
                </a:pPr>
                <a:r>
                  <a:rPr lang="zh-CN" altLang="zh-CN" sz="2000" kern="0" dirty="0">
                    <a:solidFill>
                      <a:srgbClr val="000000"/>
                    </a:solidFill>
                    <a:latin typeface="华文楷体" panose="02010600040101010101" charset="-122"/>
                    <a:ea typeface="华文楷体" panose="02010600040101010101" charset="-122"/>
                    <a:cs typeface="华文楷体" panose="02010600040101010101" charset="-122"/>
                  </a:rPr>
                  <a:t>自相关函数：</a:t>
                </a:r>
                <a:r>
                  <a:rPr lang="en-US" altLang="zh-CN" sz="2000" kern="0" dirty="0">
                    <a:solidFill>
                      <a:srgbClr val="000000"/>
                    </a:solidFill>
                    <a:latin typeface="华文楷体" panose="02010600040101010101" charset="-122"/>
                    <a:ea typeface="华文楷体" panose="02010600040101010101" charset="-122"/>
                    <a:cs typeface="华文楷体" panose="02010600040101010101" charset="-122"/>
                  </a:rPr>
                  <a:t> </a:t>
                </a:r>
                <a14:m>
                  <m:oMath xmlns:m="http://schemas.openxmlformats.org/officeDocument/2006/math">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R</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𝜏</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m:t>
                    </m:r>
                    <m:f>
                      <m:fPr>
                        <m:ctrlPr>
                          <a:rPr lang="zh-CN" altLang="zh-CN" sz="2000" i="1" kern="0">
                            <a:solidFill>
                              <a:srgbClr val="000000"/>
                            </a:solidFill>
                            <a:latin typeface="DejaVu Math TeX Gyre" panose="02000503000000000000" charset="0"/>
                            <a:ea typeface="华文楷体" panose="02010600040101010101" charset="-122"/>
                            <a:cs typeface="DejaVu Math TeX Gyre" panose="02000503000000000000" charset="0"/>
                          </a:rPr>
                        </m:ctrlPr>
                      </m:fPr>
                      <m:num>
                        <m:r>
                          <a:rPr lang="en-US" altLang="zh-CN" sz="2000" kern="0">
                            <a:solidFill>
                              <a:srgbClr val="000000"/>
                            </a:solidFill>
                            <a:latin typeface="DejaVu Math TeX Gyre" panose="02000503000000000000" charset="0"/>
                            <a:ea typeface="宋体" pitchFamily="2" charset="-122"/>
                            <a:cs typeface="DejaVu Math TeX Gyre" panose="02000503000000000000" charset="0"/>
                          </a:rPr>
                          <m:t>1</m:t>
                        </m:r>
                      </m:num>
                      <m:den>
                        <m:r>
                          <a:rPr lang="en-US" altLang="zh-CN" sz="2000" kern="0">
                            <a:solidFill>
                              <a:srgbClr val="000000"/>
                            </a:solidFill>
                            <a:latin typeface="DejaVu Math TeX Gyre" panose="02000503000000000000" charset="0"/>
                            <a:ea typeface="宋体" pitchFamily="2" charset="-122"/>
                            <a:cs typeface="DejaVu Math TeX Gyre" panose="02000503000000000000" charset="0"/>
                          </a:rPr>
                          <m:t>2</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𝜋</m:t>
                        </m:r>
                      </m:den>
                    </m:f>
                    <m:nary>
                      <m:naryPr>
                        <m:ctrlPr>
                          <a:rPr lang="zh-CN" altLang="zh-CN" sz="2000" i="1" kern="0">
                            <a:solidFill>
                              <a:srgbClr val="000000"/>
                            </a:solidFill>
                            <a:latin typeface="DejaVu Math TeX Gyre" panose="02000503000000000000" charset="0"/>
                            <a:ea typeface="华文楷体" panose="02010600040101010101" charset="-122"/>
                            <a:cs typeface="DejaVu Math TeX Gyre" panose="02000503000000000000" charset="0"/>
                          </a:rPr>
                        </m:ctrlPr>
                      </m:naryPr>
                      <m:sub>
                        <m:r>
                          <a:rPr lang="en-US" altLang="zh-CN" sz="2000" kern="0">
                            <a:solidFill>
                              <a:srgbClr val="000000"/>
                            </a:solidFill>
                            <a:latin typeface="DejaVu Math TeX Gyre" panose="02000503000000000000" charset="0"/>
                            <a:ea typeface="宋体" pitchFamily="2" charset="-122"/>
                            <a:cs typeface="DejaVu Math TeX Gyre" panose="02000503000000000000" charset="0"/>
                          </a:rPr>
                          <m:t>−∞</m:t>
                        </m:r>
                      </m:sub>
                      <m:sup>
                        <m:r>
                          <a:rPr lang="en-US" altLang="zh-CN" sz="2000" kern="0">
                            <a:solidFill>
                              <a:srgbClr val="000000"/>
                            </a:solidFill>
                            <a:latin typeface="DejaVu Math TeX Gyre" panose="02000503000000000000" charset="0"/>
                            <a:ea typeface="宋体" pitchFamily="2" charset="-122"/>
                            <a:cs typeface="DejaVu Math TeX Gyre" panose="02000503000000000000" charset="0"/>
                          </a:rPr>
                          <m:t>+∞</m:t>
                        </m:r>
                      </m:sup>
                      <m:e>
                        <m:f>
                          <m:fPr>
                            <m:ctrlPr>
                              <a:rPr lang="zh-CN" altLang="zh-CN" sz="2000" i="1" kern="0">
                                <a:solidFill>
                                  <a:srgbClr val="000000"/>
                                </a:solidFill>
                                <a:latin typeface="DejaVu Math TeX Gyre" panose="02000503000000000000" charset="0"/>
                                <a:ea typeface="华文楷体" panose="02010600040101010101" charset="-122"/>
                                <a:cs typeface="DejaVu Math TeX Gyre" panose="02000503000000000000" charset="0"/>
                              </a:rPr>
                            </m:ctrlPr>
                          </m:fPr>
                          <m:num>
                            <m:sSub>
                              <m:sSubPr>
                                <m:ctrlPr>
                                  <a:rPr lang="zh-CN" altLang="zh-CN" sz="2000" i="1" kern="0">
                                    <a:solidFill>
                                      <a:srgbClr val="000000"/>
                                    </a:solidFill>
                                    <a:latin typeface="DejaVu Math TeX Gyre" panose="02000503000000000000" charset="0"/>
                                    <a:ea typeface="华文楷体" panose="02010600040101010101" charset="-122"/>
                                    <a:cs typeface="DejaVu Math TeX Gyre" panose="02000503000000000000" charset="0"/>
                                  </a:rPr>
                                </m:ctrlPr>
                              </m:sSubPr>
                              <m:e>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n</m:t>
                                </m:r>
                              </m:e>
                              <m:sub>
                                <m:r>
                                  <a:rPr lang="en-US" altLang="zh-CN" sz="2000" kern="0">
                                    <a:solidFill>
                                      <a:srgbClr val="000000"/>
                                    </a:solidFill>
                                    <a:latin typeface="DejaVu Math TeX Gyre" panose="02000503000000000000" charset="0"/>
                                    <a:ea typeface="宋体" pitchFamily="2" charset="-122"/>
                                    <a:cs typeface="DejaVu Math TeX Gyre" panose="02000503000000000000" charset="0"/>
                                  </a:rPr>
                                  <m:t>0</m:t>
                                </m:r>
                              </m:sub>
                            </m:sSub>
                          </m:num>
                          <m:den>
                            <m:r>
                              <a:rPr lang="en-US" altLang="zh-CN" sz="2000" kern="0">
                                <a:solidFill>
                                  <a:srgbClr val="000000"/>
                                </a:solidFill>
                                <a:latin typeface="DejaVu Math TeX Gyre" panose="02000503000000000000" charset="0"/>
                                <a:ea typeface="宋体" pitchFamily="2" charset="-122"/>
                                <a:cs typeface="DejaVu Math TeX Gyre" panose="02000503000000000000" charset="0"/>
                              </a:rPr>
                              <m:t>2</m:t>
                            </m:r>
                          </m:den>
                        </m:f>
                        <m:sSup>
                          <m:sSupPr>
                            <m:ctrlPr>
                              <a:rPr lang="zh-CN" altLang="zh-CN" sz="2000" i="1" kern="0">
                                <a:solidFill>
                                  <a:srgbClr val="000000"/>
                                </a:solidFill>
                                <a:latin typeface="DejaVu Math TeX Gyre" panose="02000503000000000000" charset="0"/>
                                <a:ea typeface="华文楷体" panose="02010600040101010101" charset="-122"/>
                                <a:cs typeface="DejaVu Math TeX Gyre" panose="02000503000000000000" charset="0"/>
                              </a:rPr>
                            </m:ctrlPr>
                          </m:sSupPr>
                          <m:e>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e</m:t>
                            </m:r>
                          </m:e>
                          <m:sup>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j</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𝜔𝜏</m:t>
                            </m:r>
                          </m:sup>
                        </m:sSup>
                      </m:e>
                    </m:nary>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d</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𝜔</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m:t>
                    </m:r>
                    <m:f>
                      <m:fPr>
                        <m:ctrlPr>
                          <a:rPr lang="zh-CN" altLang="zh-CN" sz="2000" i="1" kern="0">
                            <a:solidFill>
                              <a:srgbClr val="000000"/>
                            </a:solidFill>
                            <a:latin typeface="DejaVu Math TeX Gyre" panose="02000503000000000000" charset="0"/>
                            <a:ea typeface="华文楷体" panose="02010600040101010101" charset="-122"/>
                            <a:cs typeface="DejaVu Math TeX Gyre" panose="02000503000000000000" charset="0"/>
                          </a:rPr>
                        </m:ctrlPr>
                      </m:fPr>
                      <m:num>
                        <m:sSub>
                          <m:sSubPr>
                            <m:ctrlPr>
                              <a:rPr lang="zh-CN" altLang="zh-CN" sz="2000" i="1" kern="0">
                                <a:solidFill>
                                  <a:srgbClr val="000000"/>
                                </a:solidFill>
                                <a:latin typeface="DejaVu Math TeX Gyre" panose="02000503000000000000" charset="0"/>
                                <a:ea typeface="华文楷体" panose="02010600040101010101" charset="-122"/>
                                <a:cs typeface="DejaVu Math TeX Gyre" panose="02000503000000000000" charset="0"/>
                              </a:rPr>
                            </m:ctrlPr>
                          </m:sSubPr>
                          <m:e>
                            <m:r>
                              <m:rPr>
                                <m:sty m:val="p"/>
                              </m:rPr>
                              <a:rPr lang="en-US" altLang="zh-CN" sz="2000" kern="0">
                                <a:solidFill>
                                  <a:srgbClr val="000000"/>
                                </a:solidFill>
                                <a:latin typeface="DejaVu Math TeX Gyre" panose="02000503000000000000" charset="0"/>
                                <a:ea typeface="华文楷体" panose="02010600040101010101" charset="-122"/>
                                <a:cs typeface="DejaVu Math TeX Gyre" panose="02000503000000000000" charset="0"/>
                              </a:rPr>
                              <m:t>n</m:t>
                            </m:r>
                          </m:e>
                          <m:sub>
                            <m:r>
                              <a:rPr lang="en-US" altLang="zh-CN" sz="2000" kern="0">
                                <a:solidFill>
                                  <a:srgbClr val="000000"/>
                                </a:solidFill>
                                <a:latin typeface="DejaVu Math TeX Gyre" panose="02000503000000000000" charset="0"/>
                                <a:ea typeface="宋体" pitchFamily="2" charset="-122"/>
                                <a:cs typeface="DejaVu Math TeX Gyre" panose="02000503000000000000" charset="0"/>
                              </a:rPr>
                              <m:t>0</m:t>
                            </m:r>
                          </m:sub>
                        </m:sSub>
                      </m:num>
                      <m:den>
                        <m:r>
                          <a:rPr lang="en-US" altLang="zh-CN" sz="2000" kern="0">
                            <a:solidFill>
                              <a:srgbClr val="000000"/>
                            </a:solidFill>
                            <a:latin typeface="DejaVu Math TeX Gyre" panose="02000503000000000000" charset="0"/>
                            <a:ea typeface="宋体" pitchFamily="2" charset="-122"/>
                            <a:cs typeface="DejaVu Math TeX Gyre" panose="02000503000000000000" charset="0"/>
                          </a:rPr>
                          <m:t>2</m:t>
                        </m:r>
                      </m:den>
                    </m:f>
                    <m:r>
                      <a:rPr lang="en-US" altLang="zh-CN" sz="2000" kern="0">
                        <a:solidFill>
                          <a:srgbClr val="000000"/>
                        </a:solidFill>
                        <a:latin typeface="DejaVu Math TeX Gyre" panose="02000503000000000000" charset="0"/>
                        <a:ea typeface="宋体" pitchFamily="2" charset="-122"/>
                        <a:cs typeface="DejaVu Math TeX Gyre" panose="02000503000000000000" charset="0"/>
                      </a:rPr>
                      <m:t>𝛿</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𝜏</m:t>
                    </m:r>
                    <m:r>
                      <a:rPr lang="en-US" altLang="zh-CN" sz="2000" kern="0">
                        <a:solidFill>
                          <a:srgbClr val="000000"/>
                        </a:solidFill>
                        <a:latin typeface="DejaVu Math TeX Gyre" panose="02000503000000000000" charset="0"/>
                        <a:ea typeface="宋体" pitchFamily="2" charset="-122"/>
                        <a:cs typeface="DejaVu Math TeX Gyre" panose="02000503000000000000" charset="0"/>
                      </a:rPr>
                      <m:t>)</m:t>
                    </m:r>
                  </m:oMath>
                </a14:m>
                <a:r>
                  <a:rPr lang="en-US" altLang="zh-CN" sz="2000" kern="0" dirty="0">
                    <a:solidFill>
                      <a:srgbClr val="000000"/>
                    </a:solidFill>
                    <a:latin typeface="华文楷体" panose="02010600040101010101" charset="-122"/>
                    <a:ea typeface="华文楷体" panose="02010600040101010101" charset="-122"/>
                    <a:cs typeface="华文楷体" panose="02010600040101010101" charset="-122"/>
                  </a:rPr>
                  <a:t>	</a:t>
                </a:r>
                <a:endParaRPr lang="en-US" altLang="zh-CN" sz="2000" kern="0" dirty="0">
                  <a:solidFill>
                    <a:srgbClr val="000000"/>
                  </a:solidFill>
                  <a:latin typeface="华文楷体" panose="02010600040101010101" charset="-122"/>
                  <a:ea typeface="华文楷体" panose="02010600040101010101" charset="-122"/>
                  <a:cs typeface="华文楷体" panose="02010600040101010101" charset="-122"/>
                </a:endParaRPr>
              </a:p>
              <a:p>
                <a:pPr indent="266700" algn="ctr">
                  <a:lnSpc>
                    <a:spcPct val="100000"/>
                  </a:lnSpc>
                </a:pPr>
                <a:endParaRPr lang="zh-CN" altLang="zh-CN" sz="2000" kern="0" dirty="0">
                  <a:solidFill>
                    <a:srgbClr val="000000"/>
                  </a:solidFill>
                  <a:latin typeface="华文楷体" panose="02010600040101010101" charset="-122"/>
                  <a:ea typeface="华文楷体" panose="02010600040101010101" charset="-122"/>
                  <a:cs typeface="华文楷体" panose="02010600040101010101" charset="-122"/>
                </a:endParaRPr>
              </a:p>
              <a:p>
                <a:pPr indent="266700" algn="ctr">
                  <a:lnSpc>
                    <a:spcPct val="100000"/>
                  </a:lnSpc>
                </a:pPr>
                <a:r>
                  <a:rPr lang="zh-CN" altLang="zh-CN" sz="2000" kern="0" dirty="0">
                    <a:solidFill>
                      <a:srgbClr val="000000"/>
                    </a:solidFill>
                    <a:latin typeface="华文楷体" panose="02010600040101010101" charset="-122"/>
                    <a:ea typeface="华文楷体" panose="02010600040101010101" charset="-122"/>
                    <a:cs typeface="华文楷体" panose="02010600040101010101" charset="-122"/>
                  </a:rPr>
                  <a:t>表明</a:t>
                </a:r>
                <a:r>
                  <a:rPr lang="zh-CN" altLang="zh-CN" sz="2000" b="1" kern="0" dirty="0">
                    <a:solidFill>
                      <a:srgbClr val="C00000"/>
                    </a:solidFill>
                    <a:latin typeface="华文楷体" panose="02010600040101010101" charset="-122"/>
                    <a:ea typeface="华文楷体" panose="02010600040101010101" charset="-122"/>
                    <a:cs typeface="华文楷体" panose="02010600040101010101" charset="-122"/>
                  </a:rPr>
                  <a:t>白噪声只在</a:t>
                </a:r>
                <a14:m>
                  <m:oMath xmlns:m="http://schemas.openxmlformats.org/officeDocument/2006/math">
                    <m:r>
                      <a:rPr lang="en-US" altLang="zh-CN" sz="2000" b="1" kern="0">
                        <a:solidFill>
                          <a:srgbClr val="C00000"/>
                        </a:solidFill>
                        <a:latin typeface="DejaVu Math TeX Gyre" panose="02000503000000000000" charset="0"/>
                        <a:ea typeface="宋体" pitchFamily="2" charset="-122"/>
                        <a:cs typeface="DejaVu Math TeX Gyre" panose="02000503000000000000" charset="0"/>
                      </a:rPr>
                      <m:t>𝛕</m:t>
                    </m:r>
                    <m:r>
                      <a:rPr lang="en-US" altLang="zh-CN" sz="2000" b="1" kern="0">
                        <a:solidFill>
                          <a:srgbClr val="C00000"/>
                        </a:solidFill>
                        <a:latin typeface="DejaVu Math TeX Gyre" panose="02000503000000000000" charset="0"/>
                        <a:ea typeface="宋体" pitchFamily="2" charset="-122"/>
                        <a:cs typeface="DejaVu Math TeX Gyre" panose="02000503000000000000" charset="0"/>
                      </a:rPr>
                      <m:t>=</m:t>
                    </m:r>
                    <m:r>
                      <a:rPr lang="en-US" altLang="zh-CN" sz="2000" b="1" kern="0">
                        <a:solidFill>
                          <a:srgbClr val="C00000"/>
                        </a:solidFill>
                        <a:latin typeface="DejaVu Math TeX Gyre" panose="02000503000000000000" charset="0"/>
                        <a:ea typeface="宋体" pitchFamily="2" charset="-122"/>
                        <a:cs typeface="DejaVu Math TeX Gyre" panose="02000503000000000000" charset="0"/>
                      </a:rPr>
                      <m:t>𝟎</m:t>
                    </m:r>
                  </m:oMath>
                </a14:m>
                <a:r>
                  <a:rPr lang="zh-CN" altLang="zh-CN" sz="2000" b="1" kern="0" dirty="0">
                    <a:solidFill>
                      <a:srgbClr val="C00000"/>
                    </a:solidFill>
                    <a:latin typeface="华文楷体" panose="02010600040101010101" charset="-122"/>
                    <a:ea typeface="华文楷体" panose="02010600040101010101" charset="-122"/>
                    <a:cs typeface="华文楷体" panose="02010600040101010101" charset="-122"/>
                  </a:rPr>
                  <a:t>时才相关，在任意两个时刻上的随机变量都是互不相关的</a:t>
                </a:r>
                <a:endParaRPr lang="zh-CN" altLang="zh-CN" sz="2000" b="1" kern="0" dirty="0">
                  <a:solidFill>
                    <a:srgbClr val="C00000"/>
                  </a:solidFill>
                  <a:latin typeface="华文楷体" panose="02010600040101010101" charset="-122"/>
                  <a:ea typeface="华文楷体" panose="02010600040101010101" charset="-122"/>
                  <a:cs typeface="华文楷体" panose="02010600040101010101"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407035" y="4109085"/>
                <a:ext cx="11506835" cy="2491105"/>
              </a:xfrm>
              <a:prstGeom prst="rect">
                <a:avLst/>
              </a:prstGeom>
              <a:blipFill rotWithShape="1">
                <a:blip r:embed="rId5"/>
                <a:stretch>
                  <a:fillRect/>
                </a:stretch>
              </a:blipFill>
            </p:spPr>
            <p:txBody>
              <a:bodyPr/>
              <a:lstStyle/>
              <a:p>
                <a:r>
                  <a:rPr lang="zh-CN" altLang="en-US">
                    <a:noFill/>
                  </a:rPr>
                  <a:t> </a:t>
                </a:r>
              </a:p>
            </p:txBody>
          </p:sp>
        </mc:Fallback>
      </mc:AlternateContent>
      <p:pic>
        <p:nvPicPr>
          <p:cNvPr id="22543" name="Object 19"/>
          <p:cNvPicPr>
            <a:picLocks noChangeAspect="1"/>
          </p:cNvPicPr>
          <p:nvPr>
            <p:custDataLst>
              <p:tags r:id="rId6"/>
            </p:custDataLst>
          </p:nvPr>
        </p:nvPicPr>
        <p:blipFill>
          <a:blip r:embed="rId7"/>
          <a:stretch>
            <a:fillRect/>
          </a:stretch>
        </p:blipFill>
        <p:spPr>
          <a:xfrm>
            <a:off x="3647440" y="4077335"/>
            <a:ext cx="2663190" cy="652780"/>
          </a:xfrm>
          <a:prstGeom prst="rect">
            <a:avLst/>
          </a:prstGeom>
          <a:solidFill>
            <a:srgbClr val="BBE0E3"/>
          </a:solidFill>
          <a:ln w="38100" cap="flat" cmpd="sng">
            <a:solidFill>
              <a:srgbClr val="9966FF"/>
            </a:solidFill>
            <a:prstDash val="solid"/>
            <a:miter/>
            <a:headEnd type="none" w="med" len="med"/>
            <a:tailEnd type="none" w="med" len="me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mc:AlternateContent xmlns:mc="http://schemas.openxmlformats.org/markup-compatibility/2006">
        <mc:Choice xmlns:a14="http://schemas.microsoft.com/office/drawing/2010/main" Requires="a14">
          <p:sp>
            <p:nvSpPr>
              <p:cNvPr id="2" name="内容占位符 1"/>
              <p:cNvSpPr>
                <a:spLocks noGrp="1"/>
              </p:cNvSpPr>
              <p:nvPr>
                <p:ph idx="1"/>
                <p:custDataLst>
                  <p:tags r:id="rId2"/>
                </p:custDataLst>
              </p:nvPr>
            </p:nvSpPr>
            <p:spPr>
              <a:xfrm>
                <a:off x="608330" y="836930"/>
                <a:ext cx="11372215" cy="775970"/>
              </a:xfrm>
            </p:spPr>
            <p:txBody>
              <a:bodyPr/>
              <a:p>
                <a:r>
                  <a:rPr lang="zh-CN" altLang="en-US" sz="2400" b="1">
                    <a:latin typeface="华文楷体" panose="02010600040101010101" charset="-122"/>
                    <a:ea typeface="华文楷体" panose="02010600040101010101" charset="-122"/>
                    <a:cs typeface="华文楷体" panose="02010600040101010101" charset="-122"/>
                  </a:rPr>
                  <a:t>窄带高斯过程</a:t>
                </a:r>
                <a:endParaRPr lang="zh-CN" altLang="en-US" sz="2400" b="1">
                  <a:latin typeface="华文楷体" panose="02010600040101010101" charset="-122"/>
                  <a:ea typeface="华文楷体" panose="02010600040101010101" charset="-122"/>
                  <a:cs typeface="华文楷体" panose="02010600040101010101" charset="-122"/>
                </a:endParaRPr>
              </a:p>
              <a:p>
                <a:pPr lvl="1"/>
                <a:r>
                  <a:rPr lang="zh-CN" altLang="en-US" sz="2400" b="1">
                    <a:latin typeface="华文楷体" panose="02010600040101010101" charset="-122"/>
                    <a:ea typeface="华文楷体" panose="02010600040101010101" charset="-122"/>
                    <a:cs typeface="华文楷体" panose="02010600040101010101" charset="-122"/>
                  </a:rPr>
                  <a:t>定义：</a:t>
                </a:r>
                <a:r>
                  <a:rPr lang="zh-CN" altLang="zh-CN" sz="2400" b="1" dirty="0">
                    <a:solidFill>
                      <a:srgbClr val="000000"/>
                    </a:solidFill>
                    <a:latin typeface="华文楷体" panose="02010600040101010101" charset="-122"/>
                    <a:ea typeface="华文楷体" panose="02010600040101010101" charset="-122"/>
                    <a:cs typeface="华文楷体" panose="02010600040101010101" charset="-122"/>
                    <a:sym typeface="+mn-ea"/>
                  </a:rPr>
                  <a:t>当高斯过程</a:t>
                </a:r>
                <a:r>
                  <a:rPr lang="zh-CN" altLang="zh-CN" sz="2400" b="1" dirty="0">
                    <a:solidFill>
                      <a:srgbClr val="C00000"/>
                    </a:solidFill>
                    <a:latin typeface="华文楷体" panose="02010600040101010101" charset="-122"/>
                    <a:ea typeface="华文楷体" panose="02010600040101010101" charset="-122"/>
                    <a:cs typeface="华文楷体" panose="02010600040101010101" charset="-122"/>
                    <a:sym typeface="+mn-ea"/>
                  </a:rPr>
                  <a:t>通过以</a:t>
                </a:r>
                <a14:m>
                  <m:oMath xmlns:m="http://schemas.openxmlformats.org/officeDocument/2006/math">
                    <m:sSub>
                      <m:sSubPr>
                        <m:ctrlPr>
                          <a:rPr lang="zh-CN" altLang="zh-CN" sz="2400" b="1" i="1" kern="0">
                            <a:solidFill>
                              <a:srgbClr val="C00000"/>
                            </a:solidFill>
                            <a:latin typeface="Cambria Math" panose="02040503050406030204" pitchFamily="18" charset="0"/>
                            <a:ea typeface="华文楷体" panose="02010600040101010101" charset="-122"/>
                            <a:cs typeface="Cambria Math" panose="02040503050406030204" pitchFamily="18" charset="0"/>
                          </a:rPr>
                        </m:ctrlPr>
                      </m:sSubPr>
                      <m:e>
                        <m:r>
                          <a:rPr lang="en-US" altLang="zh-CN" sz="2400" b="1" kern="0">
                            <a:solidFill>
                              <a:srgbClr val="C00000"/>
                            </a:solidFill>
                            <a:latin typeface="Cambria Math" panose="02040503050406030204" pitchFamily="18" charset="0"/>
                            <a:ea typeface="MS Mincho" charset="0"/>
                            <a:cs typeface="Cambria Math" panose="02040503050406030204" pitchFamily="18" charset="0"/>
                          </a:rPr>
                          <m:t>𝜔</m:t>
                        </m:r>
                      </m:e>
                      <m:sub>
                        <m:r>
                          <a:rPr lang="en-US" altLang="zh-CN" sz="2400" b="1" kern="0">
                            <a:solidFill>
                              <a:srgbClr val="C00000"/>
                            </a:solidFill>
                            <a:latin typeface="Cambria Math" panose="02040503050406030204" pitchFamily="18" charset="0"/>
                            <a:ea typeface="华文楷体" panose="02010600040101010101" charset="-122"/>
                            <a:cs typeface="Cambria Math" panose="02040503050406030204" pitchFamily="18" charset="0"/>
                          </a:rPr>
                          <m:t>𝑐</m:t>
                        </m:r>
                      </m:sub>
                    </m:sSub>
                  </m:oMath>
                </a14:m>
                <a:r>
                  <a:rPr lang="zh-CN" altLang="zh-CN" sz="2400" b="1" dirty="0">
                    <a:solidFill>
                      <a:srgbClr val="C00000"/>
                    </a:solidFill>
                    <a:latin typeface="华文楷体" panose="02010600040101010101" charset="-122"/>
                    <a:ea typeface="华文楷体" panose="02010600040101010101" charset="-122"/>
                    <a:cs typeface="华文楷体" panose="02010600040101010101" charset="-122"/>
                    <a:sym typeface="+mn-ea"/>
                  </a:rPr>
                  <a:t>为中心角频率的窄带系统时，就可形成窄带高斯过程</a:t>
                </a:r>
                <a:r>
                  <a:rPr lang="zh-CN" altLang="zh-CN" sz="2400" b="1" dirty="0">
                    <a:solidFill>
                      <a:srgbClr val="000000"/>
                    </a:solidFill>
                    <a:latin typeface="华文楷体" panose="02010600040101010101" charset="-122"/>
                    <a:ea typeface="华文楷体" panose="02010600040101010101" charset="-122"/>
                    <a:cs typeface="华文楷体" panose="02010600040101010101" charset="-122"/>
                    <a:sym typeface="+mn-ea"/>
                  </a:rPr>
                  <a:t>。所谓窄带系统是指系统的频带宽度</a:t>
                </a:r>
                <a14:m>
                  <m:oMath xmlns:m="http://schemas.openxmlformats.org/officeDocument/2006/math">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𝐵</m:t>
                    </m:r>
                  </m:oMath>
                </a14:m>
                <a:r>
                  <a:rPr lang="zh-CN" altLang="zh-CN" sz="2400" b="1" dirty="0">
                    <a:solidFill>
                      <a:srgbClr val="000000"/>
                    </a:solidFill>
                    <a:latin typeface="华文楷体" panose="02010600040101010101" charset="-122"/>
                    <a:ea typeface="华文楷体" panose="02010600040101010101" charset="-122"/>
                    <a:cs typeface="华文楷体" panose="02010600040101010101" charset="-122"/>
                    <a:sym typeface="+mn-ea"/>
                  </a:rPr>
                  <a:t>比起中心频率来小很多的通信系统，即</a:t>
                </a:r>
                <a14:m>
                  <m:oMath xmlns:m="http://schemas.openxmlformats.org/officeDocument/2006/math">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𝐵</m:t>
                    </m:r>
                    <m:r>
                      <a:rPr lang="en-US" altLang="zh-CN" sz="2400" b="1" kern="0">
                        <a:solidFill>
                          <a:srgbClr val="000000"/>
                        </a:solidFill>
                        <a:latin typeface="Cambria Math" panose="02040503050406030204" pitchFamily="18" charset="0"/>
                        <a:ea typeface="MS Mincho" charset="0"/>
                        <a:cs typeface="Cambria Math" panose="02040503050406030204" pitchFamily="18" charset="0"/>
                      </a:rPr>
                      <m:t>&lt;&lt;</m:t>
                    </m:r>
                    <m:sSub>
                      <m:sSubPr>
                        <m:ctrlPr>
                          <a:rPr lang="zh-CN" altLang="zh-CN" sz="2400" b="1" i="1" kern="0">
                            <a:solidFill>
                              <a:srgbClr val="000000"/>
                            </a:solidFill>
                            <a:latin typeface="Cambria Math" panose="02040503050406030204" pitchFamily="18" charset="0"/>
                            <a:ea typeface="华文楷体" panose="02010600040101010101" charset="-122"/>
                            <a:cs typeface="Cambria Math" panose="02040503050406030204" pitchFamily="18" charset="0"/>
                          </a:rPr>
                        </m:ctrlPr>
                      </m:sSubPr>
                      <m:e>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𝑓</m:t>
                        </m:r>
                      </m:e>
                      <m:sub>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𝑐</m:t>
                        </m:r>
                      </m:sub>
                    </m:sSub>
                    <m:r>
                      <a:rPr lang="en-US" altLang="zh-CN" sz="2400" b="1" kern="0">
                        <a:solidFill>
                          <a:srgbClr val="000000"/>
                        </a:solidFill>
                        <a:latin typeface="Cambria Math" panose="02040503050406030204" pitchFamily="18" charset="0"/>
                        <a:ea typeface="MS Mincho" charset="0"/>
                        <a:cs typeface="Cambria Math" panose="02040503050406030204" pitchFamily="18" charset="0"/>
                      </a:rPr>
                      <m:t>=</m:t>
                    </m:r>
                    <m:f>
                      <m:fPr>
                        <m:ctrlPr>
                          <a:rPr lang="zh-CN" altLang="zh-CN" sz="2400" b="1" i="1" kern="0">
                            <a:solidFill>
                              <a:srgbClr val="000000"/>
                            </a:solidFill>
                            <a:latin typeface="Cambria Math" panose="02040503050406030204" pitchFamily="18" charset="0"/>
                            <a:ea typeface="华文楷体" panose="02010600040101010101" charset="-122"/>
                            <a:cs typeface="Cambria Math" panose="02040503050406030204" pitchFamily="18" charset="0"/>
                          </a:rPr>
                        </m:ctrlPr>
                      </m:fPr>
                      <m:num>
                        <m:sSub>
                          <m:sSubPr>
                            <m:ctrlPr>
                              <a:rPr lang="zh-CN" altLang="zh-CN" sz="2400" b="1" i="1" kern="0">
                                <a:solidFill>
                                  <a:srgbClr val="000000"/>
                                </a:solidFill>
                                <a:latin typeface="Cambria Math" panose="02040503050406030204" pitchFamily="18" charset="0"/>
                                <a:ea typeface="华文楷体" panose="02010600040101010101" charset="-122"/>
                                <a:cs typeface="Cambria Math" panose="02040503050406030204" pitchFamily="18" charset="0"/>
                              </a:rPr>
                            </m:ctrlPr>
                          </m:sSubPr>
                          <m:e>
                            <m:r>
                              <a:rPr lang="en-US" altLang="zh-CN" sz="2400" b="1" kern="0">
                                <a:solidFill>
                                  <a:srgbClr val="000000"/>
                                </a:solidFill>
                                <a:latin typeface="Cambria Math" panose="02040503050406030204" pitchFamily="18" charset="0"/>
                                <a:ea typeface="MS Mincho" charset="0"/>
                                <a:cs typeface="Cambria Math" panose="02040503050406030204" pitchFamily="18" charset="0"/>
                              </a:rPr>
                              <m:t>𝜔</m:t>
                            </m:r>
                          </m:e>
                          <m:sub>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𝑐</m:t>
                            </m:r>
                          </m:sub>
                        </m:sSub>
                      </m:num>
                      <m:den>
                        <m:r>
                          <a:rPr lang="en-US" altLang="zh-CN" sz="2400" b="1" kern="0">
                            <a:solidFill>
                              <a:srgbClr val="000000"/>
                            </a:solidFill>
                            <a:latin typeface="Cambria Math" panose="02040503050406030204" pitchFamily="18" charset="0"/>
                            <a:ea typeface="MS Mincho" charset="0"/>
                            <a:cs typeface="Cambria Math" panose="02040503050406030204" pitchFamily="18" charset="0"/>
                          </a:rPr>
                          <m:t>2</m:t>
                        </m:r>
                        <m:r>
                          <a:rPr lang="en-US" altLang="zh-CN" sz="2400" b="1" kern="0">
                            <a:solidFill>
                              <a:srgbClr val="000000"/>
                            </a:solidFill>
                            <a:latin typeface="Cambria Math" panose="02040503050406030204" pitchFamily="18" charset="0"/>
                            <a:ea typeface="MS Mincho" charset="0"/>
                            <a:cs typeface="Cambria Math" panose="02040503050406030204" pitchFamily="18" charset="0"/>
                          </a:rPr>
                          <m:t>𝜋</m:t>
                        </m:r>
                      </m:den>
                    </m:f>
                  </m:oMath>
                </a14:m>
                <a:r>
                  <a:rPr lang="zh-CN" altLang="zh-CN" sz="2400" b="1" dirty="0">
                    <a:solidFill>
                      <a:srgbClr val="000000"/>
                    </a:solidFill>
                    <a:latin typeface="华文楷体" panose="02010600040101010101" charset="-122"/>
                    <a:ea typeface="华文楷体" panose="02010600040101010101" charset="-122"/>
                    <a:cs typeface="华文楷体" panose="02010600040101010101" charset="-122"/>
                    <a:sym typeface="+mn-ea"/>
                  </a:rPr>
                  <a:t>，且通带的中心频率</a:t>
                </a:r>
                <a14:m>
                  <m:oMath xmlns:m="http://schemas.openxmlformats.org/officeDocument/2006/math">
                    <m:sSub>
                      <m:sSubPr>
                        <m:ctrlPr>
                          <a:rPr lang="zh-CN" altLang="zh-CN" sz="2400" b="1" i="1" kern="0">
                            <a:solidFill>
                              <a:srgbClr val="000000"/>
                            </a:solidFill>
                            <a:latin typeface="Cambria Math" panose="02040503050406030204" pitchFamily="18" charset="0"/>
                            <a:ea typeface="华文楷体" panose="02010600040101010101" charset="-122"/>
                            <a:cs typeface="Cambria Math" panose="02040503050406030204" pitchFamily="18" charset="0"/>
                          </a:rPr>
                        </m:ctrlPr>
                      </m:sSubPr>
                      <m:e>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𝑓</m:t>
                        </m:r>
                      </m:e>
                      <m:sub>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𝑐</m:t>
                        </m:r>
                      </m:sub>
                    </m:sSub>
                    <m:r>
                      <a:rPr lang="en-US" altLang="zh-CN" sz="2400" b="1" kern="0">
                        <a:solidFill>
                          <a:srgbClr val="000000"/>
                        </a:solidFill>
                        <a:latin typeface="Cambria Math" panose="02040503050406030204" pitchFamily="18" charset="0"/>
                        <a:ea typeface="MS Mincho" charset="0"/>
                        <a:cs typeface="Cambria Math" panose="02040503050406030204" pitchFamily="18" charset="0"/>
                      </a:rPr>
                      <m:t>&gt;&gt;</m:t>
                    </m:r>
                    <m:r>
                      <a:rPr lang="en-US" altLang="zh-CN" sz="2400" b="1" kern="0">
                        <a:solidFill>
                          <a:srgbClr val="000000"/>
                        </a:solidFill>
                        <a:latin typeface="Cambria Math" panose="02040503050406030204" pitchFamily="18" charset="0"/>
                        <a:ea typeface="MS Mincho" charset="0"/>
                        <a:cs typeface="Cambria Math" panose="02040503050406030204" pitchFamily="18" charset="0"/>
                      </a:rPr>
                      <m:t>0</m:t>
                    </m:r>
                  </m:oMath>
                </a14:m>
                <a:r>
                  <a:rPr lang="zh-CN" altLang="zh-CN" sz="2400" b="1" dirty="0">
                    <a:solidFill>
                      <a:srgbClr val="000000"/>
                    </a:solidFill>
                    <a:latin typeface="华文楷体" panose="02010600040101010101" charset="-122"/>
                    <a:ea typeface="华文楷体" panose="02010600040101010101" charset="-122"/>
                    <a:cs typeface="华文楷体" panose="02010600040101010101" charset="-122"/>
                    <a:sym typeface="+mn-ea"/>
                  </a:rPr>
                  <a:t>的系统。</a:t>
                </a:r>
                <a:endParaRPr lang="zh-CN" altLang="zh-CN" sz="2400" b="1" dirty="0">
                  <a:solidFill>
                    <a:srgbClr val="000000"/>
                  </a:solidFill>
                  <a:latin typeface="华文楷体" panose="02010600040101010101" charset="-122"/>
                  <a:ea typeface="华文楷体" panose="02010600040101010101" charset="-122"/>
                  <a:cs typeface="华文楷体" panose="02010600040101010101" charset="-122"/>
                  <a:sym typeface="+mn-ea"/>
                </a:endParaRPr>
              </a:p>
              <a:p>
                <a:pPr lvl="1"/>
                <a:r>
                  <a:rPr lang="zh-CN" altLang="en-US" sz="2400" b="1">
                    <a:latin typeface="华文楷体" panose="02010600040101010101" charset="-122"/>
                    <a:ea typeface="华文楷体" panose="02010600040101010101" charset="-122"/>
                    <a:cs typeface="华文楷体" panose="02010600040101010101" charset="-122"/>
                  </a:rPr>
                  <a:t>表示：</a:t>
                </a:r>
                <a:endParaRPr lang="zh-CN" altLang="en-US" sz="2400" b="1">
                  <a:latin typeface="华文楷体" panose="02010600040101010101" charset="-122"/>
                  <a:ea typeface="华文楷体" panose="02010600040101010101" charset="-122"/>
                  <a:cs typeface="华文楷体" panose="02010600040101010101" charset="-122"/>
                </a:endParaRPr>
              </a:p>
              <a:p>
                <a:pPr lvl="2"/>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华文中宋" panose="02010600040101010101" pitchFamily="2" charset="-122"/>
                  </a:rPr>
                  <a:t>包络相位形式：</a:t>
                </a:r>
                <a14:m>
                  <m:oMath xmlns:m="http://schemas.openxmlformats.org/officeDocument/2006/math">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𝑛</m:t>
                    </m:r>
                    <m:r>
                      <a:rPr lang="en-US" altLang="zh-CN" sz="2400" b="1" kern="0">
                        <a:solidFill>
                          <a:srgbClr val="000000"/>
                        </a:solidFill>
                        <a:latin typeface="Cambria Math" panose="02040503050406030204" pitchFamily="18" charset="0"/>
                        <a:ea typeface="MS Mincho" charset="0"/>
                        <a:cs typeface="Cambria Math" panose="02040503050406030204" pitchFamily="18" charset="0"/>
                      </a:rPr>
                      <m:t>(</m:t>
                    </m:r>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𝑡</m:t>
                    </m:r>
                    <m:r>
                      <a:rPr lang="en-US" altLang="zh-CN" sz="2400" b="1" kern="0">
                        <a:solidFill>
                          <a:srgbClr val="000000"/>
                        </a:solidFill>
                        <a:latin typeface="Cambria Math" panose="02040503050406030204" pitchFamily="18" charset="0"/>
                        <a:ea typeface="MS Mincho" charset="0"/>
                        <a:cs typeface="Cambria Math" panose="02040503050406030204" pitchFamily="18" charset="0"/>
                      </a:rPr>
                      <m:t>)=</m:t>
                    </m:r>
                    <m:r>
                      <a:rPr lang="en-US" altLang="zh-CN" sz="2400" b="1" kern="0">
                        <a:solidFill>
                          <a:srgbClr val="C00000"/>
                        </a:solidFill>
                        <a:latin typeface="Cambria Math" panose="02040503050406030204" pitchFamily="18" charset="0"/>
                        <a:ea typeface="MS Mincho" charset="0"/>
                        <a:cs typeface="Cambria Math" panose="02040503050406030204" pitchFamily="18" charset="0"/>
                      </a:rPr>
                      <m:t>𝜌</m:t>
                    </m:r>
                    <m:r>
                      <a:rPr lang="en-US" altLang="zh-CN" sz="2400" b="1" kern="0">
                        <a:solidFill>
                          <a:srgbClr val="C00000"/>
                        </a:solidFill>
                        <a:latin typeface="Cambria Math" panose="02040503050406030204" pitchFamily="18" charset="0"/>
                        <a:ea typeface="MS Mincho" charset="0"/>
                        <a:cs typeface="Cambria Math" panose="02040503050406030204" pitchFamily="18" charset="0"/>
                      </a:rPr>
                      <m:t>(</m:t>
                    </m:r>
                    <m:r>
                      <a:rPr lang="en-US" altLang="zh-CN" sz="2400" b="1" kern="0">
                        <a:solidFill>
                          <a:srgbClr val="C00000"/>
                        </a:solidFill>
                        <a:latin typeface="Cambria Math" panose="02040503050406030204" pitchFamily="18" charset="0"/>
                        <a:ea typeface="华文楷体" panose="02010600040101010101" charset="-122"/>
                        <a:cs typeface="Cambria Math" panose="02040503050406030204" pitchFamily="18" charset="0"/>
                      </a:rPr>
                      <m:t>𝑡</m:t>
                    </m:r>
                    <m:r>
                      <a:rPr lang="en-US" altLang="zh-CN" sz="2400" b="1" kern="0">
                        <a:solidFill>
                          <a:srgbClr val="C00000"/>
                        </a:solidFill>
                        <a:latin typeface="Cambria Math" panose="02040503050406030204" pitchFamily="18" charset="0"/>
                        <a:ea typeface="MS Mincho" charset="0"/>
                        <a:cs typeface="Cambria Math" panose="02040503050406030204" pitchFamily="18" charset="0"/>
                      </a:rPr>
                      <m:t>)</m:t>
                    </m:r>
                    <m:func>
                      <m:funcPr>
                        <m:ctrlPr>
                          <a:rPr lang="zh-CN" altLang="zh-CN" sz="2400" b="1" i="1" kern="0">
                            <a:solidFill>
                              <a:srgbClr val="000000"/>
                            </a:solidFill>
                            <a:latin typeface="Cambria Math" panose="02040503050406030204" pitchFamily="18" charset="0"/>
                            <a:ea typeface="华文楷体" panose="02010600040101010101" charset="-122"/>
                            <a:cs typeface="Cambria Math" panose="02040503050406030204" pitchFamily="18" charset="0"/>
                          </a:rPr>
                        </m:ctrlPr>
                      </m:funcPr>
                      <m:fName>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𝑐𝑜𝑠</m:t>
                        </m:r>
                      </m:fName>
                      <m:e>
                        <m:d>
                          <m:dPr>
                            <m:begChr m:val="["/>
                            <m:endChr m:val="]"/>
                            <m:ctrlPr>
                              <a:rPr lang="zh-CN" altLang="zh-CN" sz="2400" b="1" i="1" kern="0">
                                <a:solidFill>
                                  <a:srgbClr val="000000"/>
                                </a:solidFill>
                                <a:latin typeface="Cambria Math" panose="02040503050406030204" pitchFamily="18" charset="0"/>
                                <a:ea typeface="华文楷体" panose="02010600040101010101" charset="-122"/>
                                <a:cs typeface="Cambria Math" panose="02040503050406030204" pitchFamily="18" charset="0"/>
                              </a:rPr>
                            </m:ctrlPr>
                          </m:dPr>
                          <m:e>
                            <m:sSub>
                              <m:sSubPr>
                                <m:ctrlPr>
                                  <a:rPr lang="zh-CN" altLang="zh-CN" sz="2400" b="1" i="1" kern="0">
                                    <a:solidFill>
                                      <a:srgbClr val="000000"/>
                                    </a:solidFill>
                                    <a:latin typeface="Cambria Math" panose="02040503050406030204" pitchFamily="18" charset="0"/>
                                    <a:ea typeface="华文楷体" panose="02010600040101010101" charset="-122"/>
                                    <a:cs typeface="Cambria Math" panose="02040503050406030204" pitchFamily="18" charset="0"/>
                                  </a:rPr>
                                </m:ctrlPr>
                              </m:sSubPr>
                              <m:e>
                                <m:r>
                                  <a:rPr lang="en-US" altLang="zh-CN" sz="2400" b="1" kern="0">
                                    <a:solidFill>
                                      <a:srgbClr val="000000"/>
                                    </a:solidFill>
                                    <a:latin typeface="Cambria Math" panose="02040503050406030204" pitchFamily="18" charset="0"/>
                                    <a:ea typeface="MS Mincho" charset="0"/>
                                    <a:cs typeface="Cambria Math" panose="02040503050406030204" pitchFamily="18" charset="0"/>
                                  </a:rPr>
                                  <m:t>𝜔</m:t>
                                </m:r>
                              </m:e>
                              <m:sub>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𝑐</m:t>
                                </m:r>
                              </m:sub>
                            </m:sSub>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𝑡</m:t>
                            </m:r>
                            <m:r>
                              <a:rPr lang="en-US" altLang="zh-CN" sz="2400" b="1" kern="0">
                                <a:solidFill>
                                  <a:srgbClr val="000000"/>
                                </a:solidFill>
                                <a:latin typeface="Cambria Math" panose="02040503050406030204" pitchFamily="18" charset="0"/>
                                <a:ea typeface="MS Mincho" charset="0"/>
                                <a:cs typeface="Cambria Math" panose="02040503050406030204" pitchFamily="18" charset="0"/>
                              </a:rPr>
                              <m:t>+</m:t>
                            </m:r>
                            <m:r>
                              <a:rPr lang="en-US" altLang="zh-CN" sz="2400" b="1" kern="0">
                                <a:solidFill>
                                  <a:srgbClr val="0070C0"/>
                                </a:solidFill>
                                <a:latin typeface="Cambria Math" panose="02040503050406030204" pitchFamily="18" charset="0"/>
                                <a:ea typeface="MS Mincho" charset="0"/>
                                <a:cs typeface="Cambria Math" panose="02040503050406030204" pitchFamily="18" charset="0"/>
                              </a:rPr>
                              <m:t>𝜙</m:t>
                            </m:r>
                            <m:r>
                              <a:rPr lang="en-US" altLang="zh-CN" sz="2400" b="1" kern="0">
                                <a:solidFill>
                                  <a:srgbClr val="0070C0"/>
                                </a:solidFill>
                                <a:latin typeface="Cambria Math" panose="02040503050406030204" pitchFamily="18" charset="0"/>
                                <a:ea typeface="MS Mincho" charset="0"/>
                                <a:cs typeface="Cambria Math" panose="02040503050406030204" pitchFamily="18" charset="0"/>
                              </a:rPr>
                              <m:t>(</m:t>
                            </m:r>
                            <m:r>
                              <a:rPr lang="en-US" altLang="zh-CN" sz="2400" b="1" kern="0">
                                <a:solidFill>
                                  <a:srgbClr val="0070C0"/>
                                </a:solidFill>
                                <a:latin typeface="Cambria Math" panose="02040503050406030204" pitchFamily="18" charset="0"/>
                                <a:ea typeface="华文楷体" panose="02010600040101010101" charset="-122"/>
                                <a:cs typeface="Cambria Math" panose="02040503050406030204" pitchFamily="18" charset="0"/>
                              </a:rPr>
                              <m:t>𝑡</m:t>
                            </m:r>
                            <m:r>
                              <a:rPr lang="en-US" altLang="zh-CN" sz="2400" b="1" kern="0">
                                <a:solidFill>
                                  <a:srgbClr val="0070C0"/>
                                </a:solidFill>
                                <a:latin typeface="Cambria Math" panose="02040503050406030204" pitchFamily="18" charset="0"/>
                                <a:ea typeface="MS Mincho" charset="0"/>
                                <a:cs typeface="Cambria Math" panose="02040503050406030204" pitchFamily="18" charset="0"/>
                              </a:rPr>
                              <m:t>)</m:t>
                            </m:r>
                          </m:e>
                        </m:d>
                      </m:e>
                    </m:func>
                  </m:oMath>
                </a14:m>
                <a:r>
                  <a:rPr lang="en-US" altLang="zh-CN" sz="2400" b="1" dirty="0">
                    <a:solidFill>
                      <a:srgbClr val="000000"/>
                    </a:solidFill>
                    <a:latin typeface="华文楷体" panose="02010600040101010101" charset="-122"/>
                    <a:ea typeface="华文楷体" panose="02010600040101010101" charset="-122"/>
                    <a:cs typeface="华文楷体" panose="02010600040101010101" charset="-122"/>
                    <a:sym typeface="+mn-ea"/>
                  </a:rPr>
                  <a:t>			</a:t>
                </a:r>
                <a:endParaRPr lang="en-US" altLang="zh-CN" sz="2400" b="1" dirty="0">
                  <a:solidFill>
                    <a:srgbClr val="000000"/>
                  </a:solidFill>
                  <a:latin typeface="华文楷体" panose="02010600040101010101" charset="-122"/>
                  <a:ea typeface="华文楷体" panose="02010600040101010101" charset="-122"/>
                  <a:cs typeface="华文楷体" panose="02010600040101010101" charset="-122"/>
                  <a:sym typeface="+mn-ea"/>
                </a:endParaRPr>
              </a:p>
              <a:p>
                <a:pPr lvl="2"/>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华文中宋" panose="02010600040101010101" pitchFamily="2" charset="-122"/>
                  </a:rPr>
                  <a:t>同相正交形式：</a:t>
                </a:r>
                <a14:m>
                  <m:oMath xmlns:m="http://schemas.openxmlformats.org/officeDocument/2006/math">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𝑛</m:t>
                    </m:r>
                    <m:r>
                      <m:rPr>
                        <m:nor/>
                      </m:rPr>
                      <a:rPr lang="en-US" altLang="zh-CN" sz="2400" b="1" kern="0">
                        <a:solidFill>
                          <a:srgbClr val="000000"/>
                        </a:solidFill>
                        <a:latin typeface="Cambria Math" panose="02040503050406030204" pitchFamily="18" charset="0"/>
                        <a:ea typeface="MS Mincho" charset="0"/>
                        <a:cs typeface="Cambria Math" panose="02040503050406030204" pitchFamily="18" charset="0"/>
                      </a:rPr>
                      <m:t>(</m:t>
                    </m:r>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𝑡</m:t>
                    </m:r>
                    <m:r>
                      <m:rPr>
                        <m:nor/>
                      </m:rPr>
                      <a:rPr lang="en-US" altLang="zh-CN" sz="2400" b="1" kern="0">
                        <a:solidFill>
                          <a:srgbClr val="000000"/>
                        </a:solidFill>
                        <a:latin typeface="Cambria Math" panose="02040503050406030204" pitchFamily="18" charset="0"/>
                        <a:ea typeface="MS Mincho" charset="0"/>
                        <a:cs typeface="Cambria Math" panose="02040503050406030204" pitchFamily="18" charset="0"/>
                      </a:rPr>
                      <m:t>)</m:t>
                    </m:r>
                    <m:r>
                      <a:rPr lang="en-US" altLang="zh-CN" sz="2400" b="1" kern="0">
                        <a:solidFill>
                          <a:srgbClr val="000000"/>
                        </a:solidFill>
                        <a:latin typeface="Cambria Math" panose="02040503050406030204" pitchFamily="18" charset="0"/>
                        <a:ea typeface="MS Mincho" charset="0"/>
                        <a:cs typeface="Cambria Math" panose="02040503050406030204" pitchFamily="18" charset="0"/>
                      </a:rPr>
                      <m:t>=</m:t>
                    </m:r>
                    <m:sSub>
                      <m:sSubPr>
                        <m:ctrlPr>
                          <a:rPr lang="zh-CN" altLang="zh-CN" sz="2400" b="1" i="1" kern="0">
                            <a:solidFill>
                              <a:srgbClr val="C00000"/>
                            </a:solidFill>
                            <a:latin typeface="Cambria Math" panose="02040503050406030204" pitchFamily="18" charset="0"/>
                            <a:ea typeface="华文楷体" panose="02010600040101010101" charset="-122"/>
                            <a:cs typeface="Cambria Math" panose="02040503050406030204" pitchFamily="18" charset="0"/>
                          </a:rPr>
                        </m:ctrlPr>
                      </m:sSubPr>
                      <m:e>
                        <m:r>
                          <a:rPr lang="en-US" altLang="zh-CN" sz="2400" b="1" kern="0">
                            <a:solidFill>
                              <a:srgbClr val="C00000"/>
                            </a:solidFill>
                            <a:latin typeface="Cambria Math" panose="02040503050406030204" pitchFamily="18" charset="0"/>
                            <a:ea typeface="华文楷体" panose="02010600040101010101" charset="-122"/>
                            <a:cs typeface="Cambria Math" panose="02040503050406030204" pitchFamily="18" charset="0"/>
                          </a:rPr>
                          <m:t>𝑛</m:t>
                        </m:r>
                      </m:e>
                      <m:sub>
                        <m:r>
                          <a:rPr lang="en-US" altLang="zh-CN" sz="2400" b="1" kern="0">
                            <a:solidFill>
                              <a:srgbClr val="C00000"/>
                            </a:solidFill>
                            <a:latin typeface="Cambria Math" panose="02040503050406030204" pitchFamily="18" charset="0"/>
                            <a:ea typeface="华文楷体" panose="02010600040101010101" charset="-122"/>
                            <a:cs typeface="Cambria Math" panose="02040503050406030204" pitchFamily="18" charset="0"/>
                          </a:rPr>
                          <m:t>𝑐</m:t>
                        </m:r>
                      </m:sub>
                    </m:sSub>
                    <m:r>
                      <m:rPr>
                        <m:nor/>
                      </m:rPr>
                      <a:rPr lang="en-US" altLang="zh-CN" sz="2400" b="1" kern="0">
                        <a:solidFill>
                          <a:srgbClr val="C00000"/>
                        </a:solidFill>
                        <a:latin typeface="Cambria Math" panose="02040503050406030204" pitchFamily="18" charset="0"/>
                        <a:ea typeface="MS Mincho" charset="0"/>
                        <a:cs typeface="Cambria Math" panose="02040503050406030204" pitchFamily="18" charset="0"/>
                      </a:rPr>
                      <m:t>(</m:t>
                    </m:r>
                    <m:r>
                      <a:rPr lang="en-US" altLang="zh-CN" sz="2400" b="1" kern="0">
                        <a:solidFill>
                          <a:srgbClr val="C00000"/>
                        </a:solidFill>
                        <a:latin typeface="Cambria Math" panose="02040503050406030204" pitchFamily="18" charset="0"/>
                        <a:ea typeface="华文楷体" panose="02010600040101010101" charset="-122"/>
                        <a:cs typeface="Cambria Math" panose="02040503050406030204" pitchFamily="18" charset="0"/>
                      </a:rPr>
                      <m:t>𝑡</m:t>
                    </m:r>
                    <m:r>
                      <m:rPr>
                        <m:nor/>
                      </m:rPr>
                      <a:rPr lang="en-US" altLang="zh-CN" sz="2400" b="1" kern="0">
                        <a:solidFill>
                          <a:srgbClr val="C00000"/>
                        </a:solidFill>
                        <a:latin typeface="Cambria Math" panose="02040503050406030204" pitchFamily="18" charset="0"/>
                        <a:ea typeface="MS Mincho" charset="0"/>
                        <a:cs typeface="Cambria Math" panose="02040503050406030204" pitchFamily="18" charset="0"/>
                      </a:rPr>
                      <m:t>)</m:t>
                    </m:r>
                    <m:r>
                      <m:rPr>
                        <m:sty m:val="p"/>
                      </m:rP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cos</m:t>
                    </m:r>
                    <m:sSub>
                      <m:sSubPr>
                        <m:ctrlPr>
                          <a:rPr lang="zh-CN" altLang="zh-CN" sz="2400" b="1" i="1" kern="0">
                            <a:solidFill>
                              <a:srgbClr val="000000"/>
                            </a:solidFill>
                            <a:latin typeface="Cambria Math" panose="02040503050406030204" pitchFamily="18" charset="0"/>
                            <a:ea typeface="华文楷体" panose="02010600040101010101" charset="-122"/>
                            <a:cs typeface="Cambria Math" panose="02040503050406030204" pitchFamily="18" charset="0"/>
                          </a:rPr>
                        </m:ctrlPr>
                      </m:sSubPr>
                      <m:e>
                        <m:r>
                          <a:rPr lang="en-US" altLang="zh-CN" sz="2400" b="1" kern="0">
                            <a:solidFill>
                              <a:srgbClr val="000000"/>
                            </a:solidFill>
                            <a:latin typeface="Cambria Math" panose="02040503050406030204" pitchFamily="18" charset="0"/>
                            <a:ea typeface="MS Mincho" charset="0"/>
                            <a:cs typeface="Cambria Math" panose="02040503050406030204" pitchFamily="18" charset="0"/>
                          </a:rPr>
                          <m:t>𝜔</m:t>
                        </m:r>
                      </m:e>
                      <m:sub>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𝑐</m:t>
                        </m:r>
                      </m:sub>
                    </m:sSub>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𝑡</m:t>
                    </m:r>
                    <m:r>
                      <a:rPr lang="en-US" altLang="zh-CN" sz="2400" b="1" kern="0">
                        <a:solidFill>
                          <a:srgbClr val="000000"/>
                        </a:solidFill>
                        <a:latin typeface="Cambria Math" panose="02040503050406030204" pitchFamily="18" charset="0"/>
                        <a:ea typeface="MS Mincho" charset="0"/>
                        <a:cs typeface="Cambria Math" panose="02040503050406030204" pitchFamily="18" charset="0"/>
                      </a:rPr>
                      <m:t>−</m:t>
                    </m:r>
                    <m:sSub>
                      <m:sSubPr>
                        <m:ctrlPr>
                          <a:rPr lang="zh-CN" altLang="zh-CN" sz="2400" b="1" i="1" kern="0">
                            <a:solidFill>
                              <a:srgbClr val="0070C0"/>
                            </a:solidFill>
                            <a:latin typeface="Cambria Math" panose="02040503050406030204" pitchFamily="18" charset="0"/>
                            <a:ea typeface="华文楷体" panose="02010600040101010101" charset="-122"/>
                            <a:cs typeface="Cambria Math" panose="02040503050406030204" pitchFamily="18" charset="0"/>
                          </a:rPr>
                        </m:ctrlPr>
                      </m:sSubPr>
                      <m:e>
                        <m:r>
                          <a:rPr lang="en-US" altLang="zh-CN" sz="2400" b="1" kern="0">
                            <a:solidFill>
                              <a:srgbClr val="0070C0"/>
                            </a:solidFill>
                            <a:latin typeface="Cambria Math" panose="02040503050406030204" pitchFamily="18" charset="0"/>
                            <a:ea typeface="华文楷体" panose="02010600040101010101" charset="-122"/>
                            <a:cs typeface="Cambria Math" panose="02040503050406030204" pitchFamily="18" charset="0"/>
                          </a:rPr>
                          <m:t>𝑛</m:t>
                        </m:r>
                      </m:e>
                      <m:sub>
                        <m:r>
                          <a:rPr lang="en-US" altLang="zh-CN" sz="2400" b="1" kern="0">
                            <a:solidFill>
                              <a:srgbClr val="0070C0"/>
                            </a:solidFill>
                            <a:latin typeface="Cambria Math" panose="02040503050406030204" pitchFamily="18" charset="0"/>
                            <a:ea typeface="华文楷体" panose="02010600040101010101" charset="-122"/>
                            <a:cs typeface="Cambria Math" panose="02040503050406030204" pitchFamily="18" charset="0"/>
                          </a:rPr>
                          <m:t>𝑠</m:t>
                        </m:r>
                      </m:sub>
                    </m:sSub>
                    <m:r>
                      <m:rPr>
                        <m:nor/>
                      </m:rPr>
                      <a:rPr lang="en-US" altLang="zh-CN" sz="2400" b="1" kern="0">
                        <a:solidFill>
                          <a:srgbClr val="0070C0"/>
                        </a:solidFill>
                        <a:latin typeface="Cambria Math" panose="02040503050406030204" pitchFamily="18" charset="0"/>
                        <a:ea typeface="MS Mincho" charset="0"/>
                        <a:cs typeface="Cambria Math" panose="02040503050406030204" pitchFamily="18" charset="0"/>
                      </a:rPr>
                      <m:t>(</m:t>
                    </m:r>
                    <m:r>
                      <a:rPr lang="en-US" altLang="zh-CN" sz="2400" b="1" kern="0">
                        <a:solidFill>
                          <a:srgbClr val="0070C0"/>
                        </a:solidFill>
                        <a:latin typeface="Cambria Math" panose="02040503050406030204" pitchFamily="18" charset="0"/>
                        <a:ea typeface="华文楷体" panose="02010600040101010101" charset="-122"/>
                        <a:cs typeface="Cambria Math" panose="02040503050406030204" pitchFamily="18" charset="0"/>
                      </a:rPr>
                      <m:t>𝑡</m:t>
                    </m:r>
                    <m:r>
                      <m:rPr>
                        <m:nor/>
                      </m:rPr>
                      <a:rPr lang="en-US" altLang="zh-CN" sz="2400" b="1" kern="0">
                        <a:solidFill>
                          <a:srgbClr val="0070C0"/>
                        </a:solidFill>
                        <a:latin typeface="Cambria Math" panose="02040503050406030204" pitchFamily="18" charset="0"/>
                        <a:ea typeface="MS Mincho" charset="0"/>
                        <a:cs typeface="Cambria Math" panose="02040503050406030204" pitchFamily="18" charset="0"/>
                      </a:rPr>
                      <m:t>)</m:t>
                    </m:r>
                    <m:r>
                      <m:rPr>
                        <m:sty m:val="p"/>
                      </m:rP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sin</m:t>
                    </m:r>
                    <m:sSub>
                      <m:sSubPr>
                        <m:ctrlPr>
                          <a:rPr lang="zh-CN" altLang="zh-CN" sz="2400" b="1" i="1" kern="0">
                            <a:solidFill>
                              <a:srgbClr val="000000"/>
                            </a:solidFill>
                            <a:latin typeface="Cambria Math" panose="02040503050406030204" pitchFamily="18" charset="0"/>
                            <a:ea typeface="华文楷体" panose="02010600040101010101" charset="-122"/>
                            <a:cs typeface="Cambria Math" panose="02040503050406030204" pitchFamily="18" charset="0"/>
                          </a:rPr>
                        </m:ctrlPr>
                      </m:sSubPr>
                      <m:e>
                        <m:r>
                          <a:rPr lang="en-US" altLang="zh-CN" sz="2400" b="1" kern="0">
                            <a:solidFill>
                              <a:srgbClr val="000000"/>
                            </a:solidFill>
                            <a:latin typeface="Cambria Math" panose="02040503050406030204" pitchFamily="18" charset="0"/>
                            <a:ea typeface="MS Mincho" charset="0"/>
                            <a:cs typeface="Cambria Math" panose="02040503050406030204" pitchFamily="18" charset="0"/>
                          </a:rPr>
                          <m:t>𝜔</m:t>
                        </m:r>
                      </m:e>
                      <m:sub>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𝑐</m:t>
                        </m:r>
                      </m:sub>
                    </m:sSub>
                    <m:r>
                      <a:rPr lang="en-US" altLang="zh-CN" sz="2400" b="1" kern="0">
                        <a:solidFill>
                          <a:srgbClr val="000000"/>
                        </a:solidFill>
                        <a:latin typeface="Cambria Math" panose="02040503050406030204" pitchFamily="18" charset="0"/>
                        <a:ea typeface="华文楷体" panose="02010600040101010101" charset="-122"/>
                        <a:cs typeface="Cambria Math" panose="02040503050406030204" pitchFamily="18" charset="0"/>
                      </a:rPr>
                      <m:t>𝑡</m:t>
                    </m:r>
                  </m:oMath>
                </a14:m>
                <a:r>
                  <a:rPr lang="en-US" altLang="zh-CN" sz="2400" b="1" dirty="0">
                    <a:solidFill>
                      <a:srgbClr val="000000"/>
                    </a:solidFill>
                    <a:latin typeface="华文楷体" panose="02010600040101010101" charset="-122"/>
                    <a:ea typeface="华文楷体" panose="02010600040101010101" charset="-122"/>
                    <a:cs typeface="华文楷体" panose="02010600040101010101" charset="-122"/>
                    <a:sym typeface="+mn-ea"/>
                  </a:rPr>
                  <a:t>				</a:t>
                </a:r>
                <a:endParaRPr lang="en-US" altLang="zh-CN" sz="2400" b="1" kern="0" dirty="0">
                  <a:solidFill>
                    <a:srgbClr val="000000"/>
                  </a:solidFill>
                  <a:latin typeface="华文楷体" panose="02010600040101010101" charset="-122"/>
                  <a:ea typeface="华文楷体" panose="02010600040101010101" charset="-122"/>
                  <a:cs typeface="华文楷体" panose="02010600040101010101" charset="-122"/>
                </a:endParaRPr>
              </a:p>
              <a:p>
                <a:pPr lvl="1"/>
                <a:r>
                  <a:rPr lang="zh-CN" altLang="en-US" sz="2400" b="1">
                    <a:latin typeface="华文楷体" panose="02010600040101010101" charset="-122"/>
                    <a:ea typeface="华文楷体" panose="02010600040101010101" charset="-122"/>
                    <a:cs typeface="华文楷体" panose="02010600040101010101" charset="-122"/>
                  </a:rPr>
                  <a:t>重要性质：</a:t>
                </a:r>
                <a:r>
                  <a:rPr lang="zh-CN" altLang="en-US" sz="2400" b="1" kern="1200" dirty="0">
                    <a:latin typeface="华文楷体" panose="02010600040101010101" charset="-122"/>
                    <a:ea typeface="华文楷体" panose="02010600040101010101" charset="-122"/>
                    <a:cs typeface="华文楷体" panose="02010600040101010101" charset="-122"/>
                    <a:sym typeface="宋体" pitchFamily="2" charset="-122"/>
                  </a:rPr>
                  <a:t>均值 </a:t>
                </a:r>
                <a:r>
                  <a:rPr lang="en-US" altLang="zh-CN" sz="2400" b="1" kern="1200" dirty="0">
                    <a:solidFill>
                      <a:srgbClr val="0000CC"/>
                    </a:solidFill>
                    <a:latin typeface="华文楷体" panose="02010600040101010101" charset="-122"/>
                    <a:ea typeface="华文楷体" panose="02010600040101010101" charset="-122"/>
                    <a:cs typeface="华文楷体" panose="02010600040101010101" charset="-122"/>
                    <a:sym typeface="宋体" pitchFamily="2" charset="-122"/>
                  </a:rPr>
                  <a:t>0</a:t>
                </a:r>
                <a:r>
                  <a:rPr lang="zh-CN" altLang="en-US" sz="2400" b="1" kern="1200" dirty="0">
                    <a:solidFill>
                      <a:srgbClr val="0000CC"/>
                    </a:solidFill>
                    <a:latin typeface="华文楷体" panose="02010600040101010101" charset="-122"/>
                    <a:ea typeface="华文楷体" panose="02010600040101010101" charset="-122"/>
                    <a:cs typeface="华文楷体" panose="02010600040101010101" charset="-122"/>
                    <a:sym typeface="宋体" pitchFamily="2" charset="-122"/>
                  </a:rPr>
                  <a:t>、</a:t>
                </a:r>
                <a:r>
                  <a:rPr lang="zh-CN" altLang="en-US" sz="2400" b="1" kern="1200" dirty="0">
                    <a:latin typeface="华文楷体" panose="02010600040101010101" charset="-122"/>
                    <a:ea typeface="华文楷体" panose="02010600040101010101" charset="-122"/>
                    <a:cs typeface="华文楷体" panose="02010600040101010101" charset="-122"/>
                    <a:sym typeface="宋体" pitchFamily="2" charset="-122"/>
                  </a:rPr>
                  <a:t>方差</a:t>
                </a:r>
                <a14:m>
                  <m:oMath xmlns:m="http://schemas.openxmlformats.org/officeDocument/2006/math">
                    <m:sSup>
                      <m:sSupPr>
                        <m:ctrlPr>
                          <a:rPr lang="zh-CN" altLang="zh-CN" sz="2400" b="1" i="1" kern="0">
                            <a:solidFill>
                              <a:srgbClr val="000000"/>
                            </a:solidFill>
                            <a:latin typeface="Cambria Math" panose="02040503050406030204" pitchFamily="18" charset="0"/>
                            <a:ea typeface="华文楷体" panose="02010600040101010101" charset="-122"/>
                            <a:cs typeface="Cambria Math" panose="02040503050406030204" pitchFamily="18" charset="0"/>
                          </a:rPr>
                        </m:ctrlPr>
                      </m:sSupPr>
                      <m:e>
                        <m:r>
                          <a:rPr lang="en-US" altLang="zh-CN" sz="2400" b="1" kern="0">
                            <a:solidFill>
                              <a:srgbClr val="000000"/>
                            </a:solidFill>
                            <a:latin typeface="Cambria Math" panose="02040503050406030204" pitchFamily="18" charset="0"/>
                            <a:ea typeface="MS Mincho" charset="0"/>
                            <a:cs typeface="Cambria Math" panose="02040503050406030204" pitchFamily="18" charset="0"/>
                          </a:rPr>
                          <m:t>𝜎</m:t>
                        </m:r>
                      </m:e>
                      <m:sup>
                        <m:r>
                          <a:rPr lang="en-US" altLang="zh-CN" sz="2400" b="1" kern="0">
                            <a:solidFill>
                              <a:srgbClr val="000000"/>
                            </a:solidFill>
                            <a:latin typeface="Cambria Math" panose="02040503050406030204" pitchFamily="18" charset="0"/>
                            <a:ea typeface="MS Mincho" charset="0"/>
                            <a:cs typeface="Cambria Math" panose="02040503050406030204" pitchFamily="18" charset="0"/>
                          </a:rPr>
                          <m:t>2</m:t>
                        </m:r>
                      </m:sup>
                    </m:sSup>
                  </m:oMath>
                </a14:m>
                <a:r>
                  <a:rPr lang="zh-CN" altLang="en-US" sz="2400" b="1" kern="1200" dirty="0">
                    <a:latin typeface="华文楷体" panose="02010600040101010101" charset="-122"/>
                    <a:ea typeface="华文楷体" panose="02010600040101010101" charset="-122"/>
                    <a:cs typeface="华文楷体" panose="02010600040101010101" charset="-122"/>
                    <a:sym typeface="宋体" pitchFamily="2" charset="-122"/>
                  </a:rPr>
                  <a:t>的</a:t>
                </a:r>
                <a:r>
                  <a:rPr lang="zh-CN" altLang="en-US" sz="2400" b="1" kern="1200" dirty="0">
                    <a:solidFill>
                      <a:srgbClr val="003399"/>
                    </a:solidFill>
                    <a:latin typeface="华文楷体" panose="02010600040101010101" charset="-122"/>
                    <a:ea typeface="华文楷体" panose="02010600040101010101" charset="-122"/>
                    <a:cs typeface="华文楷体" panose="02010600040101010101" charset="-122"/>
                    <a:sym typeface="宋体" pitchFamily="2" charset="-122"/>
                  </a:rPr>
                  <a:t>平稳</a:t>
                </a:r>
                <a:r>
                  <a:rPr lang="zh-CN" altLang="en-US" sz="2400" b="1" kern="1200" dirty="0">
                    <a:solidFill>
                      <a:srgbClr val="800080"/>
                    </a:solidFill>
                    <a:latin typeface="华文楷体" panose="02010600040101010101" charset="-122"/>
                    <a:ea typeface="华文楷体" panose="02010600040101010101" charset="-122"/>
                    <a:cs typeface="华文楷体" panose="02010600040101010101" charset="-122"/>
                    <a:sym typeface="宋体" pitchFamily="2" charset="-122"/>
                  </a:rPr>
                  <a:t>高斯</a:t>
                </a:r>
                <a:r>
                  <a:rPr lang="zh-CN" altLang="en-US" sz="2400" b="1" kern="1200" dirty="0">
                    <a:solidFill>
                      <a:srgbClr val="0000CC"/>
                    </a:solidFill>
                    <a:latin typeface="华文楷体" panose="02010600040101010101" charset="-122"/>
                    <a:ea typeface="华文楷体" panose="02010600040101010101" charset="-122"/>
                    <a:cs typeface="华文楷体" panose="02010600040101010101" charset="-122"/>
                    <a:sym typeface="宋体" pitchFamily="2" charset="-122"/>
                  </a:rPr>
                  <a:t>窄带</a:t>
                </a:r>
                <a:r>
                  <a:rPr lang="zh-CN" altLang="en-US" sz="2400" b="1" kern="1200" dirty="0">
                    <a:latin typeface="华文楷体" panose="02010600040101010101" charset="-122"/>
                    <a:ea typeface="华文楷体" panose="02010600040101010101" charset="-122"/>
                    <a:cs typeface="华文楷体" panose="02010600040101010101" charset="-122"/>
                    <a:sym typeface="宋体" pitchFamily="2" charset="-122"/>
                  </a:rPr>
                  <a:t>过程</a:t>
                </a:r>
                <a:endParaRPr lang="zh-CN" altLang="en-US" sz="2400" b="1">
                  <a:latin typeface="华文楷体" panose="02010600040101010101" charset="-122"/>
                  <a:ea typeface="华文楷体" panose="02010600040101010101" charset="-122"/>
                  <a:cs typeface="华文楷体" panose="02010600040101010101" charset="-122"/>
                </a:endParaRPr>
              </a:p>
              <a:p>
                <a:pPr lvl="2"/>
                <a:r>
                  <a:rPr lang="zh-CN" altLang="en-US" sz="2400" b="1" kern="1200" dirty="0">
                    <a:latin typeface="华文楷体" panose="02010600040101010101" charset="-122"/>
                    <a:ea typeface="华文楷体" panose="02010600040101010101" charset="-122"/>
                    <a:cs typeface="华文楷体" panose="02010600040101010101" charset="-122"/>
                    <a:sym typeface="宋体" pitchFamily="2" charset="-122"/>
                  </a:rPr>
                  <a:t>同向分量、正交分量也是</a:t>
                </a:r>
                <a:r>
                  <a:rPr lang="zh-CN" altLang="en-US" sz="2400" b="1" kern="1200" dirty="0">
                    <a:solidFill>
                      <a:srgbClr val="003399"/>
                    </a:solidFill>
                    <a:latin typeface="华文楷体" panose="02010600040101010101" charset="-122"/>
                    <a:ea typeface="华文楷体" panose="02010600040101010101" charset="-122"/>
                    <a:cs typeface="华文楷体" panose="02010600040101010101" charset="-122"/>
                    <a:sym typeface="宋体" pitchFamily="2" charset="-122"/>
                  </a:rPr>
                  <a:t>平稳</a:t>
                </a:r>
                <a:r>
                  <a:rPr lang="zh-CN" altLang="en-US" sz="2400" b="1" kern="1200" dirty="0">
                    <a:solidFill>
                      <a:srgbClr val="800080"/>
                    </a:solidFill>
                    <a:latin typeface="华文楷体" panose="02010600040101010101" charset="-122"/>
                    <a:ea typeface="华文楷体" panose="02010600040101010101" charset="-122"/>
                    <a:cs typeface="华文楷体" panose="02010600040101010101" charset="-122"/>
                    <a:sym typeface="宋体" pitchFamily="2" charset="-122"/>
                  </a:rPr>
                  <a:t>高斯</a:t>
                </a:r>
                <a:r>
                  <a:rPr lang="zh-CN" altLang="en-US" sz="2400" b="1" kern="1200" dirty="0">
                    <a:latin typeface="华文楷体" panose="02010600040101010101" charset="-122"/>
                    <a:ea typeface="华文楷体" panose="02010600040101010101" charset="-122"/>
                    <a:cs typeface="华文楷体" panose="02010600040101010101" charset="-122"/>
                    <a:sym typeface="宋体" pitchFamily="2" charset="-122"/>
                  </a:rPr>
                  <a:t>过程。均值为</a:t>
                </a:r>
                <a:r>
                  <a:rPr lang="en-US" altLang="zh-CN" sz="2400" b="1" kern="1200" dirty="0">
                    <a:latin typeface="华文楷体" panose="02010600040101010101" charset="-122"/>
                    <a:ea typeface="华文楷体" panose="02010600040101010101" charset="-122"/>
                    <a:cs typeface="华文楷体" panose="02010600040101010101" charset="-122"/>
                    <a:sym typeface="宋体" pitchFamily="2" charset="-122"/>
                  </a:rPr>
                  <a:t>0</a:t>
                </a:r>
                <a:r>
                  <a:rPr lang="zh-CN" altLang="en-US" sz="2400" b="1" kern="1200" dirty="0">
                    <a:latin typeface="华文楷体" panose="02010600040101010101" charset="-122"/>
                    <a:ea typeface="华文楷体" panose="02010600040101010101" charset="-122"/>
                    <a:cs typeface="华文楷体" panose="02010600040101010101" charset="-122"/>
                    <a:sym typeface="宋体" pitchFamily="2" charset="-122"/>
                  </a:rPr>
                  <a:t>，方差相同，统计独立</a:t>
                </a:r>
                <a:endParaRPr lang="zh-CN" altLang="en-US" sz="2400" b="1" kern="1200" dirty="0">
                  <a:latin typeface="华文楷体" panose="02010600040101010101" charset="-122"/>
                  <a:ea typeface="华文楷体" panose="02010600040101010101" charset="-122"/>
                  <a:cs typeface="华文楷体" panose="02010600040101010101" charset="-122"/>
                  <a:sym typeface="宋体" pitchFamily="2" charset="-122"/>
                </a:endParaRPr>
              </a:p>
              <a:p>
                <a:pPr lvl="2"/>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包络～瑞利分布</a:t>
                </a:r>
                <a:r>
                  <a:rPr lang="zh-CN" altLang="en-US" sz="2400" b="1" kern="1200" dirty="0">
                    <a:latin typeface="华文楷体" panose="02010600040101010101" charset="-122"/>
                    <a:ea typeface="华文楷体" panose="02010600040101010101" charset="-122"/>
                    <a:cs typeface="华文楷体" panose="02010600040101010101" charset="-122"/>
                    <a:sym typeface="宋体" pitchFamily="2" charset="-122"/>
                  </a:rPr>
                  <a:t>；</a:t>
                </a:r>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rPr>
                  <a:t>相位～均匀分布</a:t>
                </a:r>
                <a:endParaRPr lang="zh-CN" altLang="en-US" sz="2400" b="1" kern="1200" dirty="0">
                  <a:latin typeface="华文楷体" panose="02010600040101010101" charset="-122"/>
                  <a:ea typeface="华文楷体" panose="02010600040101010101" charset="-122"/>
                  <a:cs typeface="华文楷体" panose="02010600040101010101" charset="-122"/>
                  <a:sym typeface="宋体" pitchFamily="2" charset="-122"/>
                </a:endParaRPr>
              </a:p>
              <a:p>
                <a:pPr lvl="0"/>
                <a:r>
                  <a:rPr lang="zh-CN" altLang="en-US" sz="2400" b="1" noProof="0" dirty="0">
                    <a:ln>
                      <a:noFill/>
                    </a:ln>
                    <a:solidFill>
                      <a:srgbClr val="000000"/>
                    </a:solidFill>
                    <a:effectLst/>
                    <a:uLnTx/>
                    <a:uFillTx/>
                    <a:latin typeface="华文楷体" panose="02010600040101010101" charset="-122"/>
                    <a:ea typeface="华文楷体" panose="02010600040101010101" charset="-122"/>
                    <a:cs typeface="华文楷体" panose="02010600040101010101" charset="-122"/>
                    <a:sym typeface="+mn-ea"/>
                  </a:rPr>
                  <a:t>正弦波随机过程加窄带高斯噪声</a:t>
                </a:r>
                <a:endParaRPr lang="zh-CN" altLang="en-US" sz="2400" b="1" noProof="0" dirty="0">
                  <a:ln>
                    <a:noFill/>
                  </a:ln>
                  <a:solidFill>
                    <a:srgbClr val="000000"/>
                  </a:solidFill>
                  <a:effectLst/>
                  <a:uLnTx/>
                  <a:uFillTx/>
                  <a:latin typeface="华文楷体" panose="02010600040101010101" charset="-122"/>
                  <a:ea typeface="华文楷体" panose="02010600040101010101" charset="-122"/>
                  <a:cs typeface="华文楷体" panose="02010600040101010101" charset="-122"/>
                  <a:sym typeface="+mn-ea"/>
                </a:endParaRPr>
              </a:p>
              <a:p>
                <a:pPr lvl="1"/>
                <a:r>
                  <a:rPr lang="zh-CN" altLang="en-US" sz="2400" dirty="0">
                    <a:solidFill>
                      <a:srgbClr val="FF0000"/>
                    </a:solidFill>
                    <a:latin typeface="华文楷体" panose="02010600040101010101" charset="-122"/>
                    <a:ea typeface="华文楷体" panose="02010600040101010101" charset="-122"/>
                    <a:cs typeface="华文楷体" panose="02010600040101010101" charset="-122"/>
                    <a:sym typeface="+mn-ea"/>
                  </a:rPr>
                  <a:t>包络 </a:t>
                </a:r>
                <a:r>
                  <a:rPr lang="en-US" altLang="zh-CN" sz="2400" b="1" dirty="0">
                    <a:solidFill>
                      <a:srgbClr val="000000"/>
                    </a:solidFill>
                    <a:latin typeface="华文楷体" panose="02010600040101010101" charset="-122"/>
                    <a:ea typeface="华文楷体" panose="02010600040101010101" charset="-122"/>
                    <a:cs typeface="华文楷体" panose="02010600040101010101" charset="-122"/>
                    <a:sym typeface="+mn-ea"/>
                  </a:rPr>
                  <a:t>~</a:t>
                </a:r>
                <a:r>
                  <a:rPr lang="en-US" altLang="zh-CN" sz="2400" b="1" dirty="0">
                    <a:solidFill>
                      <a:srgbClr val="FF0000"/>
                    </a:solidFill>
                    <a:latin typeface="华文楷体" panose="02010600040101010101" charset="-122"/>
                    <a:ea typeface="华文楷体" panose="02010600040101010101" charset="-122"/>
                    <a:cs typeface="华文楷体" panose="02010600040101010101" charset="-122"/>
                    <a:sym typeface="+mn-ea"/>
                  </a:rPr>
                  <a:t> </a:t>
                </a:r>
                <a:r>
                  <a:rPr lang="zh-CN" altLang="en-US" sz="2400" b="1" dirty="0">
                    <a:solidFill>
                      <a:srgbClr val="FF0000"/>
                    </a:solidFill>
                    <a:latin typeface="华文楷体" panose="02010600040101010101" charset="-122"/>
                    <a:ea typeface="华文楷体" panose="02010600040101010101" charset="-122"/>
                    <a:cs typeface="华文楷体" panose="02010600040101010101" charset="-122"/>
                    <a:sym typeface="+mn-ea"/>
                  </a:rPr>
                  <a:t>广义</a:t>
                </a:r>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sym typeface="+mn-ea"/>
                  </a:rPr>
                  <a:t>瑞利分布，又称</a:t>
                </a:r>
                <a:r>
                  <a:rPr lang="zh-CN" altLang="en-US" sz="2400" b="1" dirty="0">
                    <a:solidFill>
                      <a:srgbClr val="FF0000"/>
                    </a:solidFill>
                    <a:latin typeface="华文楷体" panose="02010600040101010101" charset="-122"/>
                    <a:ea typeface="华文楷体" panose="02010600040101010101" charset="-122"/>
                    <a:cs typeface="华文楷体" panose="02010600040101010101" charset="-122"/>
                    <a:sym typeface="+mn-ea"/>
                  </a:rPr>
                  <a:t>莱斯</a:t>
                </a:r>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sym typeface="+mn-ea"/>
                  </a:rPr>
                  <a:t>（</a:t>
                </a:r>
                <a:r>
                  <a:rPr lang="en-US" altLang="zh-CN" sz="2400" b="1" dirty="0">
                    <a:solidFill>
                      <a:srgbClr val="000000"/>
                    </a:solidFill>
                    <a:latin typeface="华文楷体" panose="02010600040101010101" charset="-122"/>
                    <a:ea typeface="华文楷体" panose="02010600040101010101" charset="-122"/>
                    <a:cs typeface="华文楷体" panose="02010600040101010101" charset="-122"/>
                    <a:sym typeface="+mn-ea"/>
                  </a:rPr>
                  <a:t>Rice</a:t>
                </a:r>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sym typeface="+mn-ea"/>
                  </a:rPr>
                  <a:t>）分布</a:t>
                </a:r>
                <a:endParaRPr lang="zh-CN" altLang="en-US" sz="2400" b="1">
                  <a:latin typeface="华文楷体" panose="02010600040101010101" charset="-122"/>
                  <a:ea typeface="华文楷体" panose="02010600040101010101" charset="-122"/>
                  <a:cs typeface="华文楷体" panose="02010600040101010101" charset="-122"/>
                </a:endParaRPr>
              </a:p>
            </p:txBody>
          </p:sp>
        </mc:Choice>
        <mc:Fallback>
          <p:sp>
            <p:nvSpPr>
              <p:cNvPr id="2" name="内容占位符 1"/>
              <p:cNvSpPr>
                <a:spLocks noRot="1" noChangeAspect="1" noMove="1" noResize="1" noEditPoints="1" noAdjustHandles="1" noChangeArrowheads="1" noChangeShapeType="1" noTextEdit="1"/>
              </p:cNvSpPr>
              <p:nvPr>
                <p:ph idx="1"/>
                <p:custDataLst>
                  <p:tags r:id="rId3"/>
                </p:custDataLst>
              </p:nvPr>
            </p:nvSpPr>
            <p:spPr>
              <a:xfrm>
                <a:off x="608330" y="836930"/>
                <a:ext cx="11372215" cy="775970"/>
              </a:xfrm>
              <a:blipFill rotWithShape="1">
                <a:blip r:embed="rId4"/>
                <a:stretch>
                  <a:fillRect b="-624059"/>
                </a:stretch>
              </a:blipFill>
            </p:spPr>
            <p:txBody>
              <a:bodyPr/>
              <a:lstStyle/>
              <a:p>
                <a:r>
                  <a:rPr lang="zh-CN" altLang="en-US">
                    <a:noFill/>
                  </a:rPr>
                  <a:t> </a:t>
                </a:r>
              </a:p>
            </p:txBody>
          </p:sp>
        </mc:Fallback>
      </mc:AlternateContent>
      <p:pic>
        <p:nvPicPr>
          <p:cNvPr id="35850" name="Object 14"/>
          <p:cNvPicPr>
            <a:picLocks noChangeAspect="1"/>
          </p:cNvPicPr>
          <p:nvPr>
            <p:custDataLst>
              <p:tags r:id="rId5"/>
            </p:custDataLst>
          </p:nvPr>
        </p:nvPicPr>
        <p:blipFill>
          <a:blip r:embed="rId6"/>
          <a:stretch>
            <a:fillRect/>
          </a:stretch>
        </p:blipFill>
        <p:spPr>
          <a:xfrm>
            <a:off x="2135505" y="6165215"/>
            <a:ext cx="3405505" cy="475615"/>
          </a:xfrm>
          <a:prstGeom prst="rect">
            <a:avLst/>
          </a:prstGeom>
          <a:solidFill>
            <a:srgbClr val="BBE0E3"/>
          </a:solidFill>
          <a:ln w="9525" cap="flat" cmpd="sng">
            <a:solidFill>
              <a:srgbClr val="000000"/>
            </a:solidFill>
            <a:prstDash val="solid"/>
            <a:miter/>
            <a:headEnd type="none" w="med" len="med"/>
            <a:tailEnd type="none" w="med" len="med"/>
          </a:ln>
        </p:spPr>
      </p:pic>
      <p:pic>
        <p:nvPicPr>
          <p:cNvPr id="35846" name="Object 10"/>
          <p:cNvPicPr>
            <a:picLocks noChangeAspect="1"/>
          </p:cNvPicPr>
          <p:nvPr>
            <p:custDataLst>
              <p:tags r:id="rId7"/>
            </p:custDataLst>
          </p:nvPr>
        </p:nvPicPr>
        <p:blipFill>
          <a:blip r:embed="rId8"/>
          <a:stretch>
            <a:fillRect/>
          </a:stretch>
        </p:blipFill>
        <p:spPr>
          <a:xfrm>
            <a:off x="5541010" y="6165215"/>
            <a:ext cx="2890520" cy="480695"/>
          </a:xfrm>
          <a:prstGeom prst="rect">
            <a:avLst/>
          </a:prstGeom>
          <a:solidFill>
            <a:srgbClr val="BBE0E3"/>
          </a:solidFill>
          <a:ln w="9525" cap="flat" cmpd="sng">
            <a:solidFill>
              <a:srgbClr val="000000"/>
            </a:solidFill>
            <a:prstDash val="solid"/>
            <a:miter/>
            <a:headEnd type="none" w="med" len="med"/>
            <a:tailEnd type="none" w="med" len="me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548536"/>
            <a:ext cx="10972800" cy="1143000"/>
          </a:xfrm>
        </p:spPr>
        <p:txBody>
          <a:bodyPr/>
          <a:p>
            <a:r>
              <a:rPr lang="zh-CN" altLang="en-US">
                <a:latin typeface="华文楷体" panose="02010600040101010101" charset="-122"/>
                <a:ea typeface="华文楷体" panose="02010600040101010101" charset="-122"/>
              </a:rPr>
              <a:t>第三章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模拟信号的数字化</a:t>
            </a:r>
            <a:r>
              <a:rPr lang="zh-CN" altLang="en-US">
                <a:latin typeface="华文楷体" panose="02010600040101010101" charset="-122"/>
                <a:ea typeface="华文楷体" panose="02010600040101010101" charset="-122"/>
              </a:rPr>
              <a:t>传输</a:t>
            </a:r>
            <a:endParaRPr lang="zh-CN" altLang="en-US">
              <a:latin typeface="华文楷体" panose="02010600040101010101" charset="-122"/>
              <a:ea typeface="华文楷体" panose="02010600040101010101" charset="-122"/>
            </a:endParaRPr>
          </a:p>
        </p:txBody>
      </p:sp>
      <p:sp>
        <p:nvSpPr>
          <p:cNvPr id="4" name="内容占位符 3"/>
          <p:cNvSpPr>
            <a:spLocks noGrp="1"/>
          </p:cNvSpPr>
          <p:nvPr>
            <p:ph idx="1"/>
            <p:custDataLst>
              <p:tags r:id="rId3"/>
            </p:custDataLst>
          </p:nvPr>
        </p:nvSpPr>
        <p:spPr>
          <a:xfrm>
            <a:off x="624205" y="1627505"/>
            <a:ext cx="10972800" cy="4526280"/>
          </a:xfrm>
        </p:spPr>
        <p:txBody>
          <a:bodyPr/>
          <a:p>
            <a:r>
              <a:rPr lang="zh-CN" altLang="en-US" sz="2800">
                <a:latin typeface="华文楷体" panose="02010600040101010101" charset="-122"/>
                <a:ea typeface="华文楷体" panose="02010600040101010101" charset="-122"/>
              </a:rPr>
              <a:t>识记——重要基本概念（模拟信号的数字传输系统、理想抽样、自然抽样、平顶抽样、均匀量化和非均匀量化的定义及其信噪比、A压缩率、μ压缩率、A率13折线、μ率15折线、PCM信号的码元速率和带宽、时分复用、频分复用、PCM基群帧结构的参数）。</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理解——三种抽样过程中的频谱分析、均匀和非均匀量化过程中的信噪比分析、PCM系统的噪声性能分析。</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分析——低通和带通模拟信号的抽样。</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分析——均匀量化的信噪比，例1。</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计算——A率13折线，包含8位编码输出、编码量化误差、编码量化电平对应的11位线性码、译码量化电平、译码后的量化误差、译码时的12位线性码，例2。</a:t>
            </a:r>
            <a:endParaRPr lang="zh-CN" altLang="en-US" sz="2800">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333271"/>
            <a:ext cx="10972800" cy="1143000"/>
          </a:xfrm>
        </p:spPr>
        <p:txBody>
          <a:bodyPr/>
          <a:p>
            <a:r>
              <a:rPr lang="zh-CN" altLang="en-US">
                <a:latin typeface="华文楷体" panose="02010600040101010101" charset="-122"/>
                <a:ea typeface="华文楷体" panose="02010600040101010101" charset="-122"/>
              </a:rPr>
              <a:t>第三章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模拟信号的数字化</a:t>
            </a:r>
            <a:r>
              <a:rPr lang="zh-CN" altLang="en-US">
                <a:latin typeface="华文楷体" panose="02010600040101010101" charset="-122"/>
                <a:ea typeface="华文楷体" panose="02010600040101010101" charset="-122"/>
              </a:rPr>
              <a:t>传输</a:t>
            </a:r>
            <a:endParaRPr lang="zh-CN" altLang="en-US">
              <a:latin typeface="华文楷体" panose="02010600040101010101" charset="-122"/>
              <a:ea typeface="华文楷体" panose="02010600040101010101" charset="-122"/>
            </a:endParaRPr>
          </a:p>
        </p:txBody>
      </p:sp>
      <p:sp>
        <p:nvSpPr>
          <p:cNvPr id="5" name="矩形 4"/>
          <p:cNvSpPr/>
          <p:nvPr>
            <p:custDataLst>
              <p:tags r:id="rId3"/>
            </p:custDataLst>
          </p:nvPr>
        </p:nvSpPr>
        <p:spPr>
          <a:xfrm>
            <a:off x="983615" y="2275840"/>
            <a:ext cx="1035050"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抽样</a:t>
            </a:r>
            <a:endParaRPr lang="zh-CN" altLang="en-US">
              <a:latin typeface="华文楷体" panose="02010600040101010101" charset="-122"/>
              <a:ea typeface="华文楷体" panose="02010600040101010101" charset="-122"/>
            </a:endParaRPr>
          </a:p>
        </p:txBody>
      </p:sp>
      <p:sp>
        <p:nvSpPr>
          <p:cNvPr id="6" name="矩形 5"/>
          <p:cNvSpPr/>
          <p:nvPr>
            <p:custDataLst>
              <p:tags r:id="rId4"/>
            </p:custDataLst>
          </p:nvPr>
        </p:nvSpPr>
        <p:spPr>
          <a:xfrm>
            <a:off x="983615" y="4359910"/>
            <a:ext cx="1035050"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量化</a:t>
            </a:r>
            <a:endParaRPr lang="zh-CN" altLang="en-US">
              <a:latin typeface="华文楷体" panose="02010600040101010101" charset="-122"/>
              <a:ea typeface="华文楷体" panose="02010600040101010101" charset="-122"/>
            </a:endParaRPr>
          </a:p>
        </p:txBody>
      </p:sp>
      <p:sp>
        <p:nvSpPr>
          <p:cNvPr id="7" name="矩形 6"/>
          <p:cNvSpPr/>
          <p:nvPr>
            <p:custDataLst>
              <p:tags r:id="rId5"/>
            </p:custDataLst>
          </p:nvPr>
        </p:nvSpPr>
        <p:spPr>
          <a:xfrm>
            <a:off x="839470" y="1483360"/>
            <a:ext cx="130873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模拟信号</a:t>
            </a:r>
            <a:endParaRPr lang="zh-CN" altLang="en-US">
              <a:latin typeface="华文楷体" panose="02010600040101010101" charset="-122"/>
              <a:ea typeface="华文楷体" panose="02010600040101010101" charset="-122"/>
            </a:endParaRPr>
          </a:p>
        </p:txBody>
      </p:sp>
      <p:sp>
        <p:nvSpPr>
          <p:cNvPr id="8" name="矩形 7"/>
          <p:cNvSpPr/>
          <p:nvPr>
            <p:custDataLst>
              <p:tags r:id="rId6"/>
            </p:custDataLst>
          </p:nvPr>
        </p:nvSpPr>
        <p:spPr>
          <a:xfrm>
            <a:off x="839470" y="6376035"/>
            <a:ext cx="1309370"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数字信号</a:t>
            </a:r>
            <a:endParaRPr lang="zh-CN" altLang="en-US">
              <a:latin typeface="华文楷体" panose="02010600040101010101" charset="-122"/>
              <a:ea typeface="华文楷体" panose="02010600040101010101" charset="-122"/>
            </a:endParaRPr>
          </a:p>
        </p:txBody>
      </p:sp>
      <p:sp>
        <p:nvSpPr>
          <p:cNvPr id="9" name="矩形 8"/>
          <p:cNvSpPr/>
          <p:nvPr>
            <p:custDataLst>
              <p:tags r:id="rId7"/>
            </p:custDataLst>
          </p:nvPr>
        </p:nvSpPr>
        <p:spPr>
          <a:xfrm>
            <a:off x="983615" y="5726430"/>
            <a:ext cx="1035050"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编码</a:t>
            </a:r>
            <a:endParaRPr lang="zh-CN" altLang="en-US">
              <a:latin typeface="华文楷体" panose="02010600040101010101" charset="-122"/>
              <a:ea typeface="华文楷体" panose="02010600040101010101" charset="-122"/>
            </a:endParaRPr>
          </a:p>
        </p:txBody>
      </p:sp>
      <p:cxnSp>
        <p:nvCxnSpPr>
          <p:cNvPr id="10" name="直接箭头连接符 9"/>
          <p:cNvCxnSpPr>
            <a:stCxn id="7" idx="2"/>
            <a:endCxn id="5" idx="0"/>
          </p:cNvCxnSpPr>
          <p:nvPr>
            <p:custDataLst>
              <p:tags r:id="rId8"/>
            </p:custDataLst>
          </p:nvPr>
        </p:nvCxnSpPr>
        <p:spPr>
          <a:xfrm>
            <a:off x="1494155" y="1885315"/>
            <a:ext cx="6985" cy="3905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stCxn id="5" idx="2"/>
            <a:endCxn id="6" idx="0"/>
          </p:cNvCxnSpPr>
          <p:nvPr>
            <p:custDataLst>
              <p:tags r:id="rId9"/>
            </p:custDataLst>
          </p:nvPr>
        </p:nvCxnSpPr>
        <p:spPr>
          <a:xfrm>
            <a:off x="1501140" y="2677795"/>
            <a:ext cx="0" cy="16821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6" idx="2"/>
            <a:endCxn id="9" idx="0"/>
          </p:cNvCxnSpPr>
          <p:nvPr>
            <p:custDataLst>
              <p:tags r:id="rId10"/>
            </p:custDataLst>
          </p:nvPr>
        </p:nvCxnSpPr>
        <p:spPr>
          <a:xfrm>
            <a:off x="1501140" y="4761865"/>
            <a:ext cx="0" cy="9645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a:stCxn id="9" idx="2"/>
            <a:endCxn id="8" idx="0"/>
          </p:cNvCxnSpPr>
          <p:nvPr>
            <p:custDataLst>
              <p:tags r:id="rId11"/>
            </p:custDataLst>
          </p:nvPr>
        </p:nvCxnSpPr>
        <p:spPr>
          <a:xfrm flipH="1">
            <a:off x="1494155" y="6128385"/>
            <a:ext cx="6985" cy="2476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4" name="矩形 13"/>
          <p:cNvSpPr/>
          <p:nvPr>
            <p:custDataLst>
              <p:tags r:id="rId12"/>
            </p:custDataLst>
          </p:nvPr>
        </p:nvSpPr>
        <p:spPr>
          <a:xfrm>
            <a:off x="2352040" y="2275840"/>
            <a:ext cx="1409065" cy="40195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抽样</a:t>
            </a:r>
            <a:r>
              <a:rPr lang="zh-CN" altLang="en-US">
                <a:latin typeface="华文楷体" panose="02010600040101010101" charset="-122"/>
                <a:ea typeface="华文楷体" panose="02010600040101010101" charset="-122"/>
              </a:rPr>
              <a:t>定理</a:t>
            </a:r>
            <a:endParaRPr lang="zh-CN" altLang="en-US">
              <a:latin typeface="华文楷体" panose="02010600040101010101" charset="-122"/>
              <a:ea typeface="华文楷体" panose="02010600040101010101" charset="-122"/>
            </a:endParaRPr>
          </a:p>
        </p:txBody>
      </p:sp>
      <p:sp>
        <p:nvSpPr>
          <p:cNvPr id="15" name="矩形 14"/>
          <p:cNvSpPr/>
          <p:nvPr>
            <p:custDataLst>
              <p:tags r:id="rId13"/>
            </p:custDataLst>
          </p:nvPr>
        </p:nvSpPr>
        <p:spPr>
          <a:xfrm>
            <a:off x="4007485" y="1987550"/>
            <a:ext cx="847090"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低通</a:t>
            </a:r>
            <a:endParaRPr lang="zh-CN" altLang="en-US">
              <a:solidFill>
                <a:srgbClr val="C00000"/>
              </a:solidFill>
              <a:latin typeface="华文楷体" panose="02010600040101010101" charset="-122"/>
              <a:ea typeface="华文楷体" panose="02010600040101010101" charset="-122"/>
            </a:endParaRPr>
          </a:p>
        </p:txBody>
      </p:sp>
      <p:sp>
        <p:nvSpPr>
          <p:cNvPr id="16" name="矩形 15"/>
          <p:cNvSpPr/>
          <p:nvPr>
            <p:custDataLst>
              <p:tags r:id="rId14"/>
            </p:custDataLst>
          </p:nvPr>
        </p:nvSpPr>
        <p:spPr>
          <a:xfrm>
            <a:off x="4007485" y="2707640"/>
            <a:ext cx="847090"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带通</a:t>
            </a:r>
            <a:endParaRPr lang="zh-CN" altLang="en-US">
              <a:solidFill>
                <a:srgbClr val="C00000"/>
              </a:solidFill>
              <a:latin typeface="华文楷体" panose="02010600040101010101" charset="-122"/>
              <a:ea typeface="华文楷体" panose="02010600040101010101" charset="-122"/>
            </a:endParaRPr>
          </a:p>
        </p:txBody>
      </p:sp>
      <p:sp>
        <p:nvSpPr>
          <p:cNvPr id="17" name="左大括号 16"/>
          <p:cNvSpPr/>
          <p:nvPr>
            <p:custDataLst>
              <p:tags r:id="rId15"/>
            </p:custDataLst>
          </p:nvPr>
        </p:nvSpPr>
        <p:spPr>
          <a:xfrm>
            <a:off x="3860165" y="2131695"/>
            <a:ext cx="75565" cy="79248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华文楷体" panose="02010600040101010101" charset="-122"/>
              <a:ea typeface="华文楷体" panose="02010600040101010101" charset="-122"/>
            </a:endParaRPr>
          </a:p>
        </p:txBody>
      </p:sp>
      <p:sp>
        <p:nvSpPr>
          <p:cNvPr id="19" name="矩形 18"/>
          <p:cNvSpPr/>
          <p:nvPr>
            <p:custDataLst>
              <p:tags r:id="rId16"/>
            </p:custDataLst>
          </p:nvPr>
        </p:nvSpPr>
        <p:spPr>
          <a:xfrm>
            <a:off x="5707380" y="2305685"/>
            <a:ext cx="847090"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分类</a:t>
            </a:r>
            <a:endParaRPr lang="zh-CN" altLang="en-US">
              <a:latin typeface="华文楷体" panose="02010600040101010101" charset="-122"/>
              <a:ea typeface="华文楷体" panose="02010600040101010101" charset="-122"/>
            </a:endParaRPr>
          </a:p>
        </p:txBody>
      </p:sp>
      <p:sp>
        <p:nvSpPr>
          <p:cNvPr id="20" name="矩形 19"/>
          <p:cNvSpPr/>
          <p:nvPr>
            <p:custDataLst>
              <p:tags r:id="rId17"/>
            </p:custDataLst>
          </p:nvPr>
        </p:nvSpPr>
        <p:spPr>
          <a:xfrm>
            <a:off x="6816090" y="1987550"/>
            <a:ext cx="1341755" cy="40195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理想</a:t>
            </a:r>
            <a:r>
              <a:rPr lang="zh-CN" altLang="en-US">
                <a:latin typeface="华文楷体" panose="02010600040101010101" charset="-122"/>
                <a:ea typeface="华文楷体" panose="02010600040101010101" charset="-122"/>
              </a:rPr>
              <a:t>抽样</a:t>
            </a:r>
            <a:endParaRPr lang="zh-CN" altLang="en-US">
              <a:latin typeface="华文楷体" panose="02010600040101010101" charset="-122"/>
              <a:ea typeface="华文楷体" panose="02010600040101010101" charset="-122"/>
            </a:endParaRPr>
          </a:p>
        </p:txBody>
      </p:sp>
      <p:sp>
        <p:nvSpPr>
          <p:cNvPr id="21" name="矩形 20"/>
          <p:cNvSpPr/>
          <p:nvPr>
            <p:custDataLst>
              <p:tags r:id="rId18"/>
            </p:custDataLst>
          </p:nvPr>
        </p:nvSpPr>
        <p:spPr>
          <a:xfrm>
            <a:off x="6816090" y="2635885"/>
            <a:ext cx="134175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实际抽样</a:t>
            </a:r>
            <a:endParaRPr lang="zh-CN" altLang="en-US">
              <a:latin typeface="华文楷体" panose="02010600040101010101" charset="-122"/>
              <a:ea typeface="华文楷体" panose="02010600040101010101" charset="-122"/>
            </a:endParaRPr>
          </a:p>
        </p:txBody>
      </p:sp>
      <p:sp>
        <p:nvSpPr>
          <p:cNvPr id="22" name="左大括号 21"/>
          <p:cNvSpPr/>
          <p:nvPr>
            <p:custDataLst>
              <p:tags r:id="rId19"/>
            </p:custDataLst>
          </p:nvPr>
        </p:nvSpPr>
        <p:spPr>
          <a:xfrm>
            <a:off x="6647180" y="2131695"/>
            <a:ext cx="75565" cy="79248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华文楷体" panose="02010600040101010101" charset="-122"/>
              <a:ea typeface="华文楷体" panose="02010600040101010101" charset="-122"/>
            </a:endParaRPr>
          </a:p>
        </p:txBody>
      </p:sp>
      <p:sp>
        <p:nvSpPr>
          <p:cNvPr id="23" name="矩形 22"/>
          <p:cNvSpPr/>
          <p:nvPr>
            <p:custDataLst>
              <p:tags r:id="rId20"/>
            </p:custDataLst>
          </p:nvPr>
        </p:nvSpPr>
        <p:spPr>
          <a:xfrm>
            <a:off x="4295775" y="1409065"/>
            <a:ext cx="390969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sz="1800">
                <a:solidFill>
                  <a:schemeClr val="tx1"/>
                </a:solidFill>
                <a:latin typeface="华文楷体" panose="02010600040101010101" charset="-122"/>
                <a:ea typeface="华文楷体" panose="02010600040101010101" charset="-122"/>
              </a:rPr>
              <a:t>抽样信号的生成与原始信号的恢复</a:t>
            </a:r>
            <a:endParaRPr lang="zh-CN" altLang="en-US" sz="1800">
              <a:solidFill>
                <a:schemeClr val="tx1"/>
              </a:solidFill>
              <a:latin typeface="华文楷体" panose="02010600040101010101" charset="-122"/>
              <a:ea typeface="华文楷体" panose="02010600040101010101" charset="-122"/>
            </a:endParaRPr>
          </a:p>
        </p:txBody>
      </p:sp>
      <p:sp>
        <p:nvSpPr>
          <p:cNvPr id="24" name="矩形 23"/>
          <p:cNvSpPr/>
          <p:nvPr>
            <p:custDataLst>
              <p:tags r:id="rId21"/>
            </p:custDataLst>
          </p:nvPr>
        </p:nvSpPr>
        <p:spPr>
          <a:xfrm>
            <a:off x="8472805" y="2347595"/>
            <a:ext cx="134175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自然抽样</a:t>
            </a:r>
            <a:endParaRPr lang="zh-CN" altLang="en-US">
              <a:latin typeface="华文楷体" panose="02010600040101010101" charset="-122"/>
              <a:ea typeface="华文楷体" panose="02010600040101010101" charset="-122"/>
            </a:endParaRPr>
          </a:p>
        </p:txBody>
      </p:sp>
      <p:sp>
        <p:nvSpPr>
          <p:cNvPr id="25" name="矩形 24"/>
          <p:cNvSpPr/>
          <p:nvPr>
            <p:custDataLst>
              <p:tags r:id="rId22"/>
            </p:custDataLst>
          </p:nvPr>
        </p:nvSpPr>
        <p:spPr>
          <a:xfrm>
            <a:off x="8472805" y="2995930"/>
            <a:ext cx="134175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平顶抽样</a:t>
            </a:r>
            <a:endParaRPr lang="zh-CN" altLang="en-US">
              <a:latin typeface="华文楷体" panose="02010600040101010101" charset="-122"/>
              <a:ea typeface="华文楷体" panose="02010600040101010101" charset="-122"/>
            </a:endParaRPr>
          </a:p>
        </p:txBody>
      </p:sp>
      <p:sp>
        <p:nvSpPr>
          <p:cNvPr id="26" name="左大括号 25"/>
          <p:cNvSpPr/>
          <p:nvPr>
            <p:custDataLst>
              <p:tags r:id="rId23"/>
            </p:custDataLst>
          </p:nvPr>
        </p:nvSpPr>
        <p:spPr>
          <a:xfrm>
            <a:off x="8303895" y="2491740"/>
            <a:ext cx="75565" cy="79248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华文楷体" panose="02010600040101010101" charset="-122"/>
              <a:ea typeface="华文楷体" panose="02010600040101010101" charset="-122"/>
            </a:endParaRPr>
          </a:p>
        </p:txBody>
      </p:sp>
      <p:cxnSp>
        <p:nvCxnSpPr>
          <p:cNvPr id="27" name="直接箭头连接符 26"/>
          <p:cNvCxnSpPr/>
          <p:nvPr>
            <p:custDataLst>
              <p:tags r:id="rId24"/>
            </p:custDataLst>
          </p:nvPr>
        </p:nvCxnSpPr>
        <p:spPr>
          <a:xfrm flipH="1">
            <a:off x="3575685" y="1740535"/>
            <a:ext cx="635000" cy="46291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28" name="直接箭头连接符 27"/>
          <p:cNvCxnSpPr>
            <a:endCxn id="24" idx="0"/>
          </p:cNvCxnSpPr>
          <p:nvPr>
            <p:custDataLst>
              <p:tags r:id="rId25"/>
            </p:custDataLst>
          </p:nvPr>
        </p:nvCxnSpPr>
        <p:spPr>
          <a:xfrm>
            <a:off x="8183880" y="1843405"/>
            <a:ext cx="960120" cy="504190"/>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29" name="直接箭头连接符 28"/>
          <p:cNvCxnSpPr/>
          <p:nvPr>
            <p:custDataLst>
              <p:tags r:id="rId26"/>
            </p:custDataLst>
          </p:nvPr>
        </p:nvCxnSpPr>
        <p:spPr>
          <a:xfrm>
            <a:off x="8184515" y="1843405"/>
            <a:ext cx="575945" cy="108013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sp>
        <p:nvSpPr>
          <p:cNvPr id="18" name="矩形 17"/>
          <p:cNvSpPr/>
          <p:nvPr>
            <p:custDataLst>
              <p:tags r:id="rId27"/>
            </p:custDataLst>
          </p:nvPr>
        </p:nvSpPr>
        <p:spPr>
          <a:xfrm>
            <a:off x="2279015" y="3788410"/>
            <a:ext cx="134175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均匀</a:t>
            </a:r>
            <a:r>
              <a:rPr lang="zh-CN" altLang="en-US">
                <a:latin typeface="华文楷体" panose="02010600040101010101" charset="-122"/>
                <a:ea typeface="华文楷体" panose="02010600040101010101" charset="-122"/>
              </a:rPr>
              <a:t>量化</a:t>
            </a:r>
            <a:endParaRPr lang="zh-CN" altLang="en-US">
              <a:latin typeface="华文楷体" panose="02010600040101010101" charset="-122"/>
              <a:ea typeface="华文楷体" panose="02010600040101010101" charset="-122"/>
            </a:endParaRPr>
          </a:p>
        </p:txBody>
      </p:sp>
      <p:sp>
        <p:nvSpPr>
          <p:cNvPr id="30" name="矩形 29"/>
          <p:cNvSpPr/>
          <p:nvPr>
            <p:custDataLst>
              <p:tags r:id="rId28"/>
            </p:custDataLst>
          </p:nvPr>
        </p:nvSpPr>
        <p:spPr>
          <a:xfrm>
            <a:off x="2279015" y="4652010"/>
            <a:ext cx="134175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非均匀</a:t>
            </a:r>
            <a:r>
              <a:rPr lang="zh-CN" altLang="en-US">
                <a:latin typeface="华文楷体" panose="02010600040101010101" charset="-122"/>
                <a:ea typeface="华文楷体" panose="02010600040101010101" charset="-122"/>
              </a:rPr>
              <a:t>量化</a:t>
            </a:r>
            <a:endParaRPr lang="zh-CN" altLang="en-US">
              <a:latin typeface="华文楷体" panose="02010600040101010101" charset="-122"/>
              <a:ea typeface="华文楷体" panose="02010600040101010101" charset="-122"/>
            </a:endParaRPr>
          </a:p>
        </p:txBody>
      </p:sp>
      <p:sp>
        <p:nvSpPr>
          <p:cNvPr id="31" name="左大括号 30"/>
          <p:cNvSpPr/>
          <p:nvPr>
            <p:custDataLst>
              <p:tags r:id="rId29"/>
            </p:custDataLst>
          </p:nvPr>
        </p:nvSpPr>
        <p:spPr>
          <a:xfrm>
            <a:off x="2110105" y="3946525"/>
            <a:ext cx="76200" cy="993775"/>
          </a:xfrm>
          <a:prstGeom prst="leftBrace">
            <a:avLst>
              <a:gd name="adj1" fmla="val 0"/>
              <a:gd name="adj2" fmla="val 50000"/>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华文楷体" panose="02010600040101010101" charset="-122"/>
              <a:ea typeface="华文楷体" panose="02010600040101010101" charset="-122"/>
            </a:endParaRPr>
          </a:p>
        </p:txBody>
      </p:sp>
      <p:sp>
        <p:nvSpPr>
          <p:cNvPr id="32" name="矩形 31"/>
          <p:cNvSpPr/>
          <p:nvPr>
            <p:custDataLst>
              <p:tags r:id="rId30"/>
            </p:custDataLst>
          </p:nvPr>
        </p:nvSpPr>
        <p:spPr>
          <a:xfrm>
            <a:off x="3761105" y="3440430"/>
            <a:ext cx="134175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量化</a:t>
            </a:r>
            <a:r>
              <a:rPr lang="zh-CN" altLang="en-US">
                <a:latin typeface="华文楷体" panose="02010600040101010101" charset="-122"/>
                <a:ea typeface="华文楷体" panose="02010600040101010101" charset="-122"/>
              </a:rPr>
              <a:t>噪声</a:t>
            </a:r>
            <a:endParaRPr lang="zh-CN" altLang="en-US">
              <a:latin typeface="华文楷体" panose="02010600040101010101" charset="-122"/>
              <a:ea typeface="华文楷体" panose="02010600040101010101" charset="-122"/>
            </a:endParaRPr>
          </a:p>
        </p:txBody>
      </p:sp>
      <p:cxnSp>
        <p:nvCxnSpPr>
          <p:cNvPr id="33" name="肘形连接符 32"/>
          <p:cNvCxnSpPr>
            <a:stCxn id="32" idx="2"/>
            <a:endCxn id="18" idx="3"/>
          </p:cNvCxnSpPr>
          <p:nvPr>
            <p:custDataLst>
              <p:tags r:id="rId31"/>
            </p:custDataLst>
          </p:nvPr>
        </p:nvCxnSpPr>
        <p:spPr>
          <a:xfrm rot="5400000">
            <a:off x="3952875" y="3510280"/>
            <a:ext cx="147320" cy="81153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34" name="肘形连接符 33"/>
          <p:cNvCxnSpPr>
            <a:endCxn id="30" idx="3"/>
          </p:cNvCxnSpPr>
          <p:nvPr>
            <p:custDataLst>
              <p:tags r:id="rId32"/>
            </p:custDataLst>
          </p:nvPr>
        </p:nvCxnSpPr>
        <p:spPr>
          <a:xfrm rot="5400000">
            <a:off x="3533140" y="3946525"/>
            <a:ext cx="993775" cy="81851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35" name="矩形 34"/>
          <p:cNvSpPr/>
          <p:nvPr>
            <p:custDataLst>
              <p:tags r:id="rId33"/>
            </p:custDataLst>
          </p:nvPr>
        </p:nvSpPr>
        <p:spPr>
          <a:xfrm>
            <a:off x="4727575" y="4358640"/>
            <a:ext cx="134175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en-US" altLang="zh-CN">
                <a:latin typeface="华文楷体" panose="02010600040101010101" charset="-122"/>
                <a:ea typeface="华文楷体" panose="02010600040101010101" charset="-122"/>
                <a:cs typeface="华文楷体" panose="02010600040101010101" charset="-122"/>
              </a:rPr>
              <a:t>A</a:t>
            </a:r>
            <a:r>
              <a:rPr lang="zh-CN" altLang="en-US">
                <a:latin typeface="华文楷体" panose="02010600040101010101" charset="-122"/>
                <a:ea typeface="华文楷体" panose="02010600040101010101" charset="-122"/>
                <a:cs typeface="华文楷体" panose="02010600040101010101" charset="-122"/>
              </a:rPr>
              <a:t>律压缩</a:t>
            </a:r>
            <a:endParaRPr lang="zh-CN" altLang="en-US">
              <a:latin typeface="华文楷体" panose="02010600040101010101" charset="-122"/>
              <a:ea typeface="华文楷体" panose="02010600040101010101" charset="-122"/>
              <a:cs typeface="华文楷体" panose="02010600040101010101" charset="-122"/>
            </a:endParaRPr>
          </a:p>
        </p:txBody>
      </p:sp>
      <p:sp>
        <p:nvSpPr>
          <p:cNvPr id="36" name="矩形 35"/>
          <p:cNvSpPr/>
          <p:nvPr>
            <p:custDataLst>
              <p:tags r:id="rId34"/>
            </p:custDataLst>
          </p:nvPr>
        </p:nvSpPr>
        <p:spPr>
          <a:xfrm>
            <a:off x="4727575" y="5006975"/>
            <a:ext cx="134175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cs typeface="华文楷体" panose="02010600040101010101" charset="-122"/>
                <a:sym typeface="+mn-ea"/>
              </a:rPr>
              <a:t>μ律压缩</a:t>
            </a:r>
            <a:endParaRPr lang="zh-CN" altLang="en-US">
              <a:latin typeface="华文楷体" panose="02010600040101010101" charset="-122"/>
              <a:ea typeface="华文楷体" panose="02010600040101010101" charset="-122"/>
              <a:cs typeface="华文楷体" panose="02010600040101010101" charset="-122"/>
            </a:endParaRPr>
          </a:p>
        </p:txBody>
      </p:sp>
      <p:sp>
        <p:nvSpPr>
          <p:cNvPr id="37" name="左大括号 36"/>
          <p:cNvSpPr/>
          <p:nvPr>
            <p:custDataLst>
              <p:tags r:id="rId35"/>
            </p:custDataLst>
          </p:nvPr>
        </p:nvSpPr>
        <p:spPr>
          <a:xfrm>
            <a:off x="4558665" y="4502785"/>
            <a:ext cx="75565" cy="79248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华文楷体" panose="02010600040101010101" charset="-122"/>
              <a:ea typeface="华文楷体" panose="02010600040101010101" charset="-122"/>
            </a:endParaRPr>
          </a:p>
        </p:txBody>
      </p:sp>
      <p:sp>
        <p:nvSpPr>
          <p:cNvPr id="38" name="矩形 37"/>
          <p:cNvSpPr/>
          <p:nvPr>
            <p:custDataLst>
              <p:tags r:id="rId36"/>
            </p:custDataLst>
          </p:nvPr>
        </p:nvSpPr>
        <p:spPr>
          <a:xfrm>
            <a:off x="6357620" y="4358640"/>
            <a:ext cx="134175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en-US" altLang="zh-CN">
                <a:solidFill>
                  <a:srgbClr val="C00000"/>
                </a:solidFill>
                <a:latin typeface="华文楷体" panose="02010600040101010101" charset="-122"/>
                <a:ea typeface="华文楷体" panose="02010600040101010101" charset="-122"/>
                <a:cs typeface="华文楷体" panose="02010600040101010101" charset="-122"/>
              </a:rPr>
              <a:t>A</a:t>
            </a:r>
            <a:r>
              <a:rPr lang="zh-CN" altLang="en-US">
                <a:solidFill>
                  <a:srgbClr val="C00000"/>
                </a:solidFill>
                <a:latin typeface="华文楷体" panose="02010600040101010101" charset="-122"/>
                <a:ea typeface="华文楷体" panose="02010600040101010101" charset="-122"/>
                <a:cs typeface="华文楷体" panose="02010600040101010101" charset="-122"/>
              </a:rPr>
              <a:t>律</a:t>
            </a:r>
            <a:r>
              <a:rPr lang="en-US" altLang="zh-CN">
                <a:solidFill>
                  <a:srgbClr val="C00000"/>
                </a:solidFill>
                <a:latin typeface="华文楷体" panose="02010600040101010101" charset="-122"/>
                <a:ea typeface="华文楷体" panose="02010600040101010101" charset="-122"/>
                <a:cs typeface="华文楷体" panose="02010600040101010101" charset="-122"/>
              </a:rPr>
              <a:t>13</a:t>
            </a:r>
            <a:r>
              <a:rPr lang="zh-CN" altLang="en-US">
                <a:solidFill>
                  <a:srgbClr val="C00000"/>
                </a:solidFill>
                <a:latin typeface="华文楷体" panose="02010600040101010101" charset="-122"/>
                <a:ea typeface="华文楷体" panose="02010600040101010101" charset="-122"/>
                <a:cs typeface="华文楷体" panose="02010600040101010101" charset="-122"/>
              </a:rPr>
              <a:t>折线</a:t>
            </a:r>
            <a:endParaRPr lang="zh-CN" altLang="en-US">
              <a:solidFill>
                <a:srgbClr val="C00000"/>
              </a:solidFill>
              <a:latin typeface="华文楷体" panose="02010600040101010101" charset="-122"/>
              <a:ea typeface="华文楷体" panose="02010600040101010101" charset="-122"/>
              <a:cs typeface="华文楷体" panose="02010600040101010101" charset="-122"/>
            </a:endParaRPr>
          </a:p>
        </p:txBody>
      </p:sp>
      <p:sp>
        <p:nvSpPr>
          <p:cNvPr id="39" name="矩形 38"/>
          <p:cNvSpPr/>
          <p:nvPr>
            <p:custDataLst>
              <p:tags r:id="rId37"/>
            </p:custDataLst>
          </p:nvPr>
        </p:nvSpPr>
        <p:spPr>
          <a:xfrm>
            <a:off x="6357620" y="5006975"/>
            <a:ext cx="134175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cs typeface="华文楷体" panose="02010600040101010101" charset="-122"/>
                <a:sym typeface="+mn-ea"/>
              </a:rPr>
              <a:t>μ律</a:t>
            </a:r>
            <a:r>
              <a:rPr lang="en-US" altLang="zh-CN">
                <a:latin typeface="华文楷体" panose="02010600040101010101" charset="-122"/>
                <a:ea typeface="华文楷体" panose="02010600040101010101" charset="-122"/>
                <a:cs typeface="华文楷体" panose="02010600040101010101" charset="-122"/>
                <a:sym typeface="+mn-ea"/>
              </a:rPr>
              <a:t>15</a:t>
            </a:r>
            <a:r>
              <a:rPr lang="zh-CN" altLang="en-US">
                <a:latin typeface="华文楷体" panose="02010600040101010101" charset="-122"/>
                <a:ea typeface="华文楷体" panose="02010600040101010101" charset="-122"/>
                <a:cs typeface="华文楷体" panose="02010600040101010101" charset="-122"/>
                <a:sym typeface="+mn-ea"/>
              </a:rPr>
              <a:t>折线</a:t>
            </a:r>
            <a:endParaRPr lang="zh-CN" altLang="en-US">
              <a:latin typeface="华文楷体" panose="02010600040101010101" charset="-122"/>
              <a:ea typeface="华文楷体" panose="02010600040101010101" charset="-122"/>
              <a:cs typeface="华文楷体" panose="02010600040101010101" charset="-122"/>
              <a:sym typeface="+mn-ea"/>
            </a:endParaRPr>
          </a:p>
        </p:txBody>
      </p:sp>
      <p:sp>
        <p:nvSpPr>
          <p:cNvPr id="40" name="矩形 39"/>
          <p:cNvSpPr/>
          <p:nvPr>
            <p:custDataLst>
              <p:tags r:id="rId38"/>
            </p:custDataLst>
          </p:nvPr>
        </p:nvSpPr>
        <p:spPr>
          <a:xfrm>
            <a:off x="2406015" y="5731510"/>
            <a:ext cx="106616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en-US" altLang="zh-CN">
                <a:latin typeface="华文楷体" panose="02010600040101010101" charset="-122"/>
                <a:ea typeface="华文楷体" panose="02010600040101010101" charset="-122"/>
              </a:rPr>
              <a:t>PCM</a:t>
            </a:r>
            <a:endParaRPr lang="en-US" altLang="zh-CN">
              <a:latin typeface="华文楷体" panose="02010600040101010101" charset="-122"/>
              <a:ea typeface="华文楷体" panose="02010600040101010101" charset="-122"/>
            </a:endParaRPr>
          </a:p>
        </p:txBody>
      </p:sp>
      <p:sp>
        <p:nvSpPr>
          <p:cNvPr id="41" name="矩形 40"/>
          <p:cNvSpPr/>
          <p:nvPr>
            <p:custDataLst>
              <p:tags r:id="rId39"/>
            </p:custDataLst>
          </p:nvPr>
        </p:nvSpPr>
        <p:spPr>
          <a:xfrm>
            <a:off x="3791585" y="5408295"/>
            <a:ext cx="847090"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编码</a:t>
            </a:r>
            <a:endParaRPr lang="zh-CN" altLang="en-US">
              <a:solidFill>
                <a:srgbClr val="C00000"/>
              </a:solidFill>
              <a:latin typeface="华文楷体" panose="02010600040101010101" charset="-122"/>
              <a:ea typeface="华文楷体" panose="02010600040101010101" charset="-122"/>
            </a:endParaRPr>
          </a:p>
        </p:txBody>
      </p:sp>
      <p:sp>
        <p:nvSpPr>
          <p:cNvPr id="42" name="矩形 41"/>
          <p:cNvSpPr/>
          <p:nvPr>
            <p:custDataLst>
              <p:tags r:id="rId40"/>
            </p:custDataLst>
          </p:nvPr>
        </p:nvSpPr>
        <p:spPr>
          <a:xfrm>
            <a:off x="3791585" y="6128385"/>
            <a:ext cx="847090"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译码</a:t>
            </a:r>
            <a:endParaRPr lang="zh-CN" altLang="en-US">
              <a:solidFill>
                <a:srgbClr val="C00000"/>
              </a:solidFill>
              <a:latin typeface="华文楷体" panose="02010600040101010101" charset="-122"/>
              <a:ea typeface="华文楷体" panose="02010600040101010101" charset="-122"/>
            </a:endParaRPr>
          </a:p>
        </p:txBody>
      </p:sp>
      <p:sp>
        <p:nvSpPr>
          <p:cNvPr id="43" name="左大括号 42"/>
          <p:cNvSpPr/>
          <p:nvPr>
            <p:custDataLst>
              <p:tags r:id="rId41"/>
            </p:custDataLst>
          </p:nvPr>
        </p:nvSpPr>
        <p:spPr>
          <a:xfrm>
            <a:off x="3644265" y="5552440"/>
            <a:ext cx="75565" cy="79248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华文楷体" panose="02010600040101010101" charset="-122"/>
              <a:ea typeface="华文楷体" panose="02010600040101010101" charset="-122"/>
            </a:endParaRPr>
          </a:p>
        </p:txBody>
      </p:sp>
      <p:cxnSp>
        <p:nvCxnSpPr>
          <p:cNvPr id="44" name="肘形连接符 43"/>
          <p:cNvCxnSpPr>
            <a:stCxn id="38" idx="3"/>
            <a:endCxn id="41" idx="3"/>
          </p:cNvCxnSpPr>
          <p:nvPr>
            <p:custDataLst>
              <p:tags r:id="rId42"/>
            </p:custDataLst>
          </p:nvPr>
        </p:nvCxnSpPr>
        <p:spPr>
          <a:xfrm flipH="1">
            <a:off x="4638675" y="4559935"/>
            <a:ext cx="3060700" cy="1049655"/>
          </a:xfrm>
          <a:prstGeom prst="bentConnector3">
            <a:avLst>
              <a:gd name="adj1" fmla="val -7780"/>
            </a:avLst>
          </a:prstGeom>
          <a:ln>
            <a:tailEnd type="arrow"/>
          </a:ln>
        </p:spPr>
        <p:style>
          <a:lnRef idx="2">
            <a:schemeClr val="accent1"/>
          </a:lnRef>
          <a:fillRef idx="0">
            <a:srgbClr val="FFFFFF"/>
          </a:fillRef>
          <a:effectRef idx="0">
            <a:srgbClr val="FFFFFF"/>
          </a:effectRef>
          <a:fontRef idx="minor">
            <a:schemeClr val="tx1"/>
          </a:fontRef>
        </p:style>
      </p:cxnSp>
      <p:cxnSp>
        <p:nvCxnSpPr>
          <p:cNvPr id="45" name="肘形连接符 44"/>
          <p:cNvCxnSpPr>
            <a:stCxn id="38" idx="3"/>
            <a:endCxn id="42" idx="3"/>
          </p:cNvCxnSpPr>
          <p:nvPr>
            <p:custDataLst>
              <p:tags r:id="rId43"/>
            </p:custDataLst>
          </p:nvPr>
        </p:nvCxnSpPr>
        <p:spPr>
          <a:xfrm flipH="1">
            <a:off x="4638675" y="4559935"/>
            <a:ext cx="3060700" cy="1769745"/>
          </a:xfrm>
          <a:prstGeom prst="bentConnector3">
            <a:avLst>
              <a:gd name="adj1" fmla="val -7780"/>
            </a:avLst>
          </a:prstGeom>
          <a:ln>
            <a:tailEnd type="arrow"/>
          </a:ln>
        </p:spPr>
        <p:style>
          <a:lnRef idx="2">
            <a:schemeClr val="accent1"/>
          </a:lnRef>
          <a:fillRef idx="0">
            <a:srgbClr val="FFFFFF"/>
          </a:fillRef>
          <a:effectRef idx="0">
            <a:srgbClr val="FFFFFF"/>
          </a:effectRef>
          <a:fontRef idx="minor">
            <a:schemeClr val="tx1"/>
          </a:fontRef>
        </p:style>
      </p:cxnSp>
      <p:sp>
        <p:nvSpPr>
          <p:cNvPr id="46" name="矩形 45"/>
          <p:cNvSpPr/>
          <p:nvPr>
            <p:custDataLst>
              <p:tags r:id="rId44"/>
            </p:custDataLst>
          </p:nvPr>
        </p:nvSpPr>
        <p:spPr>
          <a:xfrm>
            <a:off x="4558665" y="5731510"/>
            <a:ext cx="3695700" cy="40195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（码元速率、带宽、</a:t>
            </a:r>
            <a:r>
              <a:rPr lang="zh-CN" altLang="en-US">
                <a:solidFill>
                  <a:srgbClr val="C00000"/>
                </a:solidFill>
                <a:latin typeface="华文楷体" panose="02010600040101010101" charset="-122"/>
                <a:ea typeface="华文楷体" panose="02010600040101010101" charset="-122"/>
              </a:rPr>
              <a:t>噪声性能</a:t>
            </a:r>
            <a:r>
              <a:rPr lang="zh-CN" altLang="en-US">
                <a:latin typeface="华文楷体" panose="02010600040101010101" charset="-122"/>
                <a:ea typeface="华文楷体" panose="02010600040101010101" charset="-122"/>
              </a:rPr>
              <a:t>）</a:t>
            </a:r>
            <a:endParaRPr lang="zh-CN" altLang="en-US">
              <a:latin typeface="华文楷体" panose="02010600040101010101" charset="-122"/>
              <a:ea typeface="华文楷体" panose="02010600040101010101" charset="-122"/>
            </a:endParaRPr>
          </a:p>
        </p:txBody>
      </p:sp>
      <p:sp>
        <p:nvSpPr>
          <p:cNvPr id="47" name="矩形 46"/>
          <p:cNvSpPr/>
          <p:nvPr>
            <p:custDataLst>
              <p:tags r:id="rId45"/>
            </p:custDataLst>
          </p:nvPr>
        </p:nvSpPr>
        <p:spPr>
          <a:xfrm>
            <a:off x="8040370" y="5726430"/>
            <a:ext cx="1940560"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en-US" altLang="zh-CN">
                <a:solidFill>
                  <a:srgbClr val="C00000"/>
                </a:solidFill>
                <a:latin typeface="华文楷体" panose="02010600040101010101" charset="-122"/>
                <a:ea typeface="华文楷体" panose="02010600040101010101" charset="-122"/>
                <a:cs typeface="华文楷体" panose="02010600040101010101" charset="-122"/>
              </a:rPr>
              <a:t>PCM</a:t>
            </a:r>
            <a:r>
              <a:rPr lang="zh-CN" altLang="en-US">
                <a:solidFill>
                  <a:srgbClr val="C00000"/>
                </a:solidFill>
                <a:latin typeface="华文楷体" panose="02010600040101010101" charset="-122"/>
                <a:ea typeface="华文楷体" panose="02010600040101010101" charset="-122"/>
                <a:cs typeface="华文楷体" panose="02010600040101010101" charset="-122"/>
              </a:rPr>
              <a:t>基群帧结构</a:t>
            </a:r>
            <a:endParaRPr lang="zh-CN" altLang="en-US">
              <a:solidFill>
                <a:srgbClr val="C00000"/>
              </a:solidFill>
              <a:latin typeface="华文楷体" panose="02010600040101010101" charset="-122"/>
              <a:ea typeface="华文楷体" panose="02010600040101010101" charset="-122"/>
              <a:cs typeface="华文楷体" panose="02010600040101010101" charset="-122"/>
            </a:endParaRPr>
          </a:p>
        </p:txBody>
      </p:sp>
      <p:sp>
        <p:nvSpPr>
          <p:cNvPr id="48" name="矩形 47"/>
          <p:cNvSpPr/>
          <p:nvPr>
            <p:custDataLst>
              <p:tags r:id="rId46"/>
            </p:custDataLst>
          </p:nvPr>
        </p:nvSpPr>
        <p:spPr>
          <a:xfrm>
            <a:off x="10200640" y="5726430"/>
            <a:ext cx="1341755" cy="40195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时分复用</a:t>
            </a:r>
            <a:endParaRPr lang="zh-CN" altLang="en-US">
              <a:latin typeface="华文楷体" panose="02010600040101010101" charset="-122"/>
              <a:ea typeface="华文楷体" panose="02010600040101010101" charset="-122"/>
            </a:endParaRPr>
          </a:p>
        </p:txBody>
      </p:sp>
      <p:cxnSp>
        <p:nvCxnSpPr>
          <p:cNvPr id="49" name="直接箭头连接符 48"/>
          <p:cNvCxnSpPr>
            <a:stCxn id="47" idx="3"/>
            <a:endCxn id="48" idx="1"/>
          </p:cNvCxnSpPr>
          <p:nvPr>
            <p:custDataLst>
              <p:tags r:id="rId47"/>
            </p:custDataLst>
          </p:nvPr>
        </p:nvCxnSpPr>
        <p:spPr>
          <a:xfrm>
            <a:off x="9980930" y="5927725"/>
            <a:ext cx="21971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50" name="矩形 49"/>
          <p:cNvSpPr/>
          <p:nvPr>
            <p:custDataLst>
              <p:tags r:id="rId48"/>
            </p:custDataLst>
          </p:nvPr>
        </p:nvSpPr>
        <p:spPr>
          <a:xfrm>
            <a:off x="2063750" y="2637155"/>
            <a:ext cx="1825625" cy="40195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奈奎斯特频率</a:t>
            </a:r>
            <a:r>
              <a:rPr lang="zh-CN" altLang="en-US">
                <a:latin typeface="华文楷体" panose="02010600040101010101" charset="-122"/>
                <a:ea typeface="华文楷体" panose="02010600040101010101" charset="-122"/>
              </a:rPr>
              <a:t>）</a:t>
            </a:r>
            <a:endParaRPr lang="zh-CN" altLang="en-US">
              <a:latin typeface="华文楷体" panose="02010600040101010101" charset="-122"/>
              <a:ea typeface="华文楷体" panose="02010600040101010101" charset="-122"/>
            </a:endParaRPr>
          </a:p>
        </p:txBody>
      </p:sp>
      <p:sp>
        <p:nvSpPr>
          <p:cNvPr id="51" name="矩形 50"/>
          <p:cNvSpPr/>
          <p:nvPr>
            <p:custDataLst>
              <p:tags r:id="rId49"/>
            </p:custDataLst>
          </p:nvPr>
        </p:nvSpPr>
        <p:spPr>
          <a:xfrm>
            <a:off x="3359785" y="4358640"/>
            <a:ext cx="969010" cy="40195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优势</a:t>
            </a:r>
            <a:r>
              <a:rPr lang="zh-CN" altLang="en-US">
                <a:latin typeface="华文楷体" panose="02010600040101010101" charset="-122"/>
                <a:ea typeface="华文楷体" panose="02010600040101010101" charset="-122"/>
              </a:rPr>
              <a:t>）</a:t>
            </a:r>
            <a:endParaRPr lang="zh-CN" altLang="en-US">
              <a:latin typeface="华文楷体" panose="02010600040101010101" charset="-122"/>
              <a:ea typeface="华文楷体" panose="02010600040101010101" charset="-122"/>
            </a:endParaRPr>
          </a:p>
        </p:txBody>
      </p:sp>
      <p:cxnSp>
        <p:nvCxnSpPr>
          <p:cNvPr id="53" name="曲线连接符 52"/>
          <p:cNvCxnSpPr/>
          <p:nvPr/>
        </p:nvCxnSpPr>
        <p:spPr>
          <a:xfrm rot="16200000">
            <a:off x="3251835" y="4329430"/>
            <a:ext cx="431800" cy="215900"/>
          </a:xfrm>
          <a:prstGeom prst="curvedConnector3">
            <a:avLst>
              <a:gd name="adj1" fmla="val 49853"/>
            </a:avLst>
          </a:prstGeom>
          <a:ln>
            <a:tailEnd type="arrow"/>
          </a:ln>
        </p:spPr>
        <p:style>
          <a:lnRef idx="2">
            <a:schemeClr val="accent1"/>
          </a:lnRef>
          <a:fillRef idx="0">
            <a:srgbClr val="FFFFFF"/>
          </a:fillRef>
          <a:effectRef idx="0">
            <a:srgbClr val="FFFFFF"/>
          </a:effectRef>
          <a:fontRef idx="minor">
            <a:schemeClr val="tx1"/>
          </a:fontRef>
        </p:style>
      </p:cxnSp>
      <p:sp>
        <p:nvSpPr>
          <p:cNvPr id="54" name="矩形 53"/>
          <p:cNvSpPr/>
          <p:nvPr>
            <p:custDataLst>
              <p:tags r:id="rId50"/>
            </p:custDataLst>
          </p:nvPr>
        </p:nvSpPr>
        <p:spPr>
          <a:xfrm>
            <a:off x="6428740" y="3983355"/>
            <a:ext cx="3681095" cy="40195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量化间隔、量化电平、量化误差</a:t>
            </a:r>
            <a:r>
              <a:rPr lang="zh-CN" altLang="en-US">
                <a:latin typeface="华文楷体" panose="02010600040101010101" charset="-122"/>
                <a:ea typeface="华文楷体" panose="02010600040101010101" charset="-122"/>
              </a:rPr>
              <a:t>）</a:t>
            </a:r>
            <a:endParaRPr lang="zh-CN" altLang="en-US">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608330" y="836930"/>
            <a:ext cx="11272520" cy="775970"/>
          </a:xfrm>
        </p:spPr>
        <p:txBody>
          <a:bodyPr/>
          <a:p>
            <a:r>
              <a:rPr lang="zh-CN" altLang="en-US" sz="2400" b="1">
                <a:latin typeface="华文楷体" panose="02010600040101010101" charset="-122"/>
                <a:ea typeface="华文楷体" panose="02010600040101010101" charset="-122"/>
                <a:cs typeface="华文楷体" panose="02010600040101010101" charset="-122"/>
              </a:rPr>
              <a:t>抽样定理</a:t>
            </a:r>
            <a:endParaRPr lang="zh-CN" altLang="en-US" sz="2400" b="1">
              <a:latin typeface="华文楷体" panose="02010600040101010101" charset="-122"/>
              <a:ea typeface="华文楷体" panose="02010600040101010101" charset="-122"/>
              <a:cs typeface="华文楷体" panose="02010600040101010101" charset="-122"/>
            </a:endParaRPr>
          </a:p>
        </p:txBody>
      </p:sp>
      <p:sp>
        <p:nvSpPr>
          <p:cNvPr id="11" name="Text Box 14"/>
          <p:cNvSpPr txBox="1">
            <a:spLocks noChangeArrowheads="1"/>
          </p:cNvSpPr>
          <p:nvPr/>
        </p:nvSpPr>
        <p:spPr bwMode="auto">
          <a:xfrm>
            <a:off x="1271464" y="1465284"/>
            <a:ext cx="5486400" cy="460375"/>
          </a:xfrm>
          <a:prstGeom prst="rect">
            <a:avLst/>
          </a:prstGeom>
          <a:noFill/>
          <a:ln w="9525">
            <a:noFill/>
            <a:miter lim="800000"/>
          </a:ln>
          <a:effectLst/>
        </p:spPr>
        <p:txBody>
          <a:bodyPr>
            <a:spAutoFit/>
          </a:bodyPr>
          <a:lstStyle/>
          <a:p>
            <a:pPr>
              <a:spcBef>
                <a:spcPct val="50000"/>
              </a:spcBef>
              <a:buFont typeface="Wingdings" panose="05000000000000000000" pitchFamily="2" charset="2"/>
              <a:buChar char="Ø"/>
            </a:pPr>
            <a:r>
              <a:rPr lang="zh-CN" altLang="en-US" sz="2400" b="1" dirty="0">
                <a:solidFill>
                  <a:srgbClr val="0070C0"/>
                </a:solidFill>
                <a:latin typeface="Times New Roman" panose="02020603050405020304" pitchFamily="18" charset="0"/>
                <a:ea typeface="华文楷体" panose="02010600040101010101" charset="-122"/>
                <a:cs typeface="Times New Roman" panose="02020603050405020304" pitchFamily="18" charset="0"/>
              </a:rPr>
              <a:t>低通信号抽样定理</a:t>
            </a:r>
            <a:endParaRPr lang="zh-CN" altLang="en-US" sz="2400" b="1" dirty="0">
              <a:solidFill>
                <a:srgbClr val="0070C0"/>
              </a:solidFill>
              <a:latin typeface="Times New Roman" panose="02020603050405020304" pitchFamily="18" charset="0"/>
              <a:ea typeface="华文楷体" panose="02010600040101010101"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Text Box 12"/>
              <p:cNvSpPr txBox="1">
                <a:spLocks noChangeArrowheads="1"/>
              </p:cNvSpPr>
              <p:nvPr/>
            </p:nvSpPr>
            <p:spPr bwMode="auto">
              <a:xfrm>
                <a:off x="1127760" y="1988820"/>
                <a:ext cx="9931400" cy="1480185"/>
              </a:xfrm>
              <a:prstGeom prst="rect">
                <a:avLst/>
              </a:prstGeom>
              <a:noFill/>
              <a:ln w="12700">
                <a:noFill/>
                <a:miter lim="800000"/>
                <a:headEnd type="none" w="sm" len="sm"/>
                <a:tailEnd type="none" w="sm" len="sm"/>
              </a:ln>
              <a:effectLst/>
            </p:spPr>
            <p:txBody>
              <a:bodyPr wrap="square">
                <a:spAutoFit/>
              </a:bodyPr>
              <a:lstStyle/>
              <a:p>
                <a:pPr>
                  <a:lnSpc>
                    <a:spcPct val="150000"/>
                  </a:lnSpc>
                  <a:spcBef>
                    <a:spcPct val="50000"/>
                  </a:spcBef>
                </a:pPr>
                <a:r>
                  <a:rPr lang="en-US" altLang="zh-CN" sz="2000" dirty="0">
                    <a:latin typeface="华文楷体" panose="02010600040101010101" charset="-122"/>
                    <a:ea typeface="华文楷体" panose="02010600040101010101" charset="-122"/>
                    <a:cs typeface="华文楷体" panose="02010600040101010101" charset="-122"/>
                  </a:rPr>
                  <a:t>       </a:t>
                </a:r>
                <a:r>
                  <a:rPr lang="zh-CN" altLang="en-US" sz="2000" dirty="0">
                    <a:latin typeface="华文楷体" panose="02010600040101010101" charset="-122"/>
                    <a:ea typeface="华文楷体" panose="02010600040101010101" charset="-122"/>
                    <a:cs typeface="华文楷体" panose="02010600040101010101" charset="-122"/>
                  </a:rPr>
                  <a:t>如果低通模拟信号的最高频率不超过</a:t>
                </a:r>
                <a14:m>
                  <m:oMath xmlns:m="http://schemas.openxmlformats.org/officeDocument/2006/math">
                    <m:sSub>
                      <m:sSubPr>
                        <m:ctrlPr>
                          <a:rPr lang="en-US" sz="2000" i="1">
                            <a:latin typeface="DejaVu Math TeX Gyre" panose="02000503000000000000" charset="0"/>
                            <a:ea typeface="华文楷体" panose="02010600040101010101" charset="-122"/>
                            <a:cs typeface="DejaVu Math TeX Gyre" panose="02000503000000000000" charset="0"/>
                          </a:rPr>
                        </m:ctrlPr>
                      </m:sSubPr>
                      <m:e>
                        <m:r>
                          <a:rPr lang="en-US" sz="2000" i="1">
                            <a:latin typeface="DejaVu Math TeX Gyre" panose="02000503000000000000" charset="0"/>
                            <a:ea typeface="华文楷体" panose="02010600040101010101" charset="-122"/>
                            <a:cs typeface="DejaVu Math TeX Gyre" panose="02000503000000000000" charset="0"/>
                          </a:rPr>
                          <m:t>𝑓</m:t>
                        </m:r>
                      </m:e>
                      <m:sub>
                        <m:r>
                          <a:rPr lang="en-US" sz="2000" i="1">
                            <a:latin typeface="DejaVu Math TeX Gyre" panose="02000503000000000000" charset="0"/>
                            <a:ea typeface="华文楷体" panose="02010600040101010101" charset="-122"/>
                            <a:cs typeface="DejaVu Math TeX Gyre" panose="02000503000000000000" charset="0"/>
                          </a:rPr>
                          <m:t>𝐻</m:t>
                        </m:r>
                      </m:sub>
                    </m:sSub>
                  </m:oMath>
                </a14:m>
                <a:r>
                  <a:rPr lang="zh-CN" altLang="en-US" sz="2000" dirty="0">
                    <a:latin typeface="华文楷体" panose="02010600040101010101" charset="-122"/>
                    <a:ea typeface="华文楷体" panose="02010600040101010101" charset="-122"/>
                    <a:cs typeface="华文楷体" panose="02010600040101010101" charset="-122"/>
                  </a:rPr>
                  <a:t>，以</a:t>
                </a:r>
                <a:r>
                  <a:rPr lang="zh-CN" altLang="en-US" sz="2000" b="1" dirty="0">
                    <a:solidFill>
                      <a:srgbClr val="C00000"/>
                    </a:solidFill>
                    <a:latin typeface="华文楷体" panose="02010600040101010101" charset="-122"/>
                    <a:ea typeface="华文楷体" panose="02010600040101010101" charset="-122"/>
                    <a:cs typeface="华文楷体" panose="02010600040101010101" charset="-122"/>
                  </a:rPr>
                  <a:t>时间间隔</a:t>
                </a:r>
                <a14:m>
                  <m:oMath xmlns:m="http://schemas.openxmlformats.org/officeDocument/2006/math">
                    <m:sSub>
                      <m:sSubPr>
                        <m:ctrlP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ctrlPr>
                      </m:sSubPr>
                      <m:e>
                        <m: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t>𝑻</m:t>
                        </m:r>
                      </m:e>
                      <m:sub>
                        <m: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t>𝒔</m:t>
                        </m:r>
                      </m:sub>
                    </m:sSub>
                    <m:r>
                      <a:rPr lang="en-US" sz="2000" b="1" i="1">
                        <a:solidFill>
                          <a:srgbClr val="C00000"/>
                        </a:solidFill>
                        <a:latin typeface="DejaVu Math TeX Gyre" panose="02000503000000000000" charset="0"/>
                        <a:ea typeface="宋体" pitchFamily="2" charset="-122"/>
                        <a:cs typeface="DejaVu Math TeX Gyre" panose="02000503000000000000" charset="0"/>
                      </a:rPr>
                      <m:t>≤</m:t>
                    </m:r>
                    <m:f>
                      <m:fPr>
                        <m:type m:val="lin"/>
                        <m:ctrlP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ctrlPr>
                      </m:fPr>
                      <m:num>
                        <m:r>
                          <a:rPr lang="en-US" sz="2000" b="1" i="1">
                            <a:solidFill>
                              <a:srgbClr val="C00000"/>
                            </a:solidFill>
                            <a:latin typeface="DejaVu Math TeX Gyre" panose="02000503000000000000" charset="0"/>
                            <a:ea typeface="宋体" pitchFamily="2" charset="-122"/>
                            <a:cs typeface="DejaVu Math TeX Gyre" panose="02000503000000000000" charset="0"/>
                          </a:rPr>
                          <m:t>𝟏</m:t>
                        </m:r>
                      </m:num>
                      <m:den>
                        <m:r>
                          <a:rPr lang="en-US" sz="2000" b="1" i="1">
                            <a:solidFill>
                              <a:srgbClr val="C00000"/>
                            </a:solidFill>
                            <a:latin typeface="DejaVu Math TeX Gyre" panose="02000503000000000000" charset="0"/>
                            <a:ea typeface="宋体" pitchFamily="2" charset="-122"/>
                            <a:cs typeface="DejaVu Math TeX Gyre" panose="02000503000000000000" charset="0"/>
                          </a:rPr>
                          <m:t>𝟐</m:t>
                        </m:r>
                        <m:sSub>
                          <m:sSubPr>
                            <m:ctrlP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ctrlPr>
                          </m:sSubPr>
                          <m:e>
                            <m: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t>𝒇</m:t>
                            </m:r>
                          </m:e>
                          <m:sub>
                            <m: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t>𝑯</m:t>
                            </m:r>
                          </m:sub>
                        </m:sSub>
                      </m:den>
                    </m:f>
                  </m:oMath>
                </a14:m>
                <a:r>
                  <a:rPr lang="zh-CN" altLang="en-US" sz="2000" dirty="0">
                    <a:latin typeface="华文楷体" panose="02010600040101010101" charset="-122"/>
                    <a:ea typeface="华文楷体" panose="02010600040101010101" charset="-122"/>
                    <a:cs typeface="华文楷体" panose="02010600040101010101" charset="-122"/>
                  </a:rPr>
                  <a:t>进行</a:t>
                </a:r>
                <a:r>
                  <a:rPr lang="zh-CN" altLang="en-US" sz="2000" dirty="0">
                    <a:solidFill>
                      <a:srgbClr val="C00000"/>
                    </a:solidFill>
                    <a:latin typeface="华文楷体" panose="02010600040101010101" charset="-122"/>
                    <a:ea typeface="华文楷体" panose="02010600040101010101" charset="-122"/>
                    <a:cs typeface="华文楷体" panose="02010600040101010101" charset="-122"/>
                  </a:rPr>
                  <a:t>均匀抽样</a:t>
                </a:r>
                <a:r>
                  <a:rPr lang="zh-CN" altLang="en-US" sz="2000" dirty="0">
                    <a:latin typeface="华文楷体" panose="02010600040101010101" charset="-122"/>
                    <a:ea typeface="华文楷体" panose="02010600040101010101" charset="-122"/>
                    <a:cs typeface="华文楷体" panose="02010600040101010101" charset="-122"/>
                  </a:rPr>
                  <a:t>，即当</a:t>
                </a:r>
                <a:r>
                  <a:rPr lang="zh-CN" altLang="en-US" sz="2000" b="1" dirty="0">
                    <a:solidFill>
                      <a:srgbClr val="C00000"/>
                    </a:solidFill>
                    <a:latin typeface="华文楷体" panose="02010600040101010101" charset="-122"/>
                    <a:ea typeface="华文楷体" panose="02010600040101010101" charset="-122"/>
                    <a:cs typeface="华文楷体" panose="02010600040101010101" charset="-122"/>
                  </a:rPr>
                  <a:t>抽样频率</a:t>
                </a:r>
                <a14:m>
                  <m:oMath xmlns:m="http://schemas.openxmlformats.org/officeDocument/2006/math">
                    <m:sSub>
                      <m:sSubPr>
                        <m:ctrlP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ctrlPr>
                      </m:sSubPr>
                      <m:e>
                        <m: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t>𝒇</m:t>
                        </m:r>
                      </m:e>
                      <m:sub>
                        <m: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t>𝒔</m:t>
                        </m:r>
                      </m:sub>
                    </m:sSub>
                    <m:r>
                      <a:rPr lang="en-US" sz="2000" b="1" i="1">
                        <a:solidFill>
                          <a:srgbClr val="C00000"/>
                        </a:solidFill>
                        <a:latin typeface="DejaVu Math TeX Gyre" panose="02000503000000000000" charset="0"/>
                        <a:ea typeface="宋体" pitchFamily="2" charset="-122"/>
                        <a:cs typeface="DejaVu Math TeX Gyre" panose="02000503000000000000" charset="0"/>
                      </a:rPr>
                      <m:t>≥</m:t>
                    </m:r>
                    <m:r>
                      <a:rPr lang="en-US" sz="2000" b="1" i="1">
                        <a:solidFill>
                          <a:srgbClr val="C00000"/>
                        </a:solidFill>
                        <a:latin typeface="DejaVu Math TeX Gyre" panose="02000503000000000000" charset="0"/>
                        <a:ea typeface="宋体" pitchFamily="2" charset="-122"/>
                        <a:cs typeface="DejaVu Math TeX Gyre" panose="02000503000000000000" charset="0"/>
                      </a:rPr>
                      <m:t>𝟐</m:t>
                    </m:r>
                    <m:sSub>
                      <m:sSubPr>
                        <m:ctrlP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ctrlPr>
                      </m:sSubPr>
                      <m:e>
                        <m: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t>𝒇</m:t>
                        </m:r>
                      </m:e>
                      <m:sub>
                        <m:r>
                          <a:rPr lang="en-US" sz="2000" b="1" i="1">
                            <a:solidFill>
                              <a:srgbClr val="C00000"/>
                            </a:solidFill>
                            <a:latin typeface="DejaVu Math TeX Gyre" panose="02000503000000000000" charset="0"/>
                            <a:ea typeface="华文楷体" panose="02010600040101010101" charset="-122"/>
                            <a:cs typeface="DejaVu Math TeX Gyre" panose="02000503000000000000" charset="0"/>
                          </a:rPr>
                          <m:t>𝑯</m:t>
                        </m:r>
                      </m:sub>
                    </m:sSub>
                  </m:oMath>
                </a14:m>
                <a:r>
                  <a:rPr lang="zh-CN" altLang="en-US" sz="2000" dirty="0">
                    <a:latin typeface="华文楷体" panose="02010600040101010101" charset="-122"/>
                    <a:ea typeface="华文楷体" panose="02010600040101010101" charset="-122"/>
                    <a:cs typeface="华文楷体" panose="02010600040101010101" charset="-122"/>
                  </a:rPr>
                  <a:t>时，抽样信号包含了原信号的全部信息。其中，</a:t>
                </a:r>
                <a14:m>
                  <m:oMath xmlns:m="http://schemas.openxmlformats.org/officeDocument/2006/math">
                    <m:r>
                      <a:rPr lang="en-US" sz="2000" i="1">
                        <a:latin typeface="DejaVu Math TeX Gyre" panose="02000503000000000000" charset="0"/>
                        <a:ea typeface="宋体" pitchFamily="2" charset="-122"/>
                        <a:cs typeface="DejaVu Math TeX Gyre" panose="02000503000000000000" charset="0"/>
                      </a:rPr>
                      <m:t>2</m:t>
                    </m:r>
                    <m:sSub>
                      <m:sSubPr>
                        <m:ctrlPr>
                          <a:rPr lang="en-US" sz="2000" i="1">
                            <a:latin typeface="DejaVu Math TeX Gyre" panose="02000503000000000000" charset="0"/>
                            <a:ea typeface="华文楷体" panose="02010600040101010101" charset="-122"/>
                            <a:cs typeface="DejaVu Math TeX Gyre" panose="02000503000000000000" charset="0"/>
                          </a:rPr>
                        </m:ctrlPr>
                      </m:sSubPr>
                      <m:e>
                        <m:r>
                          <a:rPr lang="en-US" sz="2000" i="1">
                            <a:latin typeface="DejaVu Math TeX Gyre" panose="02000503000000000000" charset="0"/>
                            <a:ea typeface="华文楷体" panose="02010600040101010101" charset="-122"/>
                            <a:cs typeface="DejaVu Math TeX Gyre" panose="02000503000000000000" charset="0"/>
                          </a:rPr>
                          <m:t>𝑓</m:t>
                        </m:r>
                      </m:e>
                      <m:sub>
                        <m:r>
                          <a:rPr lang="en-US" sz="2000" i="1">
                            <a:latin typeface="DejaVu Math TeX Gyre" panose="02000503000000000000" charset="0"/>
                            <a:ea typeface="华文楷体" panose="02010600040101010101" charset="-122"/>
                            <a:cs typeface="DejaVu Math TeX Gyre" panose="02000503000000000000" charset="0"/>
                          </a:rPr>
                          <m:t>𝐻</m:t>
                        </m:r>
                      </m:sub>
                    </m:sSub>
                  </m:oMath>
                </a14:m>
                <a:r>
                  <a:rPr lang="zh-CN" altLang="en-US" sz="2000" dirty="0">
                    <a:latin typeface="华文楷体" panose="02010600040101010101" charset="-122"/>
                    <a:ea typeface="华文楷体" panose="02010600040101010101" charset="-122"/>
                    <a:cs typeface="华文楷体" panose="02010600040101010101" charset="-122"/>
                  </a:rPr>
                  <a:t>称为</a:t>
                </a:r>
                <a:r>
                  <a:rPr lang="zh-CN" altLang="en-US" sz="2000" dirty="0">
                    <a:solidFill>
                      <a:srgbClr val="C00000"/>
                    </a:solidFill>
                    <a:latin typeface="华文楷体" panose="02010600040101010101" charset="-122"/>
                    <a:ea typeface="华文楷体" panose="02010600040101010101" charset="-122"/>
                    <a:cs typeface="华文楷体" panose="02010600040101010101" charset="-122"/>
                  </a:rPr>
                  <a:t>奈奎斯特频率</a:t>
                </a:r>
                <a:r>
                  <a:rPr lang="zh-CN" altLang="en-US" sz="2000" dirty="0">
                    <a:latin typeface="华文楷体" panose="02010600040101010101" charset="-122"/>
                    <a:ea typeface="华文楷体" panose="02010600040101010101" charset="-122"/>
                    <a:cs typeface="华文楷体" panose="02010600040101010101" charset="-122"/>
                  </a:rPr>
                  <a:t>。</a:t>
                </a:r>
                <a:r>
                  <a:rPr lang="en-US" sz="2000" dirty="0">
                    <a:latin typeface="华文楷体" panose="02010600040101010101" charset="-122"/>
                    <a:ea typeface="华文楷体" panose="02010600040101010101" charset="-122"/>
                    <a:cs typeface="华文楷体" panose="02010600040101010101" charset="-122"/>
                  </a:rPr>
                  <a:t> </a:t>
                </a:r>
                <a:endParaRPr lang="en-US" altLang="zh-CN" sz="2000" b="1" dirty="0">
                  <a:latin typeface="华文楷体" panose="02010600040101010101" charset="-122"/>
                  <a:ea typeface="华文楷体" panose="02010600040101010101" charset="-122"/>
                  <a:cs typeface="华文楷体" panose="02010600040101010101" charset="-122"/>
                </a:endParaRPr>
              </a:p>
            </p:txBody>
          </p:sp>
        </mc:Choice>
        <mc:Fallback>
          <p:sp>
            <p:nvSpPr>
              <p:cNvPr id="12" name="Text Box 12"/>
              <p:cNvSpPr txBox="1">
                <a:spLocks noRot="1" noChangeAspect="1" noMove="1" noResize="1" noEditPoints="1" noAdjustHandles="1" noChangeArrowheads="1" noChangeShapeType="1" noTextEdit="1"/>
              </p:cNvSpPr>
              <p:nvPr/>
            </p:nvSpPr>
            <p:spPr bwMode="auto">
              <a:xfrm>
                <a:off x="1127760" y="1988820"/>
                <a:ext cx="9931400" cy="1480185"/>
              </a:xfrm>
              <a:prstGeom prst="rect">
                <a:avLst/>
              </a:prstGeom>
              <a:blipFill rotWithShape="1">
                <a:blip r:embed="rId3"/>
                <a:stretch>
                  <a:fillRect/>
                </a:stretch>
              </a:blipFill>
              <a:ln w="12700">
                <a:noFill/>
                <a:miter lim="800000"/>
                <a:headEnd type="none" w="sm" len="sm"/>
                <a:tailEnd type="none" w="sm" len="sm"/>
              </a:ln>
              <a:effectLst/>
            </p:spPr>
            <p:txBody>
              <a:bodyPr/>
              <a:lstStyle/>
              <a:p>
                <a:r>
                  <a:rPr lang="zh-CN" altLang="en-US">
                    <a:noFill/>
                  </a:rPr>
                  <a:t> </a:t>
                </a:r>
              </a:p>
            </p:txBody>
          </p:sp>
        </mc:Fallback>
      </mc:AlternateContent>
      <p:sp>
        <p:nvSpPr>
          <p:cNvPr id="9" name="Rectangle 22"/>
          <p:cNvSpPr txBox="1">
            <a:spLocks noChangeArrowheads="1"/>
          </p:cNvSpPr>
          <p:nvPr>
            <p:custDataLst>
              <p:tags r:id="rId4"/>
            </p:custDataLst>
          </p:nvPr>
        </p:nvSpPr>
        <p:spPr bwMode="auto">
          <a:xfrm>
            <a:off x="1415508" y="3703662"/>
            <a:ext cx="647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itchFamily="2" charset="-122"/>
              </a:defRPr>
            </a:lvl9pPr>
          </a:lstStyle>
          <a:p>
            <a:pPr algn="l">
              <a:buFont typeface="Wingdings" panose="05000000000000000000" pitchFamily="2" charset="2"/>
              <a:buChar char="Ø"/>
            </a:pPr>
            <a:r>
              <a:rPr lang="zh-CN" altLang="en-US" sz="2400" b="1" kern="0" dirty="0">
                <a:solidFill>
                  <a:srgbClr val="0070C0"/>
                </a:solidFill>
                <a:latin typeface="华文楷体" panose="02010600040101010101" charset="-122"/>
                <a:ea typeface="华文楷体" panose="02010600040101010101" charset="-122"/>
              </a:rPr>
              <a:t>带通信号抽样定理</a:t>
            </a:r>
            <a:endParaRPr lang="zh-CN" altLang="en-US" sz="2400" b="1" kern="0" dirty="0">
              <a:solidFill>
                <a:srgbClr val="0070C0"/>
              </a:solidFill>
              <a:latin typeface="华文楷体" panose="02010600040101010101" charset="-122"/>
              <a:ea typeface="华文楷体" panose="02010600040101010101" charset="-122"/>
            </a:endParaRPr>
          </a:p>
        </p:txBody>
      </p:sp>
      <mc:AlternateContent xmlns:mc="http://schemas.openxmlformats.org/markup-compatibility/2006">
        <mc:Choice xmlns:a14="http://schemas.microsoft.com/office/drawing/2010/main" Requires="a14">
          <p:sp>
            <p:nvSpPr>
              <p:cNvPr id="10" name="Rectangle 21"/>
              <p:cNvSpPr>
                <a:spLocks noChangeArrowheads="1"/>
              </p:cNvSpPr>
              <p:nvPr>
                <p:custDataLst>
                  <p:tags r:id="rId5"/>
                </p:custDataLst>
              </p:nvPr>
            </p:nvSpPr>
            <p:spPr bwMode="auto">
              <a:xfrm>
                <a:off x="1238885" y="3861435"/>
                <a:ext cx="10010140" cy="2731770"/>
              </a:xfrm>
              <a:prstGeom prst="rect">
                <a:avLst/>
              </a:prstGeom>
              <a:noFill/>
              <a:ln w="12700">
                <a:noFill/>
                <a:miter lim="800000"/>
                <a:headEnd type="none" w="sm" len="sm"/>
                <a:tailEnd type="none" w="sm" len="sm"/>
              </a:ln>
              <a:effectLst/>
            </p:spPr>
            <p:txBody>
              <a:bodyPr anchor="ctr"/>
              <a:lstStyle/>
              <a:p>
                <a:pPr indent="266700" algn="just">
                  <a:lnSpc>
                    <a:spcPct val="150000"/>
                  </a:lnSpc>
                </a:pPr>
                <a:r>
                  <a:rPr lang="zh-CN" altLang="en-US" sz="2000" dirty="0">
                    <a:solidFill>
                      <a:srgbClr val="000000"/>
                    </a:solidFill>
                    <a:latin typeface="华文楷体" panose="02010600040101010101" charset="-122"/>
                    <a:ea typeface="华文楷体" panose="02010600040101010101" charset="-122"/>
                    <a:cs typeface="华文楷体" panose="02010600040101010101" charset="-122"/>
                  </a:rPr>
                  <a:t>    频带限制在</a:t>
                </a:r>
                <a14:m>
                  <m:oMath xmlns:m="http://schemas.openxmlformats.org/officeDocument/2006/math">
                    <m:sSub>
                      <m:sSubPr>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sSubPr>
                      <m:e>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𝑓</m:t>
                        </m:r>
                      </m:e>
                      <m:sub>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𝐿</m:t>
                        </m:r>
                      </m:sub>
                    </m:sSub>
                  </m:oMath>
                </a14:m>
                <a:r>
                  <a:rPr lang="zh-CN" altLang="en-US" sz="2000" dirty="0">
                    <a:solidFill>
                      <a:srgbClr val="000000"/>
                    </a:solidFill>
                    <a:latin typeface="华文楷体" panose="02010600040101010101" charset="-122"/>
                    <a:ea typeface="华文楷体" panose="02010600040101010101" charset="-122"/>
                    <a:cs typeface="华文楷体" panose="02010600040101010101" charset="-122"/>
                  </a:rPr>
                  <a:t>和</a:t>
                </a:r>
                <a14:m>
                  <m:oMath xmlns:m="http://schemas.openxmlformats.org/officeDocument/2006/math">
                    <m:sSub>
                      <m:sSubPr>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sSubPr>
                      <m:e>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𝑓</m:t>
                        </m:r>
                      </m:e>
                      <m:sub>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𝐻</m:t>
                        </m:r>
                      </m:sub>
                    </m:sSub>
                  </m:oMath>
                </a14:m>
                <a:r>
                  <a:rPr lang="zh-CN" altLang="en-US" sz="2000" dirty="0">
                    <a:solidFill>
                      <a:srgbClr val="000000"/>
                    </a:solidFill>
                    <a:latin typeface="华文楷体" panose="02010600040101010101" charset="-122"/>
                    <a:ea typeface="华文楷体" panose="02010600040101010101" charset="-122"/>
                    <a:cs typeface="华文楷体" panose="02010600040101010101" charset="-122"/>
                  </a:rPr>
                  <a:t>之间的带通模拟信号，带宽</a:t>
                </a:r>
                <a14:m>
                  <m:oMath xmlns:m="http://schemas.openxmlformats.org/officeDocument/2006/math">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𝐵</m:t>
                    </m:r>
                    <m:r>
                      <a:rPr lang="en-US" sz="2000" i="1">
                        <a:solidFill>
                          <a:srgbClr val="000000"/>
                        </a:solidFill>
                        <a:latin typeface="DejaVu Math TeX Gyre" panose="02000503000000000000" charset="0"/>
                        <a:ea typeface="宋体" pitchFamily="2" charset="-122"/>
                        <a:cs typeface="DejaVu Math TeX Gyre" panose="02000503000000000000" charset="0"/>
                      </a:rPr>
                      <m:t>=</m:t>
                    </m:r>
                    <m:sSub>
                      <m:sSubPr>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sSubPr>
                      <m:e>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𝑓</m:t>
                        </m:r>
                      </m:e>
                      <m:sub>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𝐻</m:t>
                        </m:r>
                      </m:sub>
                    </m:sSub>
                    <m:r>
                      <a:rPr lang="en-US" sz="2000" i="1">
                        <a:solidFill>
                          <a:srgbClr val="000000"/>
                        </a:solidFill>
                        <a:latin typeface="DejaVu Math TeX Gyre" panose="02000503000000000000" charset="0"/>
                        <a:ea typeface="宋体" pitchFamily="2" charset="-122"/>
                        <a:cs typeface="DejaVu Math TeX Gyre" panose="02000503000000000000" charset="0"/>
                      </a:rPr>
                      <m:t>−</m:t>
                    </m:r>
                    <m:sSub>
                      <m:sSubPr>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sSubPr>
                      <m:e>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𝑓</m:t>
                        </m:r>
                      </m:e>
                      <m:sub>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𝐿</m:t>
                        </m:r>
                      </m:sub>
                    </m:sSub>
                  </m:oMath>
                </a14:m>
                <a:r>
                  <a:rPr lang="zh-CN" altLang="en-US" sz="2000" dirty="0">
                    <a:solidFill>
                      <a:srgbClr val="000000"/>
                    </a:solidFill>
                    <a:latin typeface="华文楷体" panose="02010600040101010101" charset="-122"/>
                    <a:ea typeface="华文楷体" panose="02010600040101010101" charset="-122"/>
                    <a:cs typeface="华文楷体" panose="02010600040101010101" charset="-122"/>
                  </a:rPr>
                  <a:t>，其最小抽样频率</a:t>
                </a:r>
                <a14:m>
                  <m:oMath xmlns:m="http://schemas.openxmlformats.org/officeDocument/2006/math">
                    <m:sSub>
                      <m:sSubPr>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sSubPr>
                      <m:e>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𝑓</m:t>
                        </m:r>
                      </m:e>
                      <m:sub>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𝑠</m:t>
                        </m:r>
                      </m:sub>
                    </m:sSub>
                  </m:oMath>
                </a14:m>
                <a:r>
                  <a:rPr lang="zh-CN" altLang="en-US" sz="2000" dirty="0">
                    <a:solidFill>
                      <a:srgbClr val="000000"/>
                    </a:solidFill>
                    <a:latin typeface="华文楷体" panose="02010600040101010101" charset="-122"/>
                    <a:ea typeface="华文楷体" panose="02010600040101010101" charset="-122"/>
                    <a:cs typeface="华文楷体" panose="02010600040101010101" charset="-122"/>
                  </a:rPr>
                  <a:t>为</a:t>
                </a:r>
                <a:endParaRPr lang="en-US" sz="2000" dirty="0">
                  <a:solidFill>
                    <a:srgbClr val="000000"/>
                  </a:solidFill>
                  <a:latin typeface="华文楷体" panose="02010600040101010101" charset="-122"/>
                  <a:ea typeface="华文楷体" panose="02010600040101010101" charset="-122"/>
                  <a:cs typeface="华文楷体" panose="02010600040101010101" charset="-122"/>
                </a:endParaRPr>
              </a:p>
              <a:p>
                <a:pPr indent="266700" algn="just"/>
                <a14:m>
                  <m:oMathPara xmlns:m="http://schemas.openxmlformats.org/officeDocument/2006/math">
                    <m:oMathParaPr>
                      <m:jc m:val="centerGroup"/>
                    </m:oMathParaPr>
                    <m:oMath xmlns:m="http://schemas.openxmlformats.org/officeDocument/2006/math">
                      <m:sSub>
                        <m:sSubPr>
                          <m:ctrlPr>
                            <a:rPr lang="en-US" sz="2000" i="1">
                              <a:solidFill>
                                <a:srgbClr val="C00000"/>
                              </a:solidFill>
                              <a:latin typeface="DejaVu Math TeX Gyre" panose="02000503000000000000" charset="0"/>
                              <a:ea typeface="华文楷体" panose="02010600040101010101" charset="-122"/>
                              <a:cs typeface="DejaVu Math TeX Gyre" panose="02000503000000000000" charset="0"/>
                            </a:rPr>
                          </m:ctrlPr>
                        </m:sSubPr>
                        <m:e>
                          <m:r>
                            <a:rPr lang="en-US" sz="2000" i="1">
                              <a:solidFill>
                                <a:srgbClr val="C00000"/>
                              </a:solidFill>
                              <a:latin typeface="DejaVu Math TeX Gyre" panose="02000503000000000000" charset="0"/>
                              <a:ea typeface="华文楷体" panose="02010600040101010101" charset="-122"/>
                              <a:cs typeface="DejaVu Math TeX Gyre" panose="02000503000000000000" charset="0"/>
                            </a:rPr>
                            <m:t>𝑓</m:t>
                          </m:r>
                        </m:e>
                        <m:sub>
                          <m:r>
                            <a:rPr lang="en-US" sz="2000" i="1">
                              <a:solidFill>
                                <a:srgbClr val="C00000"/>
                              </a:solidFill>
                              <a:latin typeface="DejaVu Math TeX Gyre" panose="02000503000000000000" charset="0"/>
                              <a:ea typeface="华文楷体" panose="02010600040101010101" charset="-122"/>
                              <a:cs typeface="DejaVu Math TeX Gyre" panose="02000503000000000000" charset="0"/>
                            </a:rPr>
                            <m:t>𝑠</m:t>
                          </m:r>
                        </m:sub>
                      </m:sSub>
                      <m:r>
                        <a:rPr lang="en-US" sz="2000" i="1">
                          <a:solidFill>
                            <a:srgbClr val="C00000"/>
                          </a:solidFill>
                          <a:latin typeface="DejaVu Math TeX Gyre" panose="02000503000000000000" charset="0"/>
                          <a:ea typeface="宋体" pitchFamily="2" charset="-122"/>
                          <a:cs typeface="DejaVu Math TeX Gyre" panose="02000503000000000000" charset="0"/>
                        </a:rPr>
                        <m:t>=</m:t>
                      </m:r>
                      <m:r>
                        <a:rPr lang="en-US" sz="2000" i="1">
                          <a:solidFill>
                            <a:srgbClr val="C00000"/>
                          </a:solidFill>
                          <a:latin typeface="DejaVu Math TeX Gyre" panose="02000503000000000000" charset="0"/>
                          <a:ea typeface="宋体" pitchFamily="2" charset="-122"/>
                          <a:cs typeface="DejaVu Math TeX Gyre" panose="02000503000000000000" charset="0"/>
                        </a:rPr>
                        <m:t>2</m:t>
                      </m:r>
                      <m:r>
                        <a:rPr lang="en-US" sz="2000" i="1">
                          <a:solidFill>
                            <a:srgbClr val="C00000"/>
                          </a:solidFill>
                          <a:latin typeface="DejaVu Math TeX Gyre" panose="02000503000000000000" charset="0"/>
                          <a:ea typeface="华文楷体" panose="02010600040101010101" charset="-122"/>
                          <a:cs typeface="DejaVu Math TeX Gyre" panose="02000503000000000000" charset="0"/>
                        </a:rPr>
                        <m:t>𝐵</m:t>
                      </m:r>
                      <m:d>
                        <m:dPr>
                          <m:ctrlPr>
                            <a:rPr lang="en-US" sz="2000" i="1">
                              <a:solidFill>
                                <a:srgbClr val="C00000"/>
                              </a:solidFill>
                              <a:latin typeface="DejaVu Math TeX Gyre" panose="02000503000000000000" charset="0"/>
                              <a:ea typeface="华文楷体" panose="02010600040101010101" charset="-122"/>
                              <a:cs typeface="DejaVu Math TeX Gyre" panose="02000503000000000000" charset="0"/>
                            </a:rPr>
                          </m:ctrlPr>
                        </m:dPr>
                        <m:e>
                          <m:r>
                            <a:rPr lang="en-US" sz="2000" i="1">
                              <a:solidFill>
                                <a:srgbClr val="C00000"/>
                              </a:solidFill>
                              <a:latin typeface="DejaVu Math TeX Gyre" panose="02000503000000000000" charset="0"/>
                              <a:ea typeface="宋体" pitchFamily="2" charset="-122"/>
                              <a:cs typeface="DejaVu Math TeX Gyre" panose="02000503000000000000" charset="0"/>
                            </a:rPr>
                            <m:t>1</m:t>
                          </m:r>
                          <m:r>
                            <a:rPr lang="en-US" sz="2000" i="1">
                              <a:solidFill>
                                <a:srgbClr val="C00000"/>
                              </a:solidFill>
                              <a:latin typeface="DejaVu Math TeX Gyre" panose="02000503000000000000" charset="0"/>
                              <a:ea typeface="宋体" pitchFamily="2" charset="-122"/>
                              <a:cs typeface="DejaVu Math TeX Gyre" panose="02000503000000000000" charset="0"/>
                            </a:rPr>
                            <m:t>+</m:t>
                          </m:r>
                          <m:f>
                            <m:fPr>
                              <m:ctrlPr>
                                <a:rPr lang="en-US" sz="2000" i="1">
                                  <a:solidFill>
                                    <a:srgbClr val="C00000"/>
                                  </a:solidFill>
                                  <a:latin typeface="DejaVu Math TeX Gyre" panose="02000503000000000000" charset="0"/>
                                  <a:ea typeface="华文楷体" panose="02010600040101010101" charset="-122"/>
                                  <a:cs typeface="DejaVu Math TeX Gyre" panose="02000503000000000000" charset="0"/>
                                </a:rPr>
                              </m:ctrlPr>
                            </m:fPr>
                            <m:num>
                              <m:r>
                                <a:rPr lang="en-US" sz="2000" i="1">
                                  <a:solidFill>
                                    <a:srgbClr val="C00000"/>
                                  </a:solidFill>
                                  <a:latin typeface="DejaVu Math TeX Gyre" panose="02000503000000000000" charset="0"/>
                                  <a:ea typeface="华文楷体" panose="02010600040101010101" charset="-122"/>
                                  <a:cs typeface="DejaVu Math TeX Gyre" panose="02000503000000000000" charset="0"/>
                                </a:rPr>
                                <m:t>𝑘</m:t>
                              </m:r>
                            </m:num>
                            <m:den>
                              <m:r>
                                <a:rPr lang="en-US" sz="2000" i="1">
                                  <a:solidFill>
                                    <a:srgbClr val="C00000"/>
                                  </a:solidFill>
                                  <a:latin typeface="DejaVu Math TeX Gyre" panose="02000503000000000000" charset="0"/>
                                  <a:ea typeface="华文楷体" panose="02010600040101010101" charset="-122"/>
                                  <a:cs typeface="DejaVu Math TeX Gyre" panose="02000503000000000000" charset="0"/>
                                </a:rPr>
                                <m:t>𝑛</m:t>
                              </m:r>
                            </m:den>
                          </m:f>
                        </m:e>
                      </m:d>
                    </m:oMath>
                  </m:oMathPara>
                </a14:m>
                <a:endParaRPr lang="en-US" sz="2000" dirty="0">
                  <a:solidFill>
                    <a:srgbClr val="000000"/>
                  </a:solidFill>
                  <a:latin typeface="华文楷体" panose="02010600040101010101" charset="-122"/>
                  <a:ea typeface="华文楷体" panose="02010600040101010101" charset="-122"/>
                  <a:cs typeface="华文楷体" panose="02010600040101010101" charset="-122"/>
                </a:endParaRPr>
              </a:p>
              <a:p>
                <a:pPr algn="just">
                  <a:lnSpc>
                    <a:spcPct val="150000"/>
                  </a:lnSpc>
                </a:pPr>
                <a:r>
                  <a:rPr lang="zh-CN" altLang="en-US" sz="2000" dirty="0">
                    <a:solidFill>
                      <a:srgbClr val="000000"/>
                    </a:solidFill>
                    <a:latin typeface="华文楷体" panose="02010600040101010101" charset="-122"/>
                    <a:ea typeface="华文楷体" panose="02010600040101010101" charset="-122"/>
                    <a:cs typeface="华文楷体" panose="02010600040101010101" charset="-122"/>
                  </a:rPr>
                  <a:t>其中，</a:t>
                </a:r>
                <a:r>
                  <a:rPr lang="en-US" sz="2000" i="1" dirty="0">
                    <a:solidFill>
                      <a:srgbClr val="000000"/>
                    </a:solidFill>
                    <a:latin typeface="华文楷体" panose="02010600040101010101" charset="-122"/>
                    <a:ea typeface="华文楷体" panose="02010600040101010101" charset="-122"/>
                    <a:cs typeface="华文楷体" panose="02010600040101010101" charset="-122"/>
                  </a:rPr>
                  <a:t>k</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rPr>
                  <a:t>为</a:t>
                </a:r>
                <a14:m>
                  <m:oMath xmlns:m="http://schemas.openxmlformats.org/officeDocument/2006/math">
                    <m:f>
                      <m:fPr>
                        <m:type m:val="lin"/>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fPr>
                      <m:num>
                        <m:sSub>
                          <m:sSubPr>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sSubPr>
                          <m:e>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𝑓</m:t>
                            </m:r>
                          </m:e>
                          <m:sub>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𝐻</m:t>
                            </m:r>
                          </m:sub>
                        </m:sSub>
                      </m:num>
                      <m:den>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𝐵</m:t>
                        </m:r>
                      </m:den>
                    </m:f>
                  </m:oMath>
                </a14:m>
                <a:r>
                  <a:rPr lang="zh-CN" altLang="en-US" sz="2000" dirty="0">
                    <a:solidFill>
                      <a:srgbClr val="000000"/>
                    </a:solidFill>
                    <a:latin typeface="华文楷体" panose="02010600040101010101" charset="-122"/>
                    <a:ea typeface="华文楷体" panose="02010600040101010101" charset="-122"/>
                    <a:cs typeface="华文楷体" panose="02010600040101010101" charset="-122"/>
                  </a:rPr>
                  <a:t>的小数部分，</a:t>
                </a:r>
                <a:r>
                  <a:rPr lang="en-US" sz="2000" i="1" dirty="0">
                    <a:solidFill>
                      <a:srgbClr val="000000"/>
                    </a:solidFill>
                    <a:latin typeface="华文楷体" panose="02010600040101010101" charset="-122"/>
                    <a:ea typeface="华文楷体" panose="02010600040101010101" charset="-122"/>
                    <a:cs typeface="华文楷体" panose="02010600040101010101" charset="-122"/>
                  </a:rPr>
                  <a:t>n</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rPr>
                  <a:t>为</a:t>
                </a:r>
                <a14:m>
                  <m:oMath xmlns:m="http://schemas.openxmlformats.org/officeDocument/2006/math">
                    <m:f>
                      <m:fPr>
                        <m:type m:val="lin"/>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fPr>
                      <m:num>
                        <m:sSub>
                          <m:sSubPr>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sSubPr>
                          <m:e>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𝑓</m:t>
                            </m:r>
                          </m:e>
                          <m:sub>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𝐻</m:t>
                            </m:r>
                          </m:sub>
                        </m:sSub>
                      </m:num>
                      <m:den>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𝐵</m:t>
                        </m:r>
                      </m:den>
                    </m:f>
                  </m:oMath>
                </a14:m>
                <a:r>
                  <a:rPr lang="zh-CN" altLang="en-US" sz="2000" dirty="0">
                    <a:solidFill>
                      <a:srgbClr val="000000"/>
                    </a:solidFill>
                    <a:latin typeface="华文楷体" panose="02010600040101010101" charset="-122"/>
                    <a:ea typeface="华文楷体" panose="02010600040101010101" charset="-122"/>
                    <a:cs typeface="华文楷体" panose="02010600040101010101" charset="-122"/>
                  </a:rPr>
                  <a:t>的整数部分。</a:t>
                </a:r>
                <a:endParaRPr lang="zh-CN" altLang="en-US" sz="2000" dirty="0">
                  <a:solidFill>
                    <a:srgbClr val="000000"/>
                  </a:solidFill>
                  <a:latin typeface="华文楷体" panose="02010600040101010101" charset="-122"/>
                  <a:ea typeface="华文楷体" panose="02010600040101010101" charset="-122"/>
                  <a:cs typeface="华文楷体" panose="02010600040101010101" charset="-122"/>
                </a:endParaRPr>
              </a:p>
            </p:txBody>
          </p:sp>
        </mc:Choice>
        <mc:Fallback>
          <p:sp>
            <p:nvSpPr>
              <p:cNvPr id="10" name="Rectangle 21"/>
              <p:cNvSpPr>
                <a:spLocks noRot="1" noChangeAspect="1" noMove="1" noResize="1" noEditPoints="1" noAdjustHandles="1" noChangeArrowheads="1" noChangeShapeType="1" noTextEdit="1"/>
              </p:cNvSpPr>
              <p:nvPr>
                <p:custDataLst>
                  <p:tags r:id="rId6"/>
                </p:custDataLst>
              </p:nvPr>
            </p:nvSpPr>
            <p:spPr bwMode="auto">
              <a:xfrm>
                <a:off x="1238885" y="3861435"/>
                <a:ext cx="10010140" cy="2731770"/>
              </a:xfrm>
              <a:prstGeom prst="rect">
                <a:avLst/>
              </a:prstGeom>
              <a:blipFill rotWithShape="1">
                <a:blip r:embed="rId7"/>
                <a:stretch>
                  <a:fillRect/>
                </a:stretch>
              </a:blipFill>
              <a:ln w="12700">
                <a:noFill/>
                <a:miter lim="800000"/>
                <a:headEnd type="none" w="sm" len="sm"/>
                <a:tailEnd type="none" w="sm" len="sm"/>
              </a:ln>
              <a:effectLst/>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mc:AlternateContent xmlns:mc="http://schemas.openxmlformats.org/markup-compatibility/2006">
        <mc:Choice xmlns:a14="http://schemas.microsoft.com/office/drawing/2010/main" Requires="a14">
          <p:sp>
            <p:nvSpPr>
              <p:cNvPr id="7" name="Text Box 7"/>
              <p:cNvSpPr txBox="1">
                <a:spLocks noChangeArrowheads="1"/>
              </p:cNvSpPr>
              <p:nvPr/>
            </p:nvSpPr>
            <p:spPr bwMode="auto">
              <a:xfrm>
                <a:off x="839470" y="764540"/>
                <a:ext cx="10477500" cy="645160"/>
              </a:xfrm>
              <a:prstGeom prst="rect">
                <a:avLst/>
              </a:prstGeom>
              <a:noFill/>
              <a:ln w="9525">
                <a:noFill/>
                <a:miter lim="800000"/>
              </a:ln>
              <a:effectLst/>
            </p:spPr>
            <p:txBody>
              <a:bodyPr wrap="square">
                <a:spAutoFit/>
              </a:bodyPr>
              <a:p>
                <a:pPr marL="342900" indent="-342900">
                  <a:lnSpc>
                    <a:spcPct val="150000"/>
                  </a:lnSpc>
                  <a:spcBef>
                    <a:spcPct val="50000"/>
                  </a:spcBef>
                  <a:buFont typeface="Arial" panose="020B0604020202090204" pitchFamily="34" charset="0"/>
                  <a:buChar char="•"/>
                </a:pPr>
                <a:r>
                  <a:rPr lang="zh-CN" altLang="en-US" sz="2400" b="1" dirty="0">
                    <a:solidFill>
                      <a:srgbClr val="FF0000"/>
                    </a:solidFill>
                    <a:latin typeface="Times New Roman" panose="02020603050405020304" pitchFamily="18" charset="0"/>
                    <a:ea typeface="宋体" pitchFamily="2" charset="-122"/>
                    <a:cs typeface="Times New Roman" panose="02020603050405020304" pitchFamily="18" charset="0"/>
                  </a:rPr>
                  <a:t>理想抽样</a:t>
                </a:r>
                <a:r>
                  <a:rPr lang="zh-CN" altLang="en-US" sz="2400" dirty="0">
                    <a:latin typeface="Times New Roman" panose="02020603050405020304" pitchFamily="18" charset="0"/>
                    <a:ea typeface="宋体" pitchFamily="2" charset="-122"/>
                    <a:cs typeface="Times New Roman" panose="02020603050405020304" pitchFamily="18" charset="0"/>
                  </a:rPr>
                  <a:t>信号</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宋体" pitchFamily="2" charset="-122"/>
                            <a:cs typeface="Times New Roman" panose="02020603050405020304" pitchFamily="18" charset="0"/>
                          </a:rPr>
                          <m:t>𝑚</m:t>
                        </m:r>
                      </m:e>
                      <m:sub>
                        <m:r>
                          <a:rPr lang="en-US" sz="2400" i="1">
                            <a:latin typeface="Cambria Math" panose="02040503050406030204" pitchFamily="18" charset="0"/>
                            <a:ea typeface="宋体" pitchFamily="2" charset="-122"/>
                            <a:cs typeface="Times New Roman" panose="02020603050405020304" pitchFamily="18" charset="0"/>
                          </a:rPr>
                          <m:t>𝑠</m:t>
                        </m:r>
                      </m:sub>
                    </m:sSub>
                    <m:d>
                      <m:dPr>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ea typeface="宋体" pitchFamily="2" charset="-122"/>
                            <a:cs typeface="Times New Roman" panose="02020603050405020304" pitchFamily="18" charset="0"/>
                          </a:rPr>
                          <m:t>𝑡</m:t>
                        </m:r>
                      </m:e>
                    </m:d>
                  </m:oMath>
                </a14:m>
                <a:r>
                  <a:rPr lang="zh-CN" altLang="en-US" sz="2400" dirty="0">
                    <a:latin typeface="Times New Roman" panose="02020603050405020304" pitchFamily="18" charset="0"/>
                    <a:ea typeface="宋体" pitchFamily="2" charset="-122"/>
                    <a:cs typeface="Times New Roman" panose="02020603050405020304" pitchFamily="18" charset="0"/>
                  </a:rPr>
                  <a:t>由模拟信号</a:t>
                </a:r>
                <a14:m>
                  <m:oMath xmlns:m="http://schemas.openxmlformats.org/officeDocument/2006/math">
                    <m:r>
                      <a:rPr lang="en-US" sz="2400" i="1">
                        <a:latin typeface="Cambria Math" panose="02040503050406030204" pitchFamily="18" charset="0"/>
                        <a:ea typeface="宋体" pitchFamily="2" charset="-122"/>
                        <a:cs typeface="Times New Roman" panose="02020603050405020304" pitchFamily="18" charset="0"/>
                      </a:rPr>
                      <m:t>𝑚</m:t>
                    </m:r>
                    <m:d>
                      <m:dPr>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ea typeface="宋体" pitchFamily="2" charset="-122"/>
                            <a:cs typeface="Times New Roman" panose="02020603050405020304" pitchFamily="18" charset="0"/>
                          </a:rPr>
                          <m:t>𝑡</m:t>
                        </m:r>
                      </m:e>
                    </m:d>
                  </m:oMath>
                </a14:m>
                <a:r>
                  <a:rPr lang="zh-CN" altLang="en-US" sz="2400" dirty="0">
                    <a:latin typeface="Times New Roman" panose="02020603050405020304" pitchFamily="18" charset="0"/>
                    <a:ea typeface="宋体" pitchFamily="2" charset="-122"/>
                    <a:cs typeface="Times New Roman" panose="02020603050405020304" pitchFamily="18" charset="0"/>
                  </a:rPr>
                  <a:t>与冲激脉冲序列</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宋体" pitchFamily="2" charset="-122"/>
                            <a:cs typeface="Times New Roman" panose="02020603050405020304" pitchFamily="18" charset="0"/>
                          </a:rPr>
                          <m:t>𝛿</m:t>
                        </m:r>
                      </m:e>
                      <m:sub>
                        <m:r>
                          <a:rPr lang="en-US" sz="2400" i="1">
                            <a:latin typeface="Cambria Math" panose="02040503050406030204" pitchFamily="18" charset="0"/>
                            <a:ea typeface="宋体" pitchFamily="2" charset="-122"/>
                            <a:cs typeface="Times New Roman" panose="02020603050405020304" pitchFamily="18" charset="0"/>
                          </a:rPr>
                          <m:t>𝑇</m:t>
                        </m:r>
                      </m:sub>
                    </m:sSub>
                    <m:d>
                      <m:dPr>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ea typeface="宋体" pitchFamily="2" charset="-122"/>
                            <a:cs typeface="Times New Roman" panose="02020603050405020304" pitchFamily="18" charset="0"/>
                          </a:rPr>
                          <m:t>𝑡</m:t>
                        </m:r>
                      </m:e>
                    </m:d>
                  </m:oMath>
                </a14:m>
                <a:r>
                  <a:rPr lang="zh-CN" altLang="en-US" sz="2400" dirty="0">
                    <a:latin typeface="Times New Roman" panose="02020603050405020304" pitchFamily="18" charset="0"/>
                    <a:ea typeface="宋体" pitchFamily="2" charset="-122"/>
                    <a:cs typeface="Times New Roman" panose="02020603050405020304" pitchFamily="18" charset="0"/>
                  </a:rPr>
                  <a:t>相乘所得。</a:t>
                </a:r>
                <a:r>
                  <a:rPr lang="en-US" sz="2400" dirty="0"/>
                  <a:t> </a:t>
                </a:r>
                <a:endParaRPr lang="zh-CN" altLang="en-US" sz="2400" b="1" dirty="0">
                  <a:latin typeface="Times New Roman" panose="02020603050405020304" pitchFamily="18" charset="0"/>
                  <a:ea typeface="华文楷体" panose="02010600040101010101" charset="-122"/>
                  <a:cs typeface="Times New Roman" panose="02020603050405020304" pitchFamily="18" charset="0"/>
                </a:endParaRPr>
              </a:p>
            </p:txBody>
          </p:sp>
        </mc:Choice>
        <mc:Fallback>
          <p:sp>
            <p:nvSpPr>
              <p:cNvPr id="7" name="Text Box 7"/>
              <p:cNvSpPr txBox="1">
                <a:spLocks noRot="1" noChangeAspect="1" noMove="1" noResize="1" noEditPoints="1" noAdjustHandles="1" noChangeArrowheads="1" noChangeShapeType="1" noTextEdit="1"/>
              </p:cNvSpPr>
              <p:nvPr/>
            </p:nvSpPr>
            <p:spPr bwMode="auto">
              <a:xfrm>
                <a:off x="839470" y="764540"/>
                <a:ext cx="10477500" cy="645160"/>
              </a:xfrm>
              <a:prstGeom prst="rect">
                <a:avLst/>
              </a:prstGeom>
              <a:blipFill rotWithShape="1">
                <a:blip r:embed="rId2"/>
                <a:stretch>
                  <a:fillRect b="-6791"/>
                </a:stretch>
              </a:blipFill>
              <a:ln w="9525">
                <a:noFill/>
                <a:miter lim="800000"/>
              </a:ln>
              <a:effectLst/>
            </p:spPr>
            <p:txBody>
              <a:bodyPr/>
              <a:lstStyle/>
              <a:p>
                <a:r>
                  <a:rPr lang="zh-CN" altLang="en-US">
                    <a:noFill/>
                  </a:rPr>
                  <a:t> </a:t>
                </a:r>
              </a:p>
            </p:txBody>
          </p:sp>
        </mc:Fallback>
      </mc:AlternateContent>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344" y="2060848"/>
            <a:ext cx="2881312" cy="142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p:cNvPicPr>
            <a:picLocks noChangeAspect="1"/>
          </p:cNvPicPr>
          <p:nvPr/>
        </p:nvPicPr>
        <p:blipFill>
          <a:blip r:embed="rId4"/>
          <a:stretch>
            <a:fillRect/>
          </a:stretch>
        </p:blipFill>
        <p:spPr>
          <a:xfrm>
            <a:off x="1967908" y="3632448"/>
            <a:ext cx="8256184" cy="2989308"/>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mc:AlternateContent xmlns:mc="http://schemas.openxmlformats.org/markup-compatibility/2006">
        <mc:Choice xmlns:a14="http://schemas.microsoft.com/office/drawing/2010/main" Requires="a14">
          <p:sp>
            <p:nvSpPr>
              <p:cNvPr id="7" name="Text Box 7"/>
              <p:cNvSpPr txBox="1">
                <a:spLocks noChangeArrowheads="1"/>
              </p:cNvSpPr>
              <p:nvPr/>
            </p:nvSpPr>
            <p:spPr bwMode="auto">
              <a:xfrm>
                <a:off x="839470" y="764540"/>
                <a:ext cx="10477500" cy="645160"/>
              </a:xfrm>
              <a:prstGeom prst="rect">
                <a:avLst/>
              </a:prstGeom>
              <a:noFill/>
              <a:ln w="9525">
                <a:noFill/>
                <a:miter lim="800000"/>
              </a:ln>
              <a:effectLst/>
            </p:spPr>
            <p:txBody>
              <a:bodyPr wrap="square">
                <a:spAutoFit/>
              </a:bodyPr>
              <a:lstStyle/>
              <a:p>
                <a:pPr marL="342900" indent="-342900">
                  <a:lnSpc>
                    <a:spcPct val="150000"/>
                  </a:lnSpc>
                  <a:spcBef>
                    <a:spcPct val="50000"/>
                  </a:spcBef>
                  <a:buFont typeface="Arial" panose="020B0604020202090204" pitchFamily="34" charset="0"/>
                  <a:buChar char="•"/>
                </a:pPr>
                <a:r>
                  <a:rPr lang="zh-CN" altLang="en-US" sz="2400" b="1" dirty="0">
                    <a:solidFill>
                      <a:srgbClr val="FF0000"/>
                    </a:solidFill>
                    <a:latin typeface="Times New Roman" panose="02020603050405020304" pitchFamily="18" charset="0"/>
                    <a:ea typeface="宋体" pitchFamily="2" charset="-122"/>
                    <a:cs typeface="Times New Roman" panose="02020603050405020304" pitchFamily="18" charset="0"/>
                  </a:rPr>
                  <a:t>理想抽样</a:t>
                </a:r>
                <a:r>
                  <a:rPr lang="zh-CN" altLang="en-US" sz="2400" dirty="0">
                    <a:latin typeface="Times New Roman" panose="02020603050405020304" pitchFamily="18" charset="0"/>
                    <a:ea typeface="宋体" pitchFamily="2" charset="-122"/>
                    <a:cs typeface="Times New Roman" panose="02020603050405020304" pitchFamily="18" charset="0"/>
                  </a:rPr>
                  <a:t>信号</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宋体" pitchFamily="2" charset="-122"/>
                            <a:cs typeface="Times New Roman" panose="02020603050405020304" pitchFamily="18" charset="0"/>
                          </a:rPr>
                          <m:t>𝑚</m:t>
                        </m:r>
                      </m:e>
                      <m:sub>
                        <m:r>
                          <a:rPr lang="en-US" sz="2400" i="1">
                            <a:latin typeface="Cambria Math" panose="02040503050406030204" pitchFamily="18" charset="0"/>
                            <a:ea typeface="宋体" pitchFamily="2" charset="-122"/>
                            <a:cs typeface="Times New Roman" panose="02020603050405020304" pitchFamily="18" charset="0"/>
                          </a:rPr>
                          <m:t>𝑠</m:t>
                        </m:r>
                      </m:sub>
                    </m:sSub>
                    <m:d>
                      <m:dPr>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ea typeface="宋体" pitchFamily="2" charset="-122"/>
                            <a:cs typeface="Times New Roman" panose="02020603050405020304" pitchFamily="18" charset="0"/>
                          </a:rPr>
                          <m:t>𝑡</m:t>
                        </m:r>
                      </m:e>
                    </m:d>
                  </m:oMath>
                </a14:m>
                <a:r>
                  <a:rPr lang="zh-CN" altLang="en-US" sz="2400" dirty="0">
                    <a:latin typeface="Times New Roman" panose="02020603050405020304" pitchFamily="18" charset="0"/>
                    <a:ea typeface="宋体" pitchFamily="2" charset="-122"/>
                    <a:cs typeface="Times New Roman" panose="02020603050405020304" pitchFamily="18" charset="0"/>
                  </a:rPr>
                  <a:t>由模拟信号</a:t>
                </a:r>
                <a14:m>
                  <m:oMath xmlns:m="http://schemas.openxmlformats.org/officeDocument/2006/math">
                    <m:r>
                      <a:rPr lang="en-US" sz="2400" i="1">
                        <a:latin typeface="Cambria Math" panose="02040503050406030204" pitchFamily="18" charset="0"/>
                        <a:ea typeface="宋体" pitchFamily="2" charset="-122"/>
                        <a:cs typeface="Times New Roman" panose="02020603050405020304" pitchFamily="18" charset="0"/>
                      </a:rPr>
                      <m:t>𝑚</m:t>
                    </m:r>
                    <m:d>
                      <m:dPr>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ea typeface="宋体" pitchFamily="2" charset="-122"/>
                            <a:cs typeface="Times New Roman" panose="02020603050405020304" pitchFamily="18" charset="0"/>
                          </a:rPr>
                          <m:t>𝑡</m:t>
                        </m:r>
                      </m:e>
                    </m:d>
                  </m:oMath>
                </a14:m>
                <a:r>
                  <a:rPr lang="zh-CN" altLang="en-US" sz="2400" dirty="0">
                    <a:latin typeface="Times New Roman" panose="02020603050405020304" pitchFamily="18" charset="0"/>
                    <a:ea typeface="宋体" pitchFamily="2" charset="-122"/>
                    <a:cs typeface="Times New Roman" panose="02020603050405020304" pitchFamily="18" charset="0"/>
                  </a:rPr>
                  <a:t>与冲激脉冲序列</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宋体" pitchFamily="2" charset="-122"/>
                            <a:cs typeface="Times New Roman" panose="02020603050405020304" pitchFamily="18" charset="0"/>
                          </a:rPr>
                          <m:t>𝛿</m:t>
                        </m:r>
                      </m:e>
                      <m:sub>
                        <m:r>
                          <a:rPr lang="en-US" sz="2400" i="1">
                            <a:latin typeface="Cambria Math" panose="02040503050406030204" pitchFamily="18" charset="0"/>
                            <a:ea typeface="宋体" pitchFamily="2" charset="-122"/>
                            <a:cs typeface="Times New Roman" panose="02020603050405020304" pitchFamily="18" charset="0"/>
                          </a:rPr>
                          <m:t>𝑇</m:t>
                        </m:r>
                      </m:sub>
                    </m:sSub>
                    <m:d>
                      <m:dPr>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ea typeface="宋体" pitchFamily="2" charset="-122"/>
                            <a:cs typeface="Times New Roman" panose="02020603050405020304" pitchFamily="18" charset="0"/>
                          </a:rPr>
                          <m:t>𝑡</m:t>
                        </m:r>
                      </m:e>
                    </m:d>
                  </m:oMath>
                </a14:m>
                <a:r>
                  <a:rPr lang="zh-CN" altLang="en-US" sz="2400" dirty="0">
                    <a:latin typeface="Times New Roman" panose="02020603050405020304" pitchFamily="18" charset="0"/>
                    <a:ea typeface="宋体" pitchFamily="2" charset="-122"/>
                    <a:cs typeface="Times New Roman" panose="02020603050405020304" pitchFamily="18" charset="0"/>
                  </a:rPr>
                  <a:t>相乘所得。</a:t>
                </a:r>
                <a:r>
                  <a:rPr lang="en-US" sz="2400" dirty="0"/>
                  <a:t> </a:t>
                </a:r>
                <a:endParaRPr lang="zh-CN" altLang="en-US" sz="2400" b="1" dirty="0">
                  <a:latin typeface="Times New Roman" panose="02020603050405020304" pitchFamily="18" charset="0"/>
                  <a:ea typeface="华文楷体" panose="02010600040101010101" charset="-122"/>
                  <a:cs typeface="Times New Roman" panose="02020603050405020304" pitchFamily="18" charset="0"/>
                </a:endParaRPr>
              </a:p>
            </p:txBody>
          </p:sp>
        </mc:Choice>
        <mc:Fallback>
          <p:sp>
            <p:nvSpPr>
              <p:cNvPr id="7" name="Text Box 7"/>
              <p:cNvSpPr txBox="1">
                <a:spLocks noRot="1" noChangeAspect="1" noMove="1" noResize="1" noEditPoints="1" noAdjustHandles="1" noChangeArrowheads="1" noChangeShapeType="1" noTextEdit="1"/>
              </p:cNvSpPr>
              <p:nvPr/>
            </p:nvSpPr>
            <p:spPr bwMode="auto">
              <a:xfrm>
                <a:off x="839470" y="764540"/>
                <a:ext cx="10477500" cy="645160"/>
              </a:xfrm>
              <a:prstGeom prst="rect">
                <a:avLst/>
              </a:prstGeom>
              <a:blipFill rotWithShape="1">
                <a:blip r:embed="rId2"/>
                <a:stretch>
                  <a:fillRect b="-6791"/>
                </a:stretch>
              </a:blipFill>
              <a:ln w="9525">
                <a:noFill/>
                <a:miter lim="800000"/>
              </a:ln>
              <a:effectLst/>
            </p:spPr>
            <p:txBody>
              <a:bodyPr/>
              <a:lstStyle/>
              <a:p>
                <a:r>
                  <a:rPr lang="zh-CN" altLang="en-US">
                    <a:noFill/>
                  </a:rPr>
                  <a:t> </a:t>
                </a:r>
              </a:p>
            </p:txBody>
          </p:sp>
        </mc:Fallback>
      </mc:AlternateContent>
      <p:pic>
        <p:nvPicPr>
          <p:cNvPr id="4" name="Picture 3"/>
          <p:cNvPicPr>
            <a:picLocks noChangeAspect="1"/>
          </p:cNvPicPr>
          <p:nvPr/>
        </p:nvPicPr>
        <p:blipFill>
          <a:blip r:embed="rId3"/>
          <a:stretch>
            <a:fillRect/>
          </a:stretch>
        </p:blipFill>
        <p:spPr>
          <a:xfrm>
            <a:off x="1559243" y="1340262"/>
            <a:ext cx="8748973" cy="540060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464820" y="693420"/>
            <a:ext cx="11272520" cy="775970"/>
          </a:xfrm>
        </p:spPr>
        <p:txBody>
          <a:bodyPr/>
          <a:p>
            <a:r>
              <a:rPr lang="zh-CN" altLang="en-US" sz="2400" b="1">
                <a:latin typeface="华文楷体" panose="02010600040101010101" charset="-122"/>
                <a:ea typeface="华文楷体" panose="02010600040101010101" charset="-122"/>
                <a:cs typeface="华文楷体" panose="02010600040101010101" charset="-122"/>
              </a:rPr>
              <a:t>量化</a:t>
            </a:r>
            <a:endParaRPr lang="zh-CN" altLang="en-US" sz="2400" b="1">
              <a:latin typeface="华文楷体" panose="02010600040101010101" charset="-122"/>
              <a:ea typeface="华文楷体" panose="02010600040101010101" charset="-122"/>
              <a:cs typeface="华文楷体" panose="02010600040101010101" charset="-122"/>
            </a:endParaRPr>
          </a:p>
        </p:txBody>
      </p:sp>
      <p:grpSp>
        <p:nvGrpSpPr>
          <p:cNvPr id="29698" name="组合 72"/>
          <p:cNvGrpSpPr/>
          <p:nvPr/>
        </p:nvGrpSpPr>
        <p:grpSpPr>
          <a:xfrm>
            <a:off x="5347653" y="1365568"/>
            <a:ext cx="3376612" cy="3233737"/>
            <a:chOff x="0" y="0"/>
            <a:chExt cx="3377090" cy="3233082"/>
          </a:xfrm>
        </p:grpSpPr>
        <p:sp>
          <p:nvSpPr>
            <p:cNvPr id="30759" name="菱形 64"/>
            <p:cNvSpPr/>
            <p:nvPr>
              <p:custDataLst>
                <p:tags r:id="rId3"/>
              </p:custDataLst>
            </p:nvPr>
          </p:nvSpPr>
          <p:spPr>
            <a:xfrm>
              <a:off x="3243721" y="749148"/>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30760" name="菱形 66"/>
            <p:cNvSpPr/>
            <p:nvPr>
              <p:custDataLst>
                <p:tags r:id="rId4"/>
              </p:custDataLst>
            </p:nvPr>
          </p:nvSpPr>
          <p:spPr>
            <a:xfrm>
              <a:off x="2614982" y="0"/>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30761" name="菱形 67"/>
            <p:cNvSpPr/>
            <p:nvPr>
              <p:custDataLst>
                <p:tags r:id="rId5"/>
              </p:custDataLst>
            </p:nvPr>
          </p:nvSpPr>
          <p:spPr>
            <a:xfrm>
              <a:off x="1971954" y="771369"/>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30762" name="菱形 68"/>
            <p:cNvSpPr/>
            <p:nvPr>
              <p:custDataLst>
                <p:tags r:id="rId6"/>
              </p:custDataLst>
            </p:nvPr>
          </p:nvSpPr>
          <p:spPr>
            <a:xfrm>
              <a:off x="1314636" y="1571307"/>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30763" name="菱形 70"/>
            <p:cNvSpPr/>
            <p:nvPr>
              <p:custDataLst>
                <p:tags r:id="rId7"/>
              </p:custDataLst>
            </p:nvPr>
          </p:nvSpPr>
          <p:spPr>
            <a:xfrm>
              <a:off x="657318" y="2285537"/>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30764" name="菱形 71"/>
            <p:cNvSpPr/>
            <p:nvPr>
              <p:custDataLst>
                <p:tags r:id="rId8"/>
              </p:custDataLst>
            </p:nvPr>
          </p:nvSpPr>
          <p:spPr>
            <a:xfrm>
              <a:off x="0" y="3099759"/>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grpSp>
      <p:pic>
        <p:nvPicPr>
          <p:cNvPr id="29705" name="Picture 3"/>
          <p:cNvPicPr>
            <a:picLocks noChangeAspect="1"/>
          </p:cNvPicPr>
          <p:nvPr>
            <p:custDataLst>
              <p:tags r:id="rId9"/>
            </p:custDataLst>
          </p:nvPr>
        </p:nvPicPr>
        <p:blipFill>
          <a:blip r:embed="rId10"/>
          <a:srcRect b="2533"/>
          <a:stretch>
            <a:fillRect/>
          </a:stretch>
        </p:blipFill>
        <p:spPr>
          <a:xfrm>
            <a:off x="4290378" y="790893"/>
            <a:ext cx="6710362" cy="5494337"/>
          </a:xfrm>
          <a:prstGeom prst="rect">
            <a:avLst/>
          </a:prstGeom>
          <a:noFill/>
          <a:ln w="9525">
            <a:noFill/>
          </a:ln>
        </p:spPr>
      </p:pic>
      <p:sp>
        <p:nvSpPr>
          <p:cNvPr id="29706" name="圆角矩形标注 7"/>
          <p:cNvSpPr/>
          <p:nvPr>
            <p:custDataLst>
              <p:tags r:id="rId11"/>
            </p:custDataLst>
          </p:nvPr>
        </p:nvSpPr>
        <p:spPr>
          <a:xfrm>
            <a:off x="10291128" y="1552893"/>
            <a:ext cx="1000125" cy="428625"/>
          </a:xfrm>
          <a:prstGeom prst="wedgeRoundRectCallout">
            <a:avLst>
              <a:gd name="adj1" fmla="val -54213"/>
              <a:gd name="adj2" fmla="val 42116"/>
              <a:gd name="adj3" fmla="val 16667"/>
            </a:avLst>
          </a:prstGeom>
          <a:noFill/>
          <a:ln w="19050" cap="flat" cmpd="sng">
            <a:solidFill>
              <a:srgbClr val="0066FF"/>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zh-CN" altLang="en-US" sz="2000" b="1" dirty="0">
                <a:solidFill>
                  <a:srgbClr val="000000"/>
                </a:solidFill>
                <a:latin typeface="华文楷体" panose="02010600040101010101" charset="-122"/>
                <a:ea typeface="华文楷体" panose="02010600040101010101" charset="-122"/>
                <a:sym typeface="微软雅黑" panose="020B0503020204020204" pitchFamily="34" charset="-122"/>
              </a:rPr>
              <a:t>抽样值</a:t>
            </a:r>
            <a:endParaRPr lang="zh-CN" altLang="en-US" sz="2000" b="1" dirty="0">
              <a:solidFill>
                <a:srgbClr val="000000"/>
              </a:solidFill>
              <a:latin typeface="华文楷体" panose="02010600040101010101" charset="-122"/>
              <a:ea typeface="华文楷体" panose="02010600040101010101" charset="-122"/>
              <a:sym typeface="微软雅黑" panose="020B0503020204020204" pitchFamily="34" charset="-122"/>
            </a:endParaRPr>
          </a:p>
        </p:txBody>
      </p:sp>
      <p:sp>
        <p:nvSpPr>
          <p:cNvPr id="29707" name="圆角矩形标注 6"/>
          <p:cNvSpPr/>
          <p:nvPr>
            <p:custDataLst>
              <p:tags r:id="rId12"/>
            </p:custDataLst>
          </p:nvPr>
        </p:nvSpPr>
        <p:spPr>
          <a:xfrm>
            <a:off x="3290253" y="1141730"/>
            <a:ext cx="785812" cy="785813"/>
          </a:xfrm>
          <a:prstGeom prst="wedgeRoundRectCallout">
            <a:avLst>
              <a:gd name="adj1" fmla="val 93532"/>
              <a:gd name="adj2" fmla="val 36079"/>
              <a:gd name="adj3" fmla="val 16667"/>
            </a:avLst>
          </a:prstGeom>
          <a:solidFill>
            <a:srgbClr val="F2F2F2"/>
          </a:solidFill>
          <a:ln w="19050" cap="flat" cmpd="sng">
            <a:solidFill>
              <a:srgbClr val="969696"/>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120000"/>
              </a:lnSpc>
              <a:spcBef>
                <a:spcPct val="0"/>
              </a:spcBef>
              <a:buNone/>
            </a:pPr>
            <a:r>
              <a:rPr lang="zh-CN" altLang="en-US" sz="2000" b="1" dirty="0">
                <a:solidFill>
                  <a:srgbClr val="000000"/>
                </a:solidFill>
                <a:latin typeface="华文楷体" panose="02010600040101010101" charset="-122"/>
                <a:ea typeface="华文楷体" panose="02010600040101010101" charset="-122"/>
                <a:sym typeface="微软雅黑" panose="020B0503020204020204" pitchFamily="34" charset="-122"/>
              </a:rPr>
              <a:t>分层</a:t>
            </a:r>
            <a:endParaRPr lang="en-US" altLang="zh-CN" sz="2000" b="1" dirty="0">
              <a:solidFill>
                <a:srgbClr val="000000"/>
              </a:solidFill>
              <a:latin typeface="华文楷体" panose="02010600040101010101" charset="-122"/>
              <a:ea typeface="华文楷体" panose="02010600040101010101" charset="-122"/>
              <a:sym typeface="微软雅黑" panose="020B0503020204020204" pitchFamily="34" charset="-122"/>
            </a:endParaRPr>
          </a:p>
          <a:p>
            <a:pPr marL="0" lvl="0" indent="0" defTabSz="914400">
              <a:lnSpc>
                <a:spcPct val="120000"/>
              </a:lnSpc>
              <a:spcBef>
                <a:spcPct val="0"/>
              </a:spcBef>
              <a:buNone/>
            </a:pPr>
            <a:r>
              <a:rPr lang="zh-CN" altLang="en-US" sz="2000" b="1" dirty="0">
                <a:solidFill>
                  <a:srgbClr val="000000"/>
                </a:solidFill>
                <a:latin typeface="华文楷体" panose="02010600040101010101" charset="-122"/>
                <a:ea typeface="华文楷体" panose="02010600040101010101" charset="-122"/>
                <a:sym typeface="微软雅黑" panose="020B0503020204020204" pitchFamily="34" charset="-122"/>
              </a:rPr>
              <a:t>电平</a:t>
            </a:r>
            <a:endParaRPr lang="zh-CN" altLang="en-US" sz="2400" dirty="0">
              <a:solidFill>
                <a:srgbClr val="FF0000"/>
              </a:solidFill>
              <a:latin typeface="华文楷体" panose="02010600040101010101" charset="-122"/>
              <a:ea typeface="华文楷体" panose="02010600040101010101" charset="-122"/>
            </a:endParaRPr>
          </a:p>
        </p:txBody>
      </p:sp>
      <p:sp>
        <p:nvSpPr>
          <p:cNvPr id="29709" name="圆角矩形标注 22"/>
          <p:cNvSpPr/>
          <p:nvPr>
            <p:custDataLst>
              <p:tags r:id="rId13"/>
            </p:custDataLst>
          </p:nvPr>
        </p:nvSpPr>
        <p:spPr>
          <a:xfrm>
            <a:off x="3250565" y="2356168"/>
            <a:ext cx="785813" cy="785812"/>
          </a:xfrm>
          <a:prstGeom prst="wedgeRoundRectCallout">
            <a:avLst>
              <a:gd name="adj1" fmla="val 102769"/>
              <a:gd name="adj2" fmla="val -67352"/>
              <a:gd name="adj3" fmla="val 16667"/>
            </a:avLst>
          </a:prstGeom>
          <a:solidFill>
            <a:srgbClr val="F2F2F2"/>
          </a:solidFill>
          <a:ln w="19050" cap="flat" cmpd="sng">
            <a:solidFill>
              <a:srgbClr val="969696"/>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120000"/>
              </a:lnSpc>
              <a:spcBef>
                <a:spcPct val="0"/>
              </a:spcBef>
              <a:buNone/>
            </a:pPr>
            <a:r>
              <a:rPr lang="zh-CN" altLang="en-US" sz="2000" b="1" dirty="0">
                <a:solidFill>
                  <a:srgbClr val="000000"/>
                </a:solidFill>
                <a:latin typeface="华文楷体" panose="02010600040101010101" charset="-122"/>
                <a:ea typeface="华文楷体" panose="02010600040101010101" charset="-122"/>
                <a:sym typeface="微软雅黑" panose="020B0503020204020204" pitchFamily="34" charset="-122"/>
              </a:rPr>
              <a:t>量化</a:t>
            </a:r>
            <a:endParaRPr lang="en-US" altLang="zh-CN" sz="2000" b="1" dirty="0">
              <a:solidFill>
                <a:srgbClr val="000000"/>
              </a:solidFill>
              <a:latin typeface="华文楷体" panose="02010600040101010101" charset="-122"/>
              <a:ea typeface="华文楷体" panose="02010600040101010101" charset="-122"/>
              <a:sym typeface="微软雅黑" panose="020B0503020204020204" pitchFamily="34" charset="-122"/>
            </a:endParaRPr>
          </a:p>
          <a:p>
            <a:pPr marL="0" lvl="0" indent="0" defTabSz="914400">
              <a:lnSpc>
                <a:spcPct val="120000"/>
              </a:lnSpc>
              <a:spcBef>
                <a:spcPct val="0"/>
              </a:spcBef>
              <a:buNone/>
            </a:pPr>
            <a:r>
              <a:rPr lang="zh-CN" altLang="en-US" sz="2000" b="1" dirty="0">
                <a:solidFill>
                  <a:srgbClr val="000000"/>
                </a:solidFill>
                <a:latin typeface="华文楷体" panose="02010600040101010101" charset="-122"/>
                <a:ea typeface="华文楷体" panose="02010600040101010101" charset="-122"/>
                <a:sym typeface="微软雅黑" panose="020B0503020204020204" pitchFamily="34" charset="-122"/>
              </a:rPr>
              <a:t>电平</a:t>
            </a:r>
            <a:endParaRPr lang="zh-CN" altLang="en-US" sz="1800" dirty="0">
              <a:latin typeface="华文楷体" panose="02010600040101010101" charset="-122"/>
              <a:ea typeface="华文楷体" panose="02010600040101010101" charset="-122"/>
            </a:endParaRPr>
          </a:p>
        </p:txBody>
      </p:sp>
      <p:sp>
        <p:nvSpPr>
          <p:cNvPr id="29710" name="圆角矩形标注 23"/>
          <p:cNvSpPr/>
          <p:nvPr>
            <p:custDataLst>
              <p:tags r:id="rId14"/>
            </p:custDataLst>
          </p:nvPr>
        </p:nvSpPr>
        <p:spPr>
          <a:xfrm>
            <a:off x="3218815" y="4785043"/>
            <a:ext cx="857250" cy="785812"/>
          </a:xfrm>
          <a:prstGeom prst="wedgeRoundRectCallout">
            <a:avLst>
              <a:gd name="adj1" fmla="val 146218"/>
              <a:gd name="adj2" fmla="val 7583"/>
              <a:gd name="adj3" fmla="val 16667"/>
            </a:avLst>
          </a:prstGeom>
          <a:solidFill>
            <a:srgbClr val="F2F2F2"/>
          </a:solidFill>
          <a:ln w="19050" cap="flat" cmpd="sng">
            <a:solidFill>
              <a:srgbClr val="969696"/>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120000"/>
              </a:lnSpc>
              <a:spcBef>
                <a:spcPct val="0"/>
              </a:spcBef>
              <a:buNone/>
            </a:pPr>
            <a:r>
              <a:rPr lang="zh-CN" altLang="en-US" sz="2000" b="1" dirty="0">
                <a:solidFill>
                  <a:srgbClr val="000000"/>
                </a:solidFill>
                <a:latin typeface="华文楷体" panose="02010600040101010101" charset="-122"/>
                <a:ea typeface="华文楷体" panose="02010600040101010101" charset="-122"/>
                <a:sym typeface="微软雅黑" panose="020B0503020204020204" pitchFamily="34" charset="-122"/>
              </a:rPr>
              <a:t>量化</a:t>
            </a:r>
            <a:endParaRPr lang="en-US" altLang="zh-CN" sz="2000" b="1" dirty="0">
              <a:solidFill>
                <a:srgbClr val="000000"/>
              </a:solidFill>
              <a:latin typeface="华文楷体" panose="02010600040101010101" charset="-122"/>
              <a:ea typeface="华文楷体" panose="02010600040101010101" charset="-122"/>
              <a:sym typeface="微软雅黑" panose="020B0503020204020204" pitchFamily="34" charset="-122"/>
            </a:endParaRPr>
          </a:p>
          <a:p>
            <a:pPr marL="0" lvl="0" indent="0" defTabSz="914400">
              <a:lnSpc>
                <a:spcPct val="120000"/>
              </a:lnSpc>
              <a:spcBef>
                <a:spcPct val="0"/>
              </a:spcBef>
              <a:buNone/>
            </a:pPr>
            <a:r>
              <a:rPr lang="zh-CN" altLang="en-US" sz="2000" b="1" dirty="0">
                <a:solidFill>
                  <a:srgbClr val="000000"/>
                </a:solidFill>
                <a:latin typeface="华文楷体" panose="02010600040101010101" charset="-122"/>
                <a:ea typeface="华文楷体" panose="02010600040101010101" charset="-122"/>
                <a:sym typeface="微软雅黑" panose="020B0503020204020204" pitchFamily="34" charset="-122"/>
              </a:rPr>
              <a:t>间隔</a:t>
            </a:r>
            <a:endParaRPr lang="zh-CN" altLang="en-US" sz="1800" dirty="0">
              <a:latin typeface="华文楷体" panose="02010600040101010101" charset="-122"/>
              <a:ea typeface="华文楷体" panose="02010600040101010101" charset="-122"/>
            </a:endParaRPr>
          </a:p>
        </p:txBody>
      </p:sp>
      <p:pic>
        <p:nvPicPr>
          <p:cNvPr id="29711" name="Object 5"/>
          <p:cNvPicPr>
            <a:picLocks noChangeAspect="1"/>
          </p:cNvPicPr>
          <p:nvPr>
            <p:custDataLst>
              <p:tags r:id="rId15"/>
            </p:custDataLst>
          </p:nvPr>
        </p:nvPicPr>
        <p:blipFill>
          <a:blip r:embed="rId16"/>
          <a:stretch>
            <a:fillRect/>
          </a:stretch>
        </p:blipFill>
        <p:spPr>
          <a:xfrm>
            <a:off x="2790190" y="4284980"/>
            <a:ext cx="1704975" cy="500063"/>
          </a:xfrm>
          <a:prstGeom prst="rect">
            <a:avLst/>
          </a:prstGeom>
          <a:solidFill>
            <a:srgbClr val="BBE0E3"/>
          </a:solidFill>
          <a:ln w="9525" cap="flat" cmpd="sng">
            <a:solidFill>
              <a:srgbClr val="000000"/>
            </a:solidFill>
            <a:prstDash val="solid"/>
            <a:miter/>
            <a:headEnd type="none" w="med" len="med"/>
            <a:tailEnd type="none" w="med" len="med"/>
          </a:ln>
        </p:spPr>
      </p:pic>
      <p:sp>
        <p:nvSpPr>
          <p:cNvPr id="30730" name="矩形 27"/>
          <p:cNvSpPr/>
          <p:nvPr>
            <p:custDataLst>
              <p:tags r:id="rId17"/>
            </p:custDataLst>
          </p:nvPr>
        </p:nvSpPr>
        <p:spPr>
          <a:xfrm>
            <a:off x="5933440" y="5713730"/>
            <a:ext cx="3000375" cy="571500"/>
          </a:xfrm>
          <a:prstGeom prst="rect">
            <a:avLst/>
          </a:prstGeom>
          <a:solidFill>
            <a:srgbClr val="F2F2F2"/>
          </a:solidFill>
          <a:ln w="9525">
            <a:noFill/>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29713" name="AutoShape 11"/>
          <p:cNvSpPr/>
          <p:nvPr>
            <p:custDataLst>
              <p:tags r:id="rId18"/>
            </p:custDataLst>
          </p:nvPr>
        </p:nvSpPr>
        <p:spPr>
          <a:xfrm>
            <a:off x="8433753" y="1968818"/>
            <a:ext cx="242887" cy="2128837"/>
          </a:xfrm>
          <a:prstGeom prst="leftBrace">
            <a:avLst>
              <a:gd name="adj1" fmla="val 27065"/>
              <a:gd name="adj2" fmla="val 50000"/>
            </a:avLst>
          </a:prstGeom>
          <a:noFill/>
          <a:ln w="9525" cap="flat" cmpd="sng">
            <a:solidFill>
              <a:srgbClr val="0000FF"/>
            </a:solidFill>
            <a:prstDash val="solid"/>
            <a:miter/>
            <a:headEnd type="none" w="med" len="med"/>
            <a:tailEnd type="none" w="med" len="med"/>
          </a:ln>
        </p:spPr>
        <p:txBody>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endParaRPr lang="zh-CN" altLang="zh-CN" sz="2400" dirty="0">
              <a:solidFill>
                <a:srgbClr val="000000"/>
              </a:solidFill>
              <a:latin typeface="华文楷体" panose="02010600040101010101" charset="-122"/>
              <a:ea typeface="华文楷体" panose="02010600040101010101" charset="-122"/>
            </a:endParaRPr>
          </a:p>
        </p:txBody>
      </p:sp>
      <p:sp>
        <p:nvSpPr>
          <p:cNvPr id="29715" name="直接连接符 34"/>
          <p:cNvSpPr/>
          <p:nvPr>
            <p:custDataLst>
              <p:tags r:id="rId19"/>
            </p:custDataLst>
          </p:nvPr>
        </p:nvSpPr>
        <p:spPr>
          <a:xfrm flipV="1">
            <a:off x="8662353" y="1962468"/>
            <a:ext cx="1585912" cy="6350"/>
          </a:xfrm>
          <a:prstGeom prst="line">
            <a:avLst/>
          </a:prstGeom>
          <a:ln w="9525" cap="flat" cmpd="sng">
            <a:solidFill>
              <a:srgbClr val="0066FF"/>
            </a:solidFill>
            <a:prstDash val="solid"/>
            <a:miter/>
            <a:headEnd type="none" w="med" len="med"/>
            <a:tailEnd type="none" w="med" len="med"/>
          </a:ln>
        </p:spPr>
      </p:sp>
      <p:sp>
        <p:nvSpPr>
          <p:cNvPr id="29716" name="直接连接符 35"/>
          <p:cNvSpPr/>
          <p:nvPr>
            <p:custDataLst>
              <p:tags r:id="rId20"/>
            </p:custDataLst>
          </p:nvPr>
        </p:nvSpPr>
        <p:spPr>
          <a:xfrm>
            <a:off x="8719503" y="2183130"/>
            <a:ext cx="1485900" cy="4763"/>
          </a:xfrm>
          <a:prstGeom prst="line">
            <a:avLst/>
          </a:prstGeom>
          <a:ln w="28575" cap="flat" cmpd="sng">
            <a:solidFill>
              <a:srgbClr val="FF0000"/>
            </a:solidFill>
            <a:prstDash val="solid"/>
            <a:miter/>
            <a:headEnd type="none" w="med" len="med"/>
            <a:tailEnd type="none" w="med" len="med"/>
          </a:ln>
        </p:spPr>
      </p:sp>
      <p:sp>
        <p:nvSpPr>
          <p:cNvPr id="29717" name="圆角矩形标注 36"/>
          <p:cNvSpPr/>
          <p:nvPr>
            <p:custDataLst>
              <p:tags r:id="rId21"/>
            </p:custDataLst>
          </p:nvPr>
        </p:nvSpPr>
        <p:spPr>
          <a:xfrm>
            <a:off x="10291128" y="2068830"/>
            <a:ext cx="1000125" cy="428625"/>
          </a:xfrm>
          <a:prstGeom prst="wedgeRoundRectCallout">
            <a:avLst>
              <a:gd name="adj1" fmla="val -58565"/>
              <a:gd name="adj2" fmla="val -25606"/>
              <a:gd name="adj3" fmla="val 16667"/>
            </a:avLst>
          </a:prstGeom>
          <a:noFill/>
          <a:ln w="28575"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zh-CN" altLang="en-US" sz="2000" b="1" dirty="0">
                <a:solidFill>
                  <a:srgbClr val="000000"/>
                </a:solidFill>
                <a:latin typeface="华文楷体" panose="02010600040101010101" charset="-122"/>
                <a:ea typeface="华文楷体" panose="02010600040101010101" charset="-122"/>
                <a:sym typeface="微软雅黑" panose="020B0503020204020204" pitchFamily="34" charset="-122"/>
              </a:rPr>
              <a:t>量化值</a:t>
            </a:r>
            <a:endParaRPr lang="zh-CN" altLang="en-US" sz="2000" b="1" dirty="0">
              <a:solidFill>
                <a:srgbClr val="000000"/>
              </a:solidFill>
              <a:latin typeface="华文楷体" panose="02010600040101010101" charset="-122"/>
              <a:ea typeface="华文楷体" panose="02010600040101010101" charset="-122"/>
              <a:sym typeface="微软雅黑" panose="020B0503020204020204" pitchFamily="34" charset="-122"/>
            </a:endParaRPr>
          </a:p>
        </p:txBody>
      </p:sp>
      <p:sp>
        <p:nvSpPr>
          <p:cNvPr id="29718" name="直接连接符 48"/>
          <p:cNvSpPr/>
          <p:nvPr>
            <p:custDataLst>
              <p:tags r:id="rId22"/>
            </p:custDataLst>
          </p:nvPr>
        </p:nvSpPr>
        <p:spPr>
          <a:xfrm rot="-5400000" flipH="1">
            <a:off x="6354128" y="3076893"/>
            <a:ext cx="2041525" cy="26987"/>
          </a:xfrm>
          <a:prstGeom prst="line">
            <a:avLst/>
          </a:prstGeom>
          <a:ln w="9525" cap="flat" cmpd="sng">
            <a:solidFill>
              <a:srgbClr val="FF0000"/>
            </a:solidFill>
            <a:prstDash val="dash"/>
            <a:miter/>
            <a:headEnd type="none" w="med" len="med"/>
            <a:tailEnd type="none" w="med" len="med"/>
          </a:ln>
        </p:spPr>
      </p:sp>
      <p:sp>
        <p:nvSpPr>
          <p:cNvPr id="29719" name="矩形 28"/>
          <p:cNvSpPr/>
          <p:nvPr>
            <p:custDataLst>
              <p:tags r:id="rId23"/>
            </p:custDataLst>
          </p:nvPr>
        </p:nvSpPr>
        <p:spPr>
          <a:xfrm>
            <a:off x="407035" y="1245235"/>
            <a:ext cx="1636395" cy="2399030"/>
          </a:xfrm>
          <a:prstGeom prst="rect">
            <a:avLst/>
          </a:prstGeom>
          <a:noFill/>
          <a:ln w="9525">
            <a:noFill/>
          </a:ln>
        </p:spPr>
        <p:txBody>
          <a:bodyPr wrap="square">
            <a:no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en-US" altLang="zh-CN" sz="2400" b="1" dirty="0">
                <a:solidFill>
                  <a:srgbClr val="990099"/>
                </a:solidFill>
                <a:latin typeface="华文楷体" panose="02010600040101010101" charset="-122"/>
                <a:ea typeface="华文楷体" panose="02010600040101010101" charset="-122"/>
                <a:cs typeface="华文楷体" panose="02010600040101010101" charset="-122"/>
              </a:rPr>
              <a:t> </a:t>
            </a:r>
            <a:r>
              <a:rPr lang="en-US" altLang="zh-CN" sz="2400" b="1" dirty="0">
                <a:solidFill>
                  <a:srgbClr val="003399"/>
                </a:solidFill>
                <a:latin typeface="华文楷体" panose="02010600040101010101" charset="-122"/>
                <a:ea typeface="华文楷体" panose="02010600040101010101" charset="-122"/>
                <a:cs typeface="华文楷体" panose="02010600040101010101" charset="-122"/>
              </a:rPr>
              <a:t>——</a:t>
            </a:r>
            <a:r>
              <a:rPr lang="en-US" altLang="zh-CN" sz="2400" b="1" dirty="0">
                <a:solidFill>
                  <a:srgbClr val="990099"/>
                </a:solidFill>
                <a:latin typeface="华文楷体" panose="02010600040101010101" charset="-122"/>
                <a:ea typeface="华文楷体" panose="02010600040101010101" charset="-122"/>
                <a:cs typeface="华文楷体" panose="02010600040101010101" charset="-122"/>
              </a:rPr>
              <a:t> </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rPr>
              <a:t>用 </a:t>
            </a:r>
            <a:r>
              <a:rPr lang="zh-CN" altLang="en-US" sz="2400" b="1" dirty="0">
                <a:solidFill>
                  <a:srgbClr val="FF0000"/>
                </a:solidFill>
                <a:latin typeface="华文楷体" panose="02010600040101010101" charset="-122"/>
                <a:ea typeface="华文楷体" panose="02010600040101010101" charset="-122"/>
                <a:cs typeface="华文楷体" panose="02010600040101010101" charset="-122"/>
              </a:rPr>
              <a:t>有限个 </a:t>
            </a:r>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rPr>
              <a:t>量化电平 </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rPr>
              <a:t>表示 </a:t>
            </a:r>
            <a:r>
              <a:rPr lang="zh-CN" altLang="en-US" sz="2400" b="1" dirty="0">
                <a:solidFill>
                  <a:srgbClr val="0066FF"/>
                </a:solidFill>
                <a:latin typeface="华文楷体" panose="02010600040101010101" charset="-122"/>
                <a:ea typeface="华文楷体" panose="02010600040101010101" charset="-122"/>
                <a:cs typeface="华文楷体" panose="02010600040101010101" charset="-122"/>
              </a:rPr>
              <a:t>无限个</a:t>
            </a:r>
            <a:r>
              <a:rPr lang="zh-CN" altLang="en-US" sz="2400" b="1" dirty="0">
                <a:solidFill>
                  <a:srgbClr val="FF0000"/>
                </a:solidFill>
                <a:latin typeface="华文楷体" panose="02010600040101010101" charset="-122"/>
                <a:ea typeface="华文楷体" panose="02010600040101010101" charset="-122"/>
                <a:cs typeface="华文楷体" panose="02010600040101010101" charset="-122"/>
              </a:rPr>
              <a:t> </a:t>
            </a:r>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rPr>
              <a:t>抽样值。 </a:t>
            </a:r>
            <a:endParaRPr lang="zh-CN" altLang="en-US" sz="1800" dirty="0">
              <a:latin typeface="华文楷体" panose="02010600040101010101" charset="-122"/>
              <a:ea typeface="华文楷体" panose="02010600040101010101" charset="-122"/>
              <a:cs typeface="华文楷体" panose="02010600040101010101" charset="-122"/>
            </a:endParaRPr>
          </a:p>
        </p:txBody>
      </p:sp>
      <p:sp>
        <p:nvSpPr>
          <p:cNvPr id="29720" name="AutoShape 15"/>
          <p:cNvSpPr/>
          <p:nvPr>
            <p:custDataLst>
              <p:tags r:id="rId24"/>
            </p:custDataLst>
          </p:nvPr>
        </p:nvSpPr>
        <p:spPr>
          <a:xfrm>
            <a:off x="4860290" y="1856105"/>
            <a:ext cx="71438" cy="720725"/>
          </a:xfrm>
          <a:prstGeom prst="upDownArrow">
            <a:avLst>
              <a:gd name="adj1" fmla="val 50000"/>
              <a:gd name="adj2" fmla="val 202663"/>
            </a:avLst>
          </a:prstGeom>
          <a:solidFill>
            <a:schemeClr val="bg1"/>
          </a:solidFill>
          <a:ln w="9525" cap="flat" cmpd="sng">
            <a:solidFill>
              <a:srgbClr val="FF0000"/>
            </a:solidFill>
            <a:prstDash val="solid"/>
            <a:miter/>
            <a:headEnd type="none" w="med" len="med"/>
            <a:tailEnd type="none" w="med" len="med"/>
          </a:ln>
        </p:spPr>
        <p:txBody>
          <a:bodyPr wrap="none"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endParaRPr lang="zh-CN" altLang="zh-CN" sz="1800" dirty="0">
              <a:solidFill>
                <a:srgbClr val="FF0000"/>
              </a:solidFill>
              <a:latin typeface="华文楷体" panose="02010600040101010101" charset="-122"/>
              <a:ea typeface="华文楷体" panose="02010600040101010101" charset="-122"/>
            </a:endParaRPr>
          </a:p>
        </p:txBody>
      </p:sp>
      <p:sp>
        <p:nvSpPr>
          <p:cNvPr id="29721" name="矩形 40"/>
          <p:cNvSpPr/>
          <p:nvPr>
            <p:custDataLst>
              <p:tags r:id="rId25"/>
            </p:custDataLst>
          </p:nvPr>
        </p:nvSpPr>
        <p:spPr>
          <a:xfrm>
            <a:off x="3069590" y="3070543"/>
            <a:ext cx="1363663" cy="738187"/>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en-US" altLang="zh-CN" sz="2400" i="1" dirty="0">
                <a:solidFill>
                  <a:srgbClr val="FF0000"/>
                </a:solidFill>
                <a:latin typeface="华文楷体" panose="02010600040101010101" charset="-122"/>
                <a:ea typeface="华文楷体" panose="02010600040101010101" charset="-122"/>
                <a:sym typeface="Times New Roman" panose="02020603050405020304" pitchFamily="18" charset="0"/>
              </a:rPr>
              <a:t>q</a:t>
            </a:r>
            <a:r>
              <a:rPr lang="en-US" altLang="zh-CN" sz="2400" baseline="-25000" dirty="0">
                <a:solidFill>
                  <a:srgbClr val="FF0000"/>
                </a:solidFill>
                <a:latin typeface="华文楷体" panose="02010600040101010101" charset="-122"/>
                <a:ea typeface="华文楷体" panose="02010600040101010101" charset="-122"/>
                <a:sym typeface="Times New Roman" panose="02020603050405020304" pitchFamily="18" charset="0"/>
              </a:rPr>
              <a:t>i</a:t>
            </a:r>
            <a:r>
              <a:rPr lang="en-US" altLang="zh-CN" sz="2400" i="1" dirty="0">
                <a:solidFill>
                  <a:srgbClr val="FF0000"/>
                </a:solidFill>
                <a:latin typeface="华文楷体" panose="02010600040101010101" charset="-122"/>
                <a:ea typeface="华文楷体" panose="02010600040101010101" charset="-122"/>
                <a:sym typeface="Times New Roman" panose="02020603050405020304" pitchFamily="18" charset="0"/>
              </a:rPr>
              <a:t>=q</a:t>
            </a:r>
            <a:r>
              <a:rPr lang="en-US" altLang="zh-CN" sz="2400" baseline="-25000" dirty="0">
                <a:solidFill>
                  <a:srgbClr val="FF0000"/>
                </a:solidFill>
                <a:latin typeface="华文楷体" panose="02010600040101010101" charset="-122"/>
                <a:ea typeface="华文楷体" panose="02010600040101010101" charset="-122"/>
                <a:sym typeface="Times New Roman" panose="02020603050405020304" pitchFamily="18" charset="0"/>
              </a:rPr>
              <a:t>1</a:t>
            </a:r>
            <a:r>
              <a:rPr lang="en-US" altLang="zh-CN" sz="2400" dirty="0">
                <a:solidFill>
                  <a:srgbClr val="FF0000"/>
                </a:solidFill>
                <a:latin typeface="华文楷体" panose="02010600040101010101" charset="-122"/>
                <a:ea typeface="华文楷体" panose="02010600040101010101" charset="-122"/>
                <a:sym typeface="Times New Roman" panose="02020603050405020304" pitchFamily="18" charset="0"/>
              </a:rPr>
              <a:t>~</a:t>
            </a:r>
            <a:r>
              <a:rPr lang="en-US" altLang="zh-CN" sz="2400" i="1" dirty="0">
                <a:solidFill>
                  <a:srgbClr val="FF0000"/>
                </a:solidFill>
                <a:latin typeface="华文楷体" panose="02010600040101010101" charset="-122"/>
                <a:ea typeface="华文楷体" panose="02010600040101010101" charset="-122"/>
                <a:sym typeface="Times New Roman" panose="02020603050405020304" pitchFamily="18" charset="0"/>
              </a:rPr>
              <a:t>q</a:t>
            </a:r>
            <a:r>
              <a:rPr lang="en-US" altLang="zh-CN" sz="2400" baseline="-25000" dirty="0">
                <a:solidFill>
                  <a:srgbClr val="FF0000"/>
                </a:solidFill>
                <a:latin typeface="华文楷体" panose="02010600040101010101" charset="-122"/>
                <a:ea typeface="华文楷体" panose="02010600040101010101" charset="-122"/>
                <a:sym typeface="Times New Roman" panose="02020603050405020304" pitchFamily="18" charset="0"/>
              </a:rPr>
              <a:t>M</a:t>
            </a:r>
            <a:endParaRPr lang="zh-CN" altLang="en-US" sz="2400" dirty="0">
              <a:solidFill>
                <a:srgbClr val="FF0000"/>
              </a:solidFill>
              <a:latin typeface="华文楷体" panose="02010600040101010101" charset="-122"/>
              <a:ea typeface="华文楷体" panose="02010600040101010101" charset="-122"/>
              <a:sym typeface="Times New Roman" panose="02020603050405020304" pitchFamily="18" charset="0"/>
            </a:endParaRPr>
          </a:p>
          <a:p>
            <a:pPr marL="0" lvl="0" indent="0" defTabSz="914400">
              <a:spcBef>
                <a:spcPct val="0"/>
              </a:spcBef>
              <a:buNone/>
            </a:pPr>
            <a:endParaRPr lang="zh-CN" altLang="en-US" sz="1800" dirty="0">
              <a:solidFill>
                <a:srgbClr val="FF0000"/>
              </a:solidFill>
              <a:latin typeface="华文楷体" panose="02010600040101010101" charset="-122"/>
              <a:ea typeface="华文楷体" panose="02010600040101010101" charset="-122"/>
              <a:sym typeface="Times New Roman" panose="02020603050405020304" pitchFamily="18" charset="0"/>
            </a:endParaRPr>
          </a:p>
        </p:txBody>
      </p:sp>
      <p:sp>
        <p:nvSpPr>
          <p:cNvPr id="29722" name="矩形 41"/>
          <p:cNvSpPr/>
          <p:nvPr>
            <p:custDataLst>
              <p:tags r:id="rId26"/>
            </p:custDataLst>
          </p:nvPr>
        </p:nvSpPr>
        <p:spPr>
          <a:xfrm>
            <a:off x="3433128" y="1784668"/>
            <a:ext cx="485775" cy="49530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lnSpc>
                <a:spcPct val="120000"/>
              </a:lnSpc>
              <a:spcBef>
                <a:spcPct val="0"/>
              </a:spcBef>
              <a:buNone/>
            </a:pPr>
            <a:r>
              <a:rPr lang="en-US" altLang="zh-CN" sz="2400" i="1" dirty="0">
                <a:solidFill>
                  <a:srgbClr val="FF0000"/>
                </a:solidFill>
                <a:latin typeface="华文楷体" panose="02010600040101010101" charset="-122"/>
                <a:ea typeface="华文楷体" panose="02010600040101010101" charset="-122"/>
              </a:rPr>
              <a:t>m</a:t>
            </a:r>
            <a:r>
              <a:rPr lang="en-US" altLang="zh-CN" sz="2400" baseline="-25000" dirty="0">
                <a:solidFill>
                  <a:srgbClr val="FF0000"/>
                </a:solidFill>
                <a:latin typeface="华文楷体" panose="02010600040101010101" charset="-122"/>
                <a:ea typeface="华文楷体" panose="02010600040101010101" charset="-122"/>
              </a:rPr>
              <a:t>i</a:t>
            </a:r>
            <a:endParaRPr lang="zh-CN" altLang="en-US" sz="2400" dirty="0">
              <a:solidFill>
                <a:srgbClr val="FF0000"/>
              </a:solidFill>
              <a:latin typeface="华文楷体" panose="02010600040101010101" charset="-122"/>
              <a:ea typeface="华文楷体" panose="02010600040101010101" charset="-122"/>
            </a:endParaRPr>
          </a:p>
        </p:txBody>
      </p:sp>
      <p:sp>
        <p:nvSpPr>
          <p:cNvPr id="29723" name="AutoShape 15"/>
          <p:cNvSpPr/>
          <p:nvPr>
            <p:custDataLst>
              <p:tags r:id="rId27"/>
            </p:custDataLst>
          </p:nvPr>
        </p:nvSpPr>
        <p:spPr>
          <a:xfrm>
            <a:off x="4860290" y="4927918"/>
            <a:ext cx="71438" cy="720725"/>
          </a:xfrm>
          <a:prstGeom prst="upDownArrow">
            <a:avLst>
              <a:gd name="adj1" fmla="val 50000"/>
              <a:gd name="adj2" fmla="val 202663"/>
            </a:avLst>
          </a:prstGeom>
          <a:solidFill>
            <a:schemeClr val="bg1"/>
          </a:solidFill>
          <a:ln w="9525" cap="flat" cmpd="sng">
            <a:solidFill>
              <a:srgbClr val="FF0000"/>
            </a:solidFill>
            <a:prstDash val="solid"/>
            <a:miter/>
            <a:headEnd type="none" w="med" len="med"/>
            <a:tailEnd type="none" w="med" len="med"/>
          </a:ln>
        </p:spPr>
        <p:txBody>
          <a:bodyPr wrap="none"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endParaRPr lang="zh-CN" altLang="zh-CN" sz="1800" dirty="0">
              <a:solidFill>
                <a:srgbClr val="FF0000"/>
              </a:solidFill>
              <a:latin typeface="华文楷体" panose="02010600040101010101" charset="-122"/>
              <a:ea typeface="华文楷体" panose="02010600040101010101" charset="-122"/>
            </a:endParaRPr>
          </a:p>
        </p:txBody>
      </p:sp>
      <p:pic>
        <p:nvPicPr>
          <p:cNvPr id="29724" name="Picture 3"/>
          <p:cNvPicPr>
            <a:picLocks noChangeAspect="1"/>
          </p:cNvPicPr>
          <p:nvPr>
            <p:custDataLst>
              <p:tags r:id="rId28"/>
            </p:custDataLst>
          </p:nvPr>
        </p:nvPicPr>
        <p:blipFill>
          <a:blip r:embed="rId10"/>
          <a:srcRect l="30254" t="86876" r="34467"/>
          <a:stretch>
            <a:fillRect/>
          </a:stretch>
        </p:blipFill>
        <p:spPr>
          <a:xfrm>
            <a:off x="6555740" y="4570730"/>
            <a:ext cx="3429000" cy="1071563"/>
          </a:xfrm>
          <a:prstGeom prst="rect">
            <a:avLst/>
          </a:prstGeom>
          <a:noFill/>
          <a:ln w="9525">
            <a:noFill/>
          </a:ln>
        </p:spPr>
      </p:pic>
      <p:sp>
        <p:nvSpPr>
          <p:cNvPr id="29725" name="矩形 37"/>
          <p:cNvSpPr/>
          <p:nvPr>
            <p:custDataLst>
              <p:tags r:id="rId29"/>
            </p:custDataLst>
          </p:nvPr>
        </p:nvSpPr>
        <p:spPr>
          <a:xfrm>
            <a:off x="6471603" y="4585018"/>
            <a:ext cx="958850" cy="40005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zh-CN" altLang="en-US" sz="2000" b="1" dirty="0">
                <a:solidFill>
                  <a:srgbClr val="0066FF"/>
                </a:solidFill>
                <a:latin typeface="华文楷体" panose="02010600040101010101" charset="-122"/>
                <a:ea typeface="华文楷体" panose="02010600040101010101" charset="-122"/>
                <a:sym typeface="微软雅黑" panose="020B0503020204020204" pitchFamily="34" charset="-122"/>
              </a:rPr>
              <a:t>抽样值</a:t>
            </a:r>
            <a:endParaRPr lang="zh-CN" altLang="en-US" sz="2000" b="1" dirty="0">
              <a:solidFill>
                <a:srgbClr val="0066FF"/>
              </a:solidFill>
              <a:latin typeface="华文楷体" panose="02010600040101010101" charset="-122"/>
              <a:ea typeface="华文楷体" panose="02010600040101010101" charset="-122"/>
              <a:sym typeface="微软雅黑" panose="020B0503020204020204" pitchFamily="34" charset="-122"/>
            </a:endParaRPr>
          </a:p>
        </p:txBody>
      </p:sp>
      <p:sp>
        <p:nvSpPr>
          <p:cNvPr id="29726" name="矩形 38"/>
          <p:cNvSpPr/>
          <p:nvPr>
            <p:custDataLst>
              <p:tags r:id="rId30"/>
            </p:custDataLst>
          </p:nvPr>
        </p:nvSpPr>
        <p:spPr>
          <a:xfrm>
            <a:off x="8756015" y="4570730"/>
            <a:ext cx="1474788" cy="40005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zh-CN" altLang="en-US" sz="2000" b="1" dirty="0">
                <a:solidFill>
                  <a:srgbClr val="FF0000"/>
                </a:solidFill>
                <a:latin typeface="华文楷体" panose="02010600040101010101" charset="-122"/>
                <a:ea typeface="华文楷体" panose="02010600040101010101" charset="-122"/>
                <a:sym typeface="微软雅黑" panose="020B0503020204020204" pitchFamily="34" charset="-122"/>
              </a:rPr>
              <a:t>量化信号值</a:t>
            </a:r>
            <a:endParaRPr lang="zh-CN" altLang="en-US" sz="2000" b="1" dirty="0">
              <a:solidFill>
                <a:srgbClr val="FF0000"/>
              </a:solidFill>
              <a:latin typeface="华文楷体" panose="02010600040101010101" charset="-122"/>
              <a:ea typeface="华文楷体" panose="02010600040101010101" charset="-122"/>
              <a:sym typeface="微软雅黑" panose="020B0503020204020204" pitchFamily="34" charset="-122"/>
            </a:endParaRPr>
          </a:p>
        </p:txBody>
      </p:sp>
      <p:sp>
        <p:nvSpPr>
          <p:cNvPr id="29727" name="椭圆 33"/>
          <p:cNvSpPr/>
          <p:nvPr>
            <p:custDataLst>
              <p:tags r:id="rId31"/>
            </p:custDataLst>
          </p:nvPr>
        </p:nvSpPr>
        <p:spPr>
          <a:xfrm>
            <a:off x="6035040" y="3829368"/>
            <a:ext cx="114300" cy="114300"/>
          </a:xfrm>
          <a:prstGeom prst="ellipse">
            <a:avLst/>
          </a:prstGeom>
          <a:solidFill>
            <a:srgbClr val="0066FF"/>
          </a:solidFill>
          <a:ln w="25400" cap="flat" cmpd="sng">
            <a:solidFill>
              <a:srgbClr val="0066FF"/>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29728" name="椭圆 32"/>
          <p:cNvSpPr/>
          <p:nvPr>
            <p:custDataLst>
              <p:tags r:id="rId32"/>
            </p:custDataLst>
          </p:nvPr>
        </p:nvSpPr>
        <p:spPr>
          <a:xfrm>
            <a:off x="5361940" y="4400868"/>
            <a:ext cx="114300" cy="114300"/>
          </a:xfrm>
          <a:prstGeom prst="ellipse">
            <a:avLst/>
          </a:prstGeom>
          <a:solidFill>
            <a:srgbClr val="0066FF"/>
          </a:solidFill>
          <a:ln w="25400" cap="flat" cmpd="sng">
            <a:solidFill>
              <a:srgbClr val="0066FF"/>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29729" name="椭圆 42"/>
          <p:cNvSpPr/>
          <p:nvPr>
            <p:custDataLst>
              <p:tags r:id="rId33"/>
            </p:custDataLst>
          </p:nvPr>
        </p:nvSpPr>
        <p:spPr>
          <a:xfrm>
            <a:off x="6676390" y="2956243"/>
            <a:ext cx="114300" cy="114300"/>
          </a:xfrm>
          <a:prstGeom prst="ellipse">
            <a:avLst/>
          </a:prstGeom>
          <a:solidFill>
            <a:srgbClr val="0066FF"/>
          </a:solidFill>
          <a:ln w="25400" cap="flat" cmpd="sng">
            <a:solidFill>
              <a:srgbClr val="0066FF"/>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29730" name="椭圆 43"/>
          <p:cNvSpPr/>
          <p:nvPr>
            <p:custDataLst>
              <p:tags r:id="rId34"/>
            </p:custDataLst>
          </p:nvPr>
        </p:nvSpPr>
        <p:spPr>
          <a:xfrm>
            <a:off x="7316153" y="2043430"/>
            <a:ext cx="114300" cy="114300"/>
          </a:xfrm>
          <a:prstGeom prst="ellipse">
            <a:avLst/>
          </a:prstGeom>
          <a:solidFill>
            <a:srgbClr val="0066FF"/>
          </a:solidFill>
          <a:ln w="25400" cap="flat" cmpd="sng">
            <a:solidFill>
              <a:srgbClr val="0066FF"/>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29731" name="椭圆 44"/>
          <p:cNvSpPr/>
          <p:nvPr>
            <p:custDataLst>
              <p:tags r:id="rId35"/>
            </p:custDataLst>
          </p:nvPr>
        </p:nvSpPr>
        <p:spPr>
          <a:xfrm>
            <a:off x="7976553" y="1519555"/>
            <a:ext cx="114300" cy="114300"/>
          </a:xfrm>
          <a:prstGeom prst="ellipse">
            <a:avLst/>
          </a:prstGeom>
          <a:solidFill>
            <a:srgbClr val="0066FF"/>
          </a:solidFill>
          <a:ln w="25400" cap="flat" cmpd="sng">
            <a:solidFill>
              <a:srgbClr val="0066FF"/>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29732" name="椭圆 45"/>
          <p:cNvSpPr/>
          <p:nvPr>
            <p:custDataLst>
              <p:tags r:id="rId36"/>
            </p:custDataLst>
          </p:nvPr>
        </p:nvSpPr>
        <p:spPr>
          <a:xfrm>
            <a:off x="8619490" y="1927543"/>
            <a:ext cx="114300" cy="114300"/>
          </a:xfrm>
          <a:prstGeom prst="ellipse">
            <a:avLst/>
          </a:prstGeom>
          <a:solidFill>
            <a:srgbClr val="0066FF"/>
          </a:solidFill>
          <a:ln w="25400" cap="flat" cmpd="sng">
            <a:solidFill>
              <a:srgbClr val="0066FF"/>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grpSp>
        <p:nvGrpSpPr>
          <p:cNvPr id="29733" name="组合 72"/>
          <p:cNvGrpSpPr/>
          <p:nvPr/>
        </p:nvGrpSpPr>
        <p:grpSpPr>
          <a:xfrm>
            <a:off x="5361940" y="1370330"/>
            <a:ext cx="3376613" cy="3232150"/>
            <a:chOff x="0" y="0"/>
            <a:chExt cx="3377090" cy="3233082"/>
          </a:xfrm>
        </p:grpSpPr>
        <p:sp>
          <p:nvSpPr>
            <p:cNvPr id="30753" name="菱形 47"/>
            <p:cNvSpPr/>
            <p:nvPr>
              <p:custDataLst>
                <p:tags r:id="rId37"/>
              </p:custDataLst>
            </p:nvPr>
          </p:nvSpPr>
          <p:spPr>
            <a:xfrm>
              <a:off x="3243721" y="749148"/>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30754" name="菱形 49"/>
            <p:cNvSpPr/>
            <p:nvPr>
              <p:custDataLst>
                <p:tags r:id="rId38"/>
              </p:custDataLst>
            </p:nvPr>
          </p:nvSpPr>
          <p:spPr>
            <a:xfrm>
              <a:off x="2614982" y="0"/>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30755" name="菱形 50"/>
            <p:cNvSpPr/>
            <p:nvPr>
              <p:custDataLst>
                <p:tags r:id="rId39"/>
              </p:custDataLst>
            </p:nvPr>
          </p:nvSpPr>
          <p:spPr>
            <a:xfrm>
              <a:off x="1971954" y="771369"/>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30756" name="菱形 51"/>
            <p:cNvSpPr/>
            <p:nvPr>
              <p:custDataLst>
                <p:tags r:id="rId40"/>
              </p:custDataLst>
            </p:nvPr>
          </p:nvSpPr>
          <p:spPr>
            <a:xfrm>
              <a:off x="1314636" y="1571307"/>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30757" name="菱形 53"/>
            <p:cNvSpPr/>
            <p:nvPr>
              <p:custDataLst>
                <p:tags r:id="rId41"/>
              </p:custDataLst>
            </p:nvPr>
          </p:nvSpPr>
          <p:spPr>
            <a:xfrm>
              <a:off x="657318" y="2285537"/>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sp>
          <p:nvSpPr>
            <p:cNvPr id="30758" name="菱形 54"/>
            <p:cNvSpPr/>
            <p:nvPr>
              <p:custDataLst>
                <p:tags r:id="rId42"/>
              </p:custDataLst>
            </p:nvPr>
          </p:nvSpPr>
          <p:spPr>
            <a:xfrm>
              <a:off x="0" y="3099759"/>
              <a:ext cx="133369" cy="133323"/>
            </a:xfrm>
            <a:prstGeom prst="diamond">
              <a:avLst/>
            </a:prstGeom>
            <a:solidFill>
              <a:srgbClr val="FF0000"/>
            </a:solidFill>
            <a:ln w="25400" cap="flat" cmpd="sng">
              <a:solidFill>
                <a:srgbClr val="FF0000"/>
              </a:solidFill>
              <a:prstDash val="solid"/>
              <a:miter/>
              <a:headEnd type="none" w="med" len="med"/>
              <a:tailEnd type="none" w="med" len="med"/>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algn="ctr" defTabSz="914400">
                <a:spcBef>
                  <a:spcPct val="0"/>
                </a:spcBef>
                <a:buNone/>
              </a:pPr>
              <a:endParaRPr lang="zh-CN" altLang="zh-CN" sz="1800" dirty="0">
                <a:solidFill>
                  <a:srgbClr val="FFFFFF"/>
                </a:solidFill>
                <a:latin typeface="华文楷体" panose="02010600040101010101" charset="-122"/>
                <a:ea typeface="华文楷体" panose="02010600040101010101" charset="-122"/>
              </a:endParaRPr>
            </a:p>
          </p:txBody>
        </p:sp>
      </p:grpSp>
      <p:pic>
        <p:nvPicPr>
          <p:cNvPr id="29740" name="Picture 34"/>
          <p:cNvPicPr>
            <a:picLocks noChangeAspect="1"/>
          </p:cNvPicPr>
          <p:nvPr>
            <p:custDataLst>
              <p:tags r:id="rId43"/>
            </p:custDataLst>
          </p:nvPr>
        </p:nvPicPr>
        <p:blipFill>
          <a:blip r:embed="rId44"/>
          <a:srcRect l="41144" t="61307"/>
          <a:stretch>
            <a:fillRect/>
          </a:stretch>
        </p:blipFill>
        <p:spPr>
          <a:xfrm>
            <a:off x="6257290" y="5480368"/>
            <a:ext cx="4748213" cy="733425"/>
          </a:xfrm>
          <a:prstGeom prst="rect">
            <a:avLst/>
          </a:prstGeom>
          <a:noFill/>
          <a:ln w="9525">
            <a:noFill/>
          </a:ln>
        </p:spPr>
      </p:pic>
      <p:graphicFrame>
        <p:nvGraphicFramePr>
          <p:cNvPr id="24" name="对象 23"/>
          <p:cNvGraphicFramePr>
            <a:graphicFrameLocks noChangeAspect="1"/>
          </p:cNvGraphicFramePr>
          <p:nvPr>
            <p:custDataLst>
              <p:tags r:id="rId45"/>
            </p:custDataLst>
          </p:nvPr>
        </p:nvGraphicFramePr>
        <p:xfrm>
          <a:off x="283210" y="3358515"/>
          <a:ext cx="3726180" cy="759460"/>
        </p:xfrm>
        <a:graphic>
          <a:graphicData uri="http://schemas.openxmlformats.org/presentationml/2006/ole">
            <mc:AlternateContent xmlns:mc="http://schemas.openxmlformats.org/markup-compatibility/2006">
              <mc:Choice xmlns:v="urn:schemas-microsoft-com:vml" Requires="v">
                <p:oleObj spid="_x0000_s8337" name="Equation" r:id="rId46" imgW="4030345" imgH="821055" progId="Equation.DSMT4">
                  <p:embed/>
                </p:oleObj>
              </mc:Choice>
              <mc:Fallback>
                <p:oleObj name="Equation" r:id="rId46" imgW="4030345" imgH="821055" progId="Equation.DSMT4">
                  <p:embed/>
                  <p:pic>
                    <p:nvPicPr>
                      <p:cNvPr id="0" name="图片 8336"/>
                      <p:cNvPicPr/>
                      <p:nvPr/>
                    </p:nvPicPr>
                    <p:blipFill>
                      <a:blip r:embed="rId47"/>
                      <a:stretch>
                        <a:fillRect/>
                      </a:stretch>
                    </p:blipFill>
                    <p:spPr>
                      <a:xfrm>
                        <a:off x="283210" y="3358515"/>
                        <a:ext cx="3726180" cy="759460"/>
                      </a:xfrm>
                      <a:prstGeom prst="rect">
                        <a:avLst/>
                      </a:prstGeom>
                    </p:spPr>
                  </p:pic>
                </p:oleObj>
              </mc:Fallback>
            </mc:AlternateContent>
          </a:graphicData>
        </a:graphic>
      </p:graphicFrame>
      <p:sp>
        <p:nvSpPr>
          <p:cNvPr id="30752" name="圆角矩形标注 7"/>
          <p:cNvSpPr/>
          <p:nvPr>
            <p:custDataLst>
              <p:tags r:id="rId48"/>
            </p:custDataLst>
          </p:nvPr>
        </p:nvSpPr>
        <p:spPr>
          <a:xfrm>
            <a:off x="10013315" y="2797493"/>
            <a:ext cx="1368425" cy="433387"/>
          </a:xfrm>
          <a:prstGeom prst="wedgeRoundRectCallout">
            <a:avLst>
              <a:gd name="adj1" fmla="val -52644"/>
              <a:gd name="adj2" fmla="val 4213"/>
              <a:gd name="adj3" fmla="val 16667"/>
            </a:avLst>
          </a:prstGeom>
          <a:noFill/>
          <a:ln w="9525">
            <a:noFill/>
          </a:ln>
        </p:spPr>
        <p:txBody>
          <a:bodyPr anchor="ctr" anchorCtr="0"/>
          <a:lstStyle>
            <a:lvl1pPr marL="342900" indent="-342900" algn="l" defTabSz="0" rtl="0" eaLnBrk="0" fontAlgn="base" hangingPunct="0">
              <a:spcBef>
                <a:spcPct val="20000"/>
              </a:spcBef>
              <a:spcAft>
                <a:spcPct val="0"/>
              </a:spcAft>
              <a:buChar char="•"/>
              <a:defRPr sz="3200" kern="1200">
                <a:solidFill>
                  <a:schemeClr val="tx1"/>
                </a:solidFill>
                <a:latin typeface="+mn-lt"/>
                <a:ea typeface="+mn-ea"/>
                <a:cs typeface="+mn-cs"/>
                <a:sym typeface="Arial" panose="020B0604020202090204" pitchFamily="34" charset="0"/>
              </a:defRPr>
            </a:lvl1pPr>
            <a:lvl2pPr marL="742950" indent="-285750" algn="l" defTabSz="0" rtl="0" eaLnBrk="0" fontAlgn="base" hangingPunct="0">
              <a:spcBef>
                <a:spcPct val="20000"/>
              </a:spcBef>
              <a:spcAft>
                <a:spcPct val="0"/>
              </a:spcAft>
              <a:buChar char="–"/>
              <a:defRPr sz="2800" kern="1200">
                <a:solidFill>
                  <a:schemeClr val="tx1"/>
                </a:solidFill>
                <a:latin typeface="+mn-lt"/>
                <a:ea typeface="+mn-ea"/>
                <a:cs typeface="+mn-cs"/>
                <a:sym typeface="Arial" panose="020B0604020202090204" pitchFamily="34" charset="0"/>
              </a:defRPr>
            </a:lvl2pPr>
            <a:lvl3pPr marL="1143000" indent="-228600" algn="l" defTabSz="0" rtl="0" eaLnBrk="0" fontAlgn="base" hangingPunct="0">
              <a:spcBef>
                <a:spcPct val="20000"/>
              </a:spcBef>
              <a:spcAft>
                <a:spcPct val="0"/>
              </a:spcAft>
              <a:buChar char="•"/>
              <a:defRPr sz="2400" kern="1200">
                <a:solidFill>
                  <a:schemeClr val="tx1"/>
                </a:solidFill>
                <a:latin typeface="+mn-lt"/>
                <a:ea typeface="+mn-ea"/>
                <a:cs typeface="+mn-cs"/>
                <a:sym typeface="Arial" panose="020B0604020202090204" pitchFamily="34" charset="0"/>
              </a:defRPr>
            </a:lvl3pPr>
            <a:lvl4pPr marL="16002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4pPr>
            <a:lvl5pPr marL="2057400" indent="-228600" algn="l" defTabSz="0" rtl="0" eaLnBrk="0" fontAlgn="base" hangingPunct="0">
              <a:spcBef>
                <a:spcPct val="20000"/>
              </a:spcBef>
              <a:spcAft>
                <a:spcPct val="0"/>
              </a:spcAft>
              <a:buChar char="»"/>
              <a:defRPr sz="2000" kern="1200">
                <a:solidFill>
                  <a:schemeClr val="tx1"/>
                </a:solidFill>
                <a:latin typeface="+mn-lt"/>
                <a:ea typeface="+mn-ea"/>
                <a:cs typeface="+mn-cs"/>
                <a:sym typeface="Arial" panose="020B0604020202090204" pitchFamily="34" charset="0"/>
              </a:defRPr>
            </a:lvl5pPr>
          </a:lstStyle>
          <a:p>
            <a:pPr marL="0" lvl="0" indent="0" defTabSz="914400">
              <a:spcBef>
                <a:spcPct val="0"/>
              </a:spcBef>
              <a:buNone/>
            </a:pPr>
            <a:r>
              <a:rPr lang="zh-CN" altLang="en-US" sz="2000" b="1" dirty="0">
                <a:solidFill>
                  <a:srgbClr val="CC00CC"/>
                </a:solidFill>
                <a:latin typeface="华文楷体" panose="02010600040101010101" charset="-122"/>
                <a:ea typeface="华文楷体" panose="02010600040101010101" charset="-122"/>
                <a:sym typeface="微软雅黑" panose="020B0503020204020204" pitchFamily="34" charset="-122"/>
              </a:rPr>
              <a:t>量化噪声</a:t>
            </a:r>
            <a:endParaRPr lang="zh-CN" altLang="en-US" sz="2000" b="1" dirty="0">
              <a:solidFill>
                <a:srgbClr val="CC00CC"/>
              </a:solidFill>
              <a:latin typeface="华文楷体" panose="02010600040101010101" charset="-122"/>
              <a:ea typeface="华文楷体" panose="02010600040101010101" charset="-122"/>
              <a:sym typeface="微软雅黑" panose="020B0503020204020204" pitchFamily="34" charset="-122"/>
            </a:endParaRPr>
          </a:p>
        </p:txBody>
      </p:sp>
      <p:pic>
        <p:nvPicPr>
          <p:cNvPr id="4" name="Object 9"/>
          <p:cNvPicPr>
            <a:picLocks noChangeAspect="1"/>
          </p:cNvPicPr>
          <p:nvPr>
            <p:custDataLst>
              <p:tags r:id="rId49"/>
            </p:custDataLst>
          </p:nvPr>
        </p:nvPicPr>
        <p:blipFill>
          <a:blip r:embed="rId50"/>
          <a:stretch>
            <a:fillRect/>
          </a:stretch>
        </p:blipFill>
        <p:spPr>
          <a:xfrm>
            <a:off x="9940290" y="3197543"/>
            <a:ext cx="1552575" cy="534987"/>
          </a:xfrm>
          <a:prstGeom prst="rect">
            <a:avLst/>
          </a:prstGeom>
          <a:solidFill>
            <a:srgbClr val="EAEAEA"/>
          </a:solidFill>
          <a:ln w="19050" cap="flat" cmpd="sng">
            <a:solidFill>
              <a:srgbClr val="FF99FF"/>
            </a:solidFill>
            <a:prstDash val="solid"/>
            <a:miter/>
            <a:headEnd type="none" w="med" len="med"/>
            <a:tailEnd type="none" w="med" len="med"/>
          </a:ln>
        </p:spPr>
      </p:pic>
      <p:pic>
        <p:nvPicPr>
          <p:cNvPr id="5" name="Picture 7"/>
          <p:cNvPicPr>
            <a:picLocks noChangeAspect="1"/>
          </p:cNvPicPr>
          <p:nvPr>
            <p:custDataLst>
              <p:tags r:id="rId51"/>
            </p:custDataLst>
          </p:nvPr>
        </p:nvPicPr>
        <p:blipFill>
          <a:blip r:embed="rId52"/>
          <a:stretch>
            <a:fillRect/>
          </a:stretch>
        </p:blipFill>
        <p:spPr>
          <a:xfrm>
            <a:off x="9905365" y="1668780"/>
            <a:ext cx="85725" cy="285750"/>
          </a:xfrm>
          <a:prstGeom prst="rect">
            <a:avLst/>
          </a:prstGeom>
          <a:noFill/>
          <a:ln w="9525">
            <a:noFill/>
          </a:ln>
        </p:spPr>
      </p:pic>
      <p:pic>
        <p:nvPicPr>
          <p:cNvPr id="6" name="Picture 10"/>
          <p:cNvPicPr>
            <a:picLocks noChangeAspect="1"/>
          </p:cNvPicPr>
          <p:nvPr>
            <p:custDataLst>
              <p:tags r:id="rId53"/>
            </p:custDataLst>
          </p:nvPr>
        </p:nvPicPr>
        <p:blipFill>
          <a:blip r:embed="rId54"/>
          <a:stretch>
            <a:fillRect/>
          </a:stretch>
        </p:blipFill>
        <p:spPr>
          <a:xfrm>
            <a:off x="9891078" y="2211705"/>
            <a:ext cx="104775" cy="1019175"/>
          </a:xfrm>
          <a:prstGeom prst="rect">
            <a:avLst/>
          </a:prstGeom>
          <a:noFill/>
          <a:ln w="9525">
            <a:noFill/>
          </a:ln>
        </p:spPr>
      </p:pic>
      <mc:AlternateContent xmlns:mc="http://schemas.openxmlformats.org/markup-compatibility/2006">
        <mc:Choice xmlns:a14="http://schemas.microsoft.com/office/drawing/2010/main" Requires="a14">
          <p:sp>
            <p:nvSpPr>
              <p:cNvPr id="9" name="TextBox 8"/>
              <p:cNvSpPr txBox="1"/>
              <p:nvPr/>
            </p:nvSpPr>
            <p:spPr>
              <a:xfrm>
                <a:off x="119380" y="4785360"/>
                <a:ext cx="2771140" cy="2157730"/>
              </a:xfrm>
              <a:prstGeom prst="rect">
                <a:avLst/>
              </a:prstGeom>
              <a:noFill/>
            </p:spPr>
            <p:txBody>
              <a:bodyPr wrap="square" rtlCol="0">
                <a:noAutofit/>
              </a:bodyPr>
              <a:p>
                <a:pPr marL="285750" indent="-285750" algn="just">
                  <a:lnSpc>
                    <a:spcPct val="150000"/>
                  </a:lnSpc>
                  <a:buFont typeface="Arial" panose="020B0604020202090204" pitchFamily="34" charset="0"/>
                  <a:buChar char="•"/>
                </a:pPr>
                <a:endParaRPr lang="en-US" sz="2000" dirty="0">
                  <a:latin typeface="华文楷体" panose="02010600040101010101" charset="-122"/>
                  <a:ea typeface="华文楷体" panose="02010600040101010101" charset="-122"/>
                  <a:cs typeface="华文楷体" panose="02010600040101010101" charset="-122"/>
                </a:endParaRPr>
              </a:p>
              <a:p>
                <a:pPr marL="285750" indent="-285750" algn="just">
                  <a:lnSpc>
                    <a:spcPct val="150000"/>
                  </a:lnSpc>
                  <a:buFont typeface="Arial" panose="020B0604020202090204" pitchFamily="34" charset="0"/>
                  <a:buChar char="•"/>
                </a:pPr>
                <a:r>
                  <a:rPr lang="zh-CN" altLang="en-US" sz="2000" dirty="0">
                    <a:solidFill>
                      <a:srgbClr val="FF0000"/>
                    </a:solidFill>
                    <a:latin typeface="华文楷体" panose="02010600040101010101" charset="-122"/>
                    <a:ea typeface="华文楷体" panose="02010600040101010101" charset="-122"/>
                    <a:cs typeface="华文楷体" panose="02010600040101010101" charset="-122"/>
                  </a:rPr>
                  <a:t>量化噪声平均功率</a:t>
                </a:r>
                <a14:m>
                  <m:oMath xmlns:m="http://schemas.openxmlformats.org/officeDocument/2006/math">
                    <m:sSub>
                      <m:sSubPr>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sSubPr>
                      <m:e>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𝑁</m:t>
                        </m:r>
                      </m:e>
                      <m:sub>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𝑞</m:t>
                        </m:r>
                      </m:sub>
                    </m:sSub>
                  </m:oMath>
                </a14:m>
                <a:r>
                  <a:rPr lang="zh-CN" altLang="en-US" sz="2000" dirty="0">
                    <a:latin typeface="华文楷体" panose="02010600040101010101" charset="-122"/>
                    <a:ea typeface="华文楷体" panose="02010600040101010101" charset="-122"/>
                    <a:cs typeface="华文楷体" panose="02010600040101010101" charset="-122"/>
                  </a:rPr>
                  <a:t>为</a:t>
                </a:r>
                <a14:m>
                  <m:oMath xmlns:m="http://schemas.openxmlformats.org/officeDocument/2006/math">
                    <m:sSub>
                      <m:sSubPr>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sSubPr>
                      <m:e>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𝑁</m:t>
                        </m:r>
                      </m:e>
                      <m:sub>
                        <m:r>
                          <a:rPr lang="en-US" sz="2000" i="1">
                            <a:solidFill>
                              <a:srgbClr val="000000"/>
                            </a:solidFill>
                            <a:latin typeface="DejaVu Math TeX Gyre" panose="02000503000000000000" charset="0"/>
                            <a:ea typeface="华文楷体" panose="02010600040101010101" charset="-122"/>
                            <a:cs typeface="DejaVu Math TeX Gyre" panose="02000503000000000000" charset="0"/>
                          </a:rPr>
                          <m:t>𝑞</m:t>
                        </m:r>
                      </m:sub>
                    </m:sSub>
                    <m:r>
                      <a:rPr lang="en-US" sz="2000" i="1">
                        <a:solidFill>
                          <a:srgbClr val="000000"/>
                        </a:solidFill>
                        <a:latin typeface="DejaVu Math TeX Gyre" panose="02000503000000000000" charset="0"/>
                        <a:ea typeface="宋体" pitchFamily="2" charset="-122"/>
                        <a:cs typeface="DejaVu Math TeX Gyre" panose="02000503000000000000" charset="0"/>
                      </a:rPr>
                      <m:t>=</m:t>
                    </m:r>
                    <m:f>
                      <m:fPr>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fPr>
                      <m:num>
                        <m:sSup>
                          <m:sSupPr>
                            <m:ctrlPr>
                              <a:rPr lang="en-US" sz="2000" i="1">
                                <a:solidFill>
                                  <a:srgbClr val="000000"/>
                                </a:solidFill>
                                <a:latin typeface="DejaVu Math TeX Gyre" panose="02000503000000000000" charset="0"/>
                                <a:ea typeface="华文楷体" panose="02010600040101010101" charset="-122"/>
                                <a:cs typeface="DejaVu Math TeX Gyre" panose="02000503000000000000" charset="0"/>
                              </a:rPr>
                            </m:ctrlPr>
                          </m:sSupPr>
                          <m:e>
                            <m:r>
                              <a:rPr lang="en-US" sz="2000" i="1">
                                <a:solidFill>
                                  <a:srgbClr val="000000"/>
                                </a:solidFill>
                                <a:latin typeface="DejaVu Math TeX Gyre" panose="02000503000000000000" charset="0"/>
                                <a:ea typeface="宋体" pitchFamily="2" charset="-122"/>
                                <a:cs typeface="DejaVu Math TeX Gyre" panose="02000503000000000000" charset="0"/>
                              </a:rPr>
                              <m:t>∆</m:t>
                            </m:r>
                          </m:e>
                          <m:sup>
                            <m:r>
                              <a:rPr lang="en-US" sz="2000" i="1">
                                <a:solidFill>
                                  <a:srgbClr val="000000"/>
                                </a:solidFill>
                                <a:latin typeface="DejaVu Math TeX Gyre" panose="02000503000000000000" charset="0"/>
                                <a:ea typeface="宋体" pitchFamily="2" charset="-122"/>
                                <a:cs typeface="DejaVu Math TeX Gyre" panose="02000503000000000000" charset="0"/>
                              </a:rPr>
                              <m:t>2</m:t>
                            </m:r>
                          </m:sup>
                        </m:sSup>
                      </m:num>
                      <m:den>
                        <m:r>
                          <a:rPr lang="en-US" sz="2000" i="1">
                            <a:solidFill>
                              <a:srgbClr val="000000"/>
                            </a:solidFill>
                            <a:latin typeface="DejaVu Math TeX Gyre" panose="02000503000000000000" charset="0"/>
                            <a:ea typeface="宋体" pitchFamily="2" charset="-122"/>
                            <a:cs typeface="DejaVu Math TeX Gyre" panose="02000503000000000000" charset="0"/>
                          </a:rPr>
                          <m:t>12</m:t>
                        </m:r>
                      </m:den>
                    </m:f>
                  </m:oMath>
                </a14:m>
                <a:endParaRPr lang="en-US" altLang="zh-CN" sz="2000" dirty="0">
                  <a:latin typeface="华文楷体" panose="02010600040101010101" charset="-122"/>
                  <a:ea typeface="华文楷体" panose="02010600040101010101" charset="-122"/>
                  <a:cs typeface="华文楷体" panose="02010600040101010101" charset="-122"/>
                </a:endParaRPr>
              </a:p>
              <a:p>
                <a:pPr marL="0" indent="0" algn="just">
                  <a:lnSpc>
                    <a:spcPct val="150000"/>
                  </a:lnSpc>
                  <a:buFont typeface="Arial" panose="020B0604020202090204" pitchFamily="34" charset="0"/>
                  <a:buNone/>
                </a:pPr>
                <a14:m>
                  <m:oMathPara xmlns:m="http://schemas.openxmlformats.org/officeDocument/2006/math">
                    <m:oMathParaPr>
                      <m:jc m:val="centerGroup"/>
                    </m:oMathParaPr>
                    <m:oMath xmlns:m="http://schemas.openxmlformats.org/officeDocument/2006/math">
                      <m:r>
                        <a:rPr lang="en-US" sz="2000" i="1">
                          <a:solidFill>
                            <a:srgbClr val="000000"/>
                          </a:solidFill>
                          <a:latin typeface="DejaVu Math TeX Gyre" panose="02000503000000000000" charset="0"/>
                          <a:ea typeface="MS Mincho" charset="0"/>
                          <a:cs typeface="DejaVu Math TeX Gyre" panose="02000503000000000000" charset="0"/>
                        </a:rPr>
                        <m:t>              </m:t>
                      </m:r>
                    </m:oMath>
                  </m:oMathPara>
                </a14:m>
                <a:endParaRPr lang="en-US" altLang="zh-CN" sz="2000" i="1" dirty="0">
                  <a:solidFill>
                    <a:srgbClr val="000000"/>
                  </a:solidFill>
                  <a:latin typeface="DejaVu Math TeX Gyre" panose="02000503000000000000" charset="0"/>
                  <a:ea typeface="宋体" pitchFamily="2" charset="-122"/>
                  <a:cs typeface="DejaVu Math TeX Gyre" panose="02000503000000000000"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119380" y="4785360"/>
                <a:ext cx="2771140" cy="2157730"/>
              </a:xfrm>
              <a:prstGeom prst="rect">
                <a:avLst/>
              </a:prstGeom>
              <a:blipFill rotWithShape="1">
                <a:blip r:embed="rId5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464820" y="693420"/>
            <a:ext cx="11272520" cy="775970"/>
          </a:xfrm>
        </p:spPr>
        <p:txBody>
          <a:bodyPr/>
          <a:p>
            <a:r>
              <a:rPr lang="zh-CN" altLang="en-US" sz="2400" b="1">
                <a:latin typeface="华文楷体" panose="02010600040101010101" charset="-122"/>
                <a:ea typeface="华文楷体" panose="02010600040101010101" charset="-122"/>
                <a:cs typeface="华文楷体" panose="02010600040101010101" charset="-122"/>
              </a:rPr>
              <a:t>均匀量化</a:t>
            </a:r>
            <a:endParaRPr lang="zh-CN" altLang="en-US" sz="2400" b="1">
              <a:latin typeface="华文楷体" panose="02010600040101010101" charset="-122"/>
              <a:ea typeface="华文楷体" panose="02010600040101010101" charset="-122"/>
              <a:cs typeface="华文楷体" panose="02010600040101010101" charset="-122"/>
            </a:endParaRPr>
          </a:p>
        </p:txBody>
      </p:sp>
      <p:sp>
        <p:nvSpPr>
          <p:cNvPr id="33796" name="矩形 7"/>
          <p:cNvSpPr/>
          <p:nvPr>
            <p:custDataLst>
              <p:tags r:id="rId3"/>
            </p:custDataLst>
          </p:nvPr>
        </p:nvSpPr>
        <p:spPr>
          <a:xfrm>
            <a:off x="2332990" y="2192020"/>
            <a:ext cx="7415213" cy="460375"/>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en-US" altLang="zh-CN" sz="2000" i="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原因</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000" i="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400" b="1" i="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N</a:t>
            </a:r>
            <a:r>
              <a:rPr lang="en-US" altLang="zh-CN" sz="2400" b="1" baseline="-25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q</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与信号样值大小无关，仅与量化间隔</a:t>
            </a:r>
            <a:r>
              <a:rPr lang="en-US" altLang="zh-CN" sz="2400" b="1" i="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V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有关 。</a:t>
            </a:r>
            <a:endPar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pic>
        <p:nvPicPr>
          <p:cNvPr id="33798" name="Picture 2"/>
          <p:cNvPicPr>
            <a:picLocks noChangeAspect="1"/>
          </p:cNvPicPr>
          <p:nvPr>
            <p:custDataLst>
              <p:tags r:id="rId4"/>
            </p:custDataLst>
          </p:nvPr>
        </p:nvPicPr>
        <p:blipFill>
          <a:blip r:embed="rId5"/>
          <a:srcRect t="12047" b="67873"/>
          <a:stretch>
            <a:fillRect/>
          </a:stretch>
        </p:blipFill>
        <p:spPr>
          <a:xfrm>
            <a:off x="1558290" y="1125220"/>
            <a:ext cx="8277225" cy="1071563"/>
          </a:xfrm>
          <a:prstGeom prst="rect">
            <a:avLst/>
          </a:prstGeom>
          <a:noFill/>
          <a:ln w="9525">
            <a:noFill/>
          </a:ln>
        </p:spPr>
      </p:pic>
      <p:pic>
        <p:nvPicPr>
          <p:cNvPr id="33799" name="Picture 2"/>
          <p:cNvPicPr>
            <a:picLocks noChangeAspect="1"/>
          </p:cNvPicPr>
          <p:nvPr>
            <p:custDataLst>
              <p:tags r:id="rId6"/>
            </p:custDataLst>
          </p:nvPr>
        </p:nvPicPr>
        <p:blipFill>
          <a:blip r:embed="rId5"/>
          <a:srcRect t="42838" b="38422"/>
          <a:stretch>
            <a:fillRect/>
          </a:stretch>
        </p:blipFill>
        <p:spPr>
          <a:xfrm>
            <a:off x="1528128" y="2722245"/>
            <a:ext cx="8275637" cy="1000125"/>
          </a:xfrm>
          <a:prstGeom prst="rect">
            <a:avLst/>
          </a:prstGeom>
          <a:noFill/>
          <a:ln w="9525">
            <a:noFill/>
          </a:ln>
        </p:spPr>
      </p:pic>
      <p:pic>
        <p:nvPicPr>
          <p:cNvPr id="33800" name="Picture 2"/>
          <p:cNvPicPr>
            <a:picLocks noChangeAspect="1"/>
          </p:cNvPicPr>
          <p:nvPr>
            <p:custDataLst>
              <p:tags r:id="rId7"/>
            </p:custDataLst>
          </p:nvPr>
        </p:nvPicPr>
        <p:blipFill>
          <a:blip r:embed="rId5"/>
          <a:srcRect t="60242" b="19678"/>
          <a:stretch>
            <a:fillRect/>
          </a:stretch>
        </p:blipFill>
        <p:spPr>
          <a:xfrm>
            <a:off x="1544003" y="3696970"/>
            <a:ext cx="8275637" cy="1071563"/>
          </a:xfrm>
          <a:prstGeom prst="rect">
            <a:avLst/>
          </a:prstGeom>
          <a:noFill/>
          <a:ln w="9525">
            <a:noFill/>
          </a:ln>
        </p:spPr>
      </p:pic>
      <p:sp>
        <p:nvSpPr>
          <p:cNvPr id="4" name="TextBox 3"/>
          <p:cNvSpPr txBox="1"/>
          <p:nvPr/>
        </p:nvSpPr>
        <p:spPr>
          <a:xfrm>
            <a:off x="335280" y="4869180"/>
            <a:ext cx="10948035" cy="1938020"/>
          </a:xfrm>
          <a:prstGeom prst="rect">
            <a:avLst/>
          </a:prstGeom>
          <a:noFill/>
        </p:spPr>
        <p:txBody>
          <a:bodyPr wrap="square" rtlCol="0">
            <a:spAutoFit/>
          </a:bodyPr>
          <a:p>
            <a:pPr algn="just">
              <a:lnSpc>
                <a:spcPct val="150000"/>
              </a:lnSpc>
            </a:pPr>
            <a:r>
              <a:rPr lang="zh-CN" altLang="en-US" sz="1800" dirty="0">
                <a:latin typeface="华文楷体" panose="02010600040101010101" charset="-122"/>
                <a:ea typeface="华文楷体" panose="02010600040101010101" charset="-122"/>
                <a:cs typeface="华文楷体" panose="02010600040101010101" charset="-122"/>
              </a:rPr>
              <a:t>  </a:t>
            </a:r>
            <a:r>
              <a:rPr lang="zh-CN" altLang="en-US" sz="2000" dirty="0">
                <a:latin typeface="华文楷体" panose="02010600040101010101" charset="-122"/>
                <a:ea typeface="华文楷体" panose="02010600040101010101" charset="-122"/>
                <a:cs typeface="华文楷体" panose="02010600040101010101" charset="-122"/>
              </a:rPr>
              <a:t>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rPr>
              <a:t>实际应用中，对给定均匀量化器，量化电平数和量化间隔都是确定的，量化噪声功率就是确定的。但是，输入信号的强度可随时间变化，因而</a:t>
            </a:r>
            <a:r>
              <a:rPr lang="zh-CN" altLang="en-US" sz="2000" dirty="0">
                <a:solidFill>
                  <a:srgbClr val="FF0000"/>
                </a:solidFill>
                <a:latin typeface="华文楷体" panose="02010600040101010101" charset="-122"/>
                <a:ea typeface="华文楷体" panose="02010600040101010101" charset="-122"/>
                <a:cs typeface="华文楷体" panose="02010600040101010101" charset="-122"/>
              </a:rPr>
              <a:t>大信号量化信噪比大，小信号量化信噪比小</a:t>
            </a:r>
            <a:r>
              <a:rPr lang="zh-CN" altLang="en-US" sz="2000" dirty="0">
                <a:latin typeface="华文楷体" panose="02010600040101010101" charset="-122"/>
                <a:ea typeface="华文楷体" panose="02010600040101010101" charset="-122"/>
                <a:cs typeface="华文楷体" panose="02010600040101010101" charset="-122"/>
              </a:rPr>
              <a:t>。由于</a:t>
            </a:r>
            <a:r>
              <a:rPr lang="zh-CN" altLang="en-US" sz="2000" dirty="0">
                <a:solidFill>
                  <a:srgbClr val="FF0000"/>
                </a:solidFill>
                <a:latin typeface="华文楷体" panose="02010600040101010101" charset="-122"/>
                <a:ea typeface="华文楷体" panose="02010600040101010101" charset="-122"/>
                <a:cs typeface="华文楷体" panose="02010600040101010101" charset="-122"/>
              </a:rPr>
              <a:t>语音信号</a:t>
            </a:r>
            <a:r>
              <a:rPr lang="zh-CN" altLang="en-US" sz="2000" dirty="0">
                <a:latin typeface="华文楷体" panose="02010600040101010101" charset="-122"/>
                <a:ea typeface="华文楷体" panose="02010600040101010101" charset="-122"/>
                <a:cs typeface="华文楷体" panose="02010600040101010101" charset="-122"/>
              </a:rPr>
              <a:t>里小信号出现的概率大于大信号出现的概率，导致平均量化信噪比下降。为了改善这种情况，在实际中常</a:t>
            </a:r>
            <a:r>
              <a:rPr lang="zh-CN" altLang="en-US" sz="2000" dirty="0">
                <a:solidFill>
                  <a:srgbClr val="FF0000"/>
                </a:solidFill>
                <a:latin typeface="华文楷体" panose="02010600040101010101" charset="-122"/>
                <a:ea typeface="华文楷体" panose="02010600040101010101" charset="-122"/>
                <a:cs typeface="华文楷体" panose="02010600040101010101" charset="-122"/>
              </a:rPr>
              <a:t>用非均匀量化</a:t>
            </a:r>
            <a:r>
              <a:rPr lang="zh-CN" altLang="en-US" sz="2000" dirty="0">
                <a:latin typeface="华文楷体" panose="02010600040101010101" charset="-122"/>
                <a:ea typeface="华文楷体" panose="02010600040101010101" charset="-122"/>
                <a:cs typeface="华文楷体" panose="02010600040101010101" charset="-122"/>
              </a:rPr>
              <a:t>。</a:t>
            </a:r>
            <a:r>
              <a:rPr lang="en-US" sz="2000" dirty="0">
                <a:latin typeface="华文楷体" panose="02010600040101010101" charset="-122"/>
                <a:ea typeface="华文楷体" panose="02010600040101010101" charset="-122"/>
                <a:cs typeface="华文楷体" panose="02010600040101010101" charset="-122"/>
              </a:rPr>
              <a:t> </a:t>
            </a:r>
            <a:endParaRPr lang="en-US" sz="2000" dirty="0">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mc:AlternateContent xmlns:mc="http://schemas.openxmlformats.org/markup-compatibility/2006">
        <mc:Choice xmlns:a14="http://schemas.microsoft.com/office/drawing/2010/main" Requires="a14">
          <p:sp>
            <p:nvSpPr>
              <p:cNvPr id="2" name="TextBox 2"/>
              <p:cNvSpPr txBox="1"/>
              <p:nvPr/>
            </p:nvSpPr>
            <p:spPr>
              <a:xfrm>
                <a:off x="911225" y="1188085"/>
                <a:ext cx="10919460" cy="5226685"/>
              </a:xfrm>
              <a:prstGeom prst="rect">
                <a:avLst/>
              </a:prstGeom>
              <a:noFill/>
            </p:spPr>
            <p:txBody>
              <a:bodyPr wrap="square" rtlCol="0">
                <a:noAutofit/>
              </a:bodyPr>
              <a:p>
                <a:pPr marL="285750" indent="-285750">
                  <a:lnSpc>
                    <a:spcPct val="150000"/>
                  </a:lnSpc>
                  <a:buFont typeface="Arial" panose="020B0604020202090204" pitchFamily="34" charset="0"/>
                  <a:buChar char="•"/>
                </a:pPr>
                <a:r>
                  <a:rPr lang="en-US" sz="2800" dirty="0">
                    <a:solidFill>
                      <a:srgbClr val="000000"/>
                    </a:solidFill>
                    <a:latin typeface="华文楷体" panose="02010600040101010101" charset="-122"/>
                    <a:ea typeface="华文楷体" panose="02010600040101010101" charset="-122"/>
                    <a:cs typeface="华文楷体" panose="02010600040101010101" charset="-122"/>
                  </a:rPr>
                  <a:t>A</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律</a:t>
                </a:r>
                <a:r>
                  <a:rPr lang="en-US" sz="2800" dirty="0">
                    <a:solidFill>
                      <a:srgbClr val="000000"/>
                    </a:solidFill>
                    <a:latin typeface="华文楷体" panose="02010600040101010101" charset="-122"/>
                    <a:ea typeface="华文楷体" panose="02010600040101010101" charset="-122"/>
                    <a:cs typeface="华文楷体" panose="02010600040101010101" charset="-122"/>
                  </a:rPr>
                  <a:t>13</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折线近似于</a:t>
                </a:r>
                <a14:m>
                  <m:oMath xmlns:m="http://schemas.openxmlformats.org/officeDocument/2006/math">
                    <m:r>
                      <a:rPr lang="en-US" sz="2800" b="1" i="1">
                        <a:solidFill>
                          <a:srgbClr val="0070C0"/>
                        </a:solidFill>
                        <a:latin typeface="DejaVu Math TeX Gyre" panose="02000503000000000000" charset="0"/>
                        <a:ea typeface="华文楷体" panose="02010600040101010101" charset="-122"/>
                        <a:cs typeface="DejaVu Math TeX Gyre" panose="02000503000000000000" charset="0"/>
                      </a:rPr>
                      <m:t>𝑨</m:t>
                    </m:r>
                    <m:r>
                      <a:rPr lang="en-US" sz="2800" b="1" i="1">
                        <a:solidFill>
                          <a:srgbClr val="0070C0"/>
                        </a:solidFill>
                        <a:latin typeface="DejaVu Math TeX Gyre" panose="02000503000000000000" charset="0"/>
                        <a:ea typeface="宋体" pitchFamily="2" charset="-122"/>
                        <a:cs typeface="DejaVu Math TeX Gyre" panose="02000503000000000000" charset="0"/>
                      </a:rPr>
                      <m:t>=</m:t>
                    </m:r>
                    <m:r>
                      <a:rPr lang="en-US" sz="2800" b="1" i="1">
                        <a:solidFill>
                          <a:srgbClr val="0070C0"/>
                        </a:solidFill>
                        <a:latin typeface="DejaVu Math TeX Gyre" panose="02000503000000000000" charset="0"/>
                        <a:ea typeface="宋体" pitchFamily="2" charset="-122"/>
                        <a:cs typeface="DejaVu Math TeX Gyre" panose="02000503000000000000" charset="0"/>
                      </a:rPr>
                      <m:t>𝟖𝟕</m:t>
                    </m:r>
                    <m:r>
                      <a:rPr lang="en-US" sz="2800" b="1" i="1">
                        <a:solidFill>
                          <a:srgbClr val="0070C0"/>
                        </a:solidFill>
                        <a:latin typeface="DejaVu Math TeX Gyre" panose="02000503000000000000" charset="0"/>
                        <a:ea typeface="宋体" pitchFamily="2" charset="-122"/>
                        <a:cs typeface="DejaVu Math TeX Gyre" panose="02000503000000000000" charset="0"/>
                      </a:rPr>
                      <m:t>.</m:t>
                    </m:r>
                    <m:r>
                      <a:rPr lang="en-US" sz="2800" b="1" i="1">
                        <a:solidFill>
                          <a:srgbClr val="0070C0"/>
                        </a:solidFill>
                        <a:latin typeface="DejaVu Math TeX Gyre" panose="02000503000000000000" charset="0"/>
                        <a:ea typeface="宋体" pitchFamily="2" charset="-122"/>
                        <a:cs typeface="DejaVu Math TeX Gyre" panose="02000503000000000000" charset="0"/>
                      </a:rPr>
                      <m:t>𝟔</m:t>
                    </m:r>
                  </m:oMath>
                </a14:m>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的</a:t>
                </a:r>
                <a:r>
                  <a:rPr lang="en-US" sz="2800" dirty="0">
                    <a:solidFill>
                      <a:srgbClr val="000000"/>
                    </a:solidFill>
                    <a:latin typeface="华文楷体" panose="02010600040101010101" charset="-122"/>
                    <a:ea typeface="华文楷体" panose="02010600040101010101" charset="-122"/>
                    <a:cs typeface="华文楷体" panose="02010600040101010101" charset="-122"/>
                  </a:rPr>
                  <a:t>A</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律压缩特性。</a:t>
                </a:r>
                <a:endParaRPr lang="en-US" altLang="zh-CN" sz="2800" dirty="0">
                  <a:solidFill>
                    <a:srgbClr val="000000"/>
                  </a:solidFill>
                  <a:latin typeface="华文楷体" panose="02010600040101010101" charset="-122"/>
                  <a:ea typeface="华文楷体" panose="02010600040101010101" charset="-122"/>
                  <a:cs typeface="华文楷体" panose="02010600040101010101" charset="-122"/>
                </a:endParaRPr>
              </a:p>
              <a:p>
                <a:pPr marL="285750" indent="-285750">
                  <a:lnSpc>
                    <a:spcPct val="150000"/>
                  </a:lnSpc>
                  <a:buFont typeface="Arial" panose="020B0604020202090204" pitchFamily="34" charset="0"/>
                  <a:buChar char="•"/>
                </a:pP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横轴</a:t>
                </a:r>
                <a:r>
                  <a:rPr lang="en-US" sz="2800" i="1" dirty="0">
                    <a:solidFill>
                      <a:srgbClr val="000000"/>
                    </a:solidFill>
                    <a:latin typeface="华文楷体" panose="02010600040101010101" charset="-122"/>
                    <a:ea typeface="华文楷体" panose="02010600040101010101" charset="-122"/>
                    <a:cs typeface="华文楷体" panose="02010600040101010101" charset="-122"/>
                  </a:rPr>
                  <a:t>x</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和纵轴</a:t>
                </a:r>
                <a:r>
                  <a:rPr lang="en-US" sz="2800" i="1" dirty="0">
                    <a:solidFill>
                      <a:srgbClr val="000000"/>
                    </a:solidFill>
                    <a:latin typeface="华文楷体" panose="02010600040101010101" charset="-122"/>
                    <a:ea typeface="华文楷体" panose="02010600040101010101" charset="-122"/>
                    <a:cs typeface="华文楷体" panose="02010600040101010101" charset="-122"/>
                  </a:rPr>
                  <a:t>y</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分别表示归一化的输入和输出。</a:t>
                </a:r>
                <a:endParaRPr lang="en-US" altLang="zh-CN" sz="2800" dirty="0">
                  <a:solidFill>
                    <a:srgbClr val="000000"/>
                  </a:solidFill>
                  <a:latin typeface="华文楷体" panose="02010600040101010101" charset="-122"/>
                  <a:ea typeface="华文楷体" panose="02010600040101010101" charset="-122"/>
                  <a:cs typeface="华文楷体" panose="02010600040101010101" charset="-122"/>
                </a:endParaRPr>
              </a:p>
              <a:p>
                <a:pPr marL="285750" indent="-285750">
                  <a:lnSpc>
                    <a:spcPct val="150000"/>
                  </a:lnSpc>
                  <a:buFont typeface="Arial" panose="020B0604020202090204" pitchFamily="34" charset="0"/>
                  <a:buChar char="•"/>
                </a:pP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当输入为正信号时，</a:t>
                </a:r>
                <a:r>
                  <a:rPr lang="zh-CN" altLang="en-US" sz="2800" dirty="0">
                    <a:solidFill>
                      <a:srgbClr val="0070C0"/>
                    </a:solidFill>
                    <a:latin typeface="华文楷体" panose="02010600040101010101" charset="-122"/>
                    <a:ea typeface="华文楷体" panose="02010600040101010101" charset="-122"/>
                    <a:cs typeface="华文楷体" panose="02010600040101010101" charset="-122"/>
                  </a:rPr>
                  <a:t>纵轴</a:t>
                </a:r>
                <a:r>
                  <a:rPr lang="en-US" sz="2800" i="1" dirty="0">
                    <a:solidFill>
                      <a:srgbClr val="0070C0"/>
                    </a:solidFill>
                    <a:latin typeface="华文楷体" panose="02010600040101010101" charset="-122"/>
                    <a:ea typeface="华文楷体" panose="02010600040101010101" charset="-122"/>
                    <a:cs typeface="华文楷体" panose="02010600040101010101" charset="-122"/>
                  </a:rPr>
                  <a:t>y</a:t>
                </a:r>
                <a:r>
                  <a:rPr lang="zh-CN" altLang="en-US" sz="2800" dirty="0">
                    <a:solidFill>
                      <a:srgbClr val="0070C0"/>
                    </a:solidFill>
                    <a:latin typeface="华文楷体" panose="02010600040101010101" charset="-122"/>
                    <a:ea typeface="华文楷体" panose="02010600040101010101" charset="-122"/>
                    <a:cs typeface="华文楷体" panose="02010600040101010101" charset="-122"/>
                  </a:rPr>
                  <a:t>的</a:t>
                </a:r>
                <a:r>
                  <a:rPr lang="en-US" sz="2800" dirty="0">
                    <a:solidFill>
                      <a:srgbClr val="0070C0"/>
                    </a:solidFill>
                    <a:latin typeface="华文楷体" panose="02010600040101010101" charset="-122"/>
                    <a:ea typeface="华文楷体" panose="02010600040101010101" charset="-122"/>
                    <a:cs typeface="华文楷体" panose="02010600040101010101" charset="-122"/>
                  </a:rPr>
                  <a:t>[0,1]</a:t>
                </a:r>
                <a:r>
                  <a:rPr lang="zh-CN" altLang="en-US" sz="2800" dirty="0">
                    <a:solidFill>
                      <a:srgbClr val="0070C0"/>
                    </a:solidFill>
                    <a:latin typeface="华文楷体" panose="02010600040101010101" charset="-122"/>
                    <a:ea typeface="华文楷体" panose="02010600040101010101" charset="-122"/>
                    <a:cs typeface="华文楷体" panose="02010600040101010101" charset="-122"/>
                  </a:rPr>
                  <a:t>区间被均匀地分为</a:t>
                </a:r>
                <a:r>
                  <a:rPr lang="en-US" sz="2800" dirty="0">
                    <a:solidFill>
                      <a:srgbClr val="0070C0"/>
                    </a:solidFill>
                    <a:latin typeface="华文楷体" panose="02010600040101010101" charset="-122"/>
                    <a:ea typeface="华文楷体" panose="02010600040101010101" charset="-122"/>
                    <a:cs typeface="华文楷体" panose="02010600040101010101" charset="-122"/>
                  </a:rPr>
                  <a:t>8</a:t>
                </a:r>
                <a:r>
                  <a:rPr lang="zh-CN" altLang="en-US" sz="2800" dirty="0">
                    <a:solidFill>
                      <a:srgbClr val="0070C0"/>
                    </a:solidFill>
                    <a:latin typeface="华文楷体" panose="02010600040101010101" charset="-122"/>
                    <a:ea typeface="华文楷体" panose="02010600040101010101" charset="-122"/>
                    <a:cs typeface="华文楷体" panose="02010600040101010101" charset="-122"/>
                  </a:rPr>
                  <a:t>段</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，而横轴</a:t>
                </a:r>
                <a:r>
                  <a:rPr lang="en-US" sz="2800" i="1" dirty="0">
                    <a:solidFill>
                      <a:srgbClr val="000000"/>
                    </a:solidFill>
                    <a:latin typeface="华文楷体" panose="02010600040101010101" charset="-122"/>
                    <a:ea typeface="华文楷体" panose="02010600040101010101" charset="-122"/>
                    <a:cs typeface="华文楷体" panose="02010600040101010101" charset="-122"/>
                  </a:rPr>
                  <a:t>x</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的</a:t>
                </a:r>
                <a14:m>
                  <m:oMath xmlns:m="http://schemas.openxmlformats.org/officeDocument/2006/math">
                    <m:d>
                      <m:dPr>
                        <m:begChr m:val="["/>
                        <m:endChr m:val="]"/>
                        <m:ctrlPr>
                          <a:rPr lang="en-US" sz="2800" i="1">
                            <a:solidFill>
                              <a:srgbClr val="000000"/>
                            </a:solidFill>
                            <a:latin typeface="DejaVu Math TeX Gyre" panose="02000503000000000000" charset="0"/>
                            <a:ea typeface="华文楷体" panose="02010600040101010101" charset="-122"/>
                            <a:cs typeface="DejaVu Math TeX Gyre" panose="02000503000000000000" charset="0"/>
                          </a:rPr>
                        </m:ctrlPr>
                      </m:dPr>
                      <m:e>
                        <m:r>
                          <a:rPr lang="en-US" sz="2800" i="1">
                            <a:solidFill>
                              <a:srgbClr val="000000"/>
                            </a:solidFill>
                            <a:latin typeface="DejaVu Math TeX Gyre" panose="02000503000000000000" charset="0"/>
                            <a:ea typeface="宋体" pitchFamily="2" charset="-122"/>
                            <a:cs typeface="DejaVu Math TeX Gyre" panose="02000503000000000000" charset="0"/>
                          </a:rPr>
                          <m:t>0</m:t>
                        </m:r>
                        <m:r>
                          <a:rPr lang="en-US" sz="2800" i="1">
                            <a:solidFill>
                              <a:srgbClr val="000000"/>
                            </a:solidFill>
                            <a:latin typeface="DejaVu Math TeX Gyre" panose="02000503000000000000" charset="0"/>
                            <a:ea typeface="宋体" pitchFamily="2" charset="-122"/>
                            <a:cs typeface="DejaVu Math TeX Gyre" panose="02000503000000000000" charset="0"/>
                          </a:rPr>
                          <m:t>,</m:t>
                        </m:r>
                        <m:r>
                          <a:rPr lang="en-US" sz="2800" i="1">
                            <a:solidFill>
                              <a:srgbClr val="000000"/>
                            </a:solidFill>
                            <a:latin typeface="DejaVu Math TeX Gyre" panose="02000503000000000000" charset="0"/>
                            <a:ea typeface="宋体" pitchFamily="2" charset="-122"/>
                            <a:cs typeface="DejaVu Math TeX Gyre" panose="02000503000000000000" charset="0"/>
                          </a:rPr>
                          <m:t>1</m:t>
                        </m:r>
                      </m:e>
                    </m:d>
                  </m:oMath>
                </a14:m>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区间被非均匀地分为</a:t>
                </a:r>
                <a:r>
                  <a:rPr lang="en-US" sz="2800" dirty="0">
                    <a:solidFill>
                      <a:srgbClr val="000000"/>
                    </a:solidFill>
                    <a:latin typeface="华文楷体" panose="02010600040101010101" charset="-122"/>
                    <a:ea typeface="华文楷体" panose="02010600040101010101" charset="-122"/>
                    <a:cs typeface="华文楷体" panose="02010600040101010101" charset="-122"/>
                  </a:rPr>
                  <a:t>8</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段。</a:t>
                </a:r>
                <a:endParaRPr lang="en-US" altLang="zh-CN" sz="2800" dirty="0">
                  <a:solidFill>
                    <a:srgbClr val="000000"/>
                  </a:solidFill>
                  <a:latin typeface="华文楷体" panose="02010600040101010101" charset="-122"/>
                  <a:ea typeface="华文楷体" panose="02010600040101010101" charset="-122"/>
                  <a:cs typeface="华文楷体" panose="02010600040101010101" charset="-122"/>
                </a:endParaRPr>
              </a:p>
              <a:p>
                <a:pPr marL="285750" indent="-285750">
                  <a:lnSpc>
                    <a:spcPct val="150000"/>
                  </a:lnSpc>
                  <a:buFont typeface="Arial" panose="020B0604020202090204" pitchFamily="34" charset="0"/>
                  <a:buChar char="•"/>
                </a:pP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第</a:t>
                </a:r>
                <a:r>
                  <a:rPr lang="en-US" sz="2800" dirty="0">
                    <a:solidFill>
                      <a:srgbClr val="000000"/>
                    </a:solidFill>
                    <a:latin typeface="华文楷体" panose="02010600040101010101" charset="-122"/>
                    <a:ea typeface="华文楷体" panose="02010600040101010101" charset="-122"/>
                    <a:cs typeface="华文楷体" panose="02010600040101010101" charset="-122"/>
                  </a:rPr>
                  <a:t>1</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a:t>
                </a:r>
                <a:r>
                  <a:rPr lang="en-US" sz="2800" dirty="0">
                    <a:solidFill>
                      <a:srgbClr val="000000"/>
                    </a:solidFill>
                    <a:latin typeface="华文楷体" panose="02010600040101010101" charset="-122"/>
                    <a:ea typeface="华文楷体" panose="02010600040101010101" charset="-122"/>
                    <a:cs typeface="华文楷体" panose="02010600040101010101" charset="-122"/>
                  </a:rPr>
                  <a:t>2</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段的斜率相同，被视为一条直线段，故实际上只有</a:t>
                </a:r>
                <a:r>
                  <a:rPr lang="en-US" sz="2800" dirty="0">
                    <a:solidFill>
                      <a:srgbClr val="000000"/>
                    </a:solidFill>
                    <a:latin typeface="华文楷体" panose="02010600040101010101" charset="-122"/>
                    <a:ea typeface="华文楷体" panose="02010600040101010101" charset="-122"/>
                    <a:cs typeface="华文楷体" panose="02010600040101010101" charset="-122"/>
                  </a:rPr>
                  <a:t>7</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段折线。</a:t>
                </a:r>
                <a:endParaRPr lang="en-US" altLang="zh-CN" sz="2800" dirty="0">
                  <a:solidFill>
                    <a:srgbClr val="000000"/>
                  </a:solidFill>
                  <a:latin typeface="华文楷体" panose="02010600040101010101" charset="-122"/>
                  <a:ea typeface="华文楷体" panose="02010600040101010101" charset="-122"/>
                  <a:cs typeface="华文楷体" panose="02010600040101010101" charset="-122"/>
                </a:endParaRPr>
              </a:p>
              <a:p>
                <a:pPr marL="285750" indent="-285750">
                  <a:lnSpc>
                    <a:spcPct val="150000"/>
                  </a:lnSpc>
                  <a:buFont typeface="Arial" panose="020B0604020202090204" pitchFamily="34" charset="0"/>
                  <a:buChar char="•"/>
                </a:pP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语音信号是双极性信号，在负方向也有与正方向对称的</a:t>
                </a:r>
                <a:r>
                  <a:rPr lang="en-US" sz="2800" dirty="0">
                    <a:solidFill>
                      <a:srgbClr val="000000"/>
                    </a:solidFill>
                    <a:latin typeface="华文楷体" panose="02010600040101010101" charset="-122"/>
                    <a:ea typeface="华文楷体" panose="02010600040101010101" charset="-122"/>
                    <a:cs typeface="华文楷体" panose="02010600040101010101" charset="-122"/>
                  </a:rPr>
                  <a:t>7</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段折线。靠近零点的正、负两段折线斜率相同，实际上正、负双向共有</a:t>
                </a:r>
                <a:r>
                  <a:rPr lang="en-US" sz="2800" dirty="0">
                    <a:solidFill>
                      <a:srgbClr val="000000"/>
                    </a:solidFill>
                    <a:latin typeface="华文楷体" panose="02010600040101010101" charset="-122"/>
                    <a:ea typeface="华文楷体" panose="02010600040101010101" charset="-122"/>
                    <a:cs typeface="华文楷体" panose="02010600040101010101" charset="-122"/>
                  </a:rPr>
                  <a:t>13</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段折线，称为</a:t>
                </a:r>
                <a:r>
                  <a:rPr lang="en-US" sz="2800" dirty="0">
                    <a:solidFill>
                      <a:srgbClr val="000000"/>
                    </a:solidFill>
                    <a:latin typeface="华文楷体" panose="02010600040101010101" charset="-122"/>
                    <a:ea typeface="华文楷体" panose="02010600040101010101" charset="-122"/>
                    <a:cs typeface="华文楷体" panose="02010600040101010101" charset="-122"/>
                  </a:rPr>
                  <a:t>A</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律</a:t>
                </a:r>
                <a:r>
                  <a:rPr lang="en-US" sz="2800" dirty="0">
                    <a:solidFill>
                      <a:srgbClr val="000000"/>
                    </a:solidFill>
                    <a:latin typeface="华文楷体" panose="02010600040101010101" charset="-122"/>
                    <a:ea typeface="华文楷体" panose="02010600040101010101" charset="-122"/>
                    <a:cs typeface="华文楷体" panose="02010600040101010101" charset="-122"/>
                  </a:rPr>
                  <a:t>13</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rPr>
                  <a:t>折线。</a:t>
                </a:r>
                <a:endParaRPr lang="en-US" sz="2800" dirty="0">
                  <a:solidFill>
                    <a:srgbClr val="000000"/>
                  </a:solidFill>
                  <a:latin typeface="华文楷体" panose="02010600040101010101" charset="-122"/>
                  <a:ea typeface="华文楷体" panose="02010600040101010101" charset="-122"/>
                  <a:cs typeface="华文楷体" panose="02010600040101010101" charset="-122"/>
                </a:endParaRPr>
              </a:p>
            </p:txBody>
          </p:sp>
        </mc:Choice>
        <mc:Fallback>
          <p:sp>
            <p:nvSpPr>
              <p:cNvPr id="2" name="TextBox 2"/>
              <p:cNvSpPr txBox="1">
                <a:spLocks noRot="1" noChangeAspect="1" noMove="1" noResize="1" noEditPoints="1" noAdjustHandles="1" noChangeArrowheads="1" noChangeShapeType="1" noTextEdit="1"/>
              </p:cNvSpPr>
              <p:nvPr/>
            </p:nvSpPr>
            <p:spPr>
              <a:xfrm>
                <a:off x="911225" y="1188085"/>
                <a:ext cx="10919460" cy="5226685"/>
              </a:xfrm>
              <a:prstGeom prst="rect">
                <a:avLst/>
              </a:prstGeom>
              <a:blipFill rotWithShape="1">
                <a:blip r:embed="rId2"/>
                <a:stretch>
                  <a:fillRect/>
                </a:stretch>
              </a:blipFill>
            </p:spPr>
            <p:txBody>
              <a:bodyPr/>
              <a:lstStyle/>
              <a:p>
                <a:r>
                  <a:rPr lang="zh-CN" altLang="en-US">
                    <a:noFill/>
                  </a:rPr>
                  <a:t> </a:t>
                </a:r>
              </a:p>
            </p:txBody>
          </p:sp>
        </mc:Fallback>
      </mc:AlternateContent>
      <p:sp>
        <p:nvSpPr>
          <p:cNvPr id="11" name="TextBox 10"/>
          <p:cNvSpPr txBox="1"/>
          <p:nvPr/>
        </p:nvSpPr>
        <p:spPr>
          <a:xfrm>
            <a:off x="839236" y="765423"/>
            <a:ext cx="3471545" cy="460375"/>
          </a:xfrm>
          <a:prstGeom prst="rect">
            <a:avLst/>
          </a:prstGeom>
          <a:noFill/>
        </p:spPr>
        <p:txBody>
          <a:bodyPr wrap="none" rtlCol="0">
            <a:spAutoFit/>
          </a:bodyPr>
          <a:p>
            <a:pPr algn="l"/>
            <a:r>
              <a:rPr lang="en-US" sz="2400" u="sng" dirty="0">
                <a:solidFill>
                  <a:srgbClr val="FF0000"/>
                </a:solidFill>
              </a:rPr>
              <a:t>A律</a:t>
            </a:r>
            <a:r>
              <a:rPr lang="en-US" altLang="zh-CN" sz="2400" u="sng" dirty="0">
                <a:solidFill>
                  <a:srgbClr val="FF0000"/>
                </a:solidFill>
              </a:rPr>
              <a:t>13</a:t>
            </a:r>
            <a:r>
              <a:rPr lang="zh-CN" altLang="en-US" sz="2400" u="sng" dirty="0">
                <a:solidFill>
                  <a:srgbClr val="FF0000"/>
                </a:solidFill>
              </a:rPr>
              <a:t>折线</a:t>
            </a:r>
            <a:r>
              <a:rPr lang="zh-CN" altLang="en-US" sz="2400" u="sng" dirty="0">
                <a:solidFill>
                  <a:srgbClr val="0070C0"/>
                </a:solidFill>
              </a:rPr>
              <a:t>（</a:t>
            </a:r>
            <a:r>
              <a:rPr lang="zh-CN" altLang="en-US" sz="2400" b="1" kern="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sym typeface="+mn-ea"/>
              </a:rPr>
              <a:t>数字压扩）</a:t>
            </a:r>
            <a:endParaRPr lang="zh-CN" altLang="en-US" sz="2400" b="1" u="sng" kern="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41987" name="Picture 4"/>
          <p:cNvPicPr>
            <a:picLocks noChangeAspect="1"/>
          </p:cNvPicPr>
          <p:nvPr>
            <p:custDataLst>
              <p:tags r:id="rId2"/>
            </p:custDataLst>
          </p:nvPr>
        </p:nvPicPr>
        <p:blipFill>
          <a:blip r:embed="rId3"/>
          <a:stretch>
            <a:fillRect/>
          </a:stretch>
        </p:blipFill>
        <p:spPr>
          <a:xfrm>
            <a:off x="3472180" y="1358900"/>
            <a:ext cx="5953125" cy="5328285"/>
          </a:xfrm>
          <a:prstGeom prst="rect">
            <a:avLst/>
          </a:prstGeom>
          <a:noFill/>
          <a:ln w="9525">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4" name="Rectangle 20"/>
          <p:cNvSpPr>
            <a:spLocks noGrp="1" noChangeArrowheads="1"/>
          </p:cNvSpPr>
          <p:nvPr>
            <p:ph type="title"/>
          </p:nvPr>
        </p:nvSpPr>
        <p:spPr>
          <a:xfrm>
            <a:off x="767715" y="1125044"/>
            <a:ext cx="5486400" cy="533400"/>
          </a:xfrm>
          <a:noFill/>
        </p:spPr>
        <p:txBody>
          <a:bodyPr/>
          <a:p>
            <a:pPr algn="just">
              <a:spcBef>
                <a:spcPct val="50000"/>
              </a:spcBef>
              <a:buFont typeface="Wingdings" panose="05000000000000000000" pitchFamily="2" charset="2"/>
              <a:buChar char="Ø"/>
            </a:pPr>
            <a:r>
              <a:rPr lang="en-US" altLang="zh-CN" sz="2800" dirty="0">
                <a:latin typeface="华文楷体" panose="02010600040101010101" charset="-122"/>
                <a:ea typeface="华文楷体" panose="02010600040101010101" charset="-122"/>
                <a:cs typeface="华文楷体" panose="02010600040101010101" charset="-122"/>
              </a:rPr>
              <a:t>A</a:t>
            </a:r>
            <a:r>
              <a:rPr lang="zh-CN" altLang="en-US" sz="2800" dirty="0">
                <a:latin typeface="华文楷体" panose="02010600040101010101" charset="-122"/>
                <a:ea typeface="华文楷体" panose="02010600040101010101" charset="-122"/>
                <a:cs typeface="华文楷体" panose="02010600040101010101" charset="-122"/>
              </a:rPr>
              <a:t>律</a:t>
            </a:r>
            <a:r>
              <a:rPr lang="en-US" altLang="zh-CN" sz="2800" dirty="0">
                <a:latin typeface="华文楷体" panose="02010600040101010101" charset="-122"/>
                <a:ea typeface="华文楷体" panose="02010600040101010101" charset="-122"/>
                <a:cs typeface="华文楷体" panose="02010600040101010101" charset="-122"/>
              </a:rPr>
              <a:t>13</a:t>
            </a:r>
            <a:r>
              <a:rPr lang="zh-CN" altLang="en-US" sz="2800" dirty="0">
                <a:latin typeface="华文楷体" panose="02010600040101010101" charset="-122"/>
                <a:ea typeface="华文楷体" panose="02010600040101010101" charset="-122"/>
                <a:cs typeface="华文楷体" panose="02010600040101010101" charset="-122"/>
              </a:rPr>
              <a:t>折线编码</a:t>
            </a:r>
            <a:endParaRPr lang="zh-CN" altLang="en-US" sz="2800" dirty="0">
              <a:latin typeface="华文楷体" panose="02010600040101010101" charset="-122"/>
              <a:ea typeface="华文楷体" panose="02010600040101010101" charset="-122"/>
              <a:cs typeface="华文楷体" panose="02010600040101010101" charset="-122"/>
            </a:endParaRPr>
          </a:p>
        </p:txBody>
      </p:sp>
      <p:sp>
        <p:nvSpPr>
          <p:cNvPr id="14" name="TextBox 1"/>
          <p:cNvSpPr txBox="1"/>
          <p:nvPr/>
        </p:nvSpPr>
        <p:spPr>
          <a:xfrm>
            <a:off x="1343660" y="1614170"/>
            <a:ext cx="10267315" cy="2030095"/>
          </a:xfrm>
          <a:prstGeom prst="rect">
            <a:avLst/>
          </a:prstGeom>
          <a:noFill/>
        </p:spPr>
        <p:txBody>
          <a:bodyPr wrap="square" rtlCol="0">
            <a:spAutoFit/>
          </a:bodyPr>
          <a:p>
            <a:pPr marL="285750" indent="-285750">
              <a:lnSpc>
                <a:spcPct val="150000"/>
              </a:lnSpc>
              <a:buFont typeface="Arial" panose="020B0604020202090204" pitchFamily="34" charset="0"/>
              <a:buChar char="•"/>
            </a:pPr>
            <a:r>
              <a:rPr lang="zh-CN" altLang="en-US" sz="2800" dirty="0">
                <a:latin typeface="华文楷体" panose="02010600040101010101" charset="-122"/>
                <a:ea typeface="华文楷体" panose="02010600040101010101" charset="-122"/>
                <a:cs typeface="华文楷体" panose="02010600040101010101" charset="-122"/>
              </a:rPr>
              <a:t>各段落被均匀地划分为</a:t>
            </a:r>
            <a:r>
              <a:rPr lang="en-US" altLang="zh-CN" sz="2800" dirty="0">
                <a:latin typeface="华文楷体" panose="02010600040101010101" charset="-122"/>
                <a:ea typeface="华文楷体" panose="02010600040101010101" charset="-122"/>
                <a:cs typeface="华文楷体" panose="02010600040101010101" charset="-122"/>
              </a:rPr>
              <a:t>16</a:t>
            </a:r>
            <a:r>
              <a:rPr lang="zh-CN" altLang="en-US" sz="2800" dirty="0">
                <a:latin typeface="华文楷体" panose="02010600040101010101" charset="-122"/>
                <a:ea typeface="华文楷体" panose="02010600040101010101" charset="-122"/>
                <a:cs typeface="华文楷体" panose="02010600040101010101" charset="-122"/>
              </a:rPr>
              <a:t>个区间（量化级），则 </a:t>
            </a:r>
            <a:r>
              <a:rPr lang="en-US" altLang="zh-CN" sz="2800" dirty="0">
                <a:latin typeface="华文楷体" panose="02010600040101010101" charset="-122"/>
                <a:ea typeface="华文楷体" panose="02010600040101010101" charset="-122"/>
                <a:cs typeface="华文楷体" panose="02010600040101010101" charset="-122"/>
              </a:rPr>
              <a:t>[−1,1]</a:t>
            </a:r>
            <a:r>
              <a:rPr lang="zh-CN" altLang="en-US" sz="2800" dirty="0">
                <a:latin typeface="华文楷体" panose="02010600040101010101" charset="-122"/>
                <a:ea typeface="华文楷体" panose="02010600040101010101" charset="-122"/>
                <a:cs typeface="华文楷体" panose="02010600040101010101" charset="-122"/>
              </a:rPr>
              <a:t>被划分为</a:t>
            </a:r>
            <a:r>
              <a:rPr lang="en-US" altLang="zh-CN" sz="2800" dirty="0">
                <a:latin typeface="华文楷体" panose="02010600040101010101" charset="-122"/>
                <a:ea typeface="华文楷体" panose="02010600040101010101" charset="-122"/>
                <a:cs typeface="华文楷体" panose="02010600040101010101" charset="-122"/>
              </a:rPr>
              <a:t>256</a:t>
            </a:r>
            <a:r>
              <a:rPr lang="zh-CN" altLang="en-US" sz="2800" dirty="0">
                <a:latin typeface="华文楷体" panose="02010600040101010101" charset="-122"/>
                <a:ea typeface="华文楷体" panose="02010600040101010101" charset="-122"/>
                <a:cs typeface="华文楷体" panose="02010600040101010101" charset="-122"/>
              </a:rPr>
              <a:t>个非均匀区间。</a:t>
            </a:r>
            <a:endParaRPr lang="en-US" altLang="zh-CN" sz="2800" dirty="0">
              <a:latin typeface="华文楷体" panose="02010600040101010101" charset="-122"/>
              <a:ea typeface="华文楷体" panose="02010600040101010101" charset="-122"/>
              <a:cs typeface="华文楷体" panose="02010600040101010101" charset="-122"/>
            </a:endParaRPr>
          </a:p>
          <a:p>
            <a:pPr marL="285750" indent="-285750">
              <a:lnSpc>
                <a:spcPct val="150000"/>
              </a:lnSpc>
              <a:buFont typeface="Arial" panose="020B0604020202090204" pitchFamily="34" charset="0"/>
              <a:buChar char="•"/>
            </a:pPr>
            <a:r>
              <a:rPr lang="zh-CN" altLang="en-US" sz="2800" dirty="0">
                <a:latin typeface="华文楷体" panose="02010600040101010101" charset="-122"/>
                <a:ea typeface="华文楷体" panose="02010600040101010101" charset="-122"/>
                <a:cs typeface="华文楷体" panose="02010600040101010101" charset="-122"/>
              </a:rPr>
              <a:t>最小量化间隔：</a:t>
            </a:r>
            <a:r>
              <a:rPr lang="en-US" altLang="zh-CN" sz="2800" dirty="0">
                <a:latin typeface="华文楷体" panose="02010600040101010101" charset="-122"/>
                <a:ea typeface="华文楷体" panose="02010600040101010101" charset="-122"/>
                <a:cs typeface="华文楷体" panose="02010600040101010101" charset="-122"/>
              </a:rPr>
              <a:t>∆</a:t>
            </a:r>
            <a:r>
              <a:rPr lang="en-US" altLang="zh-CN" sz="2800" dirty="0">
                <a:latin typeface="华文楷体" panose="02010600040101010101" charset="-122"/>
                <a:ea typeface="华文楷体" panose="02010600040101010101" charset="-122"/>
                <a:cs typeface="华文楷体" panose="02010600040101010101" charset="-122"/>
                <a:sym typeface="+mn-ea"/>
              </a:rPr>
              <a:t>=1/128×1/16=</a:t>
            </a:r>
            <a:r>
              <a:rPr lang="en-US" altLang="zh-CN" sz="2800" dirty="0">
                <a:latin typeface="华文楷体" panose="02010600040101010101" charset="-122"/>
                <a:ea typeface="华文楷体" panose="02010600040101010101" charset="-122"/>
                <a:cs typeface="华文楷体" panose="02010600040101010101" charset="-122"/>
              </a:rPr>
              <a:t>1</a:t>
            </a:r>
            <a:r>
              <a:rPr lang="zh-CN" altLang="en-US" sz="2800" dirty="0">
                <a:latin typeface="华文楷体" panose="02010600040101010101" charset="-122"/>
                <a:ea typeface="华文楷体" panose="02010600040101010101" charset="-122"/>
                <a:cs typeface="华文楷体" panose="02010600040101010101" charset="-122"/>
              </a:rPr>
              <a:t> </a:t>
            </a:r>
            <a:r>
              <a:rPr lang="en-US" altLang="zh-CN" sz="2800" dirty="0">
                <a:latin typeface="华文楷体" panose="02010600040101010101" charset="-122"/>
                <a:ea typeface="华文楷体" panose="02010600040101010101" charset="-122"/>
                <a:cs typeface="华文楷体" panose="02010600040101010101" charset="-122"/>
              </a:rPr>
              <a:t>∕</a:t>
            </a:r>
            <a:r>
              <a:rPr lang="zh-CN" altLang="en-US" sz="2800" dirty="0">
                <a:latin typeface="华文楷体" panose="02010600040101010101" charset="-122"/>
                <a:ea typeface="华文楷体" panose="02010600040101010101" charset="-122"/>
                <a:cs typeface="华文楷体" panose="02010600040101010101" charset="-122"/>
              </a:rPr>
              <a:t> </a:t>
            </a:r>
            <a:r>
              <a:rPr lang="en-US" altLang="zh-CN" sz="2800" dirty="0">
                <a:latin typeface="华文楷体" panose="02010600040101010101" charset="-122"/>
                <a:ea typeface="华文楷体" panose="02010600040101010101" charset="-122"/>
                <a:cs typeface="华文楷体" panose="02010600040101010101" charset="-122"/>
              </a:rPr>
              <a:t>2048</a:t>
            </a:r>
            <a:r>
              <a:rPr lang="zh-CN" altLang="en-US" sz="2800" dirty="0">
                <a:latin typeface="华文楷体" panose="02010600040101010101" charset="-122"/>
                <a:ea typeface="华文楷体" panose="02010600040101010101" charset="-122"/>
                <a:cs typeface="华文楷体" panose="02010600040101010101" charset="-122"/>
              </a:rPr>
              <a:t>。</a:t>
            </a:r>
            <a:endParaRPr lang="zh-CN" altLang="en-US" sz="2800" dirty="0">
              <a:latin typeface="华文楷体" panose="02010600040101010101" charset="-122"/>
              <a:ea typeface="华文楷体" panose="02010600040101010101" charset="-122"/>
              <a:cs typeface="华文楷体" panose="02010600040101010101" charset="-122"/>
            </a:endParaRPr>
          </a:p>
        </p:txBody>
      </p:sp>
      <p:sp>
        <p:nvSpPr>
          <p:cNvPr id="15" name="TextBox 4"/>
          <p:cNvSpPr txBox="1"/>
          <p:nvPr/>
        </p:nvSpPr>
        <p:spPr>
          <a:xfrm>
            <a:off x="1343660" y="3918585"/>
            <a:ext cx="9780905" cy="2171065"/>
          </a:xfrm>
          <a:prstGeom prst="rect">
            <a:avLst/>
          </a:prstGeom>
          <a:noFill/>
        </p:spPr>
        <p:txBody>
          <a:bodyPr wrap="square" rtlCol="0">
            <a:noAutofit/>
          </a:bodyPr>
          <a:p>
            <a:pPr marL="285750" indent="-285750">
              <a:lnSpc>
                <a:spcPct val="150000"/>
              </a:lnSpc>
              <a:buFont typeface="Arial" panose="020B0604020202090204" pitchFamily="34" charset="0"/>
              <a:buChar char="•"/>
            </a:pPr>
            <a:r>
              <a:rPr lang="zh-CN" altLang="en-US" sz="2800" dirty="0">
                <a:latin typeface="华文楷体" panose="02010600040101010101" charset="-122"/>
                <a:ea typeface="华文楷体" panose="02010600040101010101" charset="-122"/>
                <a:cs typeface="华文楷体" panose="02010600040101010101" charset="-122"/>
              </a:rPr>
              <a:t>若以</a:t>
            </a:r>
            <a:r>
              <a:rPr lang="zh-CN" altLang="en-US" sz="2800" dirty="0">
                <a:latin typeface="华文楷体" panose="02010600040101010101" charset="-122"/>
                <a:ea typeface="华文楷体" panose="02010600040101010101" charset="-122"/>
                <a:cs typeface="华文楷体" panose="02010600040101010101" charset="-122"/>
                <a:sym typeface="+mn-ea"/>
              </a:rPr>
              <a:t>∆</a:t>
            </a:r>
            <a:r>
              <a:rPr lang="zh-CN" altLang="en-US" sz="2800" dirty="0">
                <a:latin typeface="华文楷体" panose="02010600040101010101" charset="-122"/>
                <a:ea typeface="华文楷体" panose="02010600040101010101" charset="-122"/>
                <a:cs typeface="华文楷体" panose="02010600040101010101" charset="-122"/>
              </a:rPr>
              <a:t>作为均匀量化的量化间隔，则</a:t>
            </a:r>
            <a:r>
              <a:rPr lang="en-US" altLang="zh-CN" sz="2800" dirty="0">
                <a:latin typeface="华文楷体" panose="02010600040101010101" charset="-122"/>
                <a:ea typeface="华文楷体" panose="02010600040101010101" charset="-122"/>
                <a:cs typeface="华文楷体" panose="02010600040101010101" charset="-122"/>
              </a:rPr>
              <a:t>[0,1]</a:t>
            </a:r>
            <a:r>
              <a:rPr lang="zh-CN" altLang="en-US" sz="2800" dirty="0">
                <a:latin typeface="华文楷体" panose="02010600040101010101" charset="-122"/>
                <a:ea typeface="华文楷体" panose="02010600040101010101" charset="-122"/>
                <a:cs typeface="华文楷体" panose="02010600040101010101" charset="-122"/>
              </a:rPr>
              <a:t>区间有</a:t>
            </a:r>
            <a:r>
              <a:rPr lang="en-US" altLang="zh-CN" sz="2800" dirty="0">
                <a:latin typeface="华文楷体" panose="02010600040101010101" charset="-122"/>
                <a:ea typeface="华文楷体" panose="02010600040101010101" charset="-122"/>
                <a:cs typeface="华文楷体" panose="02010600040101010101" charset="-122"/>
              </a:rPr>
              <a:t>2048</a:t>
            </a:r>
            <a:r>
              <a:rPr lang="zh-CN" altLang="en-US" sz="2800" dirty="0">
                <a:latin typeface="华文楷体" panose="02010600040101010101" charset="-122"/>
                <a:ea typeface="华文楷体" panose="02010600040101010101" charset="-122"/>
                <a:cs typeface="华文楷体" panose="02010600040101010101" charset="-122"/>
              </a:rPr>
              <a:t>个均匀量化级，至少需要</a:t>
            </a:r>
            <a:r>
              <a:rPr lang="en-US" sz="2800" dirty="0">
                <a:latin typeface="华文楷体" panose="02010600040101010101" charset="-122"/>
                <a:ea typeface="华文楷体" panose="02010600040101010101" charset="-122"/>
                <a:cs typeface="华文楷体" panose="02010600040101010101" charset="-122"/>
              </a:rPr>
              <a:t>11</a:t>
            </a:r>
            <a:r>
              <a:rPr lang="zh-CN" altLang="en-US" sz="2800" dirty="0">
                <a:latin typeface="华文楷体" panose="02010600040101010101" charset="-122"/>
                <a:ea typeface="华文楷体" panose="02010600040101010101" charset="-122"/>
                <a:cs typeface="华文楷体" panose="02010600040101010101" charset="-122"/>
              </a:rPr>
              <a:t>位二进制码进行线性编码，而</a:t>
            </a:r>
            <a:r>
              <a:rPr lang="en-US" sz="2800" dirty="0">
                <a:latin typeface="华文楷体" panose="02010600040101010101" charset="-122"/>
                <a:ea typeface="华文楷体" panose="02010600040101010101" charset="-122"/>
                <a:cs typeface="华文楷体" panose="02010600040101010101" charset="-122"/>
              </a:rPr>
              <a:t>A</a:t>
            </a:r>
            <a:r>
              <a:rPr lang="zh-CN" altLang="en-US" sz="2800" dirty="0">
                <a:latin typeface="华文楷体" panose="02010600040101010101" charset="-122"/>
                <a:ea typeface="华文楷体" panose="02010600040101010101" charset="-122"/>
                <a:cs typeface="华文楷体" panose="02010600040101010101" charset="-122"/>
              </a:rPr>
              <a:t>律</a:t>
            </a:r>
            <a:r>
              <a:rPr lang="en-US" altLang="zh-CN" sz="2800" dirty="0">
                <a:latin typeface="华文楷体" panose="02010600040101010101" charset="-122"/>
                <a:ea typeface="华文楷体" panose="02010600040101010101" charset="-122"/>
                <a:cs typeface="华文楷体" panose="02010600040101010101" charset="-122"/>
              </a:rPr>
              <a:t>13</a:t>
            </a:r>
            <a:r>
              <a:rPr lang="zh-CN" altLang="en-US" sz="2800" dirty="0">
                <a:latin typeface="华文楷体" panose="02010600040101010101" charset="-122"/>
                <a:ea typeface="华文楷体" panose="02010600040101010101" charset="-122"/>
                <a:cs typeface="华文楷体" panose="02010600040101010101" charset="-122"/>
              </a:rPr>
              <a:t>折线只需</a:t>
            </a:r>
            <a:r>
              <a:rPr lang="en-US" altLang="zh-CN" sz="2800" dirty="0">
                <a:latin typeface="华文楷体" panose="02010600040101010101" charset="-122"/>
                <a:ea typeface="华文楷体" panose="02010600040101010101" charset="-122"/>
                <a:cs typeface="华文楷体" panose="02010600040101010101" charset="-122"/>
              </a:rPr>
              <a:t>7</a:t>
            </a:r>
            <a:r>
              <a:rPr lang="zh-CN" altLang="en-US" sz="2800" dirty="0">
                <a:latin typeface="华文楷体" panose="02010600040101010101" charset="-122"/>
                <a:ea typeface="华文楷体" panose="02010600040101010101" charset="-122"/>
                <a:cs typeface="华文楷体" panose="02010600040101010101" charset="-122"/>
              </a:rPr>
              <a:t>位非线性码。</a:t>
            </a:r>
            <a:endParaRPr lang="zh-CN" altLang="en-US" sz="2800" dirty="0">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51202" name="矩形 9"/>
          <p:cNvSpPr/>
          <p:nvPr>
            <p:custDataLst>
              <p:tags r:id="rId2"/>
            </p:custDataLst>
          </p:nvPr>
        </p:nvSpPr>
        <p:spPr>
          <a:xfrm>
            <a:off x="2424113" y="3243263"/>
            <a:ext cx="1357312" cy="1000125"/>
          </a:xfrm>
          <a:prstGeom prst="rect">
            <a:avLst/>
          </a:prstGeom>
          <a:solidFill>
            <a:srgbClr val="E7E7E7"/>
          </a:solidFill>
          <a:ln w="9525">
            <a:noFill/>
          </a:ln>
        </p:spPr>
        <p:txBody>
          <a:bodyPr anchor="ctr" anchorCtr="0"/>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spcBef>
                <a:spcPct val="0"/>
              </a:spcBef>
              <a:buClrTx/>
              <a:buSzTx/>
              <a:buFont typeface="Arial" panose="020B0604020202090204" pitchFamily="34" charset="0"/>
              <a:buNone/>
            </a:pPr>
            <a:endParaRPr lang="zh-CN" altLang="zh-CN" sz="1800" dirty="0">
              <a:solidFill>
                <a:srgbClr val="FFFFFF"/>
              </a:solidFill>
              <a:latin typeface="华文楷体" panose="02010600040101010101" charset="-122"/>
              <a:ea typeface="华文楷体" panose="02010600040101010101" charset="-122"/>
            </a:endParaRPr>
          </a:p>
        </p:txBody>
      </p:sp>
      <p:sp>
        <p:nvSpPr>
          <p:cNvPr id="51203" name="矩形 8"/>
          <p:cNvSpPr/>
          <p:nvPr>
            <p:custDataLst>
              <p:tags r:id="rId3"/>
            </p:custDataLst>
          </p:nvPr>
        </p:nvSpPr>
        <p:spPr>
          <a:xfrm>
            <a:off x="3981450" y="3228975"/>
            <a:ext cx="1500188" cy="1000125"/>
          </a:xfrm>
          <a:prstGeom prst="rect">
            <a:avLst/>
          </a:prstGeom>
          <a:solidFill>
            <a:srgbClr val="E7E7E7"/>
          </a:solidFill>
          <a:ln w="9525">
            <a:noFill/>
          </a:ln>
        </p:spPr>
        <p:txBody>
          <a:bodyPr anchor="ctr" anchorCtr="0"/>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spcBef>
                <a:spcPct val="0"/>
              </a:spcBef>
              <a:buClrTx/>
              <a:buSzTx/>
              <a:buFont typeface="Arial" panose="020B0604020202090204" pitchFamily="34" charset="0"/>
              <a:buNone/>
            </a:pPr>
            <a:endParaRPr lang="zh-CN" altLang="zh-CN" sz="1800" dirty="0">
              <a:solidFill>
                <a:srgbClr val="FFFFFF"/>
              </a:solidFill>
              <a:latin typeface="华文楷体" panose="02010600040101010101" charset="-122"/>
              <a:ea typeface="华文楷体" panose="02010600040101010101" charset="-122"/>
            </a:endParaRPr>
          </a:p>
        </p:txBody>
      </p:sp>
      <p:sp>
        <p:nvSpPr>
          <p:cNvPr id="51204" name="矩形 7"/>
          <p:cNvSpPr/>
          <p:nvPr>
            <p:custDataLst>
              <p:tags r:id="rId4"/>
            </p:custDataLst>
          </p:nvPr>
        </p:nvSpPr>
        <p:spPr>
          <a:xfrm>
            <a:off x="5643563" y="3228975"/>
            <a:ext cx="1500187" cy="1000125"/>
          </a:xfrm>
          <a:prstGeom prst="rect">
            <a:avLst/>
          </a:prstGeom>
          <a:solidFill>
            <a:srgbClr val="E7E7E7"/>
          </a:solidFill>
          <a:ln w="9525">
            <a:noFill/>
          </a:ln>
        </p:spPr>
        <p:txBody>
          <a:bodyPr anchor="ctr" anchorCtr="0"/>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spcBef>
                <a:spcPct val="0"/>
              </a:spcBef>
              <a:buClrTx/>
              <a:buSzTx/>
              <a:buFont typeface="Arial" panose="020B0604020202090204" pitchFamily="34" charset="0"/>
              <a:buNone/>
            </a:pPr>
            <a:endParaRPr lang="zh-CN" altLang="zh-CN" sz="1800" dirty="0">
              <a:solidFill>
                <a:srgbClr val="FFFFFF"/>
              </a:solidFill>
              <a:latin typeface="华文楷体" panose="02010600040101010101" charset="-122"/>
              <a:ea typeface="华文楷体" panose="02010600040101010101" charset="-122"/>
            </a:endParaRPr>
          </a:p>
        </p:txBody>
      </p:sp>
      <p:sp>
        <p:nvSpPr>
          <p:cNvPr id="51205" name="内容占位符 2"/>
          <p:cNvSpPr>
            <a:spLocks noGrp="1"/>
          </p:cNvSpPr>
          <p:nvPr>
            <p:ph idx="1"/>
            <p:custDataLst>
              <p:tags r:id="rId5"/>
            </p:custDataLst>
          </p:nvPr>
        </p:nvSpPr>
        <p:spPr>
          <a:xfrm>
            <a:off x="1071563" y="4500563"/>
            <a:ext cx="7286625" cy="1571625"/>
          </a:xfrm>
        </p:spPr>
        <p:txBody>
          <a:bodyPr vert="horz" wrap="square" lIns="91440" tIns="45720" rIns="91440" bIns="45720" anchor="t" anchorCtr="0"/>
          <a:p>
            <a:pPr marL="342900" indent="-342900" algn="l" defTabSz="0" eaLnBrk="1" hangingPunct="1">
              <a:lnSpc>
                <a:spcPts val="3800"/>
              </a:lnSpc>
              <a:buClr>
                <a:schemeClr val="hlink"/>
              </a:buClr>
              <a:buSzPct val="50000"/>
              <a:buFont typeface="Wingdings" panose="05000000000000000000" pitchFamily="2" charset="2"/>
              <a:buChar char="q"/>
            </a:pPr>
            <a:r>
              <a:rPr lang="zh-CN" altLang="en-US" kern="1200" dirty="0">
                <a:cs typeface="华文楷体" panose="02010600040101010101" charset="-122"/>
                <a:sym typeface="Arial" panose="020B0604020202090204" pitchFamily="34" charset="0"/>
              </a:rPr>
              <a:t>极性码</a:t>
            </a:r>
            <a:r>
              <a:rPr lang="zh-CN" altLang="en-US" b="1" kern="1200" dirty="0">
                <a:cs typeface="华文楷体" panose="02010600040101010101" charset="-122"/>
                <a:sym typeface="Arial" panose="020B0604020202090204" pitchFamily="34" charset="0"/>
              </a:rPr>
              <a:t>：</a:t>
            </a:r>
            <a:r>
              <a:rPr lang="zh-CN" altLang="en-US" sz="2000" kern="1200" dirty="0">
                <a:cs typeface="华文楷体" panose="02010600040101010101" charset="-122"/>
                <a:sym typeface="Arial" panose="020B0604020202090204" pitchFamily="34" charset="0"/>
              </a:rPr>
              <a:t>表示样值的极性。正编“</a:t>
            </a:r>
            <a:r>
              <a:rPr lang="en-US" altLang="zh-CN" sz="2000" b="1" kern="1200" dirty="0">
                <a:cs typeface="华文楷体" panose="02010600040101010101" charset="-122"/>
                <a:sym typeface="Arial" panose="020B0604020202090204" pitchFamily="34" charset="0"/>
              </a:rPr>
              <a:t>1</a:t>
            </a:r>
            <a:r>
              <a:rPr lang="en-US" altLang="zh-CN" sz="2000" kern="1200" dirty="0">
                <a:cs typeface="华文楷体" panose="02010600040101010101" charset="-122"/>
                <a:sym typeface="Arial" panose="020B0604020202090204" pitchFamily="34" charset="0"/>
              </a:rPr>
              <a:t>”</a:t>
            </a:r>
            <a:r>
              <a:rPr lang="zh-CN" altLang="en-US" sz="2000" kern="1200" dirty="0">
                <a:cs typeface="华文楷体" panose="02010600040101010101" charset="-122"/>
                <a:sym typeface="Arial" panose="020B0604020202090204" pitchFamily="34" charset="0"/>
              </a:rPr>
              <a:t>，</a:t>
            </a:r>
            <a:r>
              <a:rPr lang="zh-CN" altLang="en-US" sz="2000" kern="1200" dirty="0">
                <a:cs typeface="华文楷体" panose="02010600040101010101" charset="-122"/>
                <a:sym typeface="Arial" panose="020B0604020202090204" pitchFamily="34" charset="0"/>
              </a:rPr>
              <a:t>负编“</a:t>
            </a:r>
            <a:r>
              <a:rPr lang="en-US" altLang="zh-CN" sz="2000" b="1" kern="1200" dirty="0">
                <a:cs typeface="华文楷体" panose="02010600040101010101" charset="-122"/>
                <a:sym typeface="Arial" panose="020B0604020202090204" pitchFamily="34" charset="0"/>
              </a:rPr>
              <a:t>0</a:t>
            </a:r>
            <a:r>
              <a:rPr lang="en-US" altLang="zh-CN" sz="2000" kern="1200" dirty="0">
                <a:cs typeface="华文楷体" panose="02010600040101010101" charset="-122"/>
                <a:sym typeface="Arial" panose="020B0604020202090204" pitchFamily="34" charset="0"/>
              </a:rPr>
              <a:t>”</a:t>
            </a:r>
            <a:endParaRPr lang="zh-CN" altLang="en-US" sz="2000" kern="1200" dirty="0">
              <a:cs typeface="华文楷体" panose="02010600040101010101" charset="-122"/>
              <a:sym typeface="Arial" panose="020B0604020202090204" pitchFamily="34" charset="0"/>
            </a:endParaRPr>
          </a:p>
          <a:p>
            <a:pPr marL="342900" indent="-342900" algn="l" defTabSz="0" eaLnBrk="1" hangingPunct="1">
              <a:lnSpc>
                <a:spcPts val="3800"/>
              </a:lnSpc>
              <a:buClr>
                <a:schemeClr val="hlink"/>
              </a:buClr>
              <a:buSzPct val="50000"/>
              <a:buFont typeface="Wingdings" panose="05000000000000000000" pitchFamily="2" charset="2"/>
              <a:buChar char="q"/>
            </a:pPr>
            <a:r>
              <a:rPr lang="zh-CN" altLang="en-US" kern="1200" dirty="0">
                <a:cs typeface="华文楷体" panose="02010600040101010101" charset="-122"/>
                <a:sym typeface="Arial" panose="020B0604020202090204" pitchFamily="34" charset="0"/>
              </a:rPr>
              <a:t>段落码：</a:t>
            </a:r>
            <a:r>
              <a:rPr lang="zh-CN" altLang="en-US" sz="2000" kern="1200" dirty="0">
                <a:cs typeface="华文楷体" panose="02010600040101010101" charset="-122"/>
                <a:sym typeface="Arial" panose="020B0604020202090204" pitchFamily="34" charset="0"/>
              </a:rPr>
              <a:t>表示样值的幅度所处的段落</a:t>
            </a:r>
            <a:endParaRPr lang="zh-CN" altLang="en-US" sz="2000" kern="1200" dirty="0">
              <a:cs typeface="华文楷体" panose="02010600040101010101" charset="-122"/>
              <a:sym typeface="Arial" panose="020B0604020202090204" pitchFamily="34" charset="0"/>
            </a:endParaRPr>
          </a:p>
          <a:p>
            <a:pPr marL="342900" indent="-342900" algn="l" defTabSz="0" eaLnBrk="1" hangingPunct="1">
              <a:lnSpc>
                <a:spcPts val="3800"/>
              </a:lnSpc>
              <a:buClr>
                <a:schemeClr val="hlink"/>
              </a:buClr>
              <a:buSzPct val="50000"/>
              <a:buFont typeface="Wingdings" panose="05000000000000000000" pitchFamily="2" charset="2"/>
              <a:buChar char="q"/>
            </a:pPr>
            <a:r>
              <a:rPr lang="zh-CN" altLang="en-US" kern="1200" dirty="0">
                <a:cs typeface="华文楷体" panose="02010600040101010101" charset="-122"/>
                <a:sym typeface="Arial" panose="020B0604020202090204" pitchFamily="34" charset="0"/>
              </a:rPr>
              <a:t>段内码：</a:t>
            </a:r>
            <a:r>
              <a:rPr lang="en-US" altLang="zh-CN" sz="2000" kern="1200" dirty="0">
                <a:cs typeface="华文楷体" panose="02010600040101010101" charset="-122"/>
                <a:sym typeface="Arial" panose="020B0604020202090204" pitchFamily="34" charset="0"/>
              </a:rPr>
              <a:t>16</a:t>
            </a:r>
            <a:r>
              <a:rPr lang="zh-CN" altLang="en-US" sz="2000" kern="1200" dirty="0">
                <a:cs typeface="华文楷体" panose="02010600040101010101" charset="-122"/>
                <a:sym typeface="Arial" panose="020B0604020202090204" pitchFamily="34" charset="0"/>
              </a:rPr>
              <a:t>种可能状态对应代表各段内的</a:t>
            </a:r>
            <a:r>
              <a:rPr lang="en-US" altLang="zh-CN" sz="2000" kern="1200" dirty="0">
                <a:cs typeface="华文楷体" panose="02010600040101010101" charset="-122"/>
                <a:sym typeface="Arial" panose="020B0604020202090204" pitchFamily="34" charset="0"/>
              </a:rPr>
              <a:t>16</a:t>
            </a:r>
            <a:r>
              <a:rPr lang="zh-CN" altLang="en-US" sz="2000" kern="1200" dirty="0">
                <a:cs typeface="华文楷体" panose="02010600040101010101" charset="-122"/>
                <a:sym typeface="Arial" panose="020B0604020202090204" pitchFamily="34" charset="0"/>
              </a:rPr>
              <a:t>个量化级</a:t>
            </a:r>
            <a:endParaRPr lang="en-US" altLang="zh-CN" sz="2000" kern="1200" dirty="0">
              <a:cs typeface="华文楷体" panose="02010600040101010101" charset="-122"/>
              <a:sym typeface="Arial" panose="020B0604020202090204" pitchFamily="34" charset="0"/>
            </a:endParaRPr>
          </a:p>
        </p:txBody>
      </p:sp>
      <p:pic>
        <p:nvPicPr>
          <p:cNvPr id="51206" name="Object 2"/>
          <p:cNvPicPr>
            <a:picLocks noChangeAspect="1"/>
          </p:cNvPicPr>
          <p:nvPr>
            <p:custDataLst>
              <p:tags r:id="rId6"/>
            </p:custDataLst>
          </p:nvPr>
        </p:nvPicPr>
        <p:blipFill>
          <a:blip r:embed="rId7"/>
          <a:stretch>
            <a:fillRect/>
          </a:stretch>
        </p:blipFill>
        <p:spPr>
          <a:xfrm>
            <a:off x="2536825" y="3303588"/>
            <a:ext cx="1157288" cy="895350"/>
          </a:xfrm>
          <a:prstGeom prst="rect">
            <a:avLst/>
          </a:prstGeom>
          <a:solidFill>
            <a:srgbClr val="FFFFCC"/>
          </a:solidFill>
          <a:ln w="9525" cap="flat" cmpd="sng">
            <a:solidFill>
              <a:srgbClr val="000000"/>
            </a:solidFill>
            <a:prstDash val="solid"/>
            <a:miter/>
            <a:headEnd type="none" w="med" len="med"/>
            <a:tailEnd type="none" w="med" len="med"/>
          </a:ln>
        </p:spPr>
      </p:pic>
      <p:pic>
        <p:nvPicPr>
          <p:cNvPr id="51207" name="Object 3"/>
          <p:cNvPicPr>
            <a:picLocks noChangeAspect="1"/>
          </p:cNvPicPr>
          <p:nvPr>
            <p:custDataLst>
              <p:tags r:id="rId8"/>
            </p:custDataLst>
          </p:nvPr>
        </p:nvPicPr>
        <p:blipFill>
          <a:blip r:embed="rId9"/>
          <a:stretch>
            <a:fillRect/>
          </a:stretch>
        </p:blipFill>
        <p:spPr>
          <a:xfrm>
            <a:off x="4048125" y="3300413"/>
            <a:ext cx="1389063" cy="893762"/>
          </a:xfrm>
          <a:prstGeom prst="rect">
            <a:avLst/>
          </a:prstGeom>
          <a:solidFill>
            <a:srgbClr val="FFFFCC"/>
          </a:solidFill>
          <a:ln w="9525" cap="flat" cmpd="sng">
            <a:solidFill>
              <a:srgbClr val="000000"/>
            </a:solidFill>
            <a:prstDash val="solid"/>
            <a:miter/>
            <a:headEnd type="none" w="med" len="med"/>
            <a:tailEnd type="none" w="med" len="med"/>
          </a:ln>
        </p:spPr>
      </p:pic>
      <p:pic>
        <p:nvPicPr>
          <p:cNvPr id="51208" name="Object 4"/>
          <p:cNvPicPr>
            <a:picLocks noChangeAspect="1"/>
          </p:cNvPicPr>
          <p:nvPr>
            <p:custDataLst>
              <p:tags r:id="rId10"/>
            </p:custDataLst>
          </p:nvPr>
        </p:nvPicPr>
        <p:blipFill>
          <a:blip r:embed="rId11"/>
          <a:stretch>
            <a:fillRect/>
          </a:stretch>
        </p:blipFill>
        <p:spPr>
          <a:xfrm>
            <a:off x="5638800" y="3303588"/>
            <a:ext cx="1504950" cy="895350"/>
          </a:xfrm>
          <a:prstGeom prst="rect">
            <a:avLst/>
          </a:prstGeom>
          <a:solidFill>
            <a:srgbClr val="FFFFCC"/>
          </a:solidFill>
          <a:ln w="9525" cap="flat" cmpd="sng">
            <a:solidFill>
              <a:srgbClr val="000000"/>
            </a:solidFill>
            <a:prstDash val="solid"/>
            <a:miter/>
            <a:headEnd type="none" w="med" len="med"/>
            <a:tailEnd type="none" w="med" len="med"/>
          </a:ln>
        </p:spPr>
      </p:pic>
      <p:sp>
        <p:nvSpPr>
          <p:cNvPr id="51209" name="矩形 6"/>
          <p:cNvSpPr/>
          <p:nvPr>
            <p:custDataLst>
              <p:tags r:id="rId12"/>
            </p:custDataLst>
          </p:nvPr>
        </p:nvSpPr>
        <p:spPr>
          <a:xfrm>
            <a:off x="1214438" y="1214438"/>
            <a:ext cx="7215187" cy="493712"/>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lvl="0" defTabSz="914400">
              <a:lnSpc>
                <a:spcPct val="120000"/>
              </a:lnSpc>
              <a:buClr>
                <a:srgbClr val="0066CC"/>
              </a:buClr>
              <a:buFont typeface="Arial" panose="020B0604020202090204" pitchFamily="34" charset="0"/>
              <a:buNone/>
            </a:pP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在</a:t>
            </a:r>
            <a:r>
              <a:rPr lang="en-US" altLang="zh-CN" sz="24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a:t>
            </a:r>
            <a:r>
              <a:rPr lang="zh-CN" altLang="en-US" sz="24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律</a:t>
            </a:r>
            <a:r>
              <a:rPr lang="en-US" altLang="zh-CN" sz="24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13</a:t>
            </a:r>
            <a:r>
              <a:rPr lang="zh-CN" altLang="en-US" sz="24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折线 </a:t>
            </a:r>
            <a:r>
              <a:rPr lang="en-US" altLang="zh-CN" sz="24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PCM</a:t>
            </a:r>
            <a:r>
              <a:rPr lang="zh-CN" altLang="en-US" sz="24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编码</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中，</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共计：</a:t>
            </a:r>
            <a:endPar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pic>
        <p:nvPicPr>
          <p:cNvPr id="51210" name="Object 7"/>
          <p:cNvPicPr>
            <a:picLocks noChangeAspect="1"/>
          </p:cNvPicPr>
          <p:nvPr>
            <p:custDataLst>
              <p:tags r:id="rId13"/>
            </p:custDataLst>
          </p:nvPr>
        </p:nvPicPr>
        <p:blipFill>
          <a:blip r:embed="rId14"/>
          <a:stretch>
            <a:fillRect/>
          </a:stretch>
        </p:blipFill>
        <p:spPr>
          <a:xfrm>
            <a:off x="2643188" y="1814513"/>
            <a:ext cx="4508500" cy="571500"/>
          </a:xfrm>
          <a:prstGeom prst="rect">
            <a:avLst/>
          </a:prstGeom>
          <a:solidFill>
            <a:srgbClr val="FFFFCC"/>
          </a:solidFill>
          <a:ln w="38100" cap="flat" cmpd="sng">
            <a:solidFill>
              <a:srgbClr val="9999FF"/>
            </a:solidFill>
            <a:prstDash val="solid"/>
            <a:miter/>
            <a:headEnd type="none" w="med" len="med"/>
            <a:tailEnd type="none" w="med" len="med"/>
          </a:ln>
        </p:spPr>
      </p:pic>
      <p:sp>
        <p:nvSpPr>
          <p:cNvPr id="51211" name="矩形 13"/>
          <p:cNvSpPr/>
          <p:nvPr>
            <p:custDataLst>
              <p:tags r:id="rId15"/>
            </p:custDataLst>
          </p:nvPr>
        </p:nvSpPr>
        <p:spPr>
          <a:xfrm>
            <a:off x="1366838" y="2465388"/>
            <a:ext cx="7419975" cy="534987"/>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lvl="0" defTabSz="914400">
              <a:lnSpc>
                <a:spcPct val="120000"/>
              </a:lnSpc>
              <a:buClr>
                <a:srgbClr val="0066CC"/>
              </a:buClr>
              <a:buFont typeface="Arial" panose="020B0604020202090204" pitchFamily="34" charset="0"/>
              <a:buNone/>
            </a:pPr>
            <a:r>
              <a:rPr lang="en-US" altLang="zh-CN" sz="24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en-US" altLang="zh-CN" sz="2400" dirty="0">
                <a:solidFill>
                  <a:srgbClr val="9900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需将每个样值脉冲（</a:t>
            </a:r>
            <a:r>
              <a:rPr lang="en-US" altLang="zh-CN" sz="2400" b="1" i="1"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I</a:t>
            </a:r>
            <a:r>
              <a:rPr lang="en-US" altLang="zh-CN" sz="2400" b="1" baseline="-25000"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s</a:t>
            </a:r>
            <a:r>
              <a:rPr lang="en-US" altLang="zh-CN" sz="2400" baseline="-25000" dirty="0">
                <a:solidFill>
                  <a:srgbClr val="3333FF"/>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）编成 </a:t>
            </a:r>
            <a:r>
              <a:rPr lang="en-US" altLang="zh-CN" sz="2400" b="1"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8</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位</a:t>
            </a:r>
            <a:r>
              <a:rPr lang="zh-CN" altLang="en-US" sz="2400" b="1" dirty="0">
                <a:solidFill>
                  <a:srgbClr val="9900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二进制码：</a:t>
            </a:r>
            <a:endPar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2" name="Picture 2"/>
          <p:cNvPicPr>
            <a:picLocks noChangeAspect="1"/>
          </p:cNvPicPr>
          <p:nvPr/>
        </p:nvPicPr>
        <p:blipFill>
          <a:blip r:embed="rId2"/>
          <a:stretch>
            <a:fillRect/>
          </a:stretch>
        </p:blipFill>
        <p:spPr>
          <a:xfrm>
            <a:off x="1199515" y="2132965"/>
            <a:ext cx="5303520" cy="4638040"/>
          </a:xfrm>
          <a:prstGeom prst="rect">
            <a:avLst/>
          </a:prstGeom>
        </p:spPr>
      </p:pic>
      <p:sp>
        <p:nvSpPr>
          <p:cNvPr id="7" name="Text Box 4"/>
          <p:cNvSpPr txBox="1"/>
          <p:nvPr/>
        </p:nvSpPr>
        <p:spPr>
          <a:xfrm>
            <a:off x="983615" y="1482725"/>
            <a:ext cx="7867650" cy="694055"/>
          </a:xfrm>
          <a:prstGeom prst="rect">
            <a:avLst/>
          </a:prstGeom>
          <a:noFill/>
          <a:ln w="9525">
            <a:noFill/>
          </a:ln>
        </p:spPr>
        <p:txBody>
          <a:bodyPr anchor="t" anchorCtr="0">
            <a:spAutoFit/>
          </a:bodyPr>
          <a:lstStyle/>
          <a:p>
            <a:pPr marL="457200" indent="-457200" algn="just">
              <a:lnSpc>
                <a:spcPct val="140000"/>
              </a:lnSpc>
              <a:spcBef>
                <a:spcPct val="50000"/>
              </a:spcBef>
              <a:buFont typeface="Wingdings" panose="05000000000000000000" charset="0"/>
              <a:buChar char="ü"/>
            </a:pPr>
            <a:r>
              <a:rPr lang="zh-CN" altLang="en-US" sz="2800" b="1" dirty="0">
                <a:solidFill>
                  <a:schemeClr val="tx2"/>
                </a:solidFill>
                <a:latin typeface="华文楷体" panose="02010600040101010101" charset="-122"/>
                <a:ea typeface="华文楷体" panose="02010600040101010101" charset="-122"/>
                <a:cs typeface="华文楷体" panose="02010600040101010101" charset="-122"/>
              </a:rPr>
              <a:t>段落码编码规则：</a:t>
            </a:r>
            <a:r>
              <a:rPr lang="zh-CN" altLang="en-US" sz="2800" dirty="0">
                <a:latin typeface="华文楷体" panose="02010600040101010101" charset="-122"/>
                <a:ea typeface="华文楷体" panose="02010600040101010101" charset="-122"/>
                <a:cs typeface="华文楷体" panose="02010600040101010101" charset="-122"/>
              </a:rPr>
              <a:t> </a:t>
            </a:r>
            <a:endParaRPr lang="zh-CN" altLang="en-US" sz="2800" dirty="0">
              <a:latin typeface="华文楷体" panose="02010600040101010101" charset="-122"/>
              <a:ea typeface="华文楷体" panose="02010600040101010101" charset="-122"/>
              <a:cs typeface="华文楷体" panose="02010600040101010101" charset="-122"/>
            </a:endParaRPr>
          </a:p>
        </p:txBody>
      </p:sp>
      <p:sp>
        <p:nvSpPr>
          <p:cNvPr id="8" name="文本框 7"/>
          <p:cNvSpPr txBox="1"/>
          <p:nvPr>
            <p:custDataLst>
              <p:tags r:id="rId3"/>
            </p:custDataLst>
          </p:nvPr>
        </p:nvSpPr>
        <p:spPr>
          <a:xfrm>
            <a:off x="983615" y="1052830"/>
            <a:ext cx="5911215" cy="521970"/>
          </a:xfrm>
          <a:prstGeom prst="rect">
            <a:avLst/>
          </a:prstGeom>
          <a:noFill/>
        </p:spPr>
        <p:txBody>
          <a:bodyPr wrap="none" rtlCol="0" anchor="t">
            <a:spAutoFit/>
          </a:bodyPr>
          <a:lstStyle/>
          <a:p>
            <a:pPr marL="457200" indent="-457200" algn="l">
              <a:buFont typeface="Wingdings" panose="05000000000000000000" charset="0"/>
              <a:buChar char="ü"/>
            </a:pPr>
            <a:r>
              <a:rPr lang="zh-CN" altLang="en-US" sz="2800" b="1" dirty="0">
                <a:solidFill>
                  <a:schemeClr val="tx2"/>
                </a:solidFill>
                <a:latin typeface="华文楷体" panose="02010600040101010101" charset="-122"/>
                <a:ea typeface="华文楷体" panose="02010600040101010101" charset="-122"/>
                <a:cs typeface="华文楷体" panose="02010600040101010101" charset="-122"/>
                <a:sym typeface="+mn-ea"/>
              </a:rPr>
              <a:t>极性码</a:t>
            </a:r>
            <a:r>
              <a:rPr lang="en-US" altLang="zh-CN" sz="2800" b="1" i="1" dirty="0">
                <a:solidFill>
                  <a:schemeClr val="tx2"/>
                </a:solidFill>
                <a:latin typeface="华文楷体" panose="02010600040101010101" charset="-122"/>
                <a:ea typeface="华文楷体" panose="02010600040101010101" charset="-122"/>
                <a:cs typeface="华文楷体" panose="02010600040101010101" charset="-122"/>
                <a:sym typeface="+mn-ea"/>
              </a:rPr>
              <a:t>M</a:t>
            </a:r>
            <a:r>
              <a:rPr lang="en-US" altLang="zh-CN" sz="2800" b="1" baseline="-25000" dirty="0">
                <a:solidFill>
                  <a:schemeClr val="tx2"/>
                </a:solidFill>
                <a:latin typeface="华文楷体" panose="02010600040101010101" charset="-122"/>
                <a:ea typeface="华文楷体" panose="02010600040101010101" charset="-122"/>
                <a:cs typeface="华文楷体" panose="02010600040101010101" charset="-122"/>
                <a:sym typeface="+mn-ea"/>
              </a:rPr>
              <a:t>1</a:t>
            </a:r>
            <a:r>
              <a:rPr lang="zh-CN" altLang="en-US" sz="2800" b="1" dirty="0">
                <a:solidFill>
                  <a:schemeClr val="tx2"/>
                </a:solidFill>
                <a:latin typeface="华文楷体" panose="02010600040101010101" charset="-122"/>
                <a:ea typeface="华文楷体" panose="02010600040101010101" charset="-122"/>
                <a:cs typeface="华文楷体" panose="02010600040101010101" charset="-122"/>
                <a:sym typeface="+mn-ea"/>
              </a:rPr>
              <a:t>：“</a:t>
            </a:r>
            <a:r>
              <a:rPr lang="en-US" altLang="zh-CN" sz="2800" b="1" dirty="0">
                <a:solidFill>
                  <a:schemeClr val="tx2"/>
                </a:solidFill>
                <a:latin typeface="华文楷体" panose="02010600040101010101" charset="-122"/>
                <a:ea typeface="华文楷体" panose="02010600040101010101" charset="-122"/>
                <a:cs typeface="华文楷体" panose="02010600040101010101" charset="-122"/>
                <a:sym typeface="+mn-ea"/>
              </a:rPr>
              <a:t>1”</a:t>
            </a:r>
            <a:r>
              <a:rPr lang="zh-CN" altLang="en-US" sz="2800" b="1" dirty="0">
                <a:solidFill>
                  <a:schemeClr val="tx2"/>
                </a:solidFill>
                <a:latin typeface="华文楷体" panose="02010600040101010101" charset="-122"/>
                <a:ea typeface="华文楷体" panose="02010600040101010101" charset="-122"/>
                <a:cs typeface="华文楷体" panose="02010600040101010101" charset="-122"/>
                <a:sym typeface="+mn-ea"/>
              </a:rPr>
              <a:t>代表正，“</a:t>
            </a:r>
            <a:r>
              <a:rPr lang="en-US" altLang="zh-CN" sz="2800" b="1" dirty="0">
                <a:solidFill>
                  <a:schemeClr val="tx2"/>
                </a:solidFill>
                <a:latin typeface="华文楷体" panose="02010600040101010101" charset="-122"/>
                <a:ea typeface="华文楷体" panose="02010600040101010101" charset="-122"/>
                <a:cs typeface="华文楷体" panose="02010600040101010101" charset="-122"/>
                <a:sym typeface="+mn-ea"/>
              </a:rPr>
              <a:t>0”</a:t>
            </a:r>
            <a:r>
              <a:rPr lang="zh-CN" altLang="en-US" sz="2800" b="1" dirty="0">
                <a:solidFill>
                  <a:schemeClr val="tx2"/>
                </a:solidFill>
                <a:latin typeface="华文楷体" panose="02010600040101010101" charset="-122"/>
                <a:ea typeface="华文楷体" panose="02010600040101010101" charset="-122"/>
                <a:cs typeface="华文楷体" panose="02010600040101010101" charset="-122"/>
                <a:sym typeface="+mn-ea"/>
              </a:rPr>
              <a:t>代表负</a:t>
            </a:r>
            <a:endParaRPr lang="zh-CN" altLang="en-US" sz="2800" b="1" dirty="0">
              <a:solidFill>
                <a:schemeClr val="tx2"/>
              </a:solidFill>
              <a:latin typeface="华文楷体" panose="02010600040101010101" charset="-122"/>
              <a:ea typeface="华文楷体" panose="02010600040101010101" charset="-122"/>
              <a:cs typeface="华文楷体" panose="02010600040101010101" charset="-122"/>
              <a:sym typeface="+mn-ea"/>
            </a:endParaRPr>
          </a:p>
        </p:txBody>
      </p:sp>
      <p:sp>
        <p:nvSpPr>
          <p:cNvPr id="53251" name="矩形 13"/>
          <p:cNvSpPr/>
          <p:nvPr>
            <p:custDataLst>
              <p:tags r:id="rId4"/>
            </p:custDataLst>
          </p:nvPr>
        </p:nvSpPr>
        <p:spPr>
          <a:xfrm>
            <a:off x="7752080" y="1789748"/>
            <a:ext cx="4143375" cy="40005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归一化输入电压的最小量化单位</a:t>
            </a:r>
            <a:endParaRPr lang="zh-CN" altLang="en-US" sz="1800" dirty="0">
              <a:solidFill>
                <a:srgbClr val="000000"/>
              </a:solidFill>
              <a:latin typeface="华文楷体" panose="02010600040101010101" charset="-122"/>
              <a:ea typeface="华文楷体" panose="02010600040101010101" charset="-122"/>
              <a:cs typeface="华文楷体" panose="02010600040101010101" charset="-122"/>
            </a:endParaRPr>
          </a:p>
        </p:txBody>
      </p:sp>
      <p:pic>
        <p:nvPicPr>
          <p:cNvPr id="53253" name="Object 2"/>
          <p:cNvPicPr>
            <a:picLocks noChangeAspect="1"/>
          </p:cNvPicPr>
          <p:nvPr>
            <p:custDataLst>
              <p:tags r:id="rId5"/>
            </p:custDataLst>
          </p:nvPr>
        </p:nvPicPr>
        <p:blipFill>
          <a:blip r:embed="rId6"/>
          <a:stretch>
            <a:fillRect/>
          </a:stretch>
        </p:blipFill>
        <p:spPr>
          <a:xfrm>
            <a:off x="6313805" y="1718310"/>
            <a:ext cx="1152525" cy="674688"/>
          </a:xfrm>
          <a:prstGeom prst="rect">
            <a:avLst/>
          </a:prstGeom>
          <a:solidFill>
            <a:srgbClr val="00E4A8"/>
          </a:solidFill>
          <a:ln w="38100" cap="flat" cmpd="sng">
            <a:solidFill>
              <a:srgbClr val="969696"/>
            </a:solidFill>
            <a:prstDash val="solid"/>
            <a:miter/>
            <a:headEnd type="none" w="med" len="med"/>
            <a:tailEnd type="none" w="med" len="med"/>
          </a:ln>
        </p:spPr>
      </p:pic>
      <p:graphicFrame>
        <p:nvGraphicFramePr>
          <p:cNvPr id="12" name="对象 11"/>
          <p:cNvGraphicFramePr/>
          <p:nvPr/>
        </p:nvGraphicFramePr>
        <p:xfrm>
          <a:off x="6888480" y="2493010"/>
          <a:ext cx="5071745" cy="4349750"/>
        </p:xfrm>
        <a:graphic>
          <a:graphicData uri="http://schemas.openxmlformats.org/presentationml/2006/ole">
            <mc:AlternateContent xmlns:mc="http://schemas.openxmlformats.org/markup-compatibility/2006">
              <mc:Choice xmlns:v="urn:schemas-microsoft-com:vml" Requires="v">
                <p:oleObj spid="_x0000_s10263" name="" r:id="rId7" imgW="4314825" imgH="3952875" progId="Paint.Picture">
                  <p:embed/>
                </p:oleObj>
              </mc:Choice>
              <mc:Fallback>
                <p:oleObj name="" r:id="rId7" imgW="4314825" imgH="3952875" progId="Paint.Picture">
                  <p:embed/>
                  <p:pic>
                    <p:nvPicPr>
                      <p:cNvPr id="0" name="对象 11"/>
                      <p:cNvPicPr/>
                      <p:nvPr/>
                    </p:nvPicPr>
                    <p:blipFill>
                      <a:blip r:embed="rId8"/>
                      <a:stretch>
                        <a:fillRect/>
                      </a:stretch>
                    </p:blipFill>
                    <p:spPr>
                      <a:xfrm>
                        <a:off x="6888480" y="2493010"/>
                        <a:ext cx="5071745" cy="434975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2" name="Picture 1"/>
          <p:cNvPicPr>
            <a:picLocks noChangeAspect="1"/>
          </p:cNvPicPr>
          <p:nvPr/>
        </p:nvPicPr>
        <p:blipFill>
          <a:blip r:embed="rId2"/>
          <a:stretch>
            <a:fillRect/>
          </a:stretch>
        </p:blipFill>
        <p:spPr>
          <a:xfrm>
            <a:off x="767080" y="1845310"/>
            <a:ext cx="5172710" cy="4650740"/>
          </a:xfrm>
          <a:prstGeom prst="rect">
            <a:avLst/>
          </a:prstGeom>
        </p:spPr>
      </p:pic>
      <p:sp>
        <p:nvSpPr>
          <p:cNvPr id="6" name="Text Box 4"/>
          <p:cNvSpPr txBox="1"/>
          <p:nvPr>
            <p:custDataLst>
              <p:tags r:id="rId3"/>
            </p:custDataLst>
          </p:nvPr>
        </p:nvSpPr>
        <p:spPr>
          <a:xfrm>
            <a:off x="911860" y="981075"/>
            <a:ext cx="7867650" cy="694055"/>
          </a:xfrm>
          <a:prstGeom prst="rect">
            <a:avLst/>
          </a:prstGeom>
          <a:noFill/>
          <a:ln w="9525">
            <a:noFill/>
          </a:ln>
        </p:spPr>
        <p:txBody>
          <a:bodyPr anchor="t" anchorCtr="0">
            <a:spAutoFit/>
          </a:bodyPr>
          <a:lstStyle/>
          <a:p>
            <a:pPr marL="457200" indent="-457200" algn="just">
              <a:lnSpc>
                <a:spcPct val="140000"/>
              </a:lnSpc>
              <a:spcBef>
                <a:spcPct val="50000"/>
              </a:spcBef>
              <a:buFont typeface="Wingdings" panose="05000000000000000000" charset="0"/>
              <a:buChar char="ü"/>
            </a:pPr>
            <a:r>
              <a:rPr lang="zh-CN" altLang="en-US" sz="2800" b="1" dirty="0">
                <a:solidFill>
                  <a:schemeClr val="tx2"/>
                </a:solidFill>
                <a:latin typeface="华文楷体" panose="02010600040101010101" charset="-122"/>
                <a:ea typeface="华文楷体" panose="02010600040101010101" charset="-122"/>
                <a:cs typeface="华文楷体" panose="02010600040101010101" charset="-122"/>
              </a:rPr>
              <a:t>段内码编码规则：</a:t>
            </a:r>
            <a:r>
              <a:rPr lang="zh-CN" altLang="en-US" sz="2400" dirty="0">
                <a:latin typeface="华文楷体" panose="02010600040101010101" charset="-122"/>
                <a:ea typeface="华文楷体" panose="02010600040101010101" charset="-122"/>
                <a:cs typeface="华文楷体" panose="02010600040101010101" charset="-122"/>
              </a:rPr>
              <a:t> </a:t>
            </a:r>
            <a:endParaRPr lang="zh-CN" altLang="en-US" sz="2400" dirty="0">
              <a:latin typeface="华文楷体" panose="02010600040101010101" charset="-122"/>
              <a:ea typeface="华文楷体" panose="02010600040101010101" charset="-122"/>
              <a:cs typeface="华文楷体" panose="02010600040101010101" charset="-122"/>
            </a:endParaRPr>
          </a:p>
        </p:txBody>
      </p:sp>
      <p:sp>
        <p:nvSpPr>
          <p:cNvPr id="57347" name="矩形 3"/>
          <p:cNvSpPr/>
          <p:nvPr>
            <p:custDataLst>
              <p:tags r:id="rId4"/>
            </p:custDataLst>
          </p:nvPr>
        </p:nvSpPr>
        <p:spPr>
          <a:xfrm>
            <a:off x="6127750" y="2644140"/>
            <a:ext cx="2670175" cy="2061210"/>
          </a:xfrm>
          <a:prstGeom prst="rect">
            <a:avLst/>
          </a:prstGeom>
          <a:solidFill>
            <a:srgbClr val="E7E7E7"/>
          </a:solidFill>
          <a:ln w="9525" cap="flat" cmpd="sng">
            <a:solidFill>
              <a:srgbClr val="BFBFBF"/>
            </a:solidFill>
            <a:prstDash val="solid"/>
            <a:miter/>
            <a:headEnd type="none" w="med" len="med"/>
            <a:tailEnd type="none" w="med" len="med"/>
          </a:ln>
        </p:spPr>
        <p:txBody>
          <a:bodyPr wrap="square">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just" defTabSz="914400">
              <a:lnSpc>
                <a:spcPct val="150000"/>
              </a:lnSpc>
              <a:spcBef>
                <a:spcPct val="50000"/>
              </a:spcBef>
              <a:buClrTx/>
              <a:buSzTx/>
              <a:buFont typeface="Arial" panose="020B0604020202090204" pitchFamily="34" charset="0"/>
              <a:buNone/>
            </a:pP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M</a:t>
            </a:r>
            <a:r>
              <a:rPr lang="en-US" altLang="zh-CN" sz="2000" b="1" baseline="-25000"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5</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的权值  </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8 </a:t>
            </a: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ΔV</a:t>
            </a:r>
            <a:r>
              <a:rPr lang="en-US" altLang="zh-CN" sz="2000" b="1" baseline="-25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i</a:t>
            </a:r>
            <a:endPar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a:p>
            <a:pPr marL="0" lvl="0" indent="0" algn="just" defTabSz="914400">
              <a:lnSpc>
                <a:spcPct val="130000"/>
              </a:lnSpc>
              <a:spcBef>
                <a:spcPct val="50000"/>
              </a:spcBef>
              <a:buClrTx/>
              <a:buSzTx/>
              <a:buFont typeface="Arial" panose="020B0604020202090204" pitchFamily="34" charset="0"/>
              <a:buNone/>
            </a:pP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M</a:t>
            </a:r>
            <a:r>
              <a:rPr lang="en-US" altLang="zh-CN" sz="2000" b="1" baseline="-25000"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6</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的权值  </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4 </a:t>
            </a: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ΔV</a:t>
            </a:r>
            <a:r>
              <a:rPr lang="en-US" altLang="zh-CN" sz="2000" b="1" baseline="-25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i</a:t>
            </a:r>
            <a:endPar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a:p>
            <a:pPr marL="0" lvl="0" indent="0" algn="just" defTabSz="914400">
              <a:lnSpc>
                <a:spcPct val="130000"/>
              </a:lnSpc>
              <a:spcBef>
                <a:spcPct val="50000"/>
              </a:spcBef>
              <a:buClrTx/>
              <a:buSzTx/>
              <a:buFont typeface="Arial" panose="020B0604020202090204" pitchFamily="34" charset="0"/>
              <a:buNone/>
            </a:pP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M</a:t>
            </a:r>
            <a:r>
              <a:rPr lang="en-US" altLang="zh-CN" sz="2000" b="1" baseline="-25000"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7</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的权值  </a:t>
            </a: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2 </a:t>
            </a: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ΔV</a:t>
            </a:r>
            <a:r>
              <a:rPr lang="en-US" altLang="zh-CN" sz="2000" b="1" baseline="-25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i</a:t>
            </a: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b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b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M</a:t>
            </a:r>
            <a:r>
              <a:rPr lang="en-US" altLang="zh-CN" sz="2000" b="1" baseline="-25000"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8</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的权值  </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1 </a:t>
            </a: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ΔV</a:t>
            </a:r>
            <a:r>
              <a:rPr lang="en-US" altLang="zh-CN" sz="2000" b="1" baseline="-25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i</a:t>
            </a:r>
            <a:endParaRPr lang="en-US" altLang="zh-CN" sz="2000" b="1" baseline="-25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57348" name="矩形 4"/>
          <p:cNvSpPr/>
          <p:nvPr>
            <p:custDataLst>
              <p:tags r:id="rId5"/>
            </p:custDataLst>
          </p:nvPr>
        </p:nvSpPr>
        <p:spPr>
          <a:xfrm>
            <a:off x="6252845" y="1772920"/>
            <a:ext cx="2338388" cy="461963"/>
          </a:xfrm>
          <a:prstGeom prst="rect">
            <a:avLst/>
          </a:prstGeom>
          <a:solidFill>
            <a:srgbClr val="E7E7E7"/>
          </a:solidFill>
          <a:ln w="9525">
            <a:noFill/>
          </a:ln>
        </p:spPr>
        <p:txBody>
          <a:bodyPr wrap="none">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zh-CN" altLang="en-US" sz="2400" b="1" dirty="0">
                <a:solidFill>
                  <a:srgbClr val="000000"/>
                </a:solidFill>
                <a:latin typeface="华文楷体" panose="02010600040101010101" charset="-122"/>
                <a:ea typeface="华文楷体" panose="02010600040101010101" charset="-122"/>
                <a:sym typeface="Arial" panose="020B0604020202090204" pitchFamily="34" charset="0"/>
              </a:rPr>
              <a:t>段内码的权值：</a:t>
            </a:r>
            <a:endParaRPr lang="zh-CN" altLang="en-US" sz="2400" b="1" dirty="0">
              <a:solidFill>
                <a:srgbClr val="000000"/>
              </a:solidFill>
              <a:latin typeface="华文楷体" panose="02010600040101010101" charset="-122"/>
              <a:ea typeface="华文楷体" panose="02010600040101010101" charset="-122"/>
              <a:sym typeface="Arial" panose="020B0604020202090204" pitchFamily="34" charset="0"/>
            </a:endParaRPr>
          </a:p>
        </p:txBody>
      </p:sp>
      <p:pic>
        <p:nvPicPr>
          <p:cNvPr id="57349" name="Picture 3"/>
          <p:cNvPicPr>
            <a:picLocks noChangeAspect="1"/>
          </p:cNvPicPr>
          <p:nvPr>
            <p:custDataLst>
              <p:tags r:id="rId6"/>
            </p:custDataLst>
          </p:nvPr>
        </p:nvPicPr>
        <p:blipFill>
          <a:blip r:embed="rId7"/>
          <a:stretch>
            <a:fillRect/>
          </a:stretch>
        </p:blipFill>
        <p:spPr>
          <a:xfrm>
            <a:off x="8904605" y="1485265"/>
            <a:ext cx="3054350" cy="4057650"/>
          </a:xfrm>
          <a:prstGeom prst="rect">
            <a:avLst/>
          </a:prstGeom>
          <a:noFill/>
          <a:ln w="9525">
            <a:noFill/>
          </a:ln>
        </p:spPr>
      </p:pic>
      <p:sp>
        <p:nvSpPr>
          <p:cNvPr id="57350" name="矩形 7"/>
          <p:cNvSpPr/>
          <p:nvPr>
            <p:custDataLst>
              <p:tags r:id="rId8"/>
            </p:custDataLst>
          </p:nvPr>
        </p:nvSpPr>
        <p:spPr>
          <a:xfrm>
            <a:off x="6239510" y="5661660"/>
            <a:ext cx="4178300" cy="970915"/>
          </a:xfrm>
          <a:prstGeom prst="rect">
            <a:avLst/>
          </a:prstGeom>
          <a:solidFill>
            <a:srgbClr val="E7E7E7"/>
          </a:solidFill>
          <a:ln w="9525">
            <a:noFill/>
          </a:ln>
        </p:spPr>
        <p:txBody>
          <a:bodyPr wrap="square">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just" defTabSz="914400">
              <a:lnSpc>
                <a:spcPct val="130000"/>
              </a:lnSpc>
              <a:spcBef>
                <a:spcPct val="50000"/>
              </a:spcBef>
              <a:buClrTx/>
              <a:buSzTx/>
              <a:buFont typeface="Arial" panose="020B0604020202090204" pitchFamily="34" charset="0"/>
              <a:buNone/>
            </a:pP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ΔV</a:t>
            </a:r>
            <a:r>
              <a:rPr lang="en-US" altLang="zh-CN" sz="2000" b="1" baseline="-25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i</a:t>
            </a: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第</a:t>
            </a:r>
            <a:r>
              <a:rPr lang="zh-CN" altLang="en-US" sz="2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400" b="1"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i</a:t>
            </a:r>
            <a:r>
              <a:rPr lang="en-US" altLang="zh-CN" sz="24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段的量化间隔 。 不同段落，</a:t>
            </a:r>
            <a:r>
              <a:rPr lang="en-US" altLang="zh-CN" sz="2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ΔV</a:t>
            </a:r>
            <a:r>
              <a:rPr lang="en-US" altLang="zh-CN" sz="2000" b="1" baseline="-25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i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不同 。前两段相同</a:t>
            </a:r>
            <a:endPar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4" name="矩形 3"/>
          <p:cNvSpPr/>
          <p:nvPr>
            <p:custDataLst>
              <p:tags r:id="rId9"/>
            </p:custDataLst>
          </p:nvPr>
        </p:nvSpPr>
        <p:spPr>
          <a:xfrm>
            <a:off x="8976360" y="1844675"/>
            <a:ext cx="2864485" cy="462280"/>
          </a:xfrm>
          <a:prstGeom prst="rect">
            <a:avLst/>
          </a:prstGeom>
          <a:solidFill>
            <a:srgbClr val="E7E7E7"/>
          </a:solidFill>
          <a:ln w="9525" cap="flat" cmpd="sng">
            <a:solidFill>
              <a:srgbClr val="BFBFBF"/>
            </a:solidFill>
            <a:prstDash val="solid"/>
            <a:miter/>
            <a:headEnd type="none" w="med" len="med"/>
            <a:tailEnd type="none" w="med" len="med"/>
          </a:ln>
        </p:spPr>
        <p:txBody>
          <a:bodyPr wrap="square">
            <a:no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just" defTabSz="914400">
              <a:lnSpc>
                <a:spcPct val="150000"/>
              </a:lnSpc>
              <a:spcBef>
                <a:spcPct val="50000"/>
              </a:spcBef>
              <a:buClrTx/>
              <a:buSzTx/>
              <a:buFont typeface="Arial" panose="020B0604020202090204" pitchFamily="34" charset="0"/>
              <a:buNone/>
            </a:pP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M</a:t>
            </a:r>
            <a:r>
              <a:rPr lang="en-US" altLang="zh-CN" sz="2000" b="1" baseline="-25000"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5   </a:t>
            </a: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M</a:t>
            </a:r>
            <a:r>
              <a:rPr lang="en-US" altLang="zh-CN" sz="2000" b="1" baseline="-25000"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6</a:t>
            </a: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M</a:t>
            </a:r>
            <a:r>
              <a:rPr lang="en-US" altLang="zh-CN" sz="2000" b="1" baseline="-25000"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7</a:t>
            </a: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M</a:t>
            </a:r>
            <a:r>
              <a:rPr lang="en-US" altLang="zh-CN" sz="2000" b="1" baseline="-25000"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8</a:t>
            </a:r>
            <a:endParaRPr lang="en-US" altLang="zh-CN" sz="2000" b="1" baseline="-25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59394" name="Object 2"/>
          <p:cNvPicPr>
            <a:picLocks noChangeAspect="1"/>
          </p:cNvPicPr>
          <p:nvPr>
            <p:custDataLst>
              <p:tags r:id="rId2"/>
            </p:custDataLst>
          </p:nvPr>
        </p:nvPicPr>
        <p:blipFill>
          <a:blip r:embed="rId3"/>
          <a:stretch>
            <a:fillRect/>
          </a:stretch>
        </p:blipFill>
        <p:spPr>
          <a:xfrm>
            <a:off x="3143568" y="5805170"/>
            <a:ext cx="1116012" cy="817563"/>
          </a:xfrm>
          <a:prstGeom prst="rect">
            <a:avLst/>
          </a:prstGeom>
          <a:solidFill>
            <a:srgbClr val="FFFFCD"/>
          </a:solidFill>
          <a:ln w="38100" cap="flat" cmpd="sng">
            <a:solidFill>
              <a:srgbClr val="9999FF"/>
            </a:solidFill>
            <a:prstDash val="solid"/>
            <a:miter/>
            <a:headEnd type="none" w="med" len="med"/>
            <a:tailEnd type="none" w="med" len="med"/>
          </a:ln>
        </p:spPr>
      </p:pic>
      <p:pic>
        <p:nvPicPr>
          <p:cNvPr id="59395" name="Object 4"/>
          <p:cNvPicPr>
            <a:picLocks noChangeAspect="1"/>
          </p:cNvPicPr>
          <p:nvPr>
            <p:custDataLst>
              <p:tags r:id="rId4"/>
            </p:custDataLst>
          </p:nvPr>
        </p:nvPicPr>
        <p:blipFill>
          <a:blip r:embed="rId5"/>
          <a:stretch>
            <a:fillRect/>
          </a:stretch>
        </p:blipFill>
        <p:spPr>
          <a:xfrm>
            <a:off x="4558030" y="4919980"/>
            <a:ext cx="1985963" cy="457200"/>
          </a:xfrm>
          <a:prstGeom prst="rect">
            <a:avLst/>
          </a:prstGeom>
          <a:solidFill>
            <a:srgbClr val="00E4A8"/>
          </a:solidFill>
          <a:ln w="9525" cap="flat" cmpd="sng">
            <a:solidFill>
              <a:srgbClr val="000000"/>
            </a:solidFill>
            <a:prstDash val="solid"/>
            <a:miter/>
            <a:headEnd type="none" w="med" len="med"/>
            <a:tailEnd type="none" w="med" len="med"/>
          </a:ln>
        </p:spPr>
      </p:pic>
      <p:pic>
        <p:nvPicPr>
          <p:cNvPr id="59396" name="Object 7"/>
          <p:cNvPicPr>
            <a:picLocks noChangeAspect="1"/>
          </p:cNvPicPr>
          <p:nvPr>
            <p:custDataLst>
              <p:tags r:id="rId6"/>
            </p:custDataLst>
          </p:nvPr>
        </p:nvPicPr>
        <p:blipFill>
          <a:blip r:embed="rId7"/>
          <a:stretch>
            <a:fillRect/>
          </a:stretch>
        </p:blipFill>
        <p:spPr>
          <a:xfrm>
            <a:off x="4115118" y="2362518"/>
            <a:ext cx="2643187" cy="471487"/>
          </a:xfrm>
          <a:prstGeom prst="rect">
            <a:avLst/>
          </a:prstGeom>
          <a:solidFill>
            <a:srgbClr val="00E4A8"/>
          </a:solidFill>
          <a:ln w="9525" cap="flat" cmpd="sng">
            <a:solidFill>
              <a:srgbClr val="000000"/>
            </a:solidFill>
            <a:prstDash val="solid"/>
            <a:miter/>
            <a:headEnd type="none" w="med" len="med"/>
            <a:tailEnd type="none" w="med" len="med"/>
          </a:ln>
        </p:spPr>
      </p:pic>
      <p:sp>
        <p:nvSpPr>
          <p:cNvPr id="59397" name="矩形 16"/>
          <p:cNvSpPr/>
          <p:nvPr>
            <p:custDataLst>
              <p:tags r:id="rId8"/>
            </p:custDataLst>
          </p:nvPr>
        </p:nvSpPr>
        <p:spPr>
          <a:xfrm>
            <a:off x="6829743" y="2433955"/>
            <a:ext cx="3714750" cy="39878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只需 </a:t>
            </a:r>
            <a:r>
              <a:rPr lang="en-US" altLang="zh-CN" sz="2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7 </a:t>
            </a:r>
            <a:r>
              <a:rPr lang="zh-CN" altLang="en-US" sz="2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位</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（非线性）编码</a:t>
            </a:r>
            <a:endPar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59398" name="矩形 17"/>
          <p:cNvSpPr/>
          <p:nvPr>
            <p:custDataLst>
              <p:tags r:id="rId9"/>
            </p:custDataLst>
          </p:nvPr>
        </p:nvSpPr>
        <p:spPr>
          <a:xfrm>
            <a:off x="3359468" y="4305618"/>
            <a:ext cx="7327900" cy="517525"/>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342900" lvl="1" indent="-342900" defTabSz="914400">
              <a:lnSpc>
                <a:spcPct val="115000"/>
              </a:lnSpc>
              <a:buClr>
                <a:srgbClr val="DA04DA"/>
              </a:buClr>
              <a:buSzPct val="65000"/>
              <a:buFont typeface="Arial" panose="020B0604020202090204" pitchFamily="34" charset="0"/>
              <a:buNone/>
            </a:pPr>
            <a:r>
              <a:rPr lang="zh-CN" altLang="en-US" sz="2000" dirty="0">
                <a:solidFill>
                  <a:srgbClr val="0000CC"/>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以</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 </a:t>
            </a:r>
            <a:r>
              <a:rPr lang="zh-CN" altLang="en-US" sz="2400" b="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对</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13</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折线</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正</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极性的</a:t>
            </a: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8</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个段落进行均匀量化，则量化级数</a:t>
            </a:r>
            <a:r>
              <a:rPr lang="zh-CN" altLang="en-US" sz="2000" dirty="0">
                <a:solidFill>
                  <a:srgbClr val="0000CC"/>
                </a:solidFill>
                <a:latin typeface="华文楷体" panose="02010600040101010101" charset="-122"/>
                <a:ea typeface="华文楷体" panose="02010600040101010101" charset="-122"/>
                <a:cs typeface="华文楷体" panose="02010600040101010101" charset="-122"/>
                <a:sym typeface="宋体" pitchFamily="2" charset="-122"/>
              </a:rPr>
              <a:t>：</a:t>
            </a:r>
            <a:endPar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宋体" pitchFamily="2" charset="-122"/>
            </a:endParaRPr>
          </a:p>
        </p:txBody>
      </p:sp>
      <p:sp>
        <p:nvSpPr>
          <p:cNvPr id="59399" name="矩形 18"/>
          <p:cNvSpPr/>
          <p:nvPr>
            <p:custDataLst>
              <p:tags r:id="rId10"/>
            </p:custDataLst>
          </p:nvPr>
        </p:nvSpPr>
        <p:spPr>
          <a:xfrm>
            <a:off x="2972435" y="1762760"/>
            <a:ext cx="4417060" cy="460375"/>
          </a:xfrm>
          <a:prstGeom prst="rect">
            <a:avLst/>
          </a:prstGeom>
          <a:solidFill>
            <a:srgbClr val="E7E7E7"/>
          </a:solidFill>
          <a:ln w="9525">
            <a:noFill/>
          </a:ln>
        </p:spPr>
        <p:txBody>
          <a:bodyPr wrap="square">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zh-CN" altLang="en-US" sz="24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非线性码      </a:t>
            </a:r>
            <a:r>
              <a:rPr lang="en-US" altLang="zh-CN" sz="24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400" b="1" dirty="0">
                <a:solidFill>
                  <a:srgbClr val="003399"/>
                </a:solidFill>
                <a:latin typeface="华文楷体" panose="02010600040101010101" charset="-122"/>
                <a:ea typeface="华文楷体" panose="02010600040101010101" charset="-122"/>
                <a:cs typeface="华文楷体" panose="02010600040101010101" charset="-122"/>
                <a:sym typeface="宋体" pitchFamily="2" charset="-122"/>
              </a:rPr>
              <a:t>非均匀量化：</a:t>
            </a:r>
            <a:endParaRPr lang="zh-CN" altLang="en-US" sz="1800" b="1" dirty="0">
              <a:solidFill>
                <a:srgbClr val="003399"/>
              </a:solidFill>
              <a:latin typeface="华文楷体" panose="02010600040101010101" charset="-122"/>
              <a:ea typeface="华文楷体" panose="02010600040101010101" charset="-122"/>
              <a:cs typeface="华文楷体" panose="02010600040101010101" charset="-122"/>
              <a:sym typeface="宋体" pitchFamily="2" charset="-122"/>
            </a:endParaRPr>
          </a:p>
        </p:txBody>
      </p:sp>
      <p:sp>
        <p:nvSpPr>
          <p:cNvPr id="59400" name="矩形 19"/>
          <p:cNvSpPr/>
          <p:nvPr>
            <p:custDataLst>
              <p:tags r:id="rId11"/>
            </p:custDataLst>
          </p:nvPr>
        </p:nvSpPr>
        <p:spPr>
          <a:xfrm>
            <a:off x="6758305" y="4819333"/>
            <a:ext cx="4071938" cy="400050"/>
          </a:xfrm>
          <a:prstGeom prst="rect">
            <a:avLst/>
          </a:prstGeom>
          <a:noFill/>
          <a:ln w="9525">
            <a:noFill/>
          </a:ln>
        </p:spPr>
        <p:txBody>
          <a:bodyPr>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需要</a:t>
            </a:r>
            <a:r>
              <a:rPr lang="en-US" altLang="zh-CN" sz="2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11</a:t>
            </a:r>
            <a:r>
              <a:rPr lang="zh-CN" altLang="en-US" sz="2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位</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（线性）编码</a:t>
            </a:r>
            <a:endPar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59402" name="矩形 26"/>
          <p:cNvSpPr/>
          <p:nvPr>
            <p:custDataLst>
              <p:tags r:id="rId12"/>
            </p:custDataLst>
          </p:nvPr>
        </p:nvSpPr>
        <p:spPr>
          <a:xfrm>
            <a:off x="7607618" y="5448618"/>
            <a:ext cx="2422525" cy="40005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en-US" altLang="zh-CN" sz="2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称为</a:t>
            </a: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线性</a:t>
            </a: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PCM</a:t>
            </a: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编码</a:t>
            </a:r>
            <a:endParaRPr lang="zh-CN" altLang="en-US" sz="2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grpSp>
        <p:nvGrpSpPr>
          <p:cNvPr id="59403" name="组合 36"/>
          <p:cNvGrpSpPr/>
          <p:nvPr/>
        </p:nvGrpSpPr>
        <p:grpSpPr>
          <a:xfrm>
            <a:off x="4383405" y="1733868"/>
            <a:ext cx="646113" cy="368300"/>
            <a:chOff x="0" y="0"/>
            <a:chExt cx="646331" cy="369332"/>
          </a:xfrm>
        </p:grpSpPr>
        <p:sp>
          <p:nvSpPr>
            <p:cNvPr id="61458" name="矩形 27"/>
            <p:cNvSpPr/>
            <p:nvPr>
              <p:custDataLst>
                <p:tags r:id="rId13"/>
              </p:custDataLst>
            </p:nvPr>
          </p:nvSpPr>
          <p:spPr>
            <a:xfrm>
              <a:off x="0" y="0"/>
              <a:ext cx="646331" cy="369332"/>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zh-CN" altLang="en-US" sz="1800" dirty="0">
                  <a:solidFill>
                    <a:srgbClr val="FF0000"/>
                  </a:solidFill>
                  <a:latin typeface="华文楷体" panose="02010600040101010101" charset="-122"/>
                  <a:ea typeface="华文楷体" panose="02010600040101010101" charset="-122"/>
                  <a:sym typeface="Arial" panose="020B0604020202090204" pitchFamily="34" charset="0"/>
                </a:rPr>
                <a:t>对应</a:t>
              </a:r>
              <a:endParaRPr lang="zh-CN" altLang="en-US" sz="1800" dirty="0">
                <a:solidFill>
                  <a:srgbClr val="FF0000"/>
                </a:solidFill>
                <a:latin typeface="华文楷体" panose="02010600040101010101" charset="-122"/>
                <a:ea typeface="华文楷体" panose="02010600040101010101" charset="-122"/>
                <a:sym typeface="Arial" panose="020B0604020202090204" pitchFamily="34" charset="0"/>
              </a:endParaRPr>
            </a:p>
          </p:txBody>
        </p:sp>
        <p:cxnSp>
          <p:nvCxnSpPr>
            <p:cNvPr id="61459" name="直接箭头连接符 35"/>
            <p:cNvCxnSpPr/>
            <p:nvPr>
              <p:custDataLst>
                <p:tags r:id="rId14"/>
              </p:custDataLst>
            </p:nvPr>
          </p:nvCxnSpPr>
          <p:spPr>
            <a:xfrm>
              <a:off x="73050" y="313613"/>
              <a:ext cx="571693" cy="1592"/>
            </a:xfrm>
            <a:prstGeom prst="straightConnector1">
              <a:avLst/>
            </a:prstGeom>
            <a:ln w="9525" cap="flat" cmpd="sng">
              <a:solidFill>
                <a:srgbClr val="7F7F7F"/>
              </a:solidFill>
              <a:prstDash val="solid"/>
              <a:miter/>
              <a:headEnd type="none" w="med" len="med"/>
              <a:tailEnd type="arrow" w="med" len="med"/>
            </a:ln>
          </p:spPr>
        </p:cxnSp>
      </p:grpSp>
      <p:sp>
        <p:nvSpPr>
          <p:cNvPr id="59406" name="矩形 37"/>
          <p:cNvSpPr/>
          <p:nvPr>
            <p:custDataLst>
              <p:tags r:id="rId15"/>
            </p:custDataLst>
          </p:nvPr>
        </p:nvSpPr>
        <p:spPr>
          <a:xfrm>
            <a:off x="7205980" y="2976880"/>
            <a:ext cx="3275013" cy="400050"/>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zh-CN" altLang="en-US" sz="2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称为</a:t>
            </a: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非线性 </a:t>
            </a: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对数</a:t>
            </a: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PCM</a:t>
            </a: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编码</a:t>
            </a:r>
            <a:endParaRPr lang="zh-CN" altLang="en-US" sz="20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59407" name="矩形 38"/>
          <p:cNvSpPr/>
          <p:nvPr>
            <p:custDataLst>
              <p:tags r:id="rId16"/>
            </p:custDataLst>
          </p:nvPr>
        </p:nvSpPr>
        <p:spPr>
          <a:xfrm>
            <a:off x="3061335" y="3763010"/>
            <a:ext cx="4006850" cy="460375"/>
          </a:xfrm>
          <a:prstGeom prst="rect">
            <a:avLst/>
          </a:prstGeom>
          <a:solidFill>
            <a:srgbClr val="E7E7E7"/>
          </a:solidFill>
          <a:ln w="9525">
            <a:noFill/>
          </a:ln>
        </p:spPr>
        <p:txBody>
          <a:bodyPr wrap="square">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zh-CN" altLang="en-US" sz="24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线性码     </a:t>
            </a:r>
            <a:r>
              <a:rPr lang="en-US" altLang="zh-CN" sz="24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4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400" b="1" dirty="0">
                <a:solidFill>
                  <a:srgbClr val="003399"/>
                </a:solidFill>
                <a:latin typeface="华文楷体" panose="02010600040101010101" charset="-122"/>
                <a:ea typeface="华文楷体" panose="02010600040101010101" charset="-122"/>
                <a:cs typeface="华文楷体" panose="02010600040101010101" charset="-122"/>
                <a:sym typeface="宋体" pitchFamily="2" charset="-122"/>
              </a:rPr>
              <a:t>均匀量化：</a:t>
            </a:r>
            <a:endParaRPr lang="zh-CN" altLang="en-US" sz="1800" b="1" dirty="0">
              <a:solidFill>
                <a:srgbClr val="003399"/>
              </a:solidFill>
              <a:latin typeface="华文楷体" panose="02010600040101010101" charset="-122"/>
              <a:ea typeface="华文楷体" panose="02010600040101010101" charset="-122"/>
              <a:cs typeface="华文楷体" panose="02010600040101010101" charset="-122"/>
              <a:sym typeface="宋体" pitchFamily="2" charset="-122"/>
            </a:endParaRPr>
          </a:p>
        </p:txBody>
      </p:sp>
      <p:grpSp>
        <p:nvGrpSpPr>
          <p:cNvPr id="59408" name="组合 39"/>
          <p:cNvGrpSpPr/>
          <p:nvPr/>
        </p:nvGrpSpPr>
        <p:grpSpPr>
          <a:xfrm>
            <a:off x="4186555" y="3734118"/>
            <a:ext cx="646113" cy="369887"/>
            <a:chOff x="0" y="0"/>
            <a:chExt cx="646331" cy="369332"/>
          </a:xfrm>
        </p:grpSpPr>
        <p:sp>
          <p:nvSpPr>
            <p:cNvPr id="61456" name="矩形 40"/>
            <p:cNvSpPr/>
            <p:nvPr>
              <p:custDataLst>
                <p:tags r:id="rId17"/>
              </p:custDataLst>
            </p:nvPr>
          </p:nvSpPr>
          <p:spPr>
            <a:xfrm>
              <a:off x="0" y="0"/>
              <a:ext cx="646331" cy="369332"/>
            </a:xfrm>
            <a:prstGeom prst="rect">
              <a:avLst/>
            </a:prstGeom>
            <a:noFill/>
            <a:ln w="9525">
              <a:noFill/>
            </a:ln>
          </p:spPr>
          <p:txBody>
            <a:bodyPr wrap="none">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zh-CN" altLang="en-US" sz="1800" dirty="0">
                  <a:solidFill>
                    <a:srgbClr val="FF0000"/>
                  </a:solidFill>
                  <a:latin typeface="华文楷体" panose="02010600040101010101" charset="-122"/>
                  <a:ea typeface="华文楷体" panose="02010600040101010101" charset="-122"/>
                  <a:sym typeface="Arial" panose="020B0604020202090204" pitchFamily="34" charset="0"/>
                </a:rPr>
                <a:t>对应</a:t>
              </a:r>
              <a:endParaRPr lang="zh-CN" altLang="en-US" sz="1800" dirty="0">
                <a:solidFill>
                  <a:srgbClr val="FF0000"/>
                </a:solidFill>
                <a:latin typeface="华文楷体" panose="02010600040101010101" charset="-122"/>
                <a:ea typeface="华文楷体" panose="02010600040101010101" charset="-122"/>
                <a:sym typeface="Arial" panose="020B0604020202090204" pitchFamily="34" charset="0"/>
              </a:endParaRPr>
            </a:p>
          </p:txBody>
        </p:sp>
        <p:cxnSp>
          <p:nvCxnSpPr>
            <p:cNvPr id="61457" name="直接箭头连接符 41"/>
            <p:cNvCxnSpPr/>
            <p:nvPr>
              <p:custDataLst>
                <p:tags r:id="rId18"/>
              </p:custDataLst>
            </p:nvPr>
          </p:nvCxnSpPr>
          <p:spPr>
            <a:xfrm>
              <a:off x="73050" y="313853"/>
              <a:ext cx="571693" cy="1585"/>
            </a:xfrm>
            <a:prstGeom prst="straightConnector1">
              <a:avLst/>
            </a:prstGeom>
            <a:ln w="9525" cap="flat" cmpd="sng">
              <a:solidFill>
                <a:srgbClr val="FF0000"/>
              </a:solidFill>
              <a:prstDash val="solid"/>
              <a:miter/>
              <a:headEnd type="none" w="med" len="med"/>
              <a:tailEnd type="arrow" w="med" len="med"/>
            </a:ln>
          </p:spPr>
        </p:cxnSp>
      </p:grpSp>
      <p:sp>
        <p:nvSpPr>
          <p:cNvPr id="2" name="文本框 1"/>
          <p:cNvSpPr txBox="1"/>
          <p:nvPr/>
        </p:nvSpPr>
        <p:spPr>
          <a:xfrm>
            <a:off x="389255" y="1124585"/>
            <a:ext cx="5068570" cy="521970"/>
          </a:xfrm>
          <a:prstGeom prst="rect">
            <a:avLst/>
          </a:prstGeom>
          <a:noFill/>
        </p:spPr>
        <p:txBody>
          <a:bodyPr wrap="square" rtlCol="0" anchor="t">
            <a:spAutoFit/>
          </a:bodyPr>
          <a:p>
            <a:r>
              <a:rPr lang="zh-CN" altLang="en-US" sz="28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小信号量化间隔相同时：</a:t>
            </a:r>
            <a:endParaRPr lang="zh-CN" altLang="en-US" sz="28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grpSp>
        <p:nvGrpSpPr>
          <p:cNvPr id="47108" name="Group 3"/>
          <p:cNvGrpSpPr/>
          <p:nvPr/>
        </p:nvGrpSpPr>
        <p:grpSpPr>
          <a:xfrm>
            <a:off x="2207260" y="2286000"/>
            <a:ext cx="6211888" cy="1263650"/>
            <a:chOff x="0" y="0"/>
            <a:chExt cx="7097" cy="1318"/>
          </a:xfrm>
        </p:grpSpPr>
        <p:sp>
          <p:nvSpPr>
            <p:cNvPr id="49170" name="Text Box 16"/>
            <p:cNvSpPr/>
            <p:nvPr>
              <p:custDataLst>
                <p:tags r:id="rId2"/>
              </p:custDataLst>
            </p:nvPr>
          </p:nvSpPr>
          <p:spPr>
            <a:xfrm>
              <a:off x="2745" y="928"/>
              <a:ext cx="1502" cy="390"/>
            </a:xfrm>
            <a:prstGeom prst="rect">
              <a:avLst/>
            </a:prstGeom>
            <a:noFill/>
            <a:ln w="9525">
              <a:noFill/>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spcBef>
                  <a:spcPct val="0"/>
                </a:spcBef>
                <a:buClrTx/>
                <a:buSzTx/>
                <a:buFont typeface="Arial" panose="020B0604020202090204" pitchFamily="34" charset="0"/>
                <a:buNone/>
              </a:pPr>
              <a:r>
                <a:rPr lang="en-US" altLang="zh-CN"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 </a:t>
              </a:r>
              <a:r>
                <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发送端</a:t>
              </a:r>
              <a:endPar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49171" name="Text Box 17"/>
            <p:cNvSpPr/>
            <p:nvPr>
              <p:custDataLst>
                <p:tags r:id="rId3"/>
              </p:custDataLst>
            </p:nvPr>
          </p:nvSpPr>
          <p:spPr>
            <a:xfrm>
              <a:off x="0" y="22"/>
              <a:ext cx="1369" cy="750"/>
            </a:xfrm>
            <a:prstGeom prst="rect">
              <a:avLst/>
            </a:prstGeom>
            <a:noFill/>
            <a:ln w="9525">
              <a:noFill/>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just" defTabSz="914400">
                <a:spcBef>
                  <a:spcPct val="0"/>
                </a:spcBef>
                <a:buClrTx/>
                <a:buSzTx/>
                <a:buFont typeface="Arial" panose="020B0604020202090204" pitchFamily="34" charset="0"/>
                <a:buNone/>
              </a:pPr>
              <a:r>
                <a:rPr lang="zh-CN" altLang="en-US" sz="1800" b="1" dirty="0">
                  <a:solidFill>
                    <a:srgbClr val="0033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模拟信号</a:t>
              </a:r>
              <a:endParaRPr lang="zh-CN" altLang="en-US" sz="1800" b="1" dirty="0">
                <a:solidFill>
                  <a:srgbClr val="0033CC"/>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a:p>
              <a:pPr marL="0" lvl="0" indent="0" algn="just" defTabSz="914400">
                <a:spcBef>
                  <a:spcPct val="0"/>
                </a:spcBef>
                <a:buClrTx/>
                <a:buSzTx/>
                <a:buFont typeface="Arial" panose="020B0604020202090204" pitchFamily="34" charset="0"/>
                <a:buNone/>
              </a:pPr>
              <a:r>
                <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输 入</a:t>
              </a:r>
              <a:endPar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49172" name="Text Box 18"/>
            <p:cNvSpPr/>
            <p:nvPr>
              <p:custDataLst>
                <p:tags r:id="rId4"/>
              </p:custDataLst>
            </p:nvPr>
          </p:nvSpPr>
          <p:spPr>
            <a:xfrm>
              <a:off x="5631" y="0"/>
              <a:ext cx="1466" cy="705"/>
            </a:xfrm>
            <a:prstGeom prst="rect">
              <a:avLst/>
            </a:prstGeom>
            <a:noFill/>
            <a:ln w="9525">
              <a:noFill/>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just" defTabSz="914400">
                <a:spcBef>
                  <a:spcPct val="0"/>
                </a:spcBef>
                <a:buClrTx/>
                <a:buSzTx/>
                <a:buFont typeface="Arial" panose="020B0604020202090204" pitchFamily="34" charset="0"/>
                <a:buNone/>
              </a:pPr>
              <a:r>
                <a:rPr lang="en-US" altLang="zh-CN" sz="1800" b="1" dirty="0">
                  <a:solidFill>
                    <a:srgbClr val="9900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PCM</a:t>
              </a:r>
              <a:r>
                <a:rPr lang="zh-CN" altLang="en-US" sz="1800" b="1" dirty="0">
                  <a:solidFill>
                    <a:srgbClr val="9900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信号</a:t>
              </a:r>
              <a:endParaRPr lang="zh-CN" altLang="en-US" sz="1800" b="1" dirty="0">
                <a:solidFill>
                  <a:srgbClr val="990099"/>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a:p>
              <a:pPr marL="0" lvl="0" indent="0" algn="just" defTabSz="914400">
                <a:spcBef>
                  <a:spcPct val="0"/>
                </a:spcBef>
                <a:buClrTx/>
                <a:buSzTx/>
                <a:buFont typeface="Arial" panose="020B0604020202090204" pitchFamily="34" charset="0"/>
                <a:buNone/>
              </a:pPr>
              <a:r>
                <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输 出</a:t>
              </a:r>
              <a:endPar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grpSp>
          <p:nvGrpSpPr>
            <p:cNvPr id="49173" name="Group 19"/>
            <p:cNvGrpSpPr/>
            <p:nvPr/>
          </p:nvGrpSpPr>
          <p:grpSpPr>
            <a:xfrm>
              <a:off x="1007" y="112"/>
              <a:ext cx="5038" cy="655"/>
              <a:chOff x="0" y="0"/>
              <a:chExt cx="5038" cy="655"/>
            </a:xfrm>
          </p:grpSpPr>
          <p:grpSp>
            <p:nvGrpSpPr>
              <p:cNvPr id="49174" name="Group 20"/>
              <p:cNvGrpSpPr/>
              <p:nvPr/>
            </p:nvGrpSpPr>
            <p:grpSpPr>
              <a:xfrm>
                <a:off x="0" y="0"/>
                <a:ext cx="1516" cy="655"/>
                <a:chOff x="0" y="0"/>
                <a:chExt cx="1516" cy="655"/>
              </a:xfrm>
            </p:grpSpPr>
            <p:sp>
              <p:nvSpPr>
                <p:cNvPr id="49182" name="Text Box 21"/>
                <p:cNvSpPr/>
                <p:nvPr>
                  <p:custDataLst>
                    <p:tags r:id="rId5"/>
                  </p:custDataLst>
                </p:nvPr>
              </p:nvSpPr>
              <p:spPr>
                <a:xfrm>
                  <a:off x="418" y="0"/>
                  <a:ext cx="1098" cy="655"/>
                </a:xfrm>
                <a:prstGeom prst="rect">
                  <a:avLst/>
                </a:prstGeom>
                <a:solidFill>
                  <a:srgbClr val="E7E7E7"/>
                </a:solidFill>
                <a:ln w="9525" cap="flat" cmpd="sng">
                  <a:solidFill>
                    <a:srgbClr val="0000FF"/>
                  </a:solidFill>
                  <a:prstDash val="solid"/>
                  <a:miter/>
                  <a:headEnd type="none" w="med" len="med"/>
                  <a:tailEnd type="none" w="med" len="med"/>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lnSpc>
                      <a:spcPts val="2000"/>
                    </a:lnSpc>
                    <a:spcBef>
                      <a:spcPct val="0"/>
                    </a:spcBef>
                    <a:buClrTx/>
                    <a:buSzTx/>
                    <a:buFont typeface="Arial" panose="020B0604020202090204" pitchFamily="34" charset="0"/>
                    <a:buNone/>
                  </a:pPr>
                  <a:r>
                    <a:rPr lang="zh-CN" altLang="en-US" sz="2400" b="1" baseline="-25000" dirty="0">
                      <a:solidFill>
                        <a:srgbClr val="000000"/>
                      </a:solidFill>
                      <a:latin typeface="华文楷体" panose="02010600040101010101" charset="-122"/>
                      <a:ea typeface="华文楷体" panose="02010600040101010101" charset="-122"/>
                      <a:sym typeface="Arial" panose="020B0604020202090204" pitchFamily="34" charset="0"/>
                    </a:rPr>
                    <a:t>抽样</a:t>
                  </a:r>
                  <a:endParaRPr lang="en-US" altLang="zh-CN" sz="2400" b="1" baseline="-25000" dirty="0">
                    <a:solidFill>
                      <a:srgbClr val="000000"/>
                    </a:solidFill>
                    <a:latin typeface="华文楷体" panose="02010600040101010101" charset="-122"/>
                    <a:ea typeface="华文楷体" panose="02010600040101010101" charset="-122"/>
                    <a:sym typeface="Arial" panose="020B0604020202090204" pitchFamily="34" charset="0"/>
                  </a:endParaRPr>
                </a:p>
                <a:p>
                  <a:pPr marL="0" lvl="0" indent="0" algn="ctr" defTabSz="914400">
                    <a:lnSpc>
                      <a:spcPts val="2000"/>
                    </a:lnSpc>
                    <a:spcBef>
                      <a:spcPct val="0"/>
                    </a:spcBef>
                    <a:buClrTx/>
                    <a:buSzTx/>
                    <a:buFont typeface="Arial" panose="020B0604020202090204" pitchFamily="34" charset="0"/>
                    <a:buNone/>
                  </a:pPr>
                  <a:r>
                    <a:rPr lang="zh-CN" altLang="en-US" sz="2400" b="1" baseline="-25000" dirty="0">
                      <a:solidFill>
                        <a:srgbClr val="000000"/>
                      </a:solidFill>
                      <a:latin typeface="华文楷体" panose="02010600040101010101" charset="-122"/>
                      <a:ea typeface="华文楷体" panose="02010600040101010101" charset="-122"/>
                      <a:sym typeface="Arial" panose="020B0604020202090204" pitchFamily="34" charset="0"/>
                    </a:rPr>
                    <a:t>保持</a:t>
                  </a:r>
                  <a:endParaRPr lang="zh-CN" altLang="en-US" sz="2400" b="1" dirty="0">
                    <a:solidFill>
                      <a:srgbClr val="000000"/>
                    </a:solidFill>
                    <a:latin typeface="华文楷体" panose="02010600040101010101" charset="-122"/>
                    <a:ea typeface="华文楷体" panose="02010600040101010101" charset="-122"/>
                    <a:sym typeface="Arial" panose="020B0604020202090204" pitchFamily="34" charset="0"/>
                  </a:endParaRPr>
                </a:p>
              </p:txBody>
            </p:sp>
            <p:sp>
              <p:nvSpPr>
                <p:cNvPr id="49183" name="Line 22"/>
                <p:cNvSpPr/>
                <p:nvPr>
                  <p:custDataLst>
                    <p:tags r:id="rId6"/>
                  </p:custDataLst>
                </p:nvPr>
              </p:nvSpPr>
              <p:spPr>
                <a:xfrm>
                  <a:off x="0" y="285"/>
                  <a:ext cx="420" cy="1"/>
                </a:xfrm>
                <a:prstGeom prst="line">
                  <a:avLst/>
                </a:prstGeom>
                <a:ln w="9525" cap="flat" cmpd="sng">
                  <a:solidFill>
                    <a:srgbClr val="000000"/>
                  </a:solidFill>
                  <a:prstDash val="solid"/>
                  <a:miter/>
                  <a:headEnd type="none" w="med" len="med"/>
                  <a:tailEnd type="triangle" w="med" len="med"/>
                </a:ln>
              </p:spPr>
            </p:sp>
          </p:grpSp>
          <p:sp>
            <p:nvSpPr>
              <p:cNvPr id="49175" name="Line 23"/>
              <p:cNvSpPr/>
              <p:nvPr>
                <p:custDataLst>
                  <p:tags r:id="rId7"/>
                </p:custDataLst>
              </p:nvPr>
            </p:nvSpPr>
            <p:spPr>
              <a:xfrm>
                <a:off x="4618" y="300"/>
                <a:ext cx="420" cy="1"/>
              </a:xfrm>
              <a:prstGeom prst="line">
                <a:avLst/>
              </a:prstGeom>
              <a:ln w="9525" cap="flat" cmpd="sng">
                <a:solidFill>
                  <a:srgbClr val="000000"/>
                </a:solidFill>
                <a:prstDash val="solid"/>
                <a:miter/>
                <a:headEnd type="none" w="med" len="med"/>
                <a:tailEnd type="triangle" w="med" len="med"/>
              </a:ln>
            </p:spPr>
          </p:sp>
          <p:grpSp>
            <p:nvGrpSpPr>
              <p:cNvPr id="49176" name="Group 24"/>
              <p:cNvGrpSpPr/>
              <p:nvPr/>
            </p:nvGrpSpPr>
            <p:grpSpPr>
              <a:xfrm>
                <a:off x="1530" y="15"/>
                <a:ext cx="1516" cy="570"/>
                <a:chOff x="0" y="0"/>
                <a:chExt cx="1516" cy="570"/>
              </a:xfrm>
            </p:grpSpPr>
            <p:sp>
              <p:nvSpPr>
                <p:cNvPr id="49180" name="Text Box 25"/>
                <p:cNvSpPr/>
                <p:nvPr>
                  <p:custDataLst>
                    <p:tags r:id="rId8"/>
                  </p:custDataLst>
                </p:nvPr>
              </p:nvSpPr>
              <p:spPr>
                <a:xfrm>
                  <a:off x="418" y="0"/>
                  <a:ext cx="1098" cy="570"/>
                </a:xfrm>
                <a:prstGeom prst="rect">
                  <a:avLst/>
                </a:prstGeom>
                <a:solidFill>
                  <a:srgbClr val="E7E7E7"/>
                </a:solidFill>
                <a:ln w="9525" cap="flat" cmpd="sng">
                  <a:solidFill>
                    <a:srgbClr val="993366"/>
                  </a:solidFill>
                  <a:prstDash val="solid"/>
                  <a:miter/>
                  <a:headEnd type="none" w="med" len="med"/>
                  <a:tailEnd type="none" w="med" len="med"/>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lnSpc>
                      <a:spcPct val="96000"/>
                    </a:lnSpc>
                    <a:spcBef>
                      <a:spcPct val="0"/>
                    </a:spcBef>
                    <a:buClrTx/>
                    <a:buSzTx/>
                    <a:buFont typeface="Arial" panose="020B0604020202090204" pitchFamily="34" charset="0"/>
                    <a:buNone/>
                  </a:pPr>
                  <a:r>
                    <a:rPr lang="zh-CN" altLang="en-US" sz="2400" b="1" baseline="-25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量  化</a:t>
                  </a:r>
                  <a:endParaRPr lang="zh-CN" altLang="en-US" sz="2400" b="1" baseline="-25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49181" name="Line 26"/>
                <p:cNvSpPr/>
                <p:nvPr>
                  <p:custDataLst>
                    <p:tags r:id="rId9"/>
                  </p:custDataLst>
                </p:nvPr>
              </p:nvSpPr>
              <p:spPr>
                <a:xfrm>
                  <a:off x="0" y="285"/>
                  <a:ext cx="420" cy="1"/>
                </a:xfrm>
                <a:prstGeom prst="line">
                  <a:avLst/>
                </a:prstGeom>
                <a:ln w="9525" cap="flat" cmpd="sng">
                  <a:solidFill>
                    <a:srgbClr val="000000"/>
                  </a:solidFill>
                  <a:prstDash val="solid"/>
                  <a:miter/>
                  <a:headEnd type="none" w="med" len="med"/>
                  <a:tailEnd type="triangle" w="med" len="med"/>
                </a:ln>
              </p:spPr>
            </p:sp>
          </p:grpSp>
          <p:grpSp>
            <p:nvGrpSpPr>
              <p:cNvPr id="49177" name="Group 27"/>
              <p:cNvGrpSpPr/>
              <p:nvPr/>
            </p:nvGrpSpPr>
            <p:grpSpPr>
              <a:xfrm>
                <a:off x="3076" y="30"/>
                <a:ext cx="1516" cy="570"/>
                <a:chOff x="0" y="0"/>
                <a:chExt cx="1516" cy="570"/>
              </a:xfrm>
            </p:grpSpPr>
            <p:sp>
              <p:nvSpPr>
                <p:cNvPr id="49178" name="Text Box 28"/>
                <p:cNvSpPr/>
                <p:nvPr>
                  <p:custDataLst>
                    <p:tags r:id="rId10"/>
                  </p:custDataLst>
                </p:nvPr>
              </p:nvSpPr>
              <p:spPr>
                <a:xfrm>
                  <a:off x="418" y="0"/>
                  <a:ext cx="1098" cy="570"/>
                </a:xfrm>
                <a:prstGeom prst="rect">
                  <a:avLst/>
                </a:prstGeom>
                <a:solidFill>
                  <a:srgbClr val="E7E7E7"/>
                </a:solidFill>
                <a:ln w="9525" cap="flat" cmpd="sng">
                  <a:solidFill>
                    <a:srgbClr val="800000"/>
                  </a:solidFill>
                  <a:prstDash val="solid"/>
                  <a:miter/>
                  <a:headEnd type="none" w="med" len="med"/>
                  <a:tailEnd type="none" w="med" len="med"/>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lnSpc>
                      <a:spcPct val="96000"/>
                    </a:lnSpc>
                    <a:spcBef>
                      <a:spcPct val="0"/>
                    </a:spcBef>
                    <a:buClrTx/>
                    <a:buSzTx/>
                    <a:buFont typeface="Arial" panose="020B0604020202090204" pitchFamily="34" charset="0"/>
                    <a:buNone/>
                  </a:pPr>
                  <a:r>
                    <a:rPr lang="zh-CN" altLang="en-US" sz="2400" b="1" baseline="-25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编  码</a:t>
                  </a:r>
                  <a:endParaRPr lang="zh-CN" altLang="en-US" sz="2400" b="1" baseline="-25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49179" name="Line 29"/>
                <p:cNvSpPr/>
                <p:nvPr>
                  <p:custDataLst>
                    <p:tags r:id="rId11"/>
                  </p:custDataLst>
                </p:nvPr>
              </p:nvSpPr>
              <p:spPr>
                <a:xfrm>
                  <a:off x="0" y="285"/>
                  <a:ext cx="420" cy="1"/>
                </a:xfrm>
                <a:prstGeom prst="line">
                  <a:avLst/>
                </a:prstGeom>
                <a:ln w="9525" cap="flat" cmpd="sng">
                  <a:solidFill>
                    <a:srgbClr val="000000"/>
                  </a:solidFill>
                  <a:prstDash val="solid"/>
                  <a:miter/>
                  <a:headEnd type="none" w="med" len="med"/>
                  <a:tailEnd type="triangle" w="med" len="med"/>
                </a:ln>
              </p:spPr>
            </p:sp>
          </p:grpSp>
        </p:grpSp>
      </p:grpSp>
      <p:sp>
        <p:nvSpPr>
          <p:cNvPr id="47123" name="Rectangle 3"/>
          <p:cNvSpPr/>
          <p:nvPr>
            <p:custDataLst>
              <p:tags r:id="rId12"/>
            </p:custDataLst>
          </p:nvPr>
        </p:nvSpPr>
        <p:spPr>
          <a:xfrm>
            <a:off x="1356360" y="1357630"/>
            <a:ext cx="7162800" cy="571500"/>
          </a:xfrm>
          <a:prstGeom prst="rect">
            <a:avLst/>
          </a:prstGeom>
          <a:noFill/>
          <a:ln w="9525">
            <a:noFill/>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lvl="0" defTabSz="914400">
              <a:buClr>
                <a:srgbClr val="FF0000"/>
              </a:buClr>
              <a:buSzPct val="80000"/>
            </a:pPr>
            <a:r>
              <a:rPr lang="zh-CN" altLang="en-US" sz="2800" b="1" kern="0" dirty="0">
                <a:latin typeface="Times New Roman" panose="02020603050405020304" pitchFamily="18" charset="0"/>
                <a:ea typeface="楷体" panose="02010609060101010101" pitchFamily="49" charset="-122"/>
                <a:cs typeface="Times New Roman" panose="02020603050405020304" pitchFamily="18" charset="0"/>
                <a:sym typeface="+mn-ea"/>
              </a:rPr>
              <a:t>脉冲编码调制</a:t>
            </a:r>
            <a:r>
              <a:rPr lang="en-US" altLang="zh-CN" sz="28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PCM</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系统原理框图</a:t>
            </a:r>
            <a:endParaRPr lang="en-US" altLang="zh-CN" sz="28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endParaRPr>
          </a:p>
        </p:txBody>
      </p:sp>
      <p:grpSp>
        <p:nvGrpSpPr>
          <p:cNvPr id="47124" name="Group 3"/>
          <p:cNvGrpSpPr/>
          <p:nvPr/>
        </p:nvGrpSpPr>
        <p:grpSpPr>
          <a:xfrm>
            <a:off x="2707323" y="4235450"/>
            <a:ext cx="5130800" cy="1336675"/>
            <a:chOff x="0" y="0"/>
            <a:chExt cx="5861" cy="1395"/>
          </a:xfrm>
        </p:grpSpPr>
        <p:sp>
          <p:nvSpPr>
            <p:cNvPr id="49159" name="Text Box 5"/>
            <p:cNvSpPr/>
            <p:nvPr>
              <p:custDataLst>
                <p:tags r:id="rId13"/>
              </p:custDataLst>
            </p:nvPr>
          </p:nvSpPr>
          <p:spPr>
            <a:xfrm>
              <a:off x="2192" y="1005"/>
              <a:ext cx="1622" cy="390"/>
            </a:xfrm>
            <a:prstGeom prst="rect">
              <a:avLst/>
            </a:prstGeom>
            <a:noFill/>
            <a:ln w="9525">
              <a:noFill/>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spcBef>
                  <a:spcPct val="0"/>
                </a:spcBef>
                <a:buClrTx/>
                <a:buSzTx/>
                <a:buFont typeface="Arial" panose="020B0604020202090204" pitchFamily="34" charset="0"/>
                <a:buNone/>
              </a:pPr>
              <a:r>
                <a:rPr lang="en-US" altLang="zh-CN"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(b) </a:t>
              </a:r>
              <a:r>
                <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接收端</a:t>
              </a:r>
              <a:endPar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49160" name="Text Box 6"/>
            <p:cNvSpPr/>
            <p:nvPr>
              <p:custDataLst>
                <p:tags r:id="rId14"/>
              </p:custDataLst>
            </p:nvPr>
          </p:nvSpPr>
          <p:spPr>
            <a:xfrm>
              <a:off x="4482" y="28"/>
              <a:ext cx="1379" cy="720"/>
            </a:xfrm>
            <a:prstGeom prst="rect">
              <a:avLst/>
            </a:prstGeom>
            <a:noFill/>
            <a:ln w="9525">
              <a:noFill/>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just" defTabSz="914400">
                <a:spcBef>
                  <a:spcPct val="0"/>
                </a:spcBef>
                <a:buClrTx/>
                <a:buSzTx/>
                <a:buFont typeface="Arial" panose="020B0604020202090204" pitchFamily="34" charset="0"/>
                <a:buNone/>
              </a:pPr>
              <a:r>
                <a:rPr lang="zh-CN" altLang="en-US" sz="1800" b="1" dirty="0">
                  <a:solidFill>
                    <a:srgbClr val="0033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模拟信号</a:t>
              </a:r>
              <a:endParaRPr lang="zh-CN" altLang="en-US" sz="1800" b="1" dirty="0">
                <a:solidFill>
                  <a:srgbClr val="0033CC"/>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a:p>
              <a:pPr marL="0" lvl="0" indent="0" algn="just" defTabSz="914400">
                <a:spcBef>
                  <a:spcPct val="0"/>
                </a:spcBef>
                <a:buClrTx/>
                <a:buSzTx/>
                <a:buFont typeface="Arial" panose="020B0604020202090204" pitchFamily="34" charset="0"/>
                <a:buNone/>
              </a:pPr>
              <a:r>
                <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输 出</a:t>
              </a:r>
              <a:endPar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49161" name="Text Box 7"/>
            <p:cNvSpPr/>
            <p:nvPr>
              <p:custDataLst>
                <p:tags r:id="rId15"/>
              </p:custDataLst>
            </p:nvPr>
          </p:nvSpPr>
          <p:spPr>
            <a:xfrm>
              <a:off x="0" y="0"/>
              <a:ext cx="1400" cy="705"/>
            </a:xfrm>
            <a:prstGeom prst="rect">
              <a:avLst/>
            </a:prstGeom>
            <a:noFill/>
            <a:ln w="9525">
              <a:noFill/>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just" defTabSz="914400">
                <a:spcBef>
                  <a:spcPct val="0"/>
                </a:spcBef>
                <a:buClrTx/>
                <a:buSzTx/>
                <a:buFont typeface="Arial" panose="020B0604020202090204" pitchFamily="34" charset="0"/>
                <a:buNone/>
              </a:pPr>
              <a:r>
                <a:rPr lang="en-US" altLang="zh-CN" sz="1800" b="1" dirty="0">
                  <a:solidFill>
                    <a:srgbClr val="9900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PCM</a:t>
              </a:r>
              <a:r>
                <a:rPr lang="zh-CN" altLang="en-US" sz="1800" b="1" dirty="0">
                  <a:solidFill>
                    <a:srgbClr val="9900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信号</a:t>
              </a:r>
              <a:endParaRPr lang="zh-CN" altLang="en-US" sz="1800" b="1" dirty="0">
                <a:solidFill>
                  <a:srgbClr val="990099"/>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a:p>
              <a:pPr marL="0" lvl="0" indent="0" algn="just" defTabSz="914400">
                <a:spcBef>
                  <a:spcPct val="0"/>
                </a:spcBef>
                <a:buClrTx/>
                <a:buSzTx/>
                <a:buFont typeface="Arial" panose="020B0604020202090204" pitchFamily="34" charset="0"/>
                <a:buNone/>
              </a:pPr>
              <a:r>
                <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输 入</a:t>
              </a:r>
              <a:endParaRPr lang="zh-CN" altLang="en-US" sz="1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grpSp>
          <p:nvGrpSpPr>
            <p:cNvPr id="49162" name="Group 8"/>
            <p:cNvGrpSpPr/>
            <p:nvPr/>
          </p:nvGrpSpPr>
          <p:grpSpPr>
            <a:xfrm>
              <a:off x="1110" y="39"/>
              <a:ext cx="3496" cy="716"/>
              <a:chOff x="0" y="0"/>
              <a:chExt cx="3496" cy="570"/>
            </a:xfrm>
          </p:grpSpPr>
          <p:grpSp>
            <p:nvGrpSpPr>
              <p:cNvPr id="49163" name="Group 9"/>
              <p:cNvGrpSpPr/>
              <p:nvPr/>
            </p:nvGrpSpPr>
            <p:grpSpPr>
              <a:xfrm>
                <a:off x="0" y="17"/>
                <a:ext cx="1516" cy="538"/>
                <a:chOff x="0" y="0"/>
                <a:chExt cx="1516" cy="538"/>
              </a:xfrm>
            </p:grpSpPr>
            <p:sp>
              <p:nvSpPr>
                <p:cNvPr id="49168" name="Text Box 10"/>
                <p:cNvSpPr/>
                <p:nvPr>
                  <p:custDataLst>
                    <p:tags r:id="rId16"/>
                  </p:custDataLst>
                </p:nvPr>
              </p:nvSpPr>
              <p:spPr>
                <a:xfrm>
                  <a:off x="418" y="0"/>
                  <a:ext cx="1098" cy="538"/>
                </a:xfrm>
                <a:prstGeom prst="rect">
                  <a:avLst/>
                </a:prstGeom>
                <a:solidFill>
                  <a:srgbClr val="E7E7E7"/>
                </a:solidFill>
                <a:ln w="9525" cap="flat" cmpd="sng">
                  <a:solidFill>
                    <a:srgbClr val="800000"/>
                  </a:solidFill>
                  <a:prstDash val="solid"/>
                  <a:miter/>
                  <a:headEnd type="none" w="med" len="med"/>
                  <a:tailEnd type="none" w="med" len="med"/>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spcBef>
                      <a:spcPct val="0"/>
                    </a:spcBef>
                    <a:buClrTx/>
                    <a:buSzTx/>
                    <a:buFont typeface="Arial" panose="020B0604020202090204" pitchFamily="34" charset="0"/>
                    <a:buNone/>
                  </a:pPr>
                  <a:r>
                    <a:rPr lang="zh-CN" altLang="en-US" sz="2400" b="1" baseline="-25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译  码  </a:t>
                  </a:r>
                  <a:endParaRPr lang="zh-CN" altLang="en-US" sz="2400" b="1" baseline="-25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49169" name="Line 11"/>
                <p:cNvSpPr/>
                <p:nvPr>
                  <p:custDataLst>
                    <p:tags r:id="rId17"/>
                  </p:custDataLst>
                </p:nvPr>
              </p:nvSpPr>
              <p:spPr>
                <a:xfrm>
                  <a:off x="0" y="253"/>
                  <a:ext cx="420" cy="1"/>
                </a:xfrm>
                <a:prstGeom prst="line">
                  <a:avLst/>
                </a:prstGeom>
                <a:ln w="9525" cap="flat" cmpd="sng">
                  <a:solidFill>
                    <a:srgbClr val="000000"/>
                  </a:solidFill>
                  <a:prstDash val="solid"/>
                  <a:miter/>
                  <a:headEnd type="none" w="med" len="med"/>
                  <a:tailEnd type="triangle" w="med" len="med"/>
                </a:ln>
              </p:spPr>
            </p:sp>
          </p:grpSp>
          <p:grpSp>
            <p:nvGrpSpPr>
              <p:cNvPr id="49164" name="Group 12"/>
              <p:cNvGrpSpPr/>
              <p:nvPr/>
            </p:nvGrpSpPr>
            <p:grpSpPr>
              <a:xfrm>
                <a:off x="1530" y="0"/>
                <a:ext cx="1516" cy="570"/>
                <a:chOff x="0" y="0"/>
                <a:chExt cx="1516" cy="570"/>
              </a:xfrm>
            </p:grpSpPr>
            <p:sp>
              <p:nvSpPr>
                <p:cNvPr id="49166" name="Text Box 13"/>
                <p:cNvSpPr/>
                <p:nvPr>
                  <p:custDataLst>
                    <p:tags r:id="rId18"/>
                  </p:custDataLst>
                </p:nvPr>
              </p:nvSpPr>
              <p:spPr>
                <a:xfrm>
                  <a:off x="418" y="0"/>
                  <a:ext cx="1098" cy="570"/>
                </a:xfrm>
                <a:prstGeom prst="rect">
                  <a:avLst/>
                </a:prstGeom>
                <a:solidFill>
                  <a:srgbClr val="E7E7E7"/>
                </a:solidFill>
                <a:ln w="9525" cap="flat" cmpd="sng">
                  <a:solidFill>
                    <a:srgbClr val="333399"/>
                  </a:solidFill>
                  <a:prstDash val="solid"/>
                  <a:miter/>
                  <a:headEnd type="none" w="med" len="med"/>
                  <a:tailEnd type="none" w="med" len="med"/>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lnSpc>
                      <a:spcPts val="2200"/>
                    </a:lnSpc>
                    <a:spcBef>
                      <a:spcPct val="0"/>
                    </a:spcBef>
                    <a:buClrTx/>
                    <a:buSzTx/>
                    <a:buFont typeface="Arial" panose="020B0604020202090204" pitchFamily="34" charset="0"/>
                    <a:buNone/>
                  </a:pPr>
                  <a:r>
                    <a:rPr lang="zh-CN" altLang="en-US" sz="2400" b="1" baseline="-25000" dirty="0">
                      <a:solidFill>
                        <a:srgbClr val="000000"/>
                      </a:solidFill>
                      <a:latin typeface="华文楷体" panose="02010600040101010101" charset="-122"/>
                      <a:ea typeface="华文楷体" panose="02010600040101010101" charset="-122"/>
                      <a:sym typeface="Arial" panose="020B0604020202090204" pitchFamily="34" charset="0"/>
                    </a:rPr>
                    <a:t>低通</a:t>
                  </a:r>
                  <a:endParaRPr lang="zh-CN" altLang="en-US" sz="2400" b="1" baseline="-25000" dirty="0">
                    <a:solidFill>
                      <a:srgbClr val="000000"/>
                    </a:solidFill>
                    <a:latin typeface="华文楷体" panose="02010600040101010101" charset="-122"/>
                    <a:ea typeface="华文楷体" panose="02010600040101010101" charset="-122"/>
                    <a:sym typeface="Arial" panose="020B0604020202090204" pitchFamily="34" charset="0"/>
                  </a:endParaRPr>
                </a:p>
                <a:p>
                  <a:pPr marL="0" lvl="0" indent="0" algn="ctr" defTabSz="914400">
                    <a:lnSpc>
                      <a:spcPts val="2200"/>
                    </a:lnSpc>
                    <a:spcBef>
                      <a:spcPct val="0"/>
                    </a:spcBef>
                    <a:buClrTx/>
                    <a:buSzTx/>
                    <a:buFont typeface="Arial" panose="020B0604020202090204" pitchFamily="34" charset="0"/>
                    <a:buNone/>
                  </a:pPr>
                  <a:r>
                    <a:rPr lang="zh-CN" altLang="en-US" sz="2400" b="1" baseline="-25000" dirty="0">
                      <a:solidFill>
                        <a:srgbClr val="000000"/>
                      </a:solidFill>
                      <a:latin typeface="华文楷体" panose="02010600040101010101" charset="-122"/>
                      <a:ea typeface="华文楷体" panose="02010600040101010101" charset="-122"/>
                      <a:sym typeface="Arial" panose="020B0604020202090204" pitchFamily="34" charset="0"/>
                    </a:rPr>
                    <a:t>滤波</a:t>
                  </a:r>
                  <a:endParaRPr lang="zh-CN" altLang="en-US" sz="2400" b="1" dirty="0">
                    <a:solidFill>
                      <a:srgbClr val="000000"/>
                    </a:solidFill>
                    <a:latin typeface="华文楷体" panose="02010600040101010101" charset="-122"/>
                    <a:ea typeface="华文楷体" panose="02010600040101010101" charset="-122"/>
                    <a:sym typeface="Arial" panose="020B0604020202090204" pitchFamily="34" charset="0"/>
                  </a:endParaRPr>
                </a:p>
              </p:txBody>
            </p:sp>
            <p:sp>
              <p:nvSpPr>
                <p:cNvPr id="49167" name="Line 14"/>
                <p:cNvSpPr/>
                <p:nvPr>
                  <p:custDataLst>
                    <p:tags r:id="rId19"/>
                  </p:custDataLst>
                </p:nvPr>
              </p:nvSpPr>
              <p:spPr>
                <a:xfrm>
                  <a:off x="0" y="285"/>
                  <a:ext cx="420" cy="1"/>
                </a:xfrm>
                <a:prstGeom prst="line">
                  <a:avLst/>
                </a:prstGeom>
                <a:ln w="9525" cap="flat" cmpd="sng">
                  <a:solidFill>
                    <a:srgbClr val="000000"/>
                  </a:solidFill>
                  <a:prstDash val="solid"/>
                  <a:miter/>
                  <a:headEnd type="none" w="med" len="med"/>
                  <a:tailEnd type="triangle" w="med" len="med"/>
                </a:ln>
              </p:spPr>
            </p:sp>
          </p:grpSp>
          <p:sp>
            <p:nvSpPr>
              <p:cNvPr id="49165" name="Line 15"/>
              <p:cNvSpPr/>
              <p:nvPr>
                <p:custDataLst>
                  <p:tags r:id="rId20"/>
                </p:custDataLst>
              </p:nvPr>
            </p:nvSpPr>
            <p:spPr>
              <a:xfrm>
                <a:off x="3076" y="300"/>
                <a:ext cx="420" cy="1"/>
              </a:xfrm>
              <a:prstGeom prst="line">
                <a:avLst/>
              </a:prstGeom>
              <a:ln w="9525" cap="flat" cmpd="sng">
                <a:solidFill>
                  <a:srgbClr val="000000"/>
                </a:solidFill>
                <a:prstDash val="solid"/>
                <a:miter/>
                <a:headEnd type="none" w="med" len="med"/>
                <a:tailEnd type="triangle" w="med" len="med"/>
              </a:ln>
            </p:spPr>
          </p:sp>
        </p:grpSp>
      </p:gr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8" name="Picture 7"/>
          <p:cNvPicPr>
            <a:picLocks noChangeAspect="1"/>
          </p:cNvPicPr>
          <p:nvPr/>
        </p:nvPicPr>
        <p:blipFill>
          <a:blip r:embed="rId2"/>
          <a:stretch>
            <a:fillRect/>
          </a:stretch>
        </p:blipFill>
        <p:spPr>
          <a:xfrm>
            <a:off x="2712085" y="2035175"/>
            <a:ext cx="8517890" cy="4733925"/>
          </a:xfrm>
          <a:prstGeom prst="rect">
            <a:avLst/>
          </a:prstGeom>
        </p:spPr>
      </p:pic>
      <p:sp>
        <p:nvSpPr>
          <p:cNvPr id="2" name="圆角矩形标注 1"/>
          <p:cNvSpPr/>
          <p:nvPr>
            <p:custDataLst>
              <p:tags r:id="rId3"/>
            </p:custDataLst>
          </p:nvPr>
        </p:nvSpPr>
        <p:spPr>
          <a:xfrm>
            <a:off x="2855595" y="4149090"/>
            <a:ext cx="1518285" cy="944880"/>
          </a:xfrm>
          <a:prstGeom prst="wedgeRoundRectCallout">
            <a:avLst>
              <a:gd name="adj1" fmla="val 97511"/>
              <a:gd name="adj2" fmla="val -7607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chemeClr val="bg2"/>
                </a:solidFill>
                <a:latin typeface="华文楷体" panose="02010600040101010101" charset="-122"/>
                <a:ea typeface="华文楷体" panose="02010600040101010101" charset="-122"/>
              </a:rPr>
              <a:t>双极性变为单极性</a:t>
            </a:r>
            <a:endParaRPr lang="zh-CN" altLang="en-US" sz="2400" b="1">
              <a:solidFill>
                <a:schemeClr val="bg2"/>
              </a:solidFill>
              <a:latin typeface="华文楷体" panose="02010600040101010101" charset="-122"/>
              <a:ea typeface="华文楷体" panose="02010600040101010101" charset="-122"/>
            </a:endParaRPr>
          </a:p>
        </p:txBody>
      </p:sp>
      <p:sp>
        <p:nvSpPr>
          <p:cNvPr id="6" name="圆角矩形标注 5"/>
          <p:cNvSpPr/>
          <p:nvPr>
            <p:custDataLst>
              <p:tags r:id="rId4"/>
            </p:custDataLst>
          </p:nvPr>
        </p:nvSpPr>
        <p:spPr>
          <a:xfrm>
            <a:off x="8184515" y="1196975"/>
            <a:ext cx="1518285" cy="944880"/>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chemeClr val="bg2"/>
                </a:solidFill>
                <a:latin typeface="华文楷体" panose="02010600040101010101" charset="-122"/>
                <a:ea typeface="华文楷体" panose="02010600040101010101" charset="-122"/>
                <a:cs typeface="华文楷体" panose="02010600040101010101" charset="-122"/>
              </a:rPr>
              <a:t>正值为</a:t>
            </a:r>
            <a:r>
              <a:rPr lang="en-US" altLang="zh-CN" sz="2400" b="1">
                <a:solidFill>
                  <a:schemeClr val="bg2"/>
                </a:solidFill>
                <a:latin typeface="华文楷体" panose="02010600040101010101" charset="-122"/>
                <a:ea typeface="华文楷体" panose="02010600040101010101" charset="-122"/>
                <a:cs typeface="华文楷体" panose="02010600040101010101" charset="-122"/>
              </a:rPr>
              <a:t>1</a:t>
            </a:r>
            <a:r>
              <a:rPr lang="zh-CN" altLang="en-US" sz="2400" b="1">
                <a:solidFill>
                  <a:schemeClr val="bg2"/>
                </a:solidFill>
                <a:latin typeface="华文楷体" panose="02010600040101010101" charset="-122"/>
                <a:ea typeface="华文楷体" panose="02010600040101010101" charset="-122"/>
                <a:cs typeface="华文楷体" panose="02010600040101010101" charset="-122"/>
              </a:rPr>
              <a:t>，负值为</a:t>
            </a:r>
            <a:r>
              <a:rPr lang="en-US" altLang="zh-CN" sz="2400" b="1">
                <a:solidFill>
                  <a:schemeClr val="bg2"/>
                </a:solidFill>
                <a:latin typeface="华文楷体" panose="02010600040101010101" charset="-122"/>
                <a:ea typeface="华文楷体" panose="02010600040101010101" charset="-122"/>
                <a:cs typeface="华文楷体" panose="02010600040101010101" charset="-122"/>
              </a:rPr>
              <a:t>0</a:t>
            </a:r>
            <a:endParaRPr lang="en-US" altLang="zh-CN" sz="2400" b="1">
              <a:solidFill>
                <a:schemeClr val="bg2"/>
              </a:solidFill>
              <a:latin typeface="华文楷体" panose="02010600040101010101" charset="-122"/>
              <a:ea typeface="华文楷体" panose="02010600040101010101" charset="-122"/>
              <a:cs typeface="华文楷体" panose="02010600040101010101" charset="-122"/>
            </a:endParaRPr>
          </a:p>
        </p:txBody>
      </p:sp>
      <p:sp>
        <p:nvSpPr>
          <p:cNvPr id="7" name="圆角矩形标注 6"/>
          <p:cNvSpPr/>
          <p:nvPr>
            <p:custDataLst>
              <p:tags r:id="rId5"/>
            </p:custDataLst>
          </p:nvPr>
        </p:nvSpPr>
        <p:spPr>
          <a:xfrm>
            <a:off x="695325" y="4077335"/>
            <a:ext cx="1745615" cy="2533650"/>
          </a:xfrm>
          <a:prstGeom prst="wedgeRoundRectCallout">
            <a:avLst>
              <a:gd name="adj1" fmla="val 340396"/>
              <a:gd name="adj2" fmla="val 774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ClrTx/>
              <a:buSzTx/>
              <a:buFontTx/>
            </a:pPr>
            <a:r>
              <a:rPr lang="en-US" altLang="zh-CN" sz="2400" b="1" dirty="0">
                <a:solidFill>
                  <a:schemeClr val="bg2"/>
                </a:solidFill>
                <a:latin typeface="华文楷体" panose="02010600040101010101" charset="-122"/>
                <a:ea typeface="华文楷体" panose="02010600040101010101" charset="-122"/>
                <a:cs typeface="华文楷体" panose="02010600040101010101" charset="-122"/>
                <a:sym typeface="+mn-ea"/>
              </a:rPr>
              <a:t>7</a:t>
            </a:r>
            <a:r>
              <a:rPr lang="zh-CN" altLang="en-US" sz="2400" b="1" dirty="0">
                <a:solidFill>
                  <a:schemeClr val="bg2"/>
                </a:solidFill>
                <a:latin typeface="华文楷体" panose="02010600040101010101" charset="-122"/>
                <a:ea typeface="华文楷体" panose="02010600040101010101" charset="-122"/>
                <a:cs typeface="华文楷体" panose="02010600040101010101" charset="-122"/>
                <a:sym typeface="+mn-ea"/>
              </a:rPr>
              <a:t>位非均匀量化码变换成</a:t>
            </a:r>
            <a:r>
              <a:rPr lang="en-US" altLang="zh-CN" sz="2400" b="1" dirty="0">
                <a:solidFill>
                  <a:schemeClr val="bg2"/>
                </a:solidFill>
                <a:latin typeface="华文楷体" panose="02010600040101010101" charset="-122"/>
                <a:ea typeface="华文楷体" panose="02010600040101010101" charset="-122"/>
                <a:cs typeface="华文楷体" panose="02010600040101010101" charset="-122"/>
                <a:sym typeface="+mn-ea"/>
              </a:rPr>
              <a:t>11</a:t>
            </a:r>
            <a:r>
              <a:rPr lang="zh-CN" altLang="en-US" sz="2400" b="1" dirty="0">
                <a:solidFill>
                  <a:schemeClr val="bg2"/>
                </a:solidFill>
                <a:latin typeface="华文楷体" panose="02010600040101010101" charset="-122"/>
                <a:ea typeface="华文楷体" panose="02010600040101010101" charset="-122"/>
                <a:cs typeface="华文楷体" panose="02010600040101010101" charset="-122"/>
                <a:sym typeface="+mn-ea"/>
              </a:rPr>
              <a:t>位均匀量化码，以产生权值。</a:t>
            </a:r>
            <a:endParaRPr lang="zh-CN" altLang="en-US" sz="2400" b="1" dirty="0">
              <a:solidFill>
                <a:schemeClr val="bg2"/>
              </a:solidFill>
              <a:latin typeface="华文楷体" panose="02010600040101010101" charset="-122"/>
              <a:ea typeface="华文楷体" panose="02010600040101010101" charset="-122"/>
              <a:cs typeface="华文楷体" panose="02010600040101010101" charset="-122"/>
              <a:sym typeface="+mn-ea"/>
            </a:endParaRPr>
          </a:p>
        </p:txBody>
      </p:sp>
      <p:sp>
        <p:nvSpPr>
          <p:cNvPr id="56331" name="矩形 10"/>
          <p:cNvSpPr/>
          <p:nvPr>
            <p:custDataLst>
              <p:tags r:id="rId6"/>
            </p:custDataLst>
          </p:nvPr>
        </p:nvSpPr>
        <p:spPr>
          <a:xfrm>
            <a:off x="695325" y="1700530"/>
            <a:ext cx="6453505" cy="398780"/>
          </a:xfrm>
          <a:prstGeom prst="rect">
            <a:avLst/>
          </a:prstGeom>
          <a:noFill/>
          <a:ln w="9525">
            <a:noFill/>
          </a:ln>
        </p:spPr>
        <p:txBody>
          <a:bodyPr wrap="square">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spcBef>
                <a:spcPct val="0"/>
              </a:spcBef>
              <a:buClrTx/>
              <a:buSzTx/>
              <a:buFont typeface="Arial" panose="020B0604020202090204" pitchFamily="34" charset="0"/>
              <a:buNone/>
            </a:pPr>
            <a:r>
              <a:rPr lang="zh-CN" altLang="en-US" sz="2000" b="1" dirty="0">
                <a:solidFill>
                  <a:srgbClr val="003399"/>
                </a:solidFill>
                <a:latin typeface="微软雅黑" panose="020B0503020204020204" pitchFamily="34" charset="-122"/>
                <a:ea typeface="微软雅黑" panose="020B0503020204020204" pitchFamily="34" charset="-122"/>
                <a:sym typeface="微软雅黑" panose="020B0503020204020204" pitchFamily="34" charset="-122"/>
              </a:rPr>
              <a:t>任务</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000" dirty="0">
                <a:solidFill>
                  <a:srgbClr val="003399"/>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把每个样值脉冲编出相应的 </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8 </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位二进码。</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nvSpPr>
        <p:spPr>
          <a:xfrm>
            <a:off x="389255" y="1124585"/>
            <a:ext cx="5068570" cy="521970"/>
          </a:xfrm>
          <a:prstGeom prst="rect">
            <a:avLst/>
          </a:prstGeom>
          <a:noFill/>
        </p:spPr>
        <p:txBody>
          <a:bodyPr wrap="square" rtlCol="0" anchor="t">
            <a:spAutoFit/>
          </a:bodyPr>
          <a:p>
            <a:r>
              <a:rPr lang="zh-CN" altLang="en-US" sz="2800" dirty="0">
                <a:solidFill>
                  <a:srgbClr val="FF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逐次比较型编码器：</a:t>
            </a:r>
            <a:endParaRPr lang="zh-CN" altLang="en-US" sz="2800" dirty="0">
              <a:solidFill>
                <a:srgbClr val="FF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圆角矩形 6"/>
          <p:cNvSpPr/>
          <p:nvPr>
            <p:custDataLst>
              <p:tags r:id="rId2"/>
            </p:custDataLst>
          </p:nvPr>
        </p:nvSpPr>
        <p:spPr>
          <a:xfrm>
            <a:off x="4388803" y="3868420"/>
            <a:ext cx="3214687" cy="1000125"/>
          </a:xfrm>
          <a:prstGeom prst="roundRect">
            <a:avLst>
              <a:gd name="adj" fmla="val 16667"/>
            </a:avLst>
          </a:prstGeom>
          <a:solidFill>
            <a:srgbClr val="F2F2F2"/>
          </a:solidFill>
          <a:ln w="9525">
            <a:noFill/>
          </a:ln>
        </p:spPr>
        <p:txBody>
          <a:bodyPr anchor="ctr" anchorCtr="0"/>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algn="ctr" defTabSz="914400">
              <a:spcBef>
                <a:spcPct val="0"/>
              </a:spcBef>
              <a:buClrTx/>
              <a:buSzTx/>
              <a:buFont typeface="Arial" panose="020B0604020202090204" pitchFamily="34" charset="0"/>
              <a:buNone/>
            </a:pPr>
            <a:endParaRPr lang="zh-CN" altLang="zh-CN" sz="1800" dirty="0">
              <a:solidFill>
                <a:srgbClr val="FFFFFF"/>
              </a:solidFill>
              <a:latin typeface="华文楷体" panose="02010600040101010101" charset="-122"/>
              <a:ea typeface="华文楷体" panose="02010600040101010101" charset="-122"/>
            </a:endParaRPr>
          </a:p>
        </p:txBody>
      </p:sp>
      <p:sp>
        <p:nvSpPr>
          <p:cNvPr id="57347" name="内容占位符 2"/>
          <p:cNvSpPr>
            <a:spLocks noGrp="1"/>
          </p:cNvSpPr>
          <p:nvPr>
            <p:ph idx="1"/>
            <p:custDataLst>
              <p:tags r:id="rId3"/>
            </p:custDataLst>
          </p:nvPr>
        </p:nvSpPr>
        <p:spPr>
          <a:xfrm>
            <a:off x="1703070" y="1196975"/>
            <a:ext cx="10121900" cy="5243195"/>
          </a:xfrm>
        </p:spPr>
        <p:txBody>
          <a:bodyPr vert="horz" wrap="square" lIns="91440" tIns="45720" rIns="91440" bIns="45720" anchor="t" anchorCtr="0"/>
          <a:p>
            <a:pPr marL="342900" indent="-342900" algn="l" defTabSz="0" eaLnBrk="1" hangingPunct="1">
              <a:lnSpc>
                <a:spcPts val="3800"/>
              </a:lnSpc>
              <a:buClr>
                <a:srgbClr val="7F7F7F"/>
              </a:buClr>
              <a:buSzPct val="94000"/>
              <a:buFont typeface="Wingdings" panose="05000000000000000000" pitchFamily="2" charset="2"/>
              <a:buChar char="Ø"/>
            </a:pPr>
            <a:r>
              <a:rPr lang="zh-CN" altLang="en-US" sz="2000" b="1" kern="1200" dirty="0">
                <a:cs typeface="华文楷体" panose="02010600040101010101" charset="-122"/>
                <a:sym typeface="微软雅黑" panose="020B0503020204020204" pitchFamily="34" charset="-122"/>
              </a:rPr>
              <a:t>极性判决</a:t>
            </a:r>
            <a:r>
              <a:rPr lang="zh-CN" altLang="en-US" sz="2000" kern="1200" dirty="0">
                <a:cs typeface="华文楷体" panose="02010600040101010101" charset="-122"/>
                <a:sym typeface="宋体" pitchFamily="2" charset="-122"/>
              </a:rPr>
              <a:t>：</a:t>
            </a:r>
            <a:r>
              <a:rPr lang="zh-CN" altLang="en-US" sz="2000" kern="1200" dirty="0">
                <a:cs typeface="华文楷体" panose="02010600040101010101" charset="-122"/>
                <a:sym typeface="微软雅黑" panose="020B0503020204020204" pitchFamily="34" charset="-122"/>
              </a:rPr>
              <a:t>确定样值信号的极性</a:t>
            </a:r>
            <a:r>
              <a:rPr lang="zh-CN" altLang="en-US" sz="2000" kern="1200" dirty="0">
                <a:cs typeface="华文楷体" panose="02010600040101010101" charset="-122"/>
                <a:sym typeface="宋体" pitchFamily="2" charset="-122"/>
              </a:rPr>
              <a:t>，</a:t>
            </a:r>
            <a:r>
              <a:rPr lang="zh-CN" altLang="en-US" sz="2000" kern="1200" dirty="0">
                <a:cs typeface="华文楷体" panose="02010600040101010101" charset="-122"/>
                <a:sym typeface="微软雅黑" panose="020B0503020204020204" pitchFamily="34" charset="-122"/>
              </a:rPr>
              <a:t>编出极性码</a:t>
            </a:r>
            <a:r>
              <a:rPr lang="zh-CN" altLang="en-US" sz="2000" kern="1200" dirty="0">
                <a:cs typeface="华文楷体" panose="02010600040101010101" charset="-122"/>
                <a:sym typeface="宋体" pitchFamily="2" charset="-122"/>
              </a:rPr>
              <a:t>：</a:t>
            </a:r>
            <a:endParaRPr lang="zh-CN" altLang="en-US" sz="2000" kern="1200" dirty="0">
              <a:cs typeface="华文楷体" panose="02010600040101010101" charset="-122"/>
              <a:sym typeface="微软雅黑" panose="020B0503020204020204" pitchFamily="34" charset="-122"/>
            </a:endParaRPr>
          </a:p>
          <a:p>
            <a:pPr marL="342900" indent="-342900" algn="l" defTabSz="0" eaLnBrk="1" hangingPunct="1">
              <a:lnSpc>
                <a:spcPts val="3800"/>
              </a:lnSpc>
              <a:buClr>
                <a:srgbClr val="7F7F7F"/>
              </a:buClr>
              <a:buSzPct val="94000"/>
              <a:buFont typeface="Wingdings" panose="05000000000000000000" pitchFamily="2" charset="2"/>
              <a:buChar char="Ø"/>
            </a:pPr>
            <a:r>
              <a:rPr lang="zh-CN" altLang="en-US" sz="2000" b="1" kern="1200" dirty="0">
                <a:cs typeface="华文楷体" panose="02010600040101010101" charset="-122"/>
                <a:sym typeface="微软雅黑" panose="020B0503020204020204" pitchFamily="34" charset="-122"/>
              </a:rPr>
              <a:t>整流器</a:t>
            </a:r>
            <a:r>
              <a:rPr lang="zh-CN" altLang="en-US" sz="2000" kern="1200" dirty="0">
                <a:cs typeface="华文楷体" panose="02010600040101010101" charset="-122"/>
                <a:sym typeface="宋体" pitchFamily="2" charset="-122"/>
              </a:rPr>
              <a:t>：</a:t>
            </a:r>
            <a:r>
              <a:rPr lang="zh-CN" altLang="en-US" sz="2000" dirty="0">
                <a:solidFill>
                  <a:srgbClr val="000000"/>
                </a:solidFill>
                <a:cs typeface="Times New Roman" panose="02020603050405020304" pitchFamily="18" charset="0"/>
                <a:sym typeface="+mn-ea"/>
              </a:rPr>
              <a:t>将双极性的抽样值脉冲变成单极性脉冲</a:t>
            </a:r>
            <a:r>
              <a:rPr lang="zh-CN" altLang="en-US" sz="2000" kern="1200" dirty="0">
                <a:cs typeface="华文楷体" panose="02010600040101010101" charset="-122"/>
                <a:sym typeface="微软雅黑" panose="020B0503020204020204" pitchFamily="34" charset="-122"/>
              </a:rPr>
              <a:t>（样值的幅度大小）。</a:t>
            </a:r>
            <a:endParaRPr lang="zh-CN" altLang="en-US" sz="2000" kern="1200" dirty="0">
              <a:cs typeface="华文楷体" panose="02010600040101010101" charset="-122"/>
              <a:sym typeface="微软雅黑" panose="020B0503020204020204" pitchFamily="34" charset="-122"/>
            </a:endParaRPr>
          </a:p>
          <a:p>
            <a:pPr marL="342900" indent="-342900" algn="l" defTabSz="0" eaLnBrk="1" hangingPunct="1">
              <a:lnSpc>
                <a:spcPts val="3800"/>
              </a:lnSpc>
              <a:buClr>
                <a:srgbClr val="7F7F7F"/>
              </a:buClr>
              <a:buSzPct val="94000"/>
              <a:buFont typeface="Wingdings" panose="05000000000000000000" pitchFamily="2" charset="2"/>
              <a:buChar char="Ø"/>
            </a:pPr>
            <a:r>
              <a:rPr lang="zh-CN" altLang="en-US" sz="2000" b="1" kern="1200" dirty="0">
                <a:cs typeface="华文楷体" panose="02010600040101010101" charset="-122"/>
                <a:sym typeface="微软雅黑" panose="020B0503020204020204" pitchFamily="34" charset="-122"/>
              </a:rPr>
              <a:t>保持电路</a:t>
            </a:r>
            <a:r>
              <a:rPr lang="zh-CN" altLang="en-US" sz="2000" kern="1200" dirty="0">
                <a:cs typeface="华文楷体" panose="02010600040101010101" charset="-122"/>
                <a:sym typeface="宋体" pitchFamily="2" charset="-122"/>
              </a:rPr>
              <a:t>：</a:t>
            </a:r>
            <a:r>
              <a:rPr lang="zh-CN" altLang="en-US" sz="2000" kern="1200" dirty="0">
                <a:cs typeface="华文楷体" panose="02010600040101010101" charset="-122"/>
                <a:sym typeface="微软雅黑" panose="020B0503020204020204" pitchFamily="34" charset="-122"/>
              </a:rPr>
              <a:t>使每个样值的幅度在 </a:t>
            </a:r>
            <a:r>
              <a:rPr lang="en-US" altLang="zh-CN" sz="2000" kern="1200" dirty="0">
                <a:solidFill>
                  <a:srgbClr val="FF0000"/>
                </a:solidFill>
                <a:cs typeface="华文楷体" panose="02010600040101010101" charset="-122"/>
                <a:sym typeface="微软雅黑" panose="020B0503020204020204" pitchFamily="34" charset="-122"/>
              </a:rPr>
              <a:t>7</a:t>
            </a:r>
            <a:r>
              <a:rPr lang="en-US" altLang="zh-CN" sz="2000" kern="1200" dirty="0">
                <a:cs typeface="华文楷体" panose="02010600040101010101" charset="-122"/>
                <a:sym typeface="微软雅黑" panose="020B0503020204020204" pitchFamily="34" charset="-122"/>
              </a:rPr>
              <a:t> </a:t>
            </a:r>
            <a:r>
              <a:rPr lang="zh-CN" altLang="en-US" sz="2000" kern="1200" dirty="0">
                <a:cs typeface="华文楷体" panose="02010600040101010101" charset="-122"/>
                <a:sym typeface="微软雅黑" panose="020B0503020204020204" pitchFamily="34" charset="-122"/>
              </a:rPr>
              <a:t>次比较编码过程中保持不变。</a:t>
            </a:r>
            <a:endParaRPr lang="zh-CN" altLang="en-US" sz="2000" kern="1200" dirty="0">
              <a:cs typeface="华文楷体" panose="02010600040101010101" charset="-122"/>
              <a:sym typeface="微软雅黑" panose="020B0503020204020204" pitchFamily="34" charset="-122"/>
            </a:endParaRPr>
          </a:p>
          <a:p>
            <a:pPr marL="342900" indent="-342900" algn="l" defTabSz="0" eaLnBrk="1" hangingPunct="1">
              <a:lnSpc>
                <a:spcPts val="3800"/>
              </a:lnSpc>
              <a:buClr>
                <a:srgbClr val="7F7F7F"/>
              </a:buClr>
              <a:buSzPct val="94000"/>
              <a:buFont typeface="Wingdings" panose="05000000000000000000" pitchFamily="2" charset="2"/>
              <a:buChar char="Ø"/>
            </a:pPr>
            <a:r>
              <a:rPr lang="zh-CN" altLang="en-US" sz="2000" b="1" kern="1200" dirty="0">
                <a:solidFill>
                  <a:srgbClr val="003399"/>
                </a:solidFill>
                <a:cs typeface="华文楷体" panose="02010600040101010101" charset="-122"/>
                <a:sym typeface="微软雅黑" panose="020B0503020204020204" pitchFamily="34" charset="-122"/>
              </a:rPr>
              <a:t>比较器</a:t>
            </a:r>
            <a:r>
              <a:rPr lang="zh-CN" altLang="en-US" sz="2000" kern="1200" dirty="0">
                <a:solidFill>
                  <a:srgbClr val="FF0000"/>
                </a:solidFill>
                <a:cs typeface="华文楷体" panose="02010600040101010101" charset="-122"/>
                <a:sym typeface="微软雅黑" panose="020B0503020204020204" pitchFamily="34" charset="-122"/>
              </a:rPr>
              <a:t>（核心）</a:t>
            </a:r>
            <a:r>
              <a:rPr lang="zh-CN" altLang="en-US" sz="2000" kern="1200" dirty="0">
                <a:solidFill>
                  <a:srgbClr val="003399"/>
                </a:solidFill>
                <a:cs typeface="华文楷体" panose="02010600040101010101" charset="-122"/>
                <a:sym typeface="宋体" pitchFamily="2" charset="-122"/>
              </a:rPr>
              <a:t>：</a:t>
            </a:r>
            <a:r>
              <a:rPr lang="zh-CN" altLang="en-US" sz="2000" kern="1200" dirty="0">
                <a:cs typeface="华文楷体" panose="02010600040101010101" charset="-122"/>
                <a:sym typeface="微软雅黑" panose="020B0503020204020204" pitchFamily="34" charset="-122"/>
              </a:rPr>
              <a:t>将样值电流 </a:t>
            </a:r>
            <a:r>
              <a:rPr lang="en-US" altLang="zh-CN" sz="2000" b="1" kern="1200" dirty="0">
                <a:solidFill>
                  <a:srgbClr val="3333CC"/>
                </a:solidFill>
                <a:cs typeface="华文楷体" panose="02010600040101010101" charset="-122"/>
                <a:sym typeface="微软雅黑" panose="020B0503020204020204" pitchFamily="34" charset="-122"/>
              </a:rPr>
              <a:t>Is</a:t>
            </a:r>
            <a:r>
              <a:rPr lang="zh-CN" altLang="en-US" sz="2000" kern="1200" dirty="0">
                <a:cs typeface="华文楷体" panose="02010600040101010101" charset="-122"/>
                <a:sym typeface="微软雅黑" panose="020B0503020204020204" pitchFamily="34" charset="-122"/>
              </a:rPr>
              <a:t>与标准电流 </a:t>
            </a:r>
            <a:r>
              <a:rPr lang="en-US" altLang="zh-CN" sz="2000" b="1" kern="1200" dirty="0">
                <a:solidFill>
                  <a:srgbClr val="3333CC"/>
                </a:solidFill>
                <a:cs typeface="华文楷体" panose="02010600040101010101" charset="-122"/>
                <a:sym typeface="微软雅黑" panose="020B0503020204020204" pitchFamily="34" charset="-122"/>
              </a:rPr>
              <a:t>Iw</a:t>
            </a:r>
            <a:r>
              <a:rPr lang="zh-CN" altLang="en-US" sz="2000" kern="1200" dirty="0">
                <a:cs typeface="华文楷体" panose="02010600040101010101" charset="-122"/>
                <a:sym typeface="微软雅黑" panose="020B0503020204020204" pitchFamily="34" charset="-122"/>
              </a:rPr>
              <a:t>  进行</a:t>
            </a:r>
            <a:r>
              <a:rPr lang="zh-CN" altLang="en-US" sz="2000" b="1" kern="1200" dirty="0">
                <a:cs typeface="华文楷体" panose="02010600040101010101" charset="-122"/>
                <a:sym typeface="微软雅黑" panose="020B0503020204020204" pitchFamily="34" charset="-122"/>
              </a:rPr>
              <a:t>逐次</a:t>
            </a:r>
            <a:r>
              <a:rPr lang="zh-CN" altLang="en-US" sz="2000" kern="1200" dirty="0">
                <a:cs typeface="华文楷体" panose="02010600040101010101" charset="-122"/>
                <a:sym typeface="微软雅黑" panose="020B0503020204020204" pitchFamily="34" charset="-122"/>
              </a:rPr>
              <a:t>比较，</a:t>
            </a:r>
            <a:endParaRPr lang="en-US" altLang="zh-CN" sz="2000" kern="1200" dirty="0">
              <a:cs typeface="华文楷体" panose="02010600040101010101" charset="-122"/>
              <a:sym typeface="微软雅黑" panose="020B0503020204020204" pitchFamily="34" charset="-122"/>
            </a:endParaRPr>
          </a:p>
          <a:p>
            <a:pPr marL="342900" indent="-342900" algn="l" defTabSz="0" eaLnBrk="1" hangingPunct="1">
              <a:lnSpc>
                <a:spcPts val="3800"/>
              </a:lnSpc>
              <a:buClr>
                <a:srgbClr val="7F7F7F"/>
              </a:buClr>
              <a:buSzPct val="94000"/>
            </a:pPr>
            <a:r>
              <a:rPr lang="en-US" altLang="zh-CN" sz="2000" kern="1200" dirty="0">
                <a:cs typeface="华文楷体" panose="02010600040101010101" charset="-122"/>
                <a:sym typeface="微软雅黑" panose="020B0503020204020204" pitchFamily="34" charset="-122"/>
              </a:rPr>
              <a:t>     </a:t>
            </a:r>
            <a:r>
              <a:rPr lang="zh-CN" altLang="en-US" sz="2000" kern="1200" dirty="0">
                <a:cs typeface="华文楷体" panose="02010600040101010101" charset="-122"/>
                <a:sym typeface="微软雅黑" panose="020B0503020204020204" pitchFamily="34" charset="-122"/>
              </a:rPr>
              <a:t>使</a:t>
            </a:r>
            <a:r>
              <a:rPr lang="en-US" altLang="zh-CN" sz="2000" b="1" kern="1200" dirty="0">
                <a:solidFill>
                  <a:srgbClr val="0000CC"/>
                </a:solidFill>
                <a:cs typeface="华文楷体" panose="02010600040101010101" charset="-122"/>
                <a:sym typeface="微软雅黑" panose="020B0503020204020204" pitchFamily="34" charset="-122"/>
              </a:rPr>
              <a:t>Iw</a:t>
            </a:r>
            <a:r>
              <a:rPr lang="zh-CN" altLang="en-US" sz="2000" kern="1200" dirty="0">
                <a:solidFill>
                  <a:srgbClr val="990099"/>
                </a:solidFill>
                <a:cs typeface="华文楷体" panose="02010600040101010101" charset="-122"/>
                <a:sym typeface="Arial" panose="020B0604020202090204" pitchFamily="34" charset="0"/>
              </a:rPr>
              <a:t>向</a:t>
            </a:r>
            <a:r>
              <a:rPr lang="en-US" altLang="zh-CN" sz="2000" b="1" kern="1200" dirty="0">
                <a:solidFill>
                  <a:srgbClr val="0000CC"/>
                </a:solidFill>
                <a:cs typeface="华文楷体" panose="02010600040101010101" charset="-122"/>
                <a:sym typeface="微软雅黑" panose="020B0503020204020204" pitchFamily="34" charset="-122"/>
              </a:rPr>
              <a:t>Is</a:t>
            </a:r>
            <a:r>
              <a:rPr lang="zh-CN" altLang="en-US" sz="2000" kern="1200" dirty="0">
                <a:solidFill>
                  <a:srgbClr val="990099"/>
                </a:solidFill>
                <a:cs typeface="华文楷体" panose="02010600040101010101" charset="-122"/>
                <a:sym typeface="微软雅黑" panose="020B0503020204020204" pitchFamily="34" charset="-122"/>
              </a:rPr>
              <a:t>逐步</a:t>
            </a:r>
            <a:r>
              <a:rPr lang="zh-CN" altLang="en-US" sz="2000" kern="1200" dirty="0">
                <a:solidFill>
                  <a:srgbClr val="990099"/>
                </a:solidFill>
                <a:cs typeface="华文楷体" panose="02010600040101010101" charset="-122"/>
                <a:sym typeface="Arial" panose="020B0604020202090204" pitchFamily="34" charset="0"/>
              </a:rPr>
              <a:t>逼近</a:t>
            </a:r>
            <a:r>
              <a:rPr lang="zh-CN" altLang="en-US" sz="2000" kern="1200" dirty="0">
                <a:cs typeface="华文楷体" panose="02010600040101010101" charset="-122"/>
                <a:sym typeface="Arial" panose="020B0604020202090204" pitchFamily="34" charset="0"/>
              </a:rPr>
              <a:t>，从而</a:t>
            </a:r>
            <a:r>
              <a:rPr lang="zh-CN" altLang="en-US" sz="2000" kern="1200" dirty="0">
                <a:cs typeface="华文楷体" panose="02010600040101010101" charset="-122"/>
                <a:sym typeface="微软雅黑" panose="020B0503020204020204" pitchFamily="34" charset="-122"/>
              </a:rPr>
              <a:t>实现对信号抽样值的</a:t>
            </a:r>
            <a:r>
              <a:rPr lang="zh-CN" altLang="en-US" sz="2000" kern="1200" dirty="0">
                <a:solidFill>
                  <a:srgbClr val="FF0000"/>
                </a:solidFill>
                <a:cs typeface="华文楷体" panose="02010600040101010101" charset="-122"/>
                <a:sym typeface="微软雅黑" panose="020B0503020204020204" pitchFamily="34" charset="-122"/>
              </a:rPr>
              <a:t>非均匀量化和编码。</a:t>
            </a:r>
            <a:endParaRPr lang="zh-CN" altLang="en-US" sz="2000" kern="1200" dirty="0">
              <a:cs typeface="华文楷体" panose="02010600040101010101" charset="-122"/>
              <a:sym typeface="宋体" pitchFamily="2" charset="-122"/>
            </a:endParaRPr>
          </a:p>
          <a:p>
            <a:pPr marL="342900" indent="-342900" algn="l" defTabSz="0" eaLnBrk="1" hangingPunct="1">
              <a:lnSpc>
                <a:spcPts val="3200"/>
              </a:lnSpc>
              <a:buClr>
                <a:srgbClr val="7F7F7F"/>
              </a:buClr>
              <a:buSzPct val="94000"/>
            </a:pPr>
            <a:r>
              <a:rPr lang="zh-CN" altLang="en-US" sz="2000" kern="1200" dirty="0">
                <a:cs typeface="华文楷体" panose="02010600040101010101" charset="-122"/>
                <a:sym typeface="微软雅黑" panose="020B0503020204020204" pitchFamily="34" charset="-122"/>
              </a:rPr>
              <a:t>                                     </a:t>
            </a:r>
            <a:r>
              <a:rPr lang="zh-CN" altLang="en-US" sz="2000" kern="1200" dirty="0">
                <a:solidFill>
                  <a:srgbClr val="003399"/>
                </a:solidFill>
                <a:cs typeface="华文楷体" panose="02010600040101010101" charset="-122"/>
                <a:sym typeface="微软雅黑" panose="020B0503020204020204" pitchFamily="34" charset="-122"/>
              </a:rPr>
              <a:t>若 </a:t>
            </a:r>
            <a:r>
              <a:rPr lang="en-US" altLang="zh-CN" sz="2000" b="1" kern="1200" dirty="0">
                <a:solidFill>
                  <a:srgbClr val="003399"/>
                </a:solidFill>
                <a:cs typeface="华文楷体" panose="02010600040101010101" charset="-122"/>
                <a:sym typeface="微软雅黑" panose="020B0503020204020204" pitchFamily="34" charset="-122"/>
              </a:rPr>
              <a:t>Is</a:t>
            </a:r>
            <a:r>
              <a:rPr lang="zh-CN" altLang="en-US" b="1" kern="1200" dirty="0">
                <a:solidFill>
                  <a:srgbClr val="003399"/>
                </a:solidFill>
                <a:cs typeface="华文楷体" panose="02010600040101010101" charset="-122"/>
                <a:sym typeface="微软雅黑" panose="020B0503020204020204" pitchFamily="34" charset="-122"/>
              </a:rPr>
              <a:t>＞</a:t>
            </a:r>
            <a:r>
              <a:rPr lang="en-US" altLang="zh-CN" sz="2000" b="1" kern="1200" dirty="0">
                <a:solidFill>
                  <a:srgbClr val="003399"/>
                </a:solidFill>
                <a:cs typeface="华文楷体" panose="02010600040101010101" charset="-122"/>
                <a:sym typeface="微软雅黑" panose="020B0503020204020204" pitchFamily="34" charset="-122"/>
              </a:rPr>
              <a:t>Iw</a:t>
            </a:r>
            <a:r>
              <a:rPr lang="zh-CN" altLang="en-US" sz="2000" b="1" kern="1200" dirty="0">
                <a:solidFill>
                  <a:srgbClr val="003399"/>
                </a:solidFill>
                <a:cs typeface="华文楷体" panose="02010600040101010101" charset="-122"/>
                <a:sym typeface="微软雅黑" panose="020B0503020204020204" pitchFamily="34" charset="-122"/>
              </a:rPr>
              <a:t>，</a:t>
            </a:r>
            <a:r>
              <a:rPr lang="zh-CN" altLang="en-US" sz="2000" kern="1200" dirty="0">
                <a:solidFill>
                  <a:srgbClr val="003399"/>
                </a:solidFill>
                <a:cs typeface="华文楷体" panose="02010600040101010101" charset="-122"/>
                <a:sym typeface="微软雅黑" panose="020B0503020204020204" pitchFamily="34" charset="-122"/>
              </a:rPr>
              <a:t>输出</a:t>
            </a:r>
            <a:r>
              <a:rPr lang="zh-CN" altLang="en-US" sz="2000" b="1" kern="1200" dirty="0">
                <a:solidFill>
                  <a:srgbClr val="003399"/>
                </a:solidFill>
                <a:cs typeface="华文楷体" panose="02010600040101010101" charset="-122"/>
                <a:sym typeface="微软雅黑" panose="020B0503020204020204" pitchFamily="34" charset="-122"/>
              </a:rPr>
              <a:t>“</a:t>
            </a:r>
            <a:r>
              <a:rPr lang="en-US" altLang="zh-CN" sz="2000" b="1" kern="1200" dirty="0">
                <a:solidFill>
                  <a:srgbClr val="003399"/>
                </a:solidFill>
                <a:cs typeface="华文楷体" panose="02010600040101010101" charset="-122"/>
                <a:sym typeface="微软雅黑" panose="020B0503020204020204" pitchFamily="34" charset="-122"/>
              </a:rPr>
              <a:t>1”</a:t>
            </a:r>
            <a:r>
              <a:rPr lang="zh-CN" altLang="en-US" sz="2000" kern="1200" dirty="0">
                <a:solidFill>
                  <a:srgbClr val="003399"/>
                </a:solidFill>
                <a:cs typeface="华文楷体" panose="02010600040101010101" charset="-122"/>
                <a:sym typeface="微软雅黑" panose="020B0503020204020204" pitchFamily="34" charset="-122"/>
              </a:rPr>
              <a:t>码</a:t>
            </a:r>
            <a:endParaRPr lang="en-US" altLang="zh-CN" sz="2000" b="1" kern="1200" dirty="0">
              <a:solidFill>
                <a:srgbClr val="003399"/>
              </a:solidFill>
              <a:cs typeface="华文楷体" panose="02010600040101010101" charset="-122"/>
              <a:sym typeface="微软雅黑" panose="020B0503020204020204" pitchFamily="34" charset="-122"/>
            </a:endParaRPr>
          </a:p>
          <a:p>
            <a:pPr marL="342900" indent="-342900" algn="l" defTabSz="0" eaLnBrk="1" hangingPunct="1">
              <a:lnSpc>
                <a:spcPts val="3200"/>
              </a:lnSpc>
              <a:buClr>
                <a:srgbClr val="7F7F7F"/>
              </a:buClr>
              <a:buSzPct val="94000"/>
            </a:pPr>
            <a:r>
              <a:rPr lang="en-US" altLang="zh-CN" sz="2000" kern="1200" dirty="0">
                <a:solidFill>
                  <a:srgbClr val="003399"/>
                </a:solidFill>
                <a:cs typeface="华文楷体" panose="02010600040101010101" charset="-122"/>
                <a:sym typeface="微软雅黑" panose="020B0503020204020204" pitchFamily="34" charset="-122"/>
              </a:rPr>
              <a:t>                                     </a:t>
            </a:r>
            <a:r>
              <a:rPr lang="zh-CN" altLang="en-US" sz="2000" kern="1200" dirty="0">
                <a:solidFill>
                  <a:srgbClr val="003399"/>
                </a:solidFill>
                <a:cs typeface="华文楷体" panose="02010600040101010101" charset="-122"/>
                <a:sym typeface="微软雅黑" panose="020B0503020204020204" pitchFamily="34" charset="-122"/>
              </a:rPr>
              <a:t>若 </a:t>
            </a:r>
            <a:r>
              <a:rPr lang="en-US" altLang="zh-CN" sz="2000" b="1" kern="1200" dirty="0">
                <a:solidFill>
                  <a:srgbClr val="003399"/>
                </a:solidFill>
                <a:cs typeface="华文楷体" panose="02010600040101010101" charset="-122"/>
                <a:sym typeface="微软雅黑" panose="020B0503020204020204" pitchFamily="34" charset="-122"/>
              </a:rPr>
              <a:t>Is</a:t>
            </a:r>
            <a:r>
              <a:rPr lang="zh-CN" altLang="en-US" b="1" kern="1200" dirty="0">
                <a:solidFill>
                  <a:srgbClr val="003399"/>
                </a:solidFill>
                <a:cs typeface="华文楷体" panose="02010600040101010101" charset="-122"/>
                <a:sym typeface="微软雅黑" panose="020B0503020204020204" pitchFamily="34" charset="-122"/>
              </a:rPr>
              <a:t>＜</a:t>
            </a:r>
            <a:r>
              <a:rPr lang="en-US" altLang="zh-CN" sz="2000" b="1" kern="1200" dirty="0">
                <a:solidFill>
                  <a:srgbClr val="003399"/>
                </a:solidFill>
                <a:cs typeface="华文楷体" panose="02010600040101010101" charset="-122"/>
                <a:sym typeface="微软雅黑" panose="020B0503020204020204" pitchFamily="34" charset="-122"/>
              </a:rPr>
              <a:t>Iw</a:t>
            </a:r>
            <a:r>
              <a:rPr lang="zh-CN" altLang="en-US" sz="2000" b="1" kern="1200" dirty="0">
                <a:solidFill>
                  <a:srgbClr val="003399"/>
                </a:solidFill>
                <a:cs typeface="华文楷体" panose="02010600040101010101" charset="-122"/>
                <a:sym typeface="微软雅黑" panose="020B0503020204020204" pitchFamily="34" charset="-122"/>
              </a:rPr>
              <a:t>，</a:t>
            </a:r>
            <a:r>
              <a:rPr lang="zh-CN" altLang="en-US" sz="2000" kern="1200" dirty="0">
                <a:solidFill>
                  <a:srgbClr val="003399"/>
                </a:solidFill>
                <a:cs typeface="华文楷体" panose="02010600040101010101" charset="-122"/>
                <a:sym typeface="微软雅黑" panose="020B0503020204020204" pitchFamily="34" charset="-122"/>
              </a:rPr>
              <a:t>输出</a:t>
            </a:r>
            <a:r>
              <a:rPr lang="zh-CN" altLang="en-US" sz="2000" b="1" kern="1200" dirty="0">
                <a:solidFill>
                  <a:srgbClr val="003399"/>
                </a:solidFill>
                <a:cs typeface="华文楷体" panose="02010600040101010101" charset="-122"/>
                <a:sym typeface="微软雅黑" panose="020B0503020204020204" pitchFamily="34" charset="-122"/>
              </a:rPr>
              <a:t>“</a:t>
            </a:r>
            <a:r>
              <a:rPr lang="en-US" altLang="zh-CN" sz="2000" b="1" kern="1200" dirty="0">
                <a:solidFill>
                  <a:srgbClr val="003399"/>
                </a:solidFill>
                <a:cs typeface="华文楷体" panose="02010600040101010101" charset="-122"/>
                <a:sym typeface="微软雅黑" panose="020B0503020204020204" pitchFamily="34" charset="-122"/>
              </a:rPr>
              <a:t>0”</a:t>
            </a:r>
            <a:r>
              <a:rPr lang="zh-CN" altLang="en-US" sz="2000" kern="1200" dirty="0">
                <a:solidFill>
                  <a:srgbClr val="003399"/>
                </a:solidFill>
                <a:cs typeface="华文楷体" panose="02010600040101010101" charset="-122"/>
                <a:sym typeface="微软雅黑" panose="020B0503020204020204" pitchFamily="34" charset="-122"/>
              </a:rPr>
              <a:t>码</a:t>
            </a:r>
            <a:endParaRPr lang="zh-CN" altLang="en-US" sz="2000" kern="1200" dirty="0">
              <a:solidFill>
                <a:srgbClr val="003399"/>
              </a:solidFill>
              <a:cs typeface="华文楷体" panose="02010600040101010101" charset="-122"/>
              <a:sym typeface="微软雅黑" panose="020B0503020204020204" pitchFamily="34" charset="-122"/>
            </a:endParaRPr>
          </a:p>
          <a:p>
            <a:pPr marL="342900" indent="-342900" algn="l" defTabSz="0" eaLnBrk="1" hangingPunct="1">
              <a:lnSpc>
                <a:spcPts val="3800"/>
              </a:lnSpc>
              <a:buClr>
                <a:srgbClr val="7F7F7F"/>
              </a:buClr>
              <a:buSzPct val="94000"/>
              <a:buFont typeface="Wingdings" panose="05000000000000000000" pitchFamily="2" charset="2"/>
              <a:buChar char="Ø"/>
            </a:pPr>
            <a:r>
              <a:rPr lang="zh-CN" altLang="en-US" sz="2000" b="1" kern="1200" dirty="0">
                <a:cs typeface="华文楷体" panose="02010600040101010101" charset="-122"/>
                <a:sym typeface="微软雅黑" panose="020B0503020204020204" pitchFamily="34" charset="-122"/>
              </a:rPr>
              <a:t>记忆电路</a:t>
            </a:r>
            <a:r>
              <a:rPr lang="zh-CN" altLang="en-US" sz="2000" kern="1200" dirty="0">
                <a:cs typeface="华文楷体" panose="02010600040101010101" charset="-122"/>
                <a:sym typeface="微软雅黑" panose="020B0503020204020204" pitchFamily="34" charset="-122"/>
              </a:rPr>
              <a:t>：寄存前面编出的码</a:t>
            </a:r>
            <a:r>
              <a:rPr lang="zh-CN" altLang="en-US" sz="2000" kern="1200" dirty="0">
                <a:cs typeface="华文楷体" panose="02010600040101010101" charset="-122"/>
                <a:sym typeface="宋体" pitchFamily="2" charset="-122"/>
              </a:rPr>
              <a:t>，</a:t>
            </a:r>
            <a:r>
              <a:rPr lang="zh-CN" altLang="en-US" sz="2000" kern="1200" dirty="0">
                <a:cs typeface="华文楷体" panose="02010600040101010101" charset="-122"/>
                <a:sym typeface="微软雅黑" panose="020B0503020204020204" pitchFamily="34" charset="-122"/>
              </a:rPr>
              <a:t>以便确定下一次的标准电流值 </a:t>
            </a:r>
            <a:r>
              <a:rPr lang="en-US" altLang="zh-CN" sz="2000" kern="1200" dirty="0">
                <a:solidFill>
                  <a:srgbClr val="0000CC"/>
                </a:solidFill>
                <a:cs typeface="华文楷体" panose="02010600040101010101" charset="-122"/>
                <a:sym typeface="微软雅黑" panose="020B0503020204020204" pitchFamily="34" charset="-122"/>
              </a:rPr>
              <a:t>Iw</a:t>
            </a:r>
            <a:r>
              <a:rPr lang="zh-CN" altLang="en-US" sz="2000" kern="1200" dirty="0">
                <a:cs typeface="华文楷体" panose="02010600040101010101" charset="-122"/>
                <a:sym typeface="微软雅黑" panose="020B0503020204020204" pitchFamily="34" charset="-122"/>
              </a:rPr>
              <a:t>。</a:t>
            </a:r>
            <a:endParaRPr lang="zh-CN" altLang="en-US" sz="2000" kern="1200" dirty="0">
              <a:cs typeface="华文楷体" panose="02010600040101010101" charset="-122"/>
              <a:sym typeface="微软雅黑" panose="020B0503020204020204" pitchFamily="34" charset="-122"/>
            </a:endParaRPr>
          </a:p>
          <a:p>
            <a:pPr marL="342900" indent="-342900" algn="l" defTabSz="0" eaLnBrk="1" hangingPunct="1">
              <a:lnSpc>
                <a:spcPts val="3800"/>
              </a:lnSpc>
              <a:buClr>
                <a:srgbClr val="7F7F7F"/>
              </a:buClr>
              <a:buSzPct val="94000"/>
              <a:buFont typeface="Wingdings" panose="05000000000000000000" pitchFamily="2" charset="2"/>
              <a:buChar char="Ø"/>
            </a:pPr>
            <a:r>
              <a:rPr lang="en-US" altLang="zh-CN" sz="2000" b="1" kern="1200" dirty="0">
                <a:cs typeface="华文楷体" panose="02010600040101010101" charset="-122"/>
                <a:sym typeface="微软雅黑" panose="020B0503020204020204" pitchFamily="34" charset="-122"/>
              </a:rPr>
              <a:t>7/11</a:t>
            </a:r>
            <a:r>
              <a:rPr lang="zh-CN" altLang="en-US" sz="2000" b="1" kern="1200" dirty="0">
                <a:cs typeface="华文楷体" panose="02010600040101010101" charset="-122"/>
                <a:sym typeface="微软雅黑" panose="020B0503020204020204" pitchFamily="34" charset="-122"/>
              </a:rPr>
              <a:t>变换</a:t>
            </a:r>
            <a:r>
              <a:rPr lang="zh-CN" altLang="en-US" sz="2000" kern="1200" dirty="0">
                <a:cs typeface="华文楷体" panose="02010600040101010101" charset="-122"/>
                <a:sym typeface="微软雅黑" panose="020B0503020204020204" pitchFamily="34" charset="-122"/>
              </a:rPr>
              <a:t>：将 </a:t>
            </a:r>
            <a:r>
              <a:rPr lang="en-US" altLang="zh-CN" sz="2000" kern="1200" dirty="0">
                <a:solidFill>
                  <a:srgbClr val="FF0000"/>
                </a:solidFill>
                <a:cs typeface="华文楷体" panose="02010600040101010101" charset="-122"/>
                <a:sym typeface="Arial" panose="020B0604020202090204" pitchFamily="34" charset="0"/>
              </a:rPr>
              <a:t>7 </a:t>
            </a:r>
            <a:r>
              <a:rPr lang="zh-CN" altLang="en-US" sz="2000" kern="1200" dirty="0">
                <a:cs typeface="华文楷体" panose="02010600040101010101" charset="-122"/>
                <a:sym typeface="微软雅黑" panose="020B0503020204020204" pitchFamily="34" charset="-122"/>
              </a:rPr>
              <a:t>位</a:t>
            </a:r>
            <a:r>
              <a:rPr lang="zh-CN" altLang="en-US" sz="2000" kern="1200" dirty="0">
                <a:solidFill>
                  <a:srgbClr val="FF0000"/>
                </a:solidFill>
                <a:cs typeface="华文楷体" panose="02010600040101010101" charset="-122"/>
                <a:sym typeface="微软雅黑" panose="020B0503020204020204" pitchFamily="34" charset="-122"/>
              </a:rPr>
              <a:t>非线性码</a:t>
            </a:r>
            <a:r>
              <a:rPr lang="zh-CN" altLang="en-US" sz="2000" kern="1200" dirty="0">
                <a:cs typeface="华文楷体" panose="02010600040101010101" charset="-122"/>
                <a:sym typeface="微软雅黑" panose="020B0503020204020204" pitchFamily="34" charset="-122"/>
              </a:rPr>
              <a:t>转换成</a:t>
            </a:r>
            <a:r>
              <a:rPr lang="en-US" altLang="zh-CN" sz="2000" kern="1200" dirty="0">
                <a:cs typeface="华文楷体" panose="02010600040101010101" charset="-122"/>
                <a:sym typeface="微软雅黑" panose="020B0503020204020204" pitchFamily="34" charset="-122"/>
              </a:rPr>
              <a:t> </a:t>
            </a:r>
            <a:r>
              <a:rPr lang="en-US" altLang="zh-CN" sz="2000" kern="1200" dirty="0">
                <a:solidFill>
                  <a:srgbClr val="FF0000"/>
                </a:solidFill>
                <a:cs typeface="华文楷体" panose="02010600040101010101" charset="-122"/>
                <a:sym typeface="Arial" panose="020B0604020202090204" pitchFamily="34" charset="0"/>
              </a:rPr>
              <a:t>11</a:t>
            </a:r>
            <a:r>
              <a:rPr lang="zh-CN" altLang="en-US" sz="2000" kern="1200" dirty="0">
                <a:cs typeface="华文楷体" panose="02010600040101010101" charset="-122"/>
                <a:sym typeface="微软雅黑" panose="020B0503020204020204" pitchFamily="34" charset="-122"/>
              </a:rPr>
              <a:t>位</a:t>
            </a:r>
            <a:r>
              <a:rPr lang="zh-CN" altLang="en-US" sz="2000" kern="1200" dirty="0">
                <a:solidFill>
                  <a:srgbClr val="FF0000"/>
                </a:solidFill>
                <a:cs typeface="华文楷体" panose="02010600040101010101" charset="-122"/>
                <a:sym typeface="微软雅黑" panose="020B0503020204020204" pitchFamily="34" charset="-122"/>
              </a:rPr>
              <a:t>线性码</a:t>
            </a:r>
            <a:r>
              <a:rPr lang="zh-CN" altLang="en-US" sz="2000" kern="1200" dirty="0">
                <a:cs typeface="华文楷体" panose="02010600040101010101" charset="-122"/>
                <a:sym typeface="宋体" pitchFamily="2" charset="-122"/>
              </a:rPr>
              <a:t>，</a:t>
            </a:r>
            <a:r>
              <a:rPr lang="zh-CN" altLang="en-US" sz="2000" kern="1200" dirty="0">
                <a:cs typeface="华文楷体" panose="02010600040101010101" charset="-122"/>
                <a:sym typeface="微软雅黑" panose="020B0503020204020204" pitchFamily="34" charset="-122"/>
              </a:rPr>
              <a:t>以便恒流源产生所需的标准电流  </a:t>
            </a:r>
            <a:r>
              <a:rPr lang="en-US" altLang="zh-CN" sz="2000" kern="1200" dirty="0">
                <a:solidFill>
                  <a:srgbClr val="0000CC"/>
                </a:solidFill>
                <a:cs typeface="华文楷体" panose="02010600040101010101" charset="-122"/>
                <a:sym typeface="微软雅黑" panose="020B0503020204020204" pitchFamily="34" charset="-122"/>
              </a:rPr>
              <a:t>Iw</a:t>
            </a:r>
            <a:r>
              <a:rPr lang="zh-CN" altLang="en-US" sz="2000" kern="1200" dirty="0">
                <a:cs typeface="华文楷体" panose="02010600040101010101" charset="-122"/>
                <a:sym typeface="微软雅黑" panose="020B0503020204020204" pitchFamily="34" charset="-122"/>
              </a:rPr>
              <a:t>。</a:t>
            </a:r>
            <a:endParaRPr lang="en-US" altLang="zh-CN" sz="2000" kern="1200" dirty="0">
              <a:cs typeface="华文楷体" panose="02010600040101010101" charset="-122"/>
              <a:sym typeface="微软雅黑" panose="020B0503020204020204" pitchFamily="34" charset="-122"/>
            </a:endParaRPr>
          </a:p>
        </p:txBody>
      </p:sp>
      <p:pic>
        <p:nvPicPr>
          <p:cNvPr id="4" name="Object 4"/>
          <p:cNvPicPr>
            <a:picLocks noChangeAspect="1"/>
          </p:cNvPicPr>
          <p:nvPr>
            <p:custDataLst>
              <p:tags r:id="rId4"/>
            </p:custDataLst>
          </p:nvPr>
        </p:nvPicPr>
        <p:blipFill>
          <a:blip r:embed="rId5"/>
          <a:stretch>
            <a:fillRect/>
          </a:stretch>
        </p:blipFill>
        <p:spPr>
          <a:xfrm>
            <a:off x="7389495" y="1155700"/>
            <a:ext cx="2143125" cy="652780"/>
          </a:xfrm>
          <a:prstGeom prst="rect">
            <a:avLst/>
          </a:prstGeom>
          <a:solidFill>
            <a:srgbClr val="00E4A8"/>
          </a:solidFill>
          <a:ln w="38100" cap="flat" cmpd="sng">
            <a:solidFill>
              <a:srgbClr val="9999FF"/>
            </a:solidFill>
            <a:prstDash val="solid"/>
            <a:miter/>
            <a:headEnd type="none" w="med" len="med"/>
            <a:tailEnd type="none" w="med" len="med"/>
          </a:ln>
        </p:spPr>
      </p:pic>
      <p:sp>
        <p:nvSpPr>
          <p:cNvPr id="5" name="矩形 6"/>
          <p:cNvSpPr/>
          <p:nvPr>
            <p:custDataLst>
              <p:tags r:id="rId6"/>
            </p:custDataLst>
          </p:nvPr>
        </p:nvSpPr>
        <p:spPr>
          <a:xfrm>
            <a:off x="2031365" y="3812858"/>
            <a:ext cx="2032000" cy="369887"/>
          </a:xfrm>
          <a:prstGeom prst="rect">
            <a:avLst/>
          </a:prstGeom>
          <a:solidFill>
            <a:srgbClr val="E7E7E7"/>
          </a:solidFill>
          <a:ln w="9525">
            <a:noFill/>
          </a:ln>
        </p:spPr>
        <p:txBody>
          <a:bodyPr wrap="none">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zh-CN" altLang="en-US" sz="1800" dirty="0">
                <a:solidFill>
                  <a:srgbClr val="003399"/>
                </a:solidFill>
                <a:latin typeface="华文楷体" panose="02010600040101010101" charset="-122"/>
                <a:ea typeface="华文楷体" panose="02010600040101010101" charset="-122"/>
                <a:sym typeface="Arial" panose="020B0604020202090204" pitchFamily="34" charset="0"/>
              </a:rPr>
              <a:t>类似天平称物过程</a:t>
            </a:r>
            <a:endParaRPr lang="zh-CN" altLang="en-US" sz="1800" dirty="0">
              <a:solidFill>
                <a:srgbClr val="003399"/>
              </a:solidFill>
              <a:latin typeface="华文楷体" panose="02010600040101010101" charset="-122"/>
              <a:ea typeface="华文楷体" panose="02010600040101010101" charset="-122"/>
              <a:sym typeface="Arial" panose="020B0604020202090204"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4" name="Rectangle 20"/>
          <p:cNvSpPr>
            <a:spLocks noGrp="1" noChangeArrowheads="1"/>
          </p:cNvSpPr>
          <p:nvPr>
            <p:ph type="title"/>
            <p:custDataLst>
              <p:tags r:id="rId2"/>
            </p:custDataLst>
          </p:nvPr>
        </p:nvSpPr>
        <p:spPr>
          <a:xfrm>
            <a:off x="623570" y="772097"/>
            <a:ext cx="5486400" cy="533400"/>
          </a:xfrm>
          <a:noFill/>
        </p:spPr>
        <p:txBody>
          <a:bodyPr/>
          <a:p>
            <a:pPr algn="just">
              <a:spcBef>
                <a:spcPct val="50000"/>
              </a:spcBef>
              <a:buFont typeface="Wingdings" panose="05000000000000000000" pitchFamily="2" charset="2"/>
              <a:buChar char="Ø"/>
            </a:pPr>
            <a:r>
              <a:rPr lang="en-US" altLang="zh-CN" sz="3600" b="1" dirty="0">
                <a:latin typeface="华文楷体" panose="02010600040101010101" charset="-122"/>
                <a:ea typeface="华文楷体" panose="02010600040101010101" charset="-122"/>
                <a:cs typeface="华文楷体" panose="02010600040101010101" charset="-122"/>
              </a:rPr>
              <a:t>A</a:t>
            </a:r>
            <a:r>
              <a:rPr lang="zh-CN" altLang="en-US" sz="3600" b="1" dirty="0">
                <a:latin typeface="华文楷体" panose="02010600040101010101" charset="-122"/>
                <a:ea typeface="华文楷体" panose="02010600040101010101" charset="-122"/>
                <a:cs typeface="华文楷体" panose="02010600040101010101" charset="-122"/>
              </a:rPr>
              <a:t>律</a:t>
            </a:r>
            <a:r>
              <a:rPr lang="en-US" altLang="zh-CN" sz="3600" b="1" dirty="0">
                <a:latin typeface="华文楷体" panose="02010600040101010101" charset="-122"/>
                <a:ea typeface="华文楷体" panose="02010600040101010101" charset="-122"/>
                <a:cs typeface="华文楷体" panose="02010600040101010101" charset="-122"/>
              </a:rPr>
              <a:t>13</a:t>
            </a:r>
            <a:r>
              <a:rPr lang="zh-CN" altLang="en-US" sz="3600" b="1" dirty="0">
                <a:latin typeface="华文楷体" panose="02010600040101010101" charset="-122"/>
                <a:ea typeface="华文楷体" panose="02010600040101010101" charset="-122"/>
                <a:cs typeface="华文楷体" panose="02010600040101010101" charset="-122"/>
              </a:rPr>
              <a:t>折线译码</a:t>
            </a:r>
            <a:endParaRPr lang="zh-CN" altLang="en-US" sz="3600" b="1" dirty="0">
              <a:latin typeface="华文楷体" panose="02010600040101010101" charset="-122"/>
              <a:ea typeface="华文楷体" panose="02010600040101010101" charset="-122"/>
              <a:cs typeface="华文楷体" panose="02010600040101010101" charset="-122"/>
            </a:endParaRPr>
          </a:p>
        </p:txBody>
      </p:sp>
      <mc:AlternateContent xmlns:mc="http://schemas.openxmlformats.org/markup-compatibility/2006">
        <mc:Choice xmlns:a14="http://schemas.microsoft.com/office/drawing/2010/main" Requires="a14">
          <p:sp>
            <p:nvSpPr>
              <p:cNvPr id="4" name="TextBox 4"/>
              <p:cNvSpPr txBox="1"/>
              <p:nvPr>
                <p:custDataLst>
                  <p:tags r:id="rId3"/>
                </p:custDataLst>
              </p:nvPr>
            </p:nvSpPr>
            <p:spPr>
              <a:xfrm>
                <a:off x="407670" y="1196975"/>
                <a:ext cx="11466830" cy="1369060"/>
              </a:xfrm>
              <a:prstGeom prst="rect">
                <a:avLst/>
              </a:prstGeom>
              <a:noFill/>
            </p:spPr>
            <p:txBody>
              <a:bodyPr wrap="square" rtlCol="0">
                <a:noAutofit/>
              </a:bodyPr>
              <a:p>
                <a:pPr marL="285750" indent="-285750">
                  <a:lnSpc>
                    <a:spcPct val="150000"/>
                  </a:lnSpc>
                  <a:buFont typeface="Arial" panose="020B0604020202090204" pitchFamily="34" charset="0"/>
                  <a:buChar char="•"/>
                </a:pPr>
                <a:r>
                  <a:rPr lang="zh-CN" altLang="en-US" sz="2400" b="1" dirty="0">
                    <a:latin typeface="华文楷体" panose="02010600040101010101" charset="-122"/>
                    <a:ea typeface="华文楷体" panose="02010600040101010101" charset="-122"/>
                    <a:cs typeface="华文楷体" panose="02010600040101010101" charset="-122"/>
                  </a:rPr>
                  <a:t>译码时非线性码与线性码之间的关系是</a:t>
                </a:r>
                <a:r>
                  <a:rPr lang="en-US" sz="2400" b="1" dirty="0">
                    <a:latin typeface="华文楷体" panose="02010600040101010101" charset="-122"/>
                    <a:ea typeface="华文楷体" panose="02010600040101010101" charset="-122"/>
                    <a:cs typeface="华文楷体" panose="02010600040101010101" charset="-122"/>
                  </a:rPr>
                  <a:t>7/12</a:t>
                </a:r>
                <a:r>
                  <a:rPr lang="zh-CN" altLang="en-US" sz="2400" b="1" dirty="0">
                    <a:latin typeface="华文楷体" panose="02010600040101010101" charset="-122"/>
                    <a:ea typeface="华文楷体" panose="02010600040101010101" charset="-122"/>
                    <a:cs typeface="华文楷体" panose="02010600040101010101" charset="-122"/>
                  </a:rPr>
                  <a:t>变换关系。右栏</a:t>
                </a:r>
                <a:r>
                  <a:rPr lang="en-US" sz="2400" b="1" i="1" dirty="0">
                    <a:latin typeface="华文楷体" panose="02010600040101010101" charset="-122"/>
                    <a:ea typeface="华文楷体" panose="02010600040101010101" charset="-122"/>
                    <a:cs typeface="华文楷体" panose="02010600040101010101" charset="-122"/>
                  </a:rPr>
                  <a:t>M</a:t>
                </a:r>
                <a:r>
                  <a:rPr lang="en-US" sz="2400" b="1" baseline="-25000" dirty="0">
                    <a:latin typeface="华文楷体" panose="02010600040101010101" charset="-122"/>
                    <a:ea typeface="华文楷体" panose="02010600040101010101" charset="-122"/>
                    <a:cs typeface="华文楷体" panose="02010600040101010101" charset="-122"/>
                  </a:rPr>
                  <a:t>8</a:t>
                </a:r>
                <a:r>
                  <a:rPr lang="zh-CN" altLang="en-US" sz="2400" b="1" dirty="0">
                    <a:latin typeface="华文楷体" panose="02010600040101010101" charset="-122"/>
                    <a:ea typeface="华文楷体" panose="02010600040101010101" charset="-122"/>
                    <a:cs typeface="华文楷体" panose="02010600040101010101" charset="-122"/>
                  </a:rPr>
                  <a:t>后的“</a:t>
                </a:r>
                <a:r>
                  <a:rPr lang="en-US" sz="2400" b="1" dirty="0">
                    <a:latin typeface="华文楷体" panose="02010600040101010101" charset="-122"/>
                    <a:ea typeface="华文楷体" panose="02010600040101010101" charset="-122"/>
                    <a:cs typeface="华文楷体" panose="02010600040101010101" charset="-122"/>
                  </a:rPr>
                  <a:t>1”</a:t>
                </a:r>
                <a:r>
                  <a:rPr lang="zh-CN" altLang="en-US" sz="2400" b="1" dirty="0">
                    <a:latin typeface="华文楷体" panose="02010600040101010101" charset="-122"/>
                    <a:ea typeface="华文楷体" panose="02010600040101010101" charset="-122"/>
                    <a:cs typeface="华文楷体" panose="02010600040101010101" charset="-122"/>
                  </a:rPr>
                  <a:t>码对应增加的</a:t>
                </a:r>
                <a14:m>
                  <m:oMath xmlns:m="http://schemas.openxmlformats.org/officeDocument/2006/math">
                    <m:f>
                      <m:fPr>
                        <m:type m:val="lin"/>
                        <m:ctrlPr>
                          <a:rPr lang="en-US" sz="2400" b="1" i="1">
                            <a:effectLst/>
                            <a:latin typeface="DejaVu Math TeX Gyre" panose="02000503000000000000" charset="0"/>
                            <a:ea typeface="华文楷体" panose="02010600040101010101" charset="-122"/>
                            <a:cs typeface="DejaVu Math TeX Gyre" panose="02000503000000000000" charset="0"/>
                          </a:rPr>
                        </m:ctrlPr>
                      </m:fPr>
                      <m:num>
                        <m:sSub>
                          <m:sSubPr>
                            <m:ctrlPr>
                              <a:rPr lang="en-US" sz="2400" b="1" i="1">
                                <a:effectLst/>
                                <a:latin typeface="DejaVu Math TeX Gyre" panose="02000503000000000000" charset="0"/>
                                <a:ea typeface="华文楷体" panose="02010600040101010101" charset="-122"/>
                                <a:cs typeface="DejaVu Math TeX Gyre" panose="02000503000000000000" charset="0"/>
                              </a:rPr>
                            </m:ctrlPr>
                          </m:sSubPr>
                          <m:e>
                            <m:r>
                              <a:rPr lang="en-US" sz="2400" b="1" i="1">
                                <a:latin typeface="DejaVu Math TeX Gyre" panose="02000503000000000000" charset="0"/>
                                <a:ea typeface="宋体" pitchFamily="2" charset="-122"/>
                                <a:cs typeface="DejaVu Math TeX Gyre" panose="02000503000000000000" charset="0"/>
                              </a:rPr>
                              <m:t>∆</m:t>
                            </m:r>
                          </m:e>
                          <m:sub>
                            <m:r>
                              <a:rPr lang="en-US" sz="2400" b="1" i="1">
                                <a:latin typeface="DejaVu Math TeX Gyre" panose="02000503000000000000" charset="0"/>
                                <a:ea typeface="华文楷体" panose="02010600040101010101" charset="-122"/>
                                <a:cs typeface="DejaVu Math TeX Gyre" panose="02000503000000000000" charset="0"/>
                              </a:rPr>
                              <m:t>𝒊</m:t>
                            </m:r>
                          </m:sub>
                        </m:sSub>
                      </m:num>
                      <m:den>
                        <m:r>
                          <a:rPr lang="en-US" sz="2400" b="1" i="1">
                            <a:latin typeface="DejaVu Math TeX Gyre" panose="02000503000000000000" charset="0"/>
                            <a:ea typeface="华文楷体" panose="02010600040101010101" charset="-122"/>
                            <a:cs typeface="DejaVu Math TeX Gyre" panose="02000503000000000000" charset="0"/>
                          </a:rPr>
                          <m:t>𝟐</m:t>
                        </m:r>
                      </m:den>
                    </m:f>
                  </m:oMath>
                </a14:m>
                <a:r>
                  <a:rPr lang="zh-CN" altLang="en-US" sz="2400" b="1" dirty="0">
                    <a:latin typeface="华文楷体" panose="02010600040101010101" charset="-122"/>
                    <a:ea typeface="华文楷体" panose="02010600040101010101" charset="-122"/>
                    <a:cs typeface="华文楷体" panose="02010600040101010101" charset="-122"/>
                  </a:rPr>
                  <a:t>。</a:t>
                </a:r>
                <a:r>
                  <a:rPr lang="en-US" sz="2800" b="1" dirty="0">
                    <a:effectLst/>
                    <a:latin typeface="华文楷体" panose="02010600040101010101" charset="-122"/>
                    <a:ea typeface="华文楷体" panose="02010600040101010101" charset="-122"/>
                    <a:cs typeface="华文楷体" panose="02010600040101010101" charset="-122"/>
                  </a:rPr>
                  <a:t>  </a:t>
                </a:r>
                <a:endParaRPr lang="en-US" sz="2800" b="1" dirty="0">
                  <a:solidFill>
                    <a:srgbClr val="000000"/>
                  </a:solidFill>
                  <a:latin typeface="华文楷体" panose="02010600040101010101" charset="-122"/>
                  <a:ea typeface="华文楷体" panose="02010600040101010101" charset="-122"/>
                  <a:cs typeface="华文楷体" panose="02010600040101010101" charset="-122"/>
                </a:endParaRPr>
              </a:p>
              <a:p>
                <a:pPr marL="285750" indent="-285750">
                  <a:lnSpc>
                    <a:spcPct val="150000"/>
                  </a:lnSpc>
                  <a:buFont typeface="Arial" panose="020B0604020202090204" pitchFamily="34" charset="0"/>
                  <a:buChar char="•"/>
                </a:pPr>
                <a:endParaRPr lang="en-US" sz="2800" b="1" dirty="0">
                  <a:solidFill>
                    <a:srgbClr val="000000"/>
                  </a:solidFill>
                  <a:latin typeface="华文楷体" panose="02010600040101010101" charset="-122"/>
                  <a:ea typeface="华文楷体" panose="02010600040101010101" charset="-122"/>
                  <a:cs typeface="华文楷体" panose="02010600040101010101" charset="-122"/>
                </a:endParaRPr>
              </a:p>
            </p:txBody>
          </p:sp>
        </mc:Choice>
        <mc:Fallback>
          <p:sp>
            <p:nvSpPr>
              <p:cNvPr id="4" name="TextBox 4"/>
              <p:cNvSpPr txBox="1">
                <a:spLocks noRot="1" noChangeAspect="1" noMove="1" noResize="1" noEditPoints="1" noAdjustHandles="1" noChangeArrowheads="1" noChangeShapeType="1" noTextEdit="1"/>
              </p:cNvSpPr>
              <p:nvPr>
                <p:custDataLst>
                  <p:tags r:id="rId4"/>
                </p:custDataLst>
              </p:nvPr>
            </p:nvSpPr>
            <p:spPr>
              <a:xfrm>
                <a:off x="407670" y="1196975"/>
                <a:ext cx="11466830" cy="1369060"/>
              </a:xfrm>
              <a:prstGeom prst="rect">
                <a:avLst/>
              </a:prstGeom>
              <a:blipFill rotWithShape="1">
                <a:blip r:embed="rId5"/>
                <a:stretch>
                  <a:fillRect b="-36920"/>
                </a:stretch>
              </a:blipFill>
            </p:spPr>
            <p:txBody>
              <a:bodyPr/>
              <a:lstStyle/>
              <a:p>
                <a:r>
                  <a:rPr lang="zh-CN" altLang="en-US">
                    <a:noFill/>
                  </a:rPr>
                  <a:t> </a:t>
                </a:r>
              </a:p>
            </p:txBody>
          </p:sp>
        </mc:Fallback>
      </mc:AlternateContent>
      <p:pic>
        <p:nvPicPr>
          <p:cNvPr id="9" name="Picture 2"/>
          <p:cNvPicPr>
            <a:picLocks noChangeAspect="1"/>
          </p:cNvPicPr>
          <p:nvPr>
            <p:custDataLst>
              <p:tags r:id="rId6"/>
            </p:custDataLst>
          </p:nvPr>
        </p:nvPicPr>
        <p:blipFill>
          <a:blip r:embed="rId7"/>
          <a:stretch>
            <a:fillRect/>
          </a:stretch>
        </p:blipFill>
        <p:spPr>
          <a:xfrm>
            <a:off x="479425" y="2348865"/>
            <a:ext cx="5942330" cy="4228465"/>
          </a:xfrm>
          <a:prstGeom prst="rect">
            <a:avLst/>
          </a:prstGeom>
        </p:spPr>
      </p:pic>
      <p:pic>
        <p:nvPicPr>
          <p:cNvPr id="5" name="Picture 8"/>
          <p:cNvPicPr>
            <a:picLocks noChangeAspect="1"/>
          </p:cNvPicPr>
          <p:nvPr>
            <p:custDataLst>
              <p:tags r:id="rId8"/>
            </p:custDataLst>
          </p:nvPr>
        </p:nvPicPr>
        <p:blipFill>
          <a:blip r:embed="rId9"/>
          <a:stretch>
            <a:fillRect/>
          </a:stretch>
        </p:blipFill>
        <p:spPr>
          <a:xfrm>
            <a:off x="6527666" y="3141345"/>
            <a:ext cx="5265420" cy="334645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64515" name="Rectangle 2"/>
          <p:cNvSpPr/>
          <p:nvPr>
            <p:custDataLst>
              <p:tags r:id="rId2"/>
            </p:custDataLst>
          </p:nvPr>
        </p:nvSpPr>
        <p:spPr>
          <a:xfrm>
            <a:off x="1145540" y="2470150"/>
            <a:ext cx="7788275" cy="530225"/>
          </a:xfrm>
          <a:prstGeom prst="rect">
            <a:avLst/>
          </a:prstGeom>
          <a:solidFill>
            <a:srgbClr val="E7E7E7"/>
          </a:solidFill>
          <a:ln w="9525">
            <a:noFill/>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lvl="0" defTabSz="914400">
              <a:lnSpc>
                <a:spcPct val="120000"/>
              </a:lnSpc>
              <a:buClr>
                <a:srgbClr val="7F7F7F"/>
              </a:buClr>
              <a:buSzPct val="89000"/>
              <a:buFont typeface="Wingdings" panose="05000000000000000000" pitchFamily="2" charset="2"/>
              <a:buChar char="Ø"/>
            </a:pPr>
            <a:r>
              <a:rPr lang="en-US" altLang="zh-CN" sz="2400" b="1" dirty="0">
                <a:solidFill>
                  <a:srgbClr val="DE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7/12</a:t>
            </a: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变换电路</a:t>
            </a: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将</a:t>
            </a:r>
            <a:r>
              <a:rPr lang="en-US" altLang="zh-CN" sz="2400" b="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7</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位</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非线性码</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转变为</a:t>
            </a:r>
            <a:r>
              <a:rPr lang="en-US" altLang="zh-CN" sz="24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12</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位</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线性码</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endPar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64516" name="矩形 10"/>
          <p:cNvSpPr/>
          <p:nvPr>
            <p:custDataLst>
              <p:tags r:id="rId3"/>
            </p:custDataLst>
          </p:nvPr>
        </p:nvSpPr>
        <p:spPr>
          <a:xfrm>
            <a:off x="1145540" y="3143250"/>
            <a:ext cx="7850188" cy="892175"/>
          </a:xfrm>
          <a:prstGeom prst="rect">
            <a:avLst/>
          </a:prstGeom>
          <a:solidFill>
            <a:srgbClr val="E7E7E7"/>
          </a:solidFill>
          <a:ln w="9525">
            <a:noFill/>
          </a:ln>
        </p:spPr>
        <p:txBody>
          <a:bodyPr>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lvl="0" defTabSz="914400">
              <a:lnSpc>
                <a:spcPct val="120000"/>
              </a:lnSpc>
              <a:buClr>
                <a:srgbClr val="3333CC"/>
              </a:buClr>
              <a:buSzPct val="89000"/>
              <a:buFont typeface="Arial" panose="020B0604020202090204" pitchFamily="34" charset="0"/>
              <a:buNone/>
            </a:pP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目的</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：增加一个</a:t>
            </a:r>
            <a:r>
              <a:rPr lang="zh-CN" altLang="en-US" sz="2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en-US" altLang="zh-CN" sz="2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V</a:t>
            </a:r>
            <a:r>
              <a:rPr lang="en-US" altLang="zh-CN" sz="2000" baseline="-25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i</a:t>
            </a:r>
            <a:r>
              <a:rPr lang="en-US" altLang="zh-CN" sz="2000" baseline="-25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/2</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恒流电流，</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人为地补上半个量化级，</a:t>
            </a:r>
            <a:endPar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a:p>
            <a:pPr lvl="0" defTabSz="914400">
              <a:lnSpc>
                <a:spcPct val="120000"/>
              </a:lnSpc>
              <a:buClr>
                <a:srgbClr val="3333CC"/>
              </a:buClr>
              <a:buSzPct val="89000"/>
              <a:buFont typeface="Arial" panose="020B0604020202090204" pitchFamily="34" charset="0"/>
              <a:buNone/>
            </a:pP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使最大量化误差不超过</a:t>
            </a:r>
            <a:r>
              <a:rPr lang="zh-CN" altLang="en-US" sz="2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en-US" altLang="zh-CN" sz="2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V</a:t>
            </a:r>
            <a:r>
              <a:rPr lang="en-US" altLang="zh-CN" sz="2000" baseline="-25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i</a:t>
            </a:r>
            <a:r>
              <a:rPr lang="en-US" altLang="zh-CN" sz="2000" baseline="-25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/2</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从而改善量化信噪比。</a:t>
            </a:r>
            <a:endParaRPr lang="zh-CN" altLang="en-US" sz="18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64517" name="Rectangle 3"/>
          <p:cNvSpPr/>
          <p:nvPr>
            <p:custDataLst>
              <p:tags r:id="rId4"/>
            </p:custDataLst>
          </p:nvPr>
        </p:nvSpPr>
        <p:spPr>
          <a:xfrm>
            <a:off x="1185228" y="1143000"/>
            <a:ext cx="7818437" cy="1143000"/>
          </a:xfrm>
          <a:prstGeom prst="rect">
            <a:avLst/>
          </a:prstGeom>
          <a:solidFill>
            <a:srgbClr val="E7E7E7"/>
          </a:solidFill>
          <a:ln w="9525">
            <a:noFill/>
          </a:ln>
        </p:spPr>
        <p:txBody>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lvl="0" defTabSz="914400">
              <a:lnSpc>
                <a:spcPct val="150000"/>
              </a:lnSpc>
              <a:buClr>
                <a:srgbClr val="595959"/>
              </a:buClr>
              <a:buSzPct val="92000"/>
              <a:buFont typeface="Wingdings" panose="05000000000000000000" pitchFamily="2" charset="2"/>
              <a:buChar char="Ø"/>
            </a:pP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串</a:t>
            </a:r>
            <a:r>
              <a:rPr lang="en-US" altLang="zh-CN"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并变换记忆电路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将</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串</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行 </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PCM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码变为</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并</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行码</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并记忆下来。</a:t>
            </a:r>
            <a:endPar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a:p>
            <a:pPr lvl="0" defTabSz="914400">
              <a:lnSpc>
                <a:spcPct val="150000"/>
              </a:lnSpc>
              <a:buClr>
                <a:srgbClr val="595959"/>
              </a:buClr>
              <a:buSzPct val="92000"/>
              <a:buFont typeface="Wingdings" panose="05000000000000000000" pitchFamily="2" charset="2"/>
              <a:buChar char="Ø"/>
            </a:pP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极性控制：</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根据收到的极性码</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C</a:t>
            </a:r>
            <a:r>
              <a:rPr lang="en-US" altLang="zh-CN" sz="2000" b="1" baseline="-25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1</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来控制译码后</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PAM</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信号的极性。</a:t>
            </a:r>
            <a:endParaRPr lang="zh-CN" altLang="en-US" sz="1800" dirty="0">
              <a:latin typeface="华文楷体" panose="02010600040101010101" charset="-122"/>
              <a:ea typeface="华文楷体" panose="02010600040101010101" charset="-122"/>
              <a:cs typeface="华文楷体" panose="02010600040101010101" charset="-122"/>
            </a:endParaRPr>
          </a:p>
        </p:txBody>
      </p:sp>
      <p:sp>
        <p:nvSpPr>
          <p:cNvPr id="64518" name="矩形 14"/>
          <p:cNvSpPr/>
          <p:nvPr>
            <p:custDataLst>
              <p:tags r:id="rId5"/>
            </p:custDataLst>
          </p:nvPr>
        </p:nvSpPr>
        <p:spPr>
          <a:xfrm>
            <a:off x="8068628" y="2500313"/>
            <a:ext cx="1220787" cy="769937"/>
          </a:xfrm>
          <a:prstGeom prst="rect">
            <a:avLst/>
          </a:prstGeom>
          <a:solidFill>
            <a:srgbClr val="F2F2F2"/>
          </a:solidFill>
          <a:ln w="9525" cap="flat" cmpd="sng">
            <a:solidFill>
              <a:srgbClr val="7F7F7F"/>
            </a:solidFill>
            <a:prstDash val="solid"/>
            <a:miter/>
            <a:headEnd type="none" w="med" len="med"/>
            <a:tailEnd type="none" w="med" len="med"/>
          </a:ln>
        </p:spPr>
        <p:txBody>
          <a:bodyPr>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marL="0" lvl="0" indent="0" defTabSz="914400">
              <a:spcBef>
                <a:spcPct val="0"/>
              </a:spcBef>
              <a:buClrTx/>
              <a:buSzTx/>
              <a:buFont typeface="Arial" panose="020B0604020202090204" pitchFamily="34" charset="0"/>
              <a:buNone/>
            </a:pP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编码器中</a:t>
            </a:r>
            <a:endPar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a:p>
            <a:pPr marL="0" lvl="0" indent="0" defTabSz="914400">
              <a:spcBef>
                <a:spcPct val="0"/>
              </a:spcBef>
              <a:buClrTx/>
              <a:buSzTx/>
              <a:buFont typeface="Arial" panose="020B0604020202090204" pitchFamily="34" charset="0"/>
              <a:buNone/>
            </a:pPr>
            <a:r>
              <a:rPr lang="en-US" altLang="zh-CN" sz="2400" b="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en-US" altLang="zh-CN" sz="24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7/11</a:t>
            </a:r>
            <a:endParaRPr lang="zh-CN" altLang="en-US" sz="2400" dirty="0">
              <a:solidFill>
                <a:srgbClr val="000000"/>
              </a:solidFill>
              <a:latin typeface="华文楷体" panose="02010600040101010101" charset="-122"/>
              <a:ea typeface="华文楷体" panose="02010600040101010101" charset="-122"/>
              <a:cs typeface="华文楷体" panose="02010600040101010101" charset="-122"/>
            </a:endParaRPr>
          </a:p>
        </p:txBody>
      </p:sp>
      <p:sp>
        <p:nvSpPr>
          <p:cNvPr id="64519" name="矩形 15"/>
          <p:cNvSpPr/>
          <p:nvPr>
            <p:custDataLst>
              <p:tags r:id="rId6"/>
            </p:custDataLst>
          </p:nvPr>
        </p:nvSpPr>
        <p:spPr>
          <a:xfrm>
            <a:off x="1201103" y="4286250"/>
            <a:ext cx="7786687" cy="904875"/>
          </a:xfrm>
          <a:prstGeom prst="rect">
            <a:avLst/>
          </a:prstGeom>
          <a:solidFill>
            <a:srgbClr val="E7E7E7"/>
          </a:solidFill>
          <a:ln w="9525">
            <a:noFill/>
          </a:ln>
        </p:spPr>
        <p:txBody>
          <a:bodyPr>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lvl="0" defTabSz="914400">
              <a:lnSpc>
                <a:spcPct val="120000"/>
              </a:lnSpc>
              <a:buClr>
                <a:srgbClr val="7F7F7F"/>
              </a:buClr>
              <a:buSzPct val="89000"/>
              <a:buFont typeface="Wingdings" panose="05000000000000000000" pitchFamily="2" charset="2"/>
              <a:buChar char="Ø"/>
            </a:pP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寄存读出电路</a:t>
            </a:r>
            <a:r>
              <a:rPr lang="zh-CN" altLang="en-US" sz="2400"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将输入的串行码在存储器中寄存起来</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待全部接收后再一起读出 </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送入解码网络。实质上是进行  </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串</a:t>
            </a:r>
            <a:r>
              <a:rPr lang="en-US" altLang="zh-CN"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并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变换。</a:t>
            </a:r>
            <a:endPar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
        <p:nvSpPr>
          <p:cNvPr id="64520" name="矩形 16"/>
          <p:cNvSpPr/>
          <p:nvPr>
            <p:custDataLst>
              <p:tags r:id="rId7"/>
            </p:custDataLst>
          </p:nvPr>
        </p:nvSpPr>
        <p:spPr>
          <a:xfrm>
            <a:off x="1175703" y="5357813"/>
            <a:ext cx="7793037" cy="1016000"/>
          </a:xfrm>
          <a:prstGeom prst="rect">
            <a:avLst/>
          </a:prstGeom>
          <a:solidFill>
            <a:srgbClr val="E7E7E7"/>
          </a:solidFill>
          <a:ln w="9525">
            <a:noFill/>
          </a:ln>
        </p:spPr>
        <p:txBody>
          <a:bodyPr>
            <a:spAutoFit/>
          </a:bodyPr>
          <a:lstStyle>
            <a:lvl1pPr marL="342900" indent="-342900" algn="l" defTabSz="0"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sym typeface="Tahoma" panose="020B0604030504040204" pitchFamily="34" charset="0"/>
              </a:defRPr>
            </a:lvl1pPr>
            <a:lvl2pPr marL="742950" indent="-285750" algn="l" defTabSz="0"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sym typeface="Tahoma" panose="020B0604030504040204" pitchFamily="34" charset="0"/>
              </a:defRPr>
            </a:lvl2pPr>
            <a:lvl3pPr marL="1143000" indent="-228600" algn="l" defTabSz="0"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sym typeface="Tahoma" panose="020B0604030504040204" pitchFamily="34" charset="0"/>
              </a:defRPr>
            </a:lvl3pPr>
            <a:lvl4pPr marL="1600200" indent="-228600" algn="l" defTabSz="0"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4pPr>
            <a:lvl5pPr marL="2057400" indent="-228600" algn="l" defTabSz="0"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sym typeface="Tahoma" panose="020B0604030504040204" pitchFamily="34" charset="0"/>
              </a:defRPr>
            </a:lvl5pPr>
          </a:lstStyle>
          <a:p>
            <a:pPr lvl="0" defTabSz="914400">
              <a:lnSpc>
                <a:spcPct val="150000"/>
              </a:lnSpc>
              <a:buClr>
                <a:srgbClr val="595959"/>
              </a:buClr>
              <a:buSzPct val="92000"/>
              <a:buFont typeface="Wingdings" panose="05000000000000000000" pitchFamily="2" charset="2"/>
              <a:buChar char="Ø"/>
            </a:pPr>
            <a:r>
              <a:rPr lang="en-US" altLang="zh-CN" sz="2000" b="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12</a:t>
            </a: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位线性解码电路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由恒流源和电阻网络组成</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与编码器中解码网络类同。它是在寄存读出电路的控制下</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输出相应的 </a:t>
            </a:r>
            <a:r>
              <a:rPr lang="en-US" altLang="zh-CN"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PAM</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信号。 </a:t>
            </a:r>
            <a:endParaRPr lang="zh-CN" altLang="en-US" sz="1800" dirty="0">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mc:AlternateContent xmlns:mc="http://schemas.openxmlformats.org/markup-compatibility/2006">
        <mc:Choice xmlns:a14="http://schemas.microsoft.com/office/drawing/2010/main" Requires="a14">
          <p:sp>
            <p:nvSpPr>
              <p:cNvPr id="7" name="TextBox 6"/>
              <p:cNvSpPr txBox="1"/>
              <p:nvPr/>
            </p:nvSpPr>
            <p:spPr>
              <a:xfrm>
                <a:off x="911424" y="1196752"/>
                <a:ext cx="10585176" cy="4723765"/>
              </a:xfrm>
              <a:prstGeom prst="rect">
                <a:avLst/>
              </a:prstGeom>
              <a:noFill/>
            </p:spPr>
            <p:txBody>
              <a:bodyPr wrap="square" rtlCol="0">
                <a:spAutoFit/>
              </a:bodyPr>
              <a:p>
                <a:pPr marL="285750" indent="-285750" algn="just">
                  <a:lnSpc>
                    <a:spcPct val="150000"/>
                  </a:lnSpc>
                  <a:buFont typeface="Arial" panose="020B0604020202090204" pitchFamily="34" charset="0"/>
                  <a:buChar char="•"/>
                </a:pPr>
                <a:r>
                  <a:rPr lang="en-US" altLang="zh-CN" sz="2000" b="1" dirty="0">
                    <a:latin typeface="华文楷体" panose="02010600040101010101" charset="-122"/>
                    <a:ea typeface="华文楷体" panose="02010600040101010101" charset="-122"/>
                    <a:sym typeface="+mn-ea"/>
                  </a:rPr>
                  <a:t>PCM</a:t>
                </a:r>
                <a:r>
                  <a:rPr lang="zh-CN" altLang="en-US" sz="2000" b="1" dirty="0">
                    <a:latin typeface="华文楷体" panose="02010600040101010101" charset="-122"/>
                    <a:ea typeface="华文楷体" panose="02010600040101010101" charset="-122"/>
                    <a:sym typeface="+mn-ea"/>
                  </a:rPr>
                  <a:t>系统的噪声性能 ：</a:t>
                </a:r>
                <a:r>
                  <a:rPr lang="zh-CN" altLang="en-US" sz="2000" dirty="0"/>
                  <a:t>假设模拟信号</a:t>
                </a:r>
                <a14:m>
                  <m:oMath xmlns:m="http://schemas.openxmlformats.org/officeDocument/2006/math">
                    <m:r>
                      <a:rPr lang="en-US" sz="2000" i="1">
                        <a:latin typeface="Cambria Math" panose="02040503050406030204" pitchFamily="18" charset="0"/>
                      </a:rPr>
                      <m:t>𝑚</m:t>
                    </m:r>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m:t>
                    </m:r>
                  </m:oMath>
                </a14:m>
                <a:r>
                  <a:rPr lang="zh-CN" altLang="en-US" sz="2000" dirty="0"/>
                  <a:t>的抽样值</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𝑘</m:t>
                        </m:r>
                      </m:sub>
                    </m:sSub>
                  </m:oMath>
                </a14:m>
                <a:r>
                  <a:rPr lang="zh-CN" altLang="en-US" sz="2000" dirty="0"/>
                  <a:t>，其编码量化电平</a:t>
                </a:r>
                <a14:m>
                  <m:oMath xmlns:m="http://schemas.openxmlformats.org/officeDocument/2006/math">
                    <m:acc>
                      <m:accPr>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𝑘</m:t>
                            </m:r>
                          </m:sub>
                        </m:sSub>
                      </m:e>
                    </m:acc>
                  </m:oMath>
                </a14:m>
                <a:r>
                  <a:rPr lang="zh-CN" altLang="en-US" sz="2000" dirty="0"/>
                  <a:t>，</a:t>
                </a:r>
                <a:r>
                  <a:rPr lang="zh-CN" altLang="en-US" sz="2000" dirty="0">
                    <a:solidFill>
                      <a:srgbClr val="FF0000"/>
                    </a:solidFill>
                  </a:rPr>
                  <a:t>量化误差</a:t>
                </a: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𝑞</m:t>
                        </m:r>
                      </m:e>
                      <m:sub>
                        <m:r>
                          <a:rPr lang="en-US" sz="2000" i="1">
                            <a:solidFill>
                              <a:srgbClr val="FF0000"/>
                            </a:solidFill>
                            <a:latin typeface="Cambria Math" panose="02040503050406030204" pitchFamily="18" charset="0"/>
                          </a:rPr>
                          <m:t>𝑘</m:t>
                        </m:r>
                      </m:sub>
                    </m:sSub>
                  </m:oMath>
                </a14:m>
                <a:r>
                  <a:rPr lang="zh-CN" altLang="en-US" sz="2000" dirty="0">
                    <a:solidFill>
                      <a:srgbClr val="FF0000"/>
                    </a:solidFill>
                  </a:rPr>
                  <a:t> </a:t>
                </a:r>
                <a:r>
                  <a:rPr lang="en-US" altLang="zh-CN" sz="2000" dirty="0">
                    <a:solidFill>
                      <a:srgbClr val="FF0000"/>
                    </a:solidFill>
                  </a:rPr>
                  <a:t>=</a:t>
                </a:r>
                <a:r>
                  <a:rPr lang="zh-CN" altLang="en-US" sz="2000" dirty="0">
                    <a:solidFill>
                      <a:srgbClr val="FF0000"/>
                    </a:solidFill>
                  </a:rPr>
                  <a:t> </a:t>
                </a: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𝑚</m:t>
                        </m:r>
                      </m:e>
                      <m:sub>
                        <m:r>
                          <a:rPr lang="en-US" sz="2000" i="1">
                            <a:solidFill>
                              <a:srgbClr val="FF0000"/>
                            </a:solidFill>
                            <a:latin typeface="Cambria Math" panose="02040503050406030204" pitchFamily="18" charset="0"/>
                          </a:rPr>
                          <m:t>𝑘</m:t>
                        </m:r>
                      </m:sub>
                    </m:sSub>
                    <m:r>
                      <a:rPr lang="en-US" sz="2000" i="1">
                        <a:solidFill>
                          <a:srgbClr val="FF0000"/>
                        </a:solidFill>
                        <a:latin typeface="Cambria Math" panose="02040503050406030204" pitchFamily="18" charset="0"/>
                      </a:rPr>
                      <m:t> </m:t>
                    </m:r>
                  </m:oMath>
                </a14:m>
                <a:r>
                  <a:rPr lang="en-US" altLang="zh-CN" sz="2000" dirty="0">
                    <a:solidFill>
                      <a:srgbClr val="FF0000"/>
                    </a:solidFill>
                  </a:rPr>
                  <a:t>-</a:t>
                </a:r>
                <a:r>
                  <a:rPr lang="zh-CN" altLang="en-US" sz="2000" dirty="0">
                    <a:solidFill>
                      <a:srgbClr val="FF0000"/>
                    </a:solidFill>
                  </a:rPr>
                  <a:t> </a:t>
                </a:r>
                <a14:m>
                  <m:oMath xmlns:m="http://schemas.openxmlformats.org/officeDocument/2006/math">
                    <m:acc>
                      <m:accPr>
                        <m:ctrlPr>
                          <a:rPr lang="en-US" sz="2000" i="1">
                            <a:solidFill>
                              <a:srgbClr val="FF0000"/>
                            </a:solidFill>
                            <a:latin typeface="Cambria Math" panose="02040503050406030204" pitchFamily="18" charset="0"/>
                          </a:rPr>
                        </m:ctrlPr>
                      </m:accPr>
                      <m:e>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𝑚</m:t>
                            </m:r>
                          </m:e>
                          <m:sub>
                            <m:r>
                              <a:rPr lang="en-US" sz="2000" i="1">
                                <a:solidFill>
                                  <a:srgbClr val="FF0000"/>
                                </a:solidFill>
                                <a:latin typeface="Cambria Math" panose="02040503050406030204" pitchFamily="18" charset="0"/>
                              </a:rPr>
                              <m:t>𝑘</m:t>
                            </m:r>
                          </m:sub>
                        </m:sSub>
                      </m:e>
                    </m:acc>
                  </m:oMath>
                </a14:m>
                <a:r>
                  <a:rPr lang="zh-CN" altLang="en-US" sz="2000" dirty="0"/>
                  <a:t>。由于信道噪声的干扰在接收端可能出现检测错误，若译码量化电平</a:t>
                </a:r>
                <a14:m>
                  <m:oMath xmlns:m="http://schemas.openxmlformats.org/officeDocument/2006/math">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𝑘</m:t>
                            </m:r>
                          </m:sub>
                        </m:sSub>
                      </m:e>
                    </m:acc>
                  </m:oMath>
                </a14:m>
                <a:r>
                  <a:rPr lang="zh-CN" altLang="en-US" sz="2000" dirty="0"/>
                  <a:t>，其</a:t>
                </a:r>
                <a:r>
                  <a:rPr lang="zh-CN" altLang="en-US" sz="2000" dirty="0">
                    <a:solidFill>
                      <a:srgbClr val="FF0000"/>
                    </a:solidFill>
                  </a:rPr>
                  <a:t>检测误差</a:t>
                </a: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𝑑</m:t>
                        </m:r>
                      </m:e>
                      <m:sub>
                        <m:r>
                          <a:rPr lang="en-US" sz="2000" i="1">
                            <a:solidFill>
                              <a:srgbClr val="FF0000"/>
                            </a:solidFill>
                            <a:latin typeface="Cambria Math" panose="02040503050406030204" pitchFamily="18" charset="0"/>
                          </a:rPr>
                          <m:t>𝑘</m:t>
                        </m:r>
                      </m:sub>
                    </m:sSub>
                  </m:oMath>
                </a14:m>
                <a:r>
                  <a:rPr lang="en-US" altLang="zh-CN" sz="2000" dirty="0">
                    <a:solidFill>
                      <a:srgbClr val="FF0000"/>
                    </a:solidFill>
                  </a:rPr>
                  <a:t> =</a:t>
                </a:r>
                <a:r>
                  <a:rPr lang="zh-CN" altLang="en-US" sz="2000" dirty="0">
                    <a:solidFill>
                      <a:srgbClr val="FF0000"/>
                    </a:solidFill>
                  </a:rPr>
                  <a:t> </a:t>
                </a:r>
                <a14:m>
                  <m:oMath xmlns:m="http://schemas.openxmlformats.org/officeDocument/2006/math">
                    <m:acc>
                      <m:accPr>
                        <m:ctrlPr>
                          <a:rPr lang="en-US" sz="2000" i="1">
                            <a:solidFill>
                              <a:srgbClr val="FF0000"/>
                            </a:solidFill>
                            <a:latin typeface="Cambria Math" panose="02040503050406030204" pitchFamily="18" charset="0"/>
                          </a:rPr>
                        </m:ctrlPr>
                      </m:accPr>
                      <m:e>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𝑚</m:t>
                            </m:r>
                          </m:e>
                          <m:sub>
                            <m:r>
                              <a:rPr lang="en-US" sz="2000" i="1">
                                <a:solidFill>
                                  <a:srgbClr val="FF0000"/>
                                </a:solidFill>
                                <a:latin typeface="Cambria Math" panose="02040503050406030204" pitchFamily="18" charset="0"/>
                              </a:rPr>
                              <m:t>𝑘</m:t>
                            </m:r>
                          </m:sub>
                        </m:sSub>
                      </m:e>
                    </m:acc>
                  </m:oMath>
                </a14:m>
                <a:r>
                  <a:rPr lang="zh-CN" altLang="en-US" sz="2000" dirty="0">
                    <a:solidFill>
                      <a:srgbClr val="FF0000"/>
                    </a:solidFill>
                  </a:rPr>
                  <a:t> </a:t>
                </a:r>
                <a:r>
                  <a:rPr lang="en-US" altLang="zh-CN" sz="2000" dirty="0">
                    <a:solidFill>
                      <a:srgbClr val="FF0000"/>
                    </a:solidFill>
                  </a:rPr>
                  <a:t>-</a:t>
                </a:r>
                <a:r>
                  <a:rPr lang="zh-CN" altLang="en-US" sz="2000" dirty="0">
                    <a:solidFill>
                      <a:srgbClr val="FF0000"/>
                    </a:solidFill>
                  </a:rPr>
                  <a:t> </a:t>
                </a:r>
                <a14:m>
                  <m:oMath xmlns:m="http://schemas.openxmlformats.org/officeDocument/2006/math">
                    <m:acc>
                      <m:accPr>
                        <m:chr m:val="̃"/>
                        <m:ctrlPr>
                          <a:rPr lang="en-US" sz="2000" i="1">
                            <a:solidFill>
                              <a:srgbClr val="FF0000"/>
                            </a:solidFill>
                            <a:latin typeface="Cambria Math" panose="02040503050406030204" pitchFamily="18" charset="0"/>
                          </a:rPr>
                        </m:ctrlPr>
                      </m:accPr>
                      <m:e>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𝑚</m:t>
                            </m:r>
                          </m:e>
                          <m:sub>
                            <m:r>
                              <a:rPr lang="en-US" sz="2000" i="1">
                                <a:solidFill>
                                  <a:srgbClr val="FF0000"/>
                                </a:solidFill>
                                <a:latin typeface="Cambria Math" panose="02040503050406030204" pitchFamily="18" charset="0"/>
                              </a:rPr>
                              <m:t>𝑘</m:t>
                            </m:r>
                          </m:sub>
                        </m:sSub>
                      </m:e>
                    </m:acc>
                    <m:r>
                      <a:rPr lang="en-US" sz="2000" i="1">
                        <a:latin typeface="Cambria Math" panose="02040503050406030204" pitchFamily="18" charset="0"/>
                      </a:rPr>
                      <m:t> </m:t>
                    </m:r>
                  </m:oMath>
                </a14:m>
                <a:r>
                  <a:rPr lang="zh-CN" altLang="en-US" sz="2000">
                    <a:latin typeface="Cambria Math" panose="02040503050406030204" pitchFamily="18" charset="0"/>
                  </a:rPr>
                  <a:t>。</a:t>
                </a:r>
                <a:r>
                  <a:rPr lang="zh-CN" altLang="en-US" sz="2000" dirty="0"/>
                  <a:t>输出信号</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𝑚</m:t>
                        </m:r>
                      </m:e>
                    </m:acc>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r>
                  <a:rPr lang="zh-CN" altLang="en-US" sz="2000" dirty="0"/>
                  <a:t>包含输入信号</a:t>
                </a:r>
                <a14:m>
                  <m:oMath xmlns:m="http://schemas.openxmlformats.org/officeDocument/2006/math">
                    <m:r>
                      <a:rPr lang="en-US" sz="2000" i="1">
                        <a:latin typeface="Cambria Math" panose="02040503050406030204" pitchFamily="18" charset="0"/>
                      </a:rPr>
                      <m:t>𝑚</m:t>
                    </m:r>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r>
                  <a:rPr lang="zh-CN" altLang="en-US" sz="2000" dirty="0"/>
                  <a:t>和噪声信号</a:t>
                </a:r>
                <a14:m>
                  <m:oMath xmlns:m="http://schemas.openxmlformats.org/officeDocument/2006/math">
                    <m:r>
                      <a:rPr lang="en-US" sz="2000" i="1">
                        <a:latin typeface="Cambria Math" panose="02040503050406030204" pitchFamily="18" charset="0"/>
                      </a:rPr>
                      <m:t>𝑒</m:t>
                    </m:r>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r>
                  <a:rPr lang="zh-CN" altLang="en-US" sz="2000" dirty="0"/>
                  <a:t>。</a:t>
                </a:r>
                <a:r>
                  <a:rPr lang="zh-CN" altLang="en-US" sz="2000" dirty="0">
                    <a:solidFill>
                      <a:srgbClr val="FF0000"/>
                    </a:solidFill>
                  </a:rPr>
                  <a:t>噪声是由量化噪声和信道</a:t>
                </a:r>
                <a:r>
                  <a:rPr lang="zh-CN" altLang="en-US" sz="2000" dirty="0">
                    <a:solidFill>
                      <a:srgbClr val="FF0000"/>
                    </a:solidFill>
                  </a:rPr>
                  <a:t>加性噪声引起的</a:t>
                </a:r>
                <a:r>
                  <a:rPr lang="zh-CN" altLang="en-US" sz="2000" dirty="0"/>
                  <a:t>。</a:t>
                </a:r>
                <a:endParaRPr lang="zh-CN" altLang="en-US" sz="2000" dirty="0"/>
              </a:p>
              <a:p>
                <a:pPr marL="285750" indent="-285750" algn="just">
                  <a:lnSpc>
                    <a:spcPct val="150000"/>
                  </a:lnSpc>
                  <a:buFont typeface="Arial" panose="020B0604020202090204" pitchFamily="34" charset="0"/>
                  <a:buChar char="•"/>
                </a:pPr>
                <a:r>
                  <a:rPr lang="zh-CN" altLang="en-US" sz="2000" b="1" dirty="0">
                    <a:latin typeface="华文楷体" panose="02010600040101010101" charset="-122"/>
                    <a:ea typeface="华文楷体" panose="02010600040101010101" charset="-122"/>
                    <a:cs typeface="华文楷体" panose="02010600040101010101" charset="-122"/>
                    <a:sym typeface="+mn-ea"/>
                  </a:rPr>
                  <a:t>码元速率</a:t>
                </a:r>
                <a:endParaRPr lang="zh-CN" altLang="en-US" sz="2000" b="1" dirty="0">
                  <a:latin typeface="华文楷体" panose="02010600040101010101" charset="-122"/>
                  <a:ea typeface="华文楷体" panose="02010600040101010101" charset="-122"/>
                  <a:cs typeface="华文楷体" panose="02010600040101010101" charset="-122"/>
                </a:endParaRPr>
              </a:p>
              <a:p>
                <a:pPr algn="just">
                  <a:lnSpc>
                    <a:spcPct val="135000"/>
                  </a:lnSpc>
                  <a:spcBef>
                    <a:spcPct val="50000"/>
                  </a:spcBef>
                </a:pPr>
                <a:r>
                  <a:rPr lang="zh-CN" altLang="en-US" sz="2000" b="1" dirty="0">
                    <a:latin typeface="华文楷体" panose="02010600040101010101" charset="-122"/>
                    <a:ea typeface="华文楷体" panose="02010600040101010101" charset="-122"/>
                    <a:cs typeface="华文楷体" panose="02010600040101010101" charset="-122"/>
                    <a:sym typeface="+mn-ea"/>
                  </a:rPr>
                  <a:t>　</a:t>
                </a:r>
                <a:r>
                  <a:rPr lang="zh-CN" altLang="en-US" sz="2000" dirty="0">
                    <a:latin typeface="华文楷体" panose="02010600040101010101" charset="-122"/>
                    <a:ea typeface="华文楷体" panose="02010600040101010101" charset="-122"/>
                    <a:cs typeface="华文楷体" panose="02010600040101010101" charset="-122"/>
                    <a:sym typeface="+mn-ea"/>
                  </a:rPr>
                  <a:t>　设</a:t>
                </a:r>
                <a:r>
                  <a:rPr lang="en-US" altLang="zh-CN" sz="2000" i="1" dirty="0">
                    <a:latin typeface="华文楷体" panose="02010600040101010101" charset="-122"/>
                    <a:ea typeface="华文楷体" panose="02010600040101010101" charset="-122"/>
                    <a:cs typeface="华文楷体" panose="02010600040101010101" charset="-122"/>
                    <a:sym typeface="+mn-ea"/>
                  </a:rPr>
                  <a:t>m</a:t>
                </a:r>
                <a:r>
                  <a:rPr lang="en-US" altLang="zh-CN" sz="2000" dirty="0">
                    <a:latin typeface="华文楷体" panose="02010600040101010101" charset="-122"/>
                    <a:ea typeface="华文楷体" panose="02010600040101010101" charset="-122"/>
                    <a:cs typeface="华文楷体" panose="02010600040101010101" charset="-122"/>
                    <a:sym typeface="+mn-ea"/>
                  </a:rPr>
                  <a:t>(</a:t>
                </a:r>
                <a:r>
                  <a:rPr lang="en-US" altLang="zh-CN" sz="2000" i="1" dirty="0">
                    <a:latin typeface="华文楷体" panose="02010600040101010101" charset="-122"/>
                    <a:ea typeface="华文楷体" panose="02010600040101010101" charset="-122"/>
                    <a:cs typeface="华文楷体" panose="02010600040101010101" charset="-122"/>
                    <a:sym typeface="+mn-ea"/>
                  </a:rPr>
                  <a:t>t</a:t>
                </a:r>
                <a:r>
                  <a:rPr lang="en-US" altLang="zh-CN" sz="2000" dirty="0">
                    <a:latin typeface="华文楷体" panose="02010600040101010101" charset="-122"/>
                    <a:ea typeface="华文楷体" panose="02010600040101010101" charset="-122"/>
                    <a:cs typeface="华文楷体" panose="02010600040101010101" charset="-122"/>
                    <a:sym typeface="+mn-ea"/>
                  </a:rPr>
                  <a:t>)</a:t>
                </a:r>
                <a:r>
                  <a:rPr lang="zh-CN" altLang="en-US" sz="2000" dirty="0">
                    <a:latin typeface="华文楷体" panose="02010600040101010101" charset="-122"/>
                    <a:ea typeface="华文楷体" panose="02010600040101010101" charset="-122"/>
                    <a:cs typeface="华文楷体" panose="02010600040101010101" charset="-122"/>
                    <a:sym typeface="+mn-ea"/>
                  </a:rPr>
                  <a:t>为低通信号，最高频率为</a:t>
                </a:r>
                <a:r>
                  <a:rPr lang="en-US" altLang="zh-CN" sz="2000" i="1" dirty="0" err="1">
                    <a:latin typeface="华文楷体" panose="02010600040101010101" charset="-122"/>
                    <a:ea typeface="华文楷体" panose="02010600040101010101" charset="-122"/>
                    <a:cs typeface="华文楷体" panose="02010600040101010101" charset="-122"/>
                    <a:sym typeface="+mn-ea"/>
                  </a:rPr>
                  <a:t>f</a:t>
                </a:r>
                <a:r>
                  <a:rPr lang="en-US" altLang="zh-CN" sz="2000" baseline="-25000" dirty="0" err="1">
                    <a:latin typeface="华文楷体" panose="02010600040101010101" charset="-122"/>
                    <a:ea typeface="华文楷体" panose="02010600040101010101" charset="-122"/>
                    <a:cs typeface="华文楷体" panose="02010600040101010101" charset="-122"/>
                    <a:sym typeface="+mn-ea"/>
                  </a:rPr>
                  <a:t>H</a:t>
                </a:r>
                <a:r>
                  <a:rPr lang="zh-CN" altLang="en-US" sz="2000" dirty="0">
                    <a:latin typeface="华文楷体" panose="02010600040101010101" charset="-122"/>
                    <a:ea typeface="华文楷体" panose="02010600040101010101" charset="-122"/>
                    <a:cs typeface="华文楷体" panose="02010600040101010101" charset="-122"/>
                    <a:sym typeface="+mn-ea"/>
                  </a:rPr>
                  <a:t>， 按照抽样定理的抽样速率</a:t>
                </a:r>
                <a:r>
                  <a:rPr lang="en-US" altLang="zh-CN" sz="2000" i="1" dirty="0">
                    <a:solidFill>
                      <a:srgbClr val="C00000"/>
                    </a:solidFill>
                    <a:latin typeface="华文楷体" panose="02010600040101010101" charset="-122"/>
                    <a:ea typeface="华文楷体" panose="02010600040101010101" charset="-122"/>
                    <a:cs typeface="华文楷体" panose="02010600040101010101" charset="-122"/>
                    <a:sym typeface="+mn-ea"/>
                  </a:rPr>
                  <a:t>f</a:t>
                </a:r>
                <a:r>
                  <a:rPr lang="en-US" altLang="zh-CN" sz="2000" baseline="-25000" dirty="0">
                    <a:solidFill>
                      <a:srgbClr val="C00000"/>
                    </a:solidFill>
                    <a:latin typeface="华文楷体" panose="02010600040101010101" charset="-122"/>
                    <a:ea typeface="华文楷体" panose="02010600040101010101" charset="-122"/>
                    <a:cs typeface="华文楷体" panose="02010600040101010101" charset="-122"/>
                    <a:sym typeface="+mn-ea"/>
                  </a:rPr>
                  <a:t>s</a:t>
                </a:r>
                <a:r>
                  <a:rPr lang="en-US" altLang="zh-CN" sz="2000" dirty="0">
                    <a:solidFill>
                      <a:srgbClr val="C00000"/>
                    </a:solidFill>
                    <a:latin typeface="华文楷体" panose="02010600040101010101" charset="-122"/>
                    <a:ea typeface="华文楷体" panose="02010600040101010101" charset="-122"/>
                    <a:cs typeface="华文楷体" panose="02010600040101010101" charset="-122"/>
                    <a:sym typeface="+mn-ea"/>
                  </a:rPr>
                  <a:t>≥2</a:t>
                </a:r>
                <a:r>
                  <a:rPr lang="en-US" altLang="zh-CN" sz="2000" i="1" dirty="0">
                    <a:solidFill>
                      <a:srgbClr val="C00000"/>
                    </a:solidFill>
                    <a:latin typeface="华文楷体" panose="02010600040101010101" charset="-122"/>
                    <a:ea typeface="华文楷体" panose="02010600040101010101" charset="-122"/>
                    <a:cs typeface="华文楷体" panose="02010600040101010101" charset="-122"/>
                    <a:sym typeface="+mn-ea"/>
                  </a:rPr>
                  <a:t>f</a:t>
                </a:r>
                <a:r>
                  <a:rPr lang="en-US" altLang="zh-CN" sz="2000" baseline="-25000" dirty="0">
                    <a:solidFill>
                      <a:srgbClr val="C00000"/>
                    </a:solidFill>
                    <a:latin typeface="华文楷体" panose="02010600040101010101" charset="-122"/>
                    <a:ea typeface="华文楷体" panose="02010600040101010101" charset="-122"/>
                    <a:cs typeface="华文楷体" panose="02010600040101010101" charset="-122"/>
                    <a:sym typeface="+mn-ea"/>
                  </a:rPr>
                  <a:t>H</a:t>
                </a:r>
                <a:r>
                  <a:rPr lang="zh-CN" altLang="en-US" sz="2000" dirty="0">
                    <a:latin typeface="华文楷体" panose="02010600040101010101" charset="-122"/>
                    <a:ea typeface="华文楷体" panose="02010600040101010101" charset="-122"/>
                    <a:cs typeface="华文楷体" panose="02010600040101010101" charset="-122"/>
                    <a:sym typeface="+mn-ea"/>
                  </a:rPr>
                  <a:t>，如果</a:t>
                </a:r>
                <a:r>
                  <a:rPr lang="zh-CN" altLang="en-US" sz="2000" dirty="0">
                    <a:latin typeface="华文楷体" panose="02010600040101010101" charset="-122"/>
                    <a:ea typeface="华文楷体" panose="02010600040101010101" charset="-122"/>
                    <a:cs typeface="华文楷体" panose="02010600040101010101" charset="-122"/>
                    <a:sym typeface="+mn-ea"/>
                  </a:rPr>
                  <a:t>用</a:t>
                </a:r>
                <a:r>
                  <a:rPr lang="zh-CN" altLang="en-US" sz="2000" i="1" dirty="0">
                    <a:solidFill>
                      <a:srgbClr val="C00000"/>
                    </a:solidFill>
                    <a:latin typeface="华文楷体" panose="02010600040101010101" charset="-122"/>
                    <a:ea typeface="华文楷体" panose="02010600040101010101" charset="-122"/>
                    <a:cs typeface="华文楷体" panose="02010600040101010101" charset="-122"/>
                    <a:sym typeface="+mn-ea"/>
                  </a:rPr>
                  <a:t>k</a:t>
                </a:r>
                <a:r>
                  <a:rPr lang="zh-CN" altLang="en-US" sz="2000" dirty="0">
                    <a:solidFill>
                      <a:srgbClr val="C00000"/>
                    </a:solidFill>
                    <a:latin typeface="华文楷体" panose="02010600040101010101" charset="-122"/>
                    <a:ea typeface="华文楷体" panose="02010600040101010101" charset="-122"/>
                    <a:cs typeface="华文楷体" panose="02010600040101010101" charset="-122"/>
                    <a:sym typeface="+mn-ea"/>
                  </a:rPr>
                  <a:t>位二进制代码</a:t>
                </a:r>
                <a:r>
                  <a:rPr lang="zh-CN" altLang="en-US" sz="2000" dirty="0">
                    <a:latin typeface="华文楷体" panose="02010600040101010101" charset="-122"/>
                    <a:ea typeface="华文楷体" panose="02010600040101010101" charset="-122"/>
                    <a:cs typeface="华文楷体" panose="02010600040101010101" charset="-122"/>
                    <a:sym typeface="+mn-ea"/>
                  </a:rPr>
                  <a:t>表示一个抽样值，</a:t>
                </a:r>
                <a:r>
                  <a:rPr lang="zh-CN" altLang="en-US" sz="2000" dirty="0">
                    <a:latin typeface="华文楷体" panose="02010600040101010101" charset="-122"/>
                    <a:ea typeface="华文楷体" panose="02010600040101010101" charset="-122"/>
                    <a:cs typeface="华文楷体" panose="02010600040101010101" charset="-122"/>
                    <a:sym typeface="+mn-ea"/>
                  </a:rPr>
                  <a:t> 则码元速率为</a:t>
                </a:r>
                <a14:m>
                  <m:oMath xmlns:m="http://schemas.openxmlformats.org/officeDocument/2006/math">
                    <m:sSub>
                      <m:sSubPr>
                        <m:ctrlPr>
                          <a:rPr lang="en-US" altLang="zh-CN" sz="2000" i="1" dirty="0">
                            <a:latin typeface="DejaVu Math TeX Gyre" panose="02000503000000000000" charset="0"/>
                            <a:ea typeface="华文楷体" panose="02010600040101010101" charset="-122"/>
                            <a:cs typeface="DejaVu Math TeX Gyre" panose="02000503000000000000" charset="0"/>
                          </a:rPr>
                        </m:ctrlPr>
                      </m:sSubPr>
                      <m:e>
                        <m:r>
                          <a:rPr lang="en-US" altLang="zh-CN" sz="2000" i="1" dirty="0">
                            <a:latin typeface="DejaVu Math TeX Gyre" panose="02000503000000000000" charset="0"/>
                            <a:ea typeface="华文楷体" panose="02010600040101010101" charset="-122"/>
                            <a:cs typeface="DejaVu Math TeX Gyre" panose="02000503000000000000" charset="0"/>
                          </a:rPr>
                          <m:t>𝑅</m:t>
                        </m:r>
                      </m:e>
                      <m:sub>
                        <m:r>
                          <a:rPr lang="en-US" altLang="zh-CN" sz="2000" i="1" dirty="0">
                            <a:latin typeface="DejaVu Math TeX Gyre" panose="02000503000000000000" charset="0"/>
                            <a:ea typeface="华文楷体" panose="02010600040101010101" charset="-122"/>
                            <a:cs typeface="DejaVu Math TeX Gyre" panose="02000503000000000000" charset="0"/>
                          </a:rPr>
                          <m:t>𝐵</m:t>
                        </m:r>
                      </m:sub>
                    </m:sSub>
                    <m:r>
                      <a:rPr lang="en-US" altLang="zh-CN" sz="2000" i="1" dirty="0">
                        <a:latin typeface="DejaVu Math TeX Gyre" panose="02000503000000000000" charset="0"/>
                        <a:ea typeface="华文楷体" panose="02010600040101010101" charset="-122"/>
                        <a:cs typeface="DejaVu Math TeX Gyre" panose="02000503000000000000" charset="0"/>
                      </a:rPr>
                      <m:t>=</m:t>
                    </m:r>
                    <m:r>
                      <a:rPr lang="en-US" altLang="zh-CN" sz="2000" i="1" dirty="0">
                        <a:latin typeface="DejaVu Math TeX Gyre" panose="02000503000000000000" charset="0"/>
                        <a:ea typeface="华文楷体" panose="02010600040101010101" charset="-122"/>
                        <a:cs typeface="DejaVu Math TeX Gyre" panose="02000503000000000000" charset="0"/>
                      </a:rPr>
                      <m:t>𝑘</m:t>
                    </m:r>
                    <m:sSub>
                      <m:sSubPr>
                        <m:ctrlPr>
                          <a:rPr lang="en-US" altLang="zh-CN" sz="2000" i="1" dirty="0">
                            <a:latin typeface="DejaVu Math TeX Gyre" panose="02000503000000000000" charset="0"/>
                            <a:ea typeface="华文楷体" panose="02010600040101010101" charset="-122"/>
                            <a:cs typeface="DejaVu Math TeX Gyre" panose="02000503000000000000" charset="0"/>
                          </a:rPr>
                        </m:ctrlPr>
                      </m:sSubPr>
                      <m:e>
                        <m:r>
                          <a:rPr lang="en-US" altLang="zh-CN" sz="2000" i="1" dirty="0">
                            <a:latin typeface="DejaVu Math TeX Gyre" panose="02000503000000000000" charset="0"/>
                            <a:ea typeface="华文楷体" panose="02010600040101010101" charset="-122"/>
                            <a:cs typeface="DejaVu Math TeX Gyre" panose="02000503000000000000" charset="0"/>
                          </a:rPr>
                          <m:t>𝑓</m:t>
                        </m:r>
                      </m:e>
                      <m:sub>
                        <m:r>
                          <a:rPr lang="en-US" altLang="zh-CN" sz="2000" i="1" dirty="0">
                            <a:latin typeface="DejaVu Math TeX Gyre" panose="02000503000000000000" charset="0"/>
                            <a:ea typeface="华文楷体" panose="02010600040101010101" charset="-122"/>
                            <a:cs typeface="DejaVu Math TeX Gyre" panose="02000503000000000000" charset="0"/>
                          </a:rPr>
                          <m:t>𝑠</m:t>
                        </m:r>
                      </m:sub>
                    </m:sSub>
                  </m:oMath>
                </a14:m>
                <a:r>
                  <a:rPr lang="en-US" altLang="zh-CN" sz="2000" dirty="0">
                    <a:latin typeface="华文楷体" panose="02010600040101010101" charset="-122"/>
                    <a:ea typeface="华文楷体" panose="02010600040101010101" charset="-122"/>
                    <a:cs typeface="华文楷体" panose="02010600040101010101" charset="-122"/>
                    <a:sym typeface="+mn-ea"/>
                  </a:rPr>
                  <a:t> </a:t>
                </a:r>
                <a:endParaRPr lang="zh-CN" altLang="en-US" sz="2000" dirty="0">
                  <a:latin typeface="华文楷体" panose="02010600040101010101" charset="-122"/>
                  <a:ea typeface="华文楷体" panose="02010600040101010101" charset="-122"/>
                  <a:cs typeface="华文楷体" panose="02010600040101010101" charset="-122"/>
                </a:endParaRPr>
              </a:p>
              <a:p>
                <a:pPr marL="285750" indent="-285750" algn="just">
                  <a:lnSpc>
                    <a:spcPct val="150000"/>
                  </a:lnSpc>
                  <a:buFont typeface="Arial" panose="020B0604020202090204" pitchFamily="34" charset="0"/>
                  <a:buChar char="•"/>
                </a:pPr>
                <a:r>
                  <a:rPr lang="en-US" sz="2000" dirty="0">
                    <a:effectLst/>
                  </a:rPr>
                  <a:t>  </a:t>
                </a:r>
                <a:r>
                  <a:rPr lang="zh-CN" altLang="en-US" sz="2000" b="1" dirty="0">
                    <a:latin typeface="华文楷体" panose="02010600040101010101" charset="-122"/>
                    <a:ea typeface="华文楷体" panose="02010600040101010101" charset="-122"/>
                    <a:cs typeface="华文楷体" panose="02010600040101010101" charset="-122"/>
                    <a:sym typeface="+mn-ea"/>
                  </a:rPr>
                  <a:t>传输带宽</a:t>
                </a:r>
                <a:endParaRPr lang="zh-CN" altLang="en-US" sz="2000" b="1" dirty="0">
                  <a:latin typeface="华文楷体" panose="02010600040101010101" charset="-122"/>
                  <a:ea typeface="华文楷体" panose="02010600040101010101" charset="-122"/>
                  <a:cs typeface="华文楷体" panose="02010600040101010101" charset="-122"/>
                </a:endParaRPr>
              </a:p>
              <a:p>
                <a:pPr algn="just">
                  <a:lnSpc>
                    <a:spcPct val="120000"/>
                  </a:lnSpc>
                </a:pPr>
                <a14:m>
                  <m:oMath xmlns:m="http://schemas.openxmlformats.org/officeDocument/2006/math">
                    <m:r>
                      <a:rPr lang="en-US" altLang="zh-CN" sz="2000" i="1" dirty="0">
                        <a:latin typeface="DejaVu Math TeX Gyre" panose="02000503000000000000" charset="0"/>
                        <a:ea typeface="华文楷体" panose="02010600040101010101" charset="-122"/>
                        <a:cs typeface="DejaVu Math TeX Gyre" panose="02000503000000000000" charset="0"/>
                      </a:rPr>
                      <m:t>𝐵</m:t>
                    </m:r>
                    <m:r>
                      <a:rPr lang="en-US" altLang="zh-CN" sz="2000" i="1" dirty="0">
                        <a:latin typeface="DejaVu Math TeX Gyre" panose="02000503000000000000" charset="0"/>
                        <a:ea typeface="华文楷体" panose="02010600040101010101" charset="-122"/>
                        <a:cs typeface="DejaVu Math TeX Gyre" panose="02000503000000000000" charset="0"/>
                      </a:rPr>
                      <m:t>=</m:t>
                    </m:r>
                    <m:f>
                      <m:fPr>
                        <m:ctrlPr>
                          <a:rPr lang="en-US" altLang="zh-CN" sz="2000" i="1" dirty="0">
                            <a:latin typeface="DejaVu Math TeX Gyre" panose="02000503000000000000" charset="0"/>
                            <a:ea typeface="华文楷体" panose="02010600040101010101" charset="-122"/>
                            <a:cs typeface="DejaVu Math TeX Gyre" panose="02000503000000000000" charset="0"/>
                          </a:rPr>
                        </m:ctrlPr>
                      </m:fPr>
                      <m:num>
                        <m:sSub>
                          <m:sSubPr>
                            <m:ctrlPr>
                              <a:rPr lang="en-US" altLang="zh-CN" sz="2000" i="1" dirty="0">
                                <a:latin typeface="DejaVu Math TeX Gyre" panose="02000503000000000000" charset="0"/>
                                <a:ea typeface="华文楷体" panose="02010600040101010101" charset="-122"/>
                                <a:cs typeface="DejaVu Math TeX Gyre" panose="02000503000000000000" charset="0"/>
                              </a:rPr>
                            </m:ctrlPr>
                          </m:sSubPr>
                          <m:e>
                            <m:r>
                              <a:rPr lang="en-US" altLang="zh-CN" sz="2000" i="1" dirty="0">
                                <a:latin typeface="DejaVu Math TeX Gyre" panose="02000503000000000000" charset="0"/>
                                <a:ea typeface="华文楷体" panose="02010600040101010101" charset="-122"/>
                                <a:cs typeface="DejaVu Math TeX Gyre" panose="02000503000000000000" charset="0"/>
                              </a:rPr>
                              <m:t>𝑅</m:t>
                            </m:r>
                          </m:e>
                          <m:sub>
                            <m:r>
                              <a:rPr lang="en-US" altLang="zh-CN" sz="2000" i="1" dirty="0">
                                <a:latin typeface="DejaVu Math TeX Gyre" panose="02000503000000000000" charset="0"/>
                                <a:ea typeface="华文楷体" panose="02010600040101010101" charset="-122"/>
                                <a:cs typeface="DejaVu Math TeX Gyre" panose="02000503000000000000" charset="0"/>
                              </a:rPr>
                              <m:t>𝐵</m:t>
                            </m:r>
                          </m:sub>
                        </m:sSub>
                      </m:num>
                      <m:den>
                        <m:r>
                          <a:rPr lang="en-US" altLang="zh-CN" sz="2000" i="1" dirty="0">
                            <a:latin typeface="DejaVu Math TeX Gyre" panose="02000503000000000000" charset="0"/>
                            <a:ea typeface="华文楷体" panose="02010600040101010101" charset="-122"/>
                            <a:cs typeface="DejaVu Math TeX Gyre" panose="02000503000000000000" charset="0"/>
                          </a:rPr>
                          <m:t>2</m:t>
                        </m:r>
                      </m:den>
                    </m:f>
                    <m:r>
                      <a:rPr lang="en-US" altLang="zh-CN" sz="2000" i="1" dirty="0">
                        <a:latin typeface="DejaVu Math TeX Gyre" panose="02000503000000000000" charset="0"/>
                        <a:ea typeface="华文楷体" panose="02010600040101010101" charset="-122"/>
                        <a:cs typeface="DejaVu Math TeX Gyre" panose="02000503000000000000" charset="0"/>
                      </a:rPr>
                      <m:t>=</m:t>
                    </m:r>
                    <m:f>
                      <m:fPr>
                        <m:ctrlPr>
                          <a:rPr lang="en-US" altLang="zh-CN" sz="2000" i="1" dirty="0">
                            <a:latin typeface="DejaVu Math TeX Gyre" panose="02000503000000000000" charset="0"/>
                            <a:ea typeface="华文楷体" panose="02010600040101010101" charset="-122"/>
                            <a:cs typeface="DejaVu Math TeX Gyre" panose="02000503000000000000" charset="0"/>
                          </a:rPr>
                        </m:ctrlPr>
                      </m:fPr>
                      <m:num>
                        <m:r>
                          <a:rPr lang="en-US" altLang="zh-CN" sz="2000" i="1" dirty="0">
                            <a:latin typeface="DejaVu Math TeX Gyre" panose="02000503000000000000" charset="0"/>
                            <a:ea typeface="华文楷体" panose="02010600040101010101" charset="-122"/>
                            <a:cs typeface="DejaVu Math TeX Gyre" panose="02000503000000000000" charset="0"/>
                          </a:rPr>
                          <m:t>𝑘</m:t>
                        </m:r>
                        <m:sSub>
                          <m:sSubPr>
                            <m:ctrlPr>
                              <a:rPr lang="en-US" altLang="zh-CN" sz="2000" i="1" dirty="0">
                                <a:latin typeface="DejaVu Math TeX Gyre" panose="02000503000000000000" charset="0"/>
                                <a:ea typeface="华文楷体" panose="02010600040101010101" charset="-122"/>
                                <a:cs typeface="DejaVu Math TeX Gyre" panose="02000503000000000000" charset="0"/>
                              </a:rPr>
                            </m:ctrlPr>
                          </m:sSubPr>
                          <m:e>
                            <m:r>
                              <a:rPr lang="en-US" altLang="zh-CN" sz="2000" i="1" dirty="0">
                                <a:latin typeface="DejaVu Math TeX Gyre" panose="02000503000000000000" charset="0"/>
                                <a:ea typeface="华文楷体" panose="02010600040101010101" charset="-122"/>
                                <a:cs typeface="DejaVu Math TeX Gyre" panose="02000503000000000000" charset="0"/>
                              </a:rPr>
                              <m:t>𝑓</m:t>
                            </m:r>
                          </m:e>
                          <m:sub>
                            <m:r>
                              <a:rPr lang="en-US" altLang="zh-CN" sz="2000" i="1" dirty="0">
                                <a:latin typeface="DejaVu Math TeX Gyre" panose="02000503000000000000" charset="0"/>
                                <a:ea typeface="华文楷体" panose="02010600040101010101" charset="-122"/>
                                <a:cs typeface="DejaVu Math TeX Gyre" panose="02000503000000000000" charset="0"/>
                              </a:rPr>
                              <m:t>𝑠</m:t>
                            </m:r>
                          </m:sub>
                        </m:sSub>
                      </m:num>
                      <m:den>
                        <m:r>
                          <a:rPr lang="en-US" altLang="zh-CN" sz="2000" i="1" dirty="0">
                            <a:latin typeface="DejaVu Math TeX Gyre" panose="02000503000000000000" charset="0"/>
                            <a:ea typeface="华文楷体" panose="02010600040101010101" charset="-122"/>
                            <a:cs typeface="DejaVu Math TeX Gyre" panose="02000503000000000000" charset="0"/>
                          </a:rPr>
                          <m:t>2</m:t>
                        </m:r>
                      </m:den>
                    </m:f>
                  </m:oMath>
                </a14:m>
                <a:r>
                  <a:rPr lang="en-US" altLang="zh-CN" sz="2000" dirty="0">
                    <a:latin typeface="华文楷体" panose="02010600040101010101" charset="-122"/>
                    <a:ea typeface="华文楷体" panose="02010600040101010101" charset="-122"/>
                    <a:cs typeface="华文楷体" panose="02010600040101010101" charset="-122"/>
                    <a:sym typeface="+mn-ea"/>
                  </a:rPr>
                  <a:t> (</a:t>
                </a:r>
                <a:r>
                  <a:rPr lang="zh-CN" altLang="en-US" sz="2000" dirty="0">
                    <a:latin typeface="华文楷体" panose="02010600040101010101" charset="-122"/>
                    <a:ea typeface="华文楷体" panose="02010600040101010101" charset="-122"/>
                    <a:cs typeface="华文楷体" panose="02010600040101010101" charset="-122"/>
                    <a:sym typeface="+mn-ea"/>
                  </a:rPr>
                  <a:t>理想低通</a:t>
                </a:r>
                <a:r>
                  <a:rPr lang="en-US" altLang="zh-CN" sz="2000" dirty="0">
                    <a:latin typeface="华文楷体" panose="02010600040101010101" charset="-122"/>
                    <a:ea typeface="华文楷体" panose="02010600040101010101" charset="-122"/>
                    <a:cs typeface="华文楷体" panose="02010600040101010101" charset="-122"/>
                    <a:sym typeface="+mn-ea"/>
                  </a:rPr>
                  <a:t>)           </a:t>
                </a:r>
                <a14:m>
                  <m:oMath xmlns:m="http://schemas.openxmlformats.org/officeDocument/2006/math">
                    <m:r>
                      <a:rPr lang="en-US" altLang="zh-CN" sz="2000" i="1" dirty="0">
                        <a:latin typeface="DejaVu Math TeX Gyre" panose="02000503000000000000" charset="0"/>
                        <a:ea typeface="华文楷体" panose="02010600040101010101" charset="-122"/>
                        <a:cs typeface="DejaVu Math TeX Gyre" panose="02000503000000000000" charset="0"/>
                      </a:rPr>
                      <m:t>𝐵</m:t>
                    </m:r>
                    <m:r>
                      <a:rPr lang="en-US" altLang="zh-CN" sz="2000" i="1" dirty="0">
                        <a:latin typeface="DejaVu Math TeX Gyre" panose="02000503000000000000" charset="0"/>
                        <a:ea typeface="华文楷体" panose="02010600040101010101" charset="-122"/>
                        <a:cs typeface="DejaVu Math TeX Gyre" panose="02000503000000000000" charset="0"/>
                      </a:rPr>
                      <m:t>=</m:t>
                    </m:r>
                    <m:sSub>
                      <m:sSubPr>
                        <m:ctrlPr>
                          <a:rPr lang="en-US" altLang="zh-CN" sz="2000" i="1" dirty="0">
                            <a:latin typeface="DejaVu Math TeX Gyre" panose="02000503000000000000" charset="0"/>
                            <a:ea typeface="华文楷体" panose="02010600040101010101" charset="-122"/>
                            <a:cs typeface="DejaVu Math TeX Gyre" panose="02000503000000000000" charset="0"/>
                          </a:rPr>
                        </m:ctrlPr>
                      </m:sSubPr>
                      <m:e>
                        <m:r>
                          <a:rPr lang="en-US" altLang="zh-CN" sz="2000" i="1" dirty="0">
                            <a:latin typeface="DejaVu Math TeX Gyre" panose="02000503000000000000" charset="0"/>
                            <a:ea typeface="华文楷体" panose="02010600040101010101" charset="-122"/>
                            <a:cs typeface="DejaVu Math TeX Gyre" panose="02000503000000000000" charset="0"/>
                          </a:rPr>
                          <m:t>𝑅</m:t>
                        </m:r>
                      </m:e>
                      <m:sub>
                        <m:r>
                          <a:rPr lang="en-US" altLang="zh-CN" sz="2000" i="1" dirty="0">
                            <a:latin typeface="DejaVu Math TeX Gyre" panose="02000503000000000000" charset="0"/>
                            <a:ea typeface="华文楷体" panose="02010600040101010101" charset="-122"/>
                            <a:cs typeface="DejaVu Math TeX Gyre" panose="02000503000000000000" charset="0"/>
                          </a:rPr>
                          <m:t>𝐵</m:t>
                        </m:r>
                      </m:sub>
                    </m:sSub>
                    <m:r>
                      <a:rPr lang="en-US" altLang="zh-CN" sz="2000" i="1" dirty="0">
                        <a:latin typeface="DejaVu Math TeX Gyre" panose="02000503000000000000" charset="0"/>
                        <a:ea typeface="华文楷体" panose="02010600040101010101" charset="-122"/>
                        <a:cs typeface="DejaVu Math TeX Gyre" panose="02000503000000000000" charset="0"/>
                      </a:rPr>
                      <m:t>=</m:t>
                    </m:r>
                    <m:r>
                      <a:rPr lang="en-US" altLang="zh-CN" sz="2000" i="1" dirty="0">
                        <a:latin typeface="DejaVu Math TeX Gyre" panose="02000503000000000000" charset="0"/>
                        <a:ea typeface="华文楷体" panose="02010600040101010101" charset="-122"/>
                        <a:cs typeface="DejaVu Math TeX Gyre" panose="02000503000000000000" charset="0"/>
                      </a:rPr>
                      <m:t>𝑘</m:t>
                    </m:r>
                    <m:sSub>
                      <m:sSubPr>
                        <m:ctrlPr>
                          <a:rPr lang="en-US" altLang="zh-CN" sz="2000" i="1" dirty="0">
                            <a:latin typeface="DejaVu Math TeX Gyre" panose="02000503000000000000" charset="0"/>
                            <a:ea typeface="华文楷体" panose="02010600040101010101" charset="-122"/>
                            <a:cs typeface="DejaVu Math TeX Gyre" panose="02000503000000000000" charset="0"/>
                          </a:rPr>
                        </m:ctrlPr>
                      </m:sSubPr>
                      <m:e>
                        <m:r>
                          <a:rPr lang="en-US" altLang="zh-CN" sz="2000" i="1" dirty="0">
                            <a:latin typeface="DejaVu Math TeX Gyre" panose="02000503000000000000" charset="0"/>
                            <a:ea typeface="华文楷体" panose="02010600040101010101" charset="-122"/>
                            <a:cs typeface="DejaVu Math TeX Gyre" panose="02000503000000000000" charset="0"/>
                          </a:rPr>
                          <m:t>𝑓</m:t>
                        </m:r>
                      </m:e>
                      <m:sub>
                        <m:r>
                          <a:rPr lang="en-US" altLang="zh-CN" sz="2000" i="1" dirty="0">
                            <a:latin typeface="DejaVu Math TeX Gyre" panose="02000503000000000000" charset="0"/>
                            <a:ea typeface="华文楷体" panose="02010600040101010101" charset="-122"/>
                            <a:cs typeface="DejaVu Math TeX Gyre" panose="02000503000000000000" charset="0"/>
                          </a:rPr>
                          <m:t>𝑠</m:t>
                        </m:r>
                      </m:sub>
                    </m:sSub>
                  </m:oMath>
                </a14:m>
                <a:r>
                  <a:rPr lang="en-US" altLang="zh-CN" sz="2000" dirty="0">
                    <a:latin typeface="华文楷体" panose="02010600040101010101" charset="-122"/>
                    <a:ea typeface="华文楷体" panose="02010600040101010101" charset="-122"/>
                    <a:cs typeface="华文楷体" panose="02010600040101010101" charset="-122"/>
                    <a:sym typeface="+mn-ea"/>
                  </a:rPr>
                  <a:t> </a:t>
                </a:r>
                <a:r>
                  <a:rPr lang="zh-CN" altLang="en-US" sz="2000" dirty="0">
                    <a:latin typeface="华文楷体" panose="02010600040101010101" charset="-122"/>
                    <a:ea typeface="华文楷体" panose="02010600040101010101" charset="-122"/>
                    <a:cs typeface="华文楷体" panose="02010600040101010101" charset="-122"/>
                    <a:sym typeface="+mn-ea"/>
                  </a:rPr>
                  <a:t>（滚降系数为</a:t>
                </a:r>
                <a:r>
                  <a:rPr lang="en-US" altLang="zh-CN" sz="2000" dirty="0">
                    <a:latin typeface="华文楷体" panose="02010600040101010101" charset="-122"/>
                    <a:ea typeface="华文楷体" panose="02010600040101010101" charset="-122"/>
                    <a:cs typeface="华文楷体" panose="02010600040101010101" charset="-122"/>
                    <a:sym typeface="+mn-ea"/>
                  </a:rPr>
                  <a:t>1</a:t>
                </a:r>
                <a:r>
                  <a:rPr lang="zh-CN" altLang="en-US" sz="2000" dirty="0">
                    <a:latin typeface="华文楷体" panose="02010600040101010101" charset="-122"/>
                    <a:ea typeface="华文楷体" panose="02010600040101010101" charset="-122"/>
                    <a:cs typeface="华文楷体" panose="02010600040101010101" charset="-122"/>
                    <a:sym typeface="+mn-ea"/>
                  </a:rPr>
                  <a:t>的实际升余弦特性信道）</a:t>
                </a:r>
                <a:r>
                  <a:rPr lang="en-US" altLang="zh-CN" sz="2000" dirty="0">
                    <a:latin typeface="华文楷体" panose="02010600040101010101" charset="-122"/>
                    <a:ea typeface="华文楷体" panose="02010600040101010101" charset="-122"/>
                    <a:cs typeface="华文楷体" panose="02010600040101010101" charset="-122"/>
                    <a:sym typeface="+mn-ea"/>
                  </a:rPr>
                  <a:t> </a:t>
                </a:r>
                <a:r>
                  <a:rPr lang="zh-CN" altLang="en-US" sz="2000" dirty="0">
                    <a:latin typeface="华文楷体" panose="02010600040101010101" charset="-122"/>
                    <a:ea typeface="华文楷体" panose="02010600040101010101" charset="-122"/>
                    <a:cs typeface="华文楷体" panose="02010600040101010101" charset="-122"/>
                    <a:sym typeface="+mn-ea"/>
                  </a:rPr>
                  <a:t>　</a:t>
                </a:r>
                <a:r>
                  <a:rPr lang="en-US" altLang="zh-CN" sz="2000" dirty="0">
                    <a:latin typeface="华文楷体" panose="02010600040101010101" charset="-122"/>
                    <a:ea typeface="华文楷体" panose="02010600040101010101" charset="-122"/>
                    <a:cs typeface="华文楷体" panose="02010600040101010101" charset="-122"/>
                    <a:sym typeface="+mn-ea"/>
                  </a:rPr>
                  <a:t>   </a:t>
                </a:r>
                <a:endParaRPr lang="en-US" altLang="zh-CN" sz="2000" dirty="0">
                  <a:latin typeface="华文楷体" panose="02010600040101010101" charset="-122"/>
                  <a:ea typeface="华文楷体" panose="02010600040101010101" charset="-122"/>
                  <a:cs typeface="华文楷体" panose="02010600040101010101" charset="-122"/>
                </a:endParaRPr>
              </a:p>
              <a:p>
                <a:pPr algn="just">
                  <a:lnSpc>
                    <a:spcPct val="120000"/>
                  </a:lnSpc>
                </a:pPr>
                <a:endParaRPr lang="en-US" dirty="0"/>
              </a:p>
            </p:txBody>
          </p:sp>
        </mc:Choice>
        <mc:Fallback>
          <p:sp>
            <p:nvSpPr>
              <p:cNvPr id="7" name="TextBox 6"/>
              <p:cNvSpPr txBox="1">
                <a:spLocks noRot="1" noChangeAspect="1" noMove="1" noResize="1" noEditPoints="1" noAdjustHandles="1" noChangeArrowheads="1" noChangeShapeType="1" noTextEdit="1"/>
              </p:cNvSpPr>
              <p:nvPr/>
            </p:nvSpPr>
            <p:spPr>
              <a:xfrm>
                <a:off x="911424" y="1196752"/>
                <a:ext cx="10585176" cy="4723765"/>
              </a:xfrm>
              <a:prstGeom prst="rect">
                <a:avLst/>
              </a:prstGeom>
              <a:blipFill rotWithShape="1">
                <a:blip r:embed="rId2"/>
                <a:stretch>
                  <a:fillRect l="-2" t="-9" r="5" b="-3083"/>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mc:AlternateContent xmlns:mc="http://schemas.openxmlformats.org/markup-compatibility/2006">
        <mc:Choice xmlns:a14="http://schemas.microsoft.com/office/drawing/2010/main" Requires="a14">
          <p:sp>
            <p:nvSpPr>
              <p:cNvPr id="7" name="TextBox 6"/>
              <p:cNvSpPr txBox="1"/>
              <p:nvPr/>
            </p:nvSpPr>
            <p:spPr>
              <a:xfrm>
                <a:off x="767408" y="1077507"/>
                <a:ext cx="10369152" cy="5628640"/>
              </a:xfrm>
              <a:prstGeom prst="rect">
                <a:avLst/>
              </a:prstGeom>
              <a:noFill/>
            </p:spPr>
            <p:txBody>
              <a:bodyPr wrap="square" rtlCol="0">
                <a:spAutoFit/>
              </a:bodyPr>
              <a:p>
                <a:pPr algn="just">
                  <a:lnSpc>
                    <a:spcPct val="150000"/>
                  </a:lnSpc>
                </a:pPr>
                <a:endParaRPr lang="en-US" dirty="0">
                  <a:solidFill>
                    <a:srgbClr val="000000"/>
                  </a:solidFill>
                  <a:latin typeface="Times New Roman" panose="02020603050405020304" pitchFamily="18" charset="0"/>
                  <a:ea typeface="宋体" pitchFamily="2" charset="-122"/>
                  <a:cs typeface="Arial" panose="020B0604020202090204" pitchFamily="34" charset="0"/>
                </a:endParaRPr>
              </a:p>
              <a:p>
                <a:pPr marL="285750" indent="-285750" algn="just">
                  <a:lnSpc>
                    <a:spcPct val="150000"/>
                  </a:lnSpc>
                  <a:buFont typeface="Arial" panose="020B0604020202090204" pitchFamily="34" charset="0"/>
                  <a:buChar char="•"/>
                </a:pPr>
                <a:r>
                  <a:rPr lang="en-US" sz="2000" dirty="0">
                    <a:solidFill>
                      <a:srgbClr val="000000"/>
                    </a:solidFill>
                    <a:latin typeface="Times New Roman" panose="02020603050405020304" pitchFamily="18" charset="0"/>
                    <a:ea typeface="宋体" pitchFamily="2" charset="-122"/>
                    <a:cs typeface="Times New Roman" panose="02020603050405020304" pitchFamily="18" charset="0"/>
                  </a:rPr>
                  <a:t>PCM30/32</a:t>
                </a:r>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路制式的基群（或一次群）简称</a:t>
                </a:r>
                <a:r>
                  <a:rPr lang="en-US" sz="2000" dirty="0">
                    <a:solidFill>
                      <a:srgbClr val="000000"/>
                    </a:solidFill>
                    <a:latin typeface="Times New Roman" panose="02020603050405020304" pitchFamily="18" charset="0"/>
                    <a:ea typeface="宋体" pitchFamily="2" charset="-122"/>
                    <a:cs typeface="Times New Roman" panose="02020603050405020304" pitchFamily="18" charset="0"/>
                  </a:rPr>
                  <a:t>E1</a:t>
                </a:r>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。共有</a:t>
                </a:r>
                <a:r>
                  <a:rPr lang="en-US" sz="2000" dirty="0">
                    <a:solidFill>
                      <a:srgbClr val="C00000"/>
                    </a:solidFill>
                    <a:latin typeface="Times New Roman" panose="02020603050405020304" pitchFamily="18" charset="0"/>
                    <a:ea typeface="宋体" pitchFamily="2" charset="-122"/>
                    <a:cs typeface="Times New Roman" panose="02020603050405020304" pitchFamily="18" charset="0"/>
                  </a:rPr>
                  <a:t>32</a:t>
                </a:r>
                <a:r>
                  <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rPr>
                  <a:t>个时隙</a:t>
                </a:r>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，分别记为</a:t>
                </a:r>
                <a:r>
                  <a:rPr lang="en-US" sz="2000" dirty="0">
                    <a:solidFill>
                      <a:srgbClr val="000000"/>
                    </a:solidFill>
                    <a:latin typeface="Times New Roman" panose="02020603050405020304" pitchFamily="18" charset="0"/>
                    <a:ea typeface="宋体" pitchFamily="2" charset="-122"/>
                    <a:cs typeface="Times New Roman" panose="02020603050405020304" pitchFamily="18" charset="0"/>
                  </a:rPr>
                  <a:t>TS</a:t>
                </a:r>
                <a:r>
                  <a:rPr lang="en-US" sz="2000" baseline="-25000" dirty="0">
                    <a:solidFill>
                      <a:srgbClr val="000000"/>
                    </a:solidFill>
                    <a:latin typeface="Times New Roman" panose="02020603050405020304" pitchFamily="18" charset="0"/>
                    <a:ea typeface="宋体" pitchFamily="2" charset="-122"/>
                    <a:cs typeface="Times New Roman" panose="02020603050405020304" pitchFamily="18" charset="0"/>
                  </a:rPr>
                  <a:t>0</a:t>
                </a:r>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2000" dirty="0">
                    <a:solidFill>
                      <a:srgbClr val="000000"/>
                    </a:solidFill>
                    <a:latin typeface="Times New Roman" panose="02020603050405020304" pitchFamily="18" charset="0"/>
                    <a:ea typeface="宋体" pitchFamily="2" charset="-122"/>
                    <a:cs typeface="Times New Roman" panose="02020603050405020304" pitchFamily="18" charset="0"/>
                  </a:rPr>
                  <a:t>TS</a:t>
                </a:r>
                <a:r>
                  <a:rPr lang="en-US" sz="2000" baseline="-25000" dirty="0">
                    <a:solidFill>
                      <a:srgbClr val="000000"/>
                    </a:solidFill>
                    <a:latin typeface="Times New Roman" panose="02020603050405020304" pitchFamily="18" charset="0"/>
                    <a:ea typeface="宋体" pitchFamily="2" charset="-122"/>
                    <a:cs typeface="Times New Roman" panose="02020603050405020304" pitchFamily="18" charset="0"/>
                  </a:rPr>
                  <a:t>1</a:t>
                </a:r>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2000" dirty="0">
                    <a:solidFill>
                      <a:srgbClr val="000000"/>
                    </a:solidFill>
                    <a:latin typeface="Times New Roman" panose="02020603050405020304" pitchFamily="18" charset="0"/>
                    <a:ea typeface="宋体" pitchFamily="2" charset="-122"/>
                    <a:cs typeface="Times New Roman" panose="02020603050405020304" pitchFamily="18" charset="0"/>
                  </a:rPr>
                  <a:t>…</a:t>
                </a:r>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sz="2000" dirty="0">
                    <a:solidFill>
                      <a:srgbClr val="000000"/>
                    </a:solidFill>
                    <a:latin typeface="Times New Roman" panose="02020603050405020304" pitchFamily="18" charset="0"/>
                    <a:ea typeface="宋体" pitchFamily="2" charset="-122"/>
                    <a:cs typeface="Times New Roman" panose="02020603050405020304" pitchFamily="18" charset="0"/>
                  </a:rPr>
                  <a:t>TS</a:t>
                </a:r>
                <a:r>
                  <a:rPr lang="en-US" sz="2000" baseline="-25000" dirty="0">
                    <a:solidFill>
                      <a:srgbClr val="000000"/>
                    </a:solidFill>
                    <a:latin typeface="Times New Roman" panose="02020603050405020304" pitchFamily="18" charset="0"/>
                    <a:ea typeface="宋体" pitchFamily="2" charset="-122"/>
                    <a:cs typeface="Times New Roman" panose="02020603050405020304" pitchFamily="18" charset="0"/>
                  </a:rPr>
                  <a:t>31</a:t>
                </a:r>
                <a:endParaRPr lang="en-US" sz="2000" baseline="-25000" dirty="0">
                  <a:solidFill>
                    <a:srgbClr val="000000"/>
                  </a:solidFill>
                  <a:latin typeface="Times New Roman" panose="02020603050405020304" pitchFamily="18" charset="0"/>
                  <a:ea typeface="宋体" pitchFamily="2" charset="-122"/>
                  <a:cs typeface="Times New Roman" panose="02020603050405020304" pitchFamily="18" charset="0"/>
                </a:endParaRPr>
              </a:p>
              <a:p>
                <a:pPr marL="742950" lvl="1" indent="-285750" algn="just">
                  <a:lnSpc>
                    <a:spcPct val="150000"/>
                  </a:lnSpc>
                  <a:buFont typeface="Arial" panose="020B0604020202090204" pitchFamily="34" charset="0"/>
                  <a:buChar char="•"/>
                </a:pPr>
                <a:r>
                  <a:rPr lang="en-US" sz="2000" dirty="0">
                    <a:solidFill>
                      <a:srgbClr val="C00000"/>
                    </a:solidFill>
                    <a:latin typeface="Times New Roman" panose="02020603050405020304" pitchFamily="18" charset="0"/>
                    <a:ea typeface="宋体" pitchFamily="2" charset="-122"/>
                    <a:cs typeface="Times New Roman" panose="02020603050405020304" pitchFamily="18" charset="0"/>
                  </a:rPr>
                  <a:t>TS</a:t>
                </a:r>
                <a:r>
                  <a:rPr lang="en-US" sz="2000" baseline="-25000" dirty="0">
                    <a:solidFill>
                      <a:srgbClr val="C00000"/>
                    </a:solidFill>
                    <a:latin typeface="Times New Roman" panose="02020603050405020304" pitchFamily="18" charset="0"/>
                    <a:ea typeface="宋体" pitchFamily="2" charset="-122"/>
                    <a:cs typeface="Times New Roman" panose="02020603050405020304" pitchFamily="18" charset="0"/>
                  </a:rPr>
                  <a:t>0</a:t>
                </a:r>
                <a:r>
                  <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rPr>
                  <a:t>为帧同步时隙</a:t>
                </a:r>
                <a:endPar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endParaRPr>
              </a:p>
              <a:p>
                <a:pPr marL="742950" lvl="1" indent="-285750" algn="just">
                  <a:lnSpc>
                    <a:spcPct val="150000"/>
                  </a:lnSpc>
                  <a:buFont typeface="Arial" panose="020B0604020202090204" pitchFamily="34" charset="0"/>
                  <a:buChar char="•"/>
                </a:pPr>
                <a:r>
                  <a:rPr lang="en-US" sz="2000" dirty="0">
                    <a:solidFill>
                      <a:srgbClr val="C00000"/>
                    </a:solidFill>
                    <a:latin typeface="Times New Roman" panose="02020603050405020304" pitchFamily="18" charset="0"/>
                    <a:ea typeface="宋体" pitchFamily="2" charset="-122"/>
                    <a:cs typeface="Times New Roman" panose="02020603050405020304" pitchFamily="18" charset="0"/>
                  </a:rPr>
                  <a:t>TS</a:t>
                </a:r>
                <a:r>
                  <a:rPr lang="en-US" sz="2000" baseline="-25000" dirty="0">
                    <a:solidFill>
                      <a:srgbClr val="C00000"/>
                    </a:solidFill>
                    <a:latin typeface="Times New Roman" panose="02020603050405020304" pitchFamily="18" charset="0"/>
                    <a:ea typeface="宋体" pitchFamily="2" charset="-122"/>
                    <a:cs typeface="Times New Roman" panose="02020603050405020304" pitchFamily="18" charset="0"/>
                  </a:rPr>
                  <a:t>16</a:t>
                </a:r>
                <a:r>
                  <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rPr>
                  <a:t>为信令时隙</a:t>
                </a:r>
                <a:endPar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endParaRPr>
              </a:p>
              <a:p>
                <a:pPr marL="742950" lvl="1" indent="-285750" algn="just">
                  <a:lnSpc>
                    <a:spcPct val="150000"/>
                  </a:lnSpc>
                  <a:buFont typeface="Arial" panose="020B0604020202090204" pitchFamily="34" charset="0"/>
                  <a:buChar char="•"/>
                </a:pPr>
                <a:r>
                  <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rPr>
                  <a:t>其余</a:t>
                </a:r>
                <a:r>
                  <a:rPr lang="en-US" sz="2000" dirty="0">
                    <a:solidFill>
                      <a:srgbClr val="C00000"/>
                    </a:solidFill>
                    <a:latin typeface="Times New Roman" panose="02020603050405020304" pitchFamily="18" charset="0"/>
                    <a:ea typeface="宋体" pitchFamily="2" charset="-122"/>
                    <a:cs typeface="Times New Roman" panose="02020603050405020304" pitchFamily="18" charset="0"/>
                  </a:rPr>
                  <a:t>30</a:t>
                </a:r>
                <a:r>
                  <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rPr>
                  <a:t>路为</a:t>
                </a:r>
                <a:r>
                  <a:rPr lang="en-US" sz="2000" dirty="0">
                    <a:solidFill>
                      <a:srgbClr val="C00000"/>
                    </a:solidFill>
                    <a:latin typeface="Times New Roman" panose="02020603050405020304" pitchFamily="18" charset="0"/>
                    <a:ea typeface="宋体" pitchFamily="2" charset="-122"/>
                    <a:cs typeface="Times New Roman" panose="02020603050405020304" pitchFamily="18" charset="0"/>
                  </a:rPr>
                  <a:t>A</a:t>
                </a:r>
                <a:r>
                  <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rPr>
                  <a:t>律</a:t>
                </a:r>
                <a:r>
                  <a:rPr lang="en-US" sz="2000" dirty="0">
                    <a:solidFill>
                      <a:srgbClr val="C00000"/>
                    </a:solidFill>
                    <a:latin typeface="Times New Roman" panose="02020603050405020304" pitchFamily="18" charset="0"/>
                    <a:ea typeface="宋体" pitchFamily="2" charset="-122"/>
                    <a:cs typeface="Times New Roman" panose="02020603050405020304" pitchFamily="18" charset="0"/>
                  </a:rPr>
                  <a:t>13</a:t>
                </a:r>
                <a:r>
                  <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rPr>
                  <a:t>折线编码的话路时隙，即</a:t>
                </a:r>
                <a:r>
                  <a:rPr lang="en-US" sz="2000" dirty="0">
                    <a:solidFill>
                      <a:srgbClr val="C00000"/>
                    </a:solidFill>
                    <a:latin typeface="Times New Roman" panose="02020603050405020304" pitchFamily="18" charset="0"/>
                    <a:ea typeface="宋体" pitchFamily="2" charset="-122"/>
                    <a:cs typeface="Times New Roman" panose="02020603050405020304" pitchFamily="18" charset="0"/>
                  </a:rPr>
                  <a:t>TS</a:t>
                </a:r>
                <a:r>
                  <a:rPr lang="en-US" sz="2000" baseline="-25000" dirty="0">
                    <a:solidFill>
                      <a:srgbClr val="C00000"/>
                    </a:solidFill>
                    <a:latin typeface="Times New Roman" panose="02020603050405020304" pitchFamily="18" charset="0"/>
                    <a:ea typeface="宋体" pitchFamily="2" charset="-122"/>
                    <a:cs typeface="Times New Roman" panose="02020603050405020304" pitchFamily="18" charset="0"/>
                  </a:rPr>
                  <a:t>1</a:t>
                </a:r>
                <a:r>
                  <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rPr>
                  <a:t>～</a:t>
                </a:r>
                <a:r>
                  <a:rPr lang="en-US" sz="2000" dirty="0">
                    <a:solidFill>
                      <a:srgbClr val="C00000"/>
                    </a:solidFill>
                    <a:latin typeface="Times New Roman" panose="02020603050405020304" pitchFamily="18" charset="0"/>
                    <a:ea typeface="宋体" pitchFamily="2" charset="-122"/>
                    <a:cs typeface="Times New Roman" panose="02020603050405020304" pitchFamily="18" charset="0"/>
                  </a:rPr>
                  <a:t>TS</a:t>
                </a:r>
                <a:r>
                  <a:rPr lang="en-US" sz="2000" baseline="-25000" dirty="0">
                    <a:solidFill>
                      <a:srgbClr val="C00000"/>
                    </a:solidFill>
                    <a:latin typeface="Times New Roman" panose="02020603050405020304" pitchFamily="18" charset="0"/>
                    <a:ea typeface="宋体" pitchFamily="2" charset="-122"/>
                    <a:cs typeface="Times New Roman" panose="02020603050405020304" pitchFamily="18" charset="0"/>
                  </a:rPr>
                  <a:t>15</a:t>
                </a:r>
                <a:r>
                  <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rPr>
                  <a:t>和</a:t>
                </a:r>
                <a:r>
                  <a:rPr lang="en-US" sz="2000" dirty="0">
                    <a:solidFill>
                      <a:srgbClr val="C00000"/>
                    </a:solidFill>
                    <a:latin typeface="Times New Roman" panose="02020603050405020304" pitchFamily="18" charset="0"/>
                    <a:ea typeface="宋体" pitchFamily="2" charset="-122"/>
                    <a:cs typeface="Times New Roman" panose="02020603050405020304" pitchFamily="18" charset="0"/>
                  </a:rPr>
                  <a:t>TS</a:t>
                </a:r>
                <a:r>
                  <a:rPr lang="en-US" sz="2000" baseline="-25000" dirty="0">
                    <a:solidFill>
                      <a:srgbClr val="C00000"/>
                    </a:solidFill>
                    <a:latin typeface="Times New Roman" panose="02020603050405020304" pitchFamily="18" charset="0"/>
                    <a:ea typeface="宋体" pitchFamily="2" charset="-122"/>
                    <a:cs typeface="Times New Roman" panose="02020603050405020304" pitchFamily="18" charset="0"/>
                  </a:rPr>
                  <a:t>17</a:t>
                </a:r>
                <a:r>
                  <a:rPr lang="zh-CN" altLang="en-US" sz="2000" dirty="0">
                    <a:solidFill>
                      <a:srgbClr val="C00000"/>
                    </a:solidFill>
                    <a:latin typeface="Times New Roman" panose="02020603050405020304" pitchFamily="18" charset="0"/>
                    <a:ea typeface="宋体" pitchFamily="2" charset="-122"/>
                    <a:cs typeface="Times New Roman" panose="02020603050405020304" pitchFamily="18" charset="0"/>
                  </a:rPr>
                  <a:t>～</a:t>
                </a:r>
                <a:r>
                  <a:rPr lang="en-US" sz="2000" dirty="0">
                    <a:solidFill>
                      <a:srgbClr val="C00000"/>
                    </a:solidFill>
                    <a:latin typeface="Times New Roman" panose="02020603050405020304" pitchFamily="18" charset="0"/>
                    <a:ea typeface="宋体" pitchFamily="2" charset="-122"/>
                    <a:cs typeface="Times New Roman" panose="02020603050405020304" pitchFamily="18" charset="0"/>
                  </a:rPr>
                  <a:t>TS</a:t>
                </a:r>
                <a:r>
                  <a:rPr lang="en-US" sz="2000" baseline="-25000" dirty="0">
                    <a:solidFill>
                      <a:srgbClr val="C00000"/>
                    </a:solidFill>
                    <a:latin typeface="Times New Roman" panose="02020603050405020304" pitchFamily="18" charset="0"/>
                    <a:ea typeface="宋体" pitchFamily="2" charset="-122"/>
                    <a:cs typeface="Times New Roman" panose="02020603050405020304" pitchFamily="18" charset="0"/>
                  </a:rPr>
                  <a:t>31</a:t>
                </a:r>
                <a:endParaRPr lang="en-US" sz="2000" baseline="-25000" dirty="0">
                  <a:solidFill>
                    <a:srgbClr val="C00000"/>
                  </a:solidFill>
                  <a:latin typeface="Times New Roman" panose="02020603050405020304" pitchFamily="18" charset="0"/>
                  <a:ea typeface="宋体" pitchFamily="2" charset="-122"/>
                  <a:cs typeface="Times New Roman" panose="02020603050405020304" pitchFamily="18" charset="0"/>
                </a:endParaRPr>
              </a:p>
              <a:p>
                <a:pPr lvl="1" indent="0" algn="just">
                  <a:lnSpc>
                    <a:spcPct val="150000"/>
                  </a:lnSpc>
                  <a:buFont typeface="Arial" panose="020B0604020202090204" pitchFamily="34" charset="0"/>
                  <a:buNone/>
                </a:pPr>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语音信号的抽样频率为</a:t>
                </a:r>
                <a:r>
                  <a:rPr lang="en-US" sz="2000" dirty="0">
                    <a:solidFill>
                      <a:srgbClr val="000000"/>
                    </a:solidFill>
                    <a:latin typeface="Times New Roman" panose="02020603050405020304" pitchFamily="18" charset="0"/>
                    <a:ea typeface="宋体" pitchFamily="2" charset="-122"/>
                    <a:cs typeface="Times New Roman" panose="02020603050405020304" pitchFamily="18" charset="0"/>
                  </a:rPr>
                  <a:t>8000Hz</a:t>
                </a:r>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，抽样周期为</a:t>
                </a:r>
                <a:r>
                  <a:rPr lang="en-US" sz="2000" dirty="0">
                    <a:solidFill>
                      <a:srgbClr val="000000"/>
                    </a:solidFill>
                    <a:latin typeface="Times New Roman" panose="02020603050405020304" pitchFamily="18" charset="0"/>
                    <a:ea typeface="宋体" pitchFamily="2" charset="-122"/>
                    <a:cs typeface="Times New Roman" panose="02020603050405020304" pitchFamily="18" charset="0"/>
                  </a:rPr>
                  <a:t>125</a:t>
                </a:r>
                <a14:m>
                  <m:oMath xmlns:m="http://schemas.openxmlformats.org/officeDocument/2006/math">
                    <m:r>
                      <a:rPr lang="en-US" sz="2000" i="1">
                        <a:solidFill>
                          <a:srgbClr val="000000"/>
                        </a:solidFill>
                        <a:latin typeface="Cambria Math" panose="02040503050406030204" pitchFamily="18" charset="0"/>
                        <a:ea typeface="宋体" pitchFamily="2" charset="-122"/>
                        <a:cs typeface="Times New Roman" panose="02020603050405020304" pitchFamily="18" charset="0"/>
                      </a:rPr>
                      <m:t>𝜇</m:t>
                    </m:r>
                    <m:r>
                      <a:rPr lang="en-US" sz="2000" i="1">
                        <a:solidFill>
                          <a:srgbClr val="000000"/>
                        </a:solidFill>
                        <a:latin typeface="Cambria Math" panose="02040503050406030204" pitchFamily="18" charset="0"/>
                        <a:ea typeface="宋体" pitchFamily="2" charset="-122"/>
                        <a:cs typeface="Times New Roman" panose="02020603050405020304" pitchFamily="18" charset="0"/>
                      </a:rPr>
                      <m:t>𝑠</m:t>
                    </m:r>
                  </m:oMath>
                </a14:m>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。一帧共包含</a:t>
                </a:r>
                <a:r>
                  <a:rPr lang="en-US" sz="2000" dirty="0">
                    <a:solidFill>
                      <a:srgbClr val="000000"/>
                    </a:solidFill>
                    <a:latin typeface="Times New Roman" panose="02020603050405020304" pitchFamily="18" charset="0"/>
                    <a:ea typeface="宋体" pitchFamily="2" charset="-122"/>
                    <a:cs typeface="Times New Roman" panose="02020603050405020304" pitchFamily="18" charset="0"/>
                  </a:rPr>
                  <a:t>256</a:t>
                </a:r>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个比特。每个时隙为</a:t>
                </a:r>
                <a:endParaRPr lang="en-US" altLang="zh-CN" sz="2000" dirty="0">
                  <a:solidFill>
                    <a:srgbClr val="000000"/>
                  </a:solidFill>
                  <a:latin typeface="Times New Roman" panose="02020603050405020304" pitchFamily="18" charset="0"/>
                  <a:ea typeface="宋体"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宋体" pitchFamily="2" charset="-122"/>
                          <a:cs typeface="Times New Roman" panose="02020603050405020304" pitchFamily="18" charset="0"/>
                        </a:rPr>
                        <m:t>𝜏</m:t>
                      </m:r>
                      <m:r>
                        <a:rPr lang="en-US" i="1">
                          <a:latin typeface="Cambria Math" panose="02040503050406030204" pitchFamily="18" charset="0"/>
                          <a:ea typeface="宋体" pitchFamily="2" charset="-122"/>
                          <a:cs typeface="Times New Roman" panose="02020603050405020304" pitchFamily="18" charset="0"/>
                        </a:rPr>
                        <m:t>=</m:t>
                      </m:r>
                      <m:f>
                        <m:fPr>
                          <m:ctrlPr>
                            <a:rPr lang="en-US" i="1">
                              <a:effectLst/>
                              <a:latin typeface="Cambria Math" panose="02040503050406030204" pitchFamily="18" charset="0"/>
                              <a:cs typeface="Times New Roman" panose="02020603050405020304" pitchFamily="18" charset="0"/>
                            </a:rPr>
                          </m:ctrlPr>
                        </m:fPr>
                        <m:num>
                          <m:r>
                            <a:rPr lang="en-US" i="1">
                              <a:latin typeface="Cambria Math" panose="02040503050406030204" pitchFamily="18" charset="0"/>
                              <a:ea typeface="宋体" pitchFamily="2" charset="-122"/>
                              <a:cs typeface="Times New Roman" panose="02020603050405020304" pitchFamily="18" charset="0"/>
                            </a:rPr>
                            <m:t>125</m:t>
                          </m:r>
                        </m:num>
                        <m:den>
                          <m:r>
                            <a:rPr lang="en-US" i="1">
                              <a:latin typeface="Cambria Math" panose="02040503050406030204" pitchFamily="18" charset="0"/>
                              <a:ea typeface="宋体" pitchFamily="2" charset="-122"/>
                              <a:cs typeface="Times New Roman" panose="02020603050405020304" pitchFamily="18" charset="0"/>
                            </a:rPr>
                            <m:t>32</m:t>
                          </m:r>
                        </m:den>
                      </m:f>
                      <m:r>
                        <a:rPr lang="en-US" i="1">
                          <a:latin typeface="Cambria Math" panose="02040503050406030204" pitchFamily="18" charset="0"/>
                          <a:ea typeface="宋体" pitchFamily="2" charset="-122"/>
                          <a:cs typeface="Times New Roman" panose="02020603050405020304" pitchFamily="18" charset="0"/>
                        </a:rPr>
                        <m:t>≈</m:t>
                      </m:r>
                      <m:r>
                        <a:rPr lang="en-US" i="1">
                          <a:latin typeface="Cambria Math" panose="02040503050406030204" pitchFamily="18" charset="0"/>
                          <a:ea typeface="宋体" pitchFamily="2" charset="-122"/>
                          <a:cs typeface="Times New Roman" panose="02020603050405020304" pitchFamily="18" charset="0"/>
                        </a:rPr>
                        <m:t>3</m:t>
                      </m:r>
                      <m:r>
                        <a:rPr lang="en-US" i="1">
                          <a:latin typeface="Cambria Math" panose="02040503050406030204" pitchFamily="18" charset="0"/>
                          <a:ea typeface="宋体" pitchFamily="2" charset="-122"/>
                          <a:cs typeface="Times New Roman" panose="02020603050405020304" pitchFamily="18" charset="0"/>
                        </a:rPr>
                        <m:t>.</m:t>
                      </m:r>
                      <m:r>
                        <a:rPr lang="en-US" i="1">
                          <a:latin typeface="Cambria Math" panose="02040503050406030204" pitchFamily="18" charset="0"/>
                          <a:ea typeface="宋体" pitchFamily="2" charset="-122"/>
                          <a:cs typeface="Times New Roman" panose="02020603050405020304" pitchFamily="18" charset="0"/>
                        </a:rPr>
                        <m:t>91</m:t>
                      </m:r>
                      <m:r>
                        <a:rPr lang="en-US" i="1">
                          <a:latin typeface="Cambria Math" panose="02040503050406030204" pitchFamily="18" charset="0"/>
                          <a:ea typeface="宋体" pitchFamily="2" charset="-122"/>
                          <a:cs typeface="Times New Roman" panose="02020603050405020304" pitchFamily="18" charset="0"/>
                        </a:rPr>
                        <m:t> (</m:t>
                      </m:r>
                      <m:r>
                        <a:rPr lang="en-US" i="1">
                          <a:latin typeface="Cambria Math" panose="02040503050406030204" pitchFamily="18" charset="0"/>
                          <a:ea typeface="宋体" pitchFamily="2" charset="-122"/>
                          <a:cs typeface="Times New Roman" panose="02020603050405020304" pitchFamily="18" charset="0"/>
                        </a:rPr>
                        <m:t>𝜇</m:t>
                      </m:r>
                      <m:r>
                        <a:rPr lang="en-US" i="1">
                          <a:latin typeface="Cambria Math" panose="02040503050406030204" pitchFamily="18" charset="0"/>
                          <a:ea typeface="宋体" pitchFamily="2" charset="-122"/>
                          <a:cs typeface="Times New Roman" panose="02020603050405020304" pitchFamily="18" charset="0"/>
                        </a:rPr>
                        <m:t>𝑠</m:t>
                      </m:r>
                      <m:r>
                        <a:rPr lang="en-US" i="1">
                          <a:latin typeface="Cambria Math" panose="02040503050406030204" pitchFamily="18" charset="0"/>
                          <a:ea typeface="宋体" pitchFamily="2" charset="-122"/>
                          <a:cs typeface="Times New Roman" panose="02020603050405020304" pitchFamily="18" charset="0"/>
                        </a:rPr>
                        <m:t>)</m:t>
                      </m:r>
                    </m:oMath>
                  </m:oMathPara>
                </a14:m>
                <a:endParaRPr lang="en-US" dirty="0">
                  <a:solidFill>
                    <a:srgbClr val="000000"/>
                  </a:solidFill>
                  <a:latin typeface="Times New Roman" panose="02020603050405020304" pitchFamily="18" charset="0"/>
                  <a:ea typeface="宋体" pitchFamily="2" charset="-122"/>
                  <a:cs typeface="Arial" panose="020B0604020202090204" pitchFamily="34" charset="0"/>
                </a:endParaRPr>
              </a:p>
              <a:p>
                <a:pPr algn="just">
                  <a:lnSpc>
                    <a:spcPct val="150000"/>
                  </a:lnSpc>
                </a:pPr>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每比特的时间宽度为</a:t>
                </a:r>
                <a:endParaRPr lang="en-US" altLang="zh-CN" sz="2000" dirty="0">
                  <a:solidFill>
                    <a:srgbClr val="000000"/>
                  </a:solidFill>
                  <a:latin typeface="Times New Roman" panose="02020603050405020304" pitchFamily="18" charset="0"/>
                  <a:ea typeface="宋体"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宋体" pitchFamily="2" charset="-122"/>
                              <a:cs typeface="Times New Roman" panose="02020603050405020304" pitchFamily="18" charset="0"/>
                            </a:rPr>
                            <m:t>𝜏</m:t>
                          </m:r>
                        </m:e>
                        <m:sub>
                          <m:r>
                            <a:rPr lang="en-US" i="1">
                              <a:latin typeface="Cambria Math" panose="02040503050406030204" pitchFamily="18" charset="0"/>
                              <a:ea typeface="宋体" pitchFamily="2" charset="-122"/>
                              <a:cs typeface="Times New Roman" panose="02020603050405020304" pitchFamily="18" charset="0"/>
                            </a:rPr>
                            <m:t>𝑏</m:t>
                          </m:r>
                        </m:sub>
                      </m:sSub>
                      <m:r>
                        <a:rPr lang="en-US" i="1">
                          <a:latin typeface="Cambria Math" panose="02040503050406030204" pitchFamily="18" charset="0"/>
                          <a:ea typeface="宋体" pitchFamily="2" charset="-122"/>
                          <a:cs typeface="Times New Roman" panose="02020603050405020304" pitchFamily="18" charset="0"/>
                        </a:rPr>
                        <m:t>=</m:t>
                      </m:r>
                      <m:f>
                        <m:fPr>
                          <m:ctrlPr>
                            <a:rPr lang="en-US" i="1">
                              <a:effectLst/>
                              <a:latin typeface="Cambria Math" panose="02040503050406030204" pitchFamily="18" charset="0"/>
                              <a:cs typeface="Times New Roman" panose="02020603050405020304" pitchFamily="18" charset="0"/>
                            </a:rPr>
                          </m:ctrlPr>
                        </m:fPr>
                        <m:num>
                          <m:r>
                            <a:rPr lang="en-US" i="1">
                              <a:latin typeface="Cambria Math" panose="02040503050406030204" pitchFamily="18" charset="0"/>
                              <a:ea typeface="宋体" pitchFamily="2" charset="-122"/>
                              <a:cs typeface="Times New Roman" panose="02020603050405020304" pitchFamily="18" charset="0"/>
                            </a:rPr>
                            <m:t>𝜏</m:t>
                          </m:r>
                        </m:num>
                        <m:den>
                          <m:r>
                            <a:rPr lang="en-US" i="1">
                              <a:latin typeface="Cambria Math" panose="02040503050406030204" pitchFamily="18" charset="0"/>
                              <a:ea typeface="宋体" pitchFamily="2" charset="-122"/>
                              <a:cs typeface="Times New Roman" panose="02020603050405020304" pitchFamily="18" charset="0"/>
                            </a:rPr>
                            <m:t>8</m:t>
                          </m:r>
                        </m:den>
                      </m:f>
                      <m:r>
                        <a:rPr lang="en-US" i="1">
                          <a:latin typeface="Cambria Math" panose="02040503050406030204" pitchFamily="18" charset="0"/>
                          <a:ea typeface="宋体" pitchFamily="2" charset="-122"/>
                          <a:cs typeface="Times New Roman" panose="02020603050405020304" pitchFamily="18" charset="0"/>
                        </a:rPr>
                        <m:t>≈</m:t>
                      </m:r>
                      <m:r>
                        <a:rPr lang="en-US" i="1">
                          <a:latin typeface="Cambria Math" panose="02040503050406030204" pitchFamily="18" charset="0"/>
                          <a:ea typeface="宋体" pitchFamily="2" charset="-122"/>
                          <a:cs typeface="Times New Roman" panose="02020603050405020304" pitchFamily="18" charset="0"/>
                        </a:rPr>
                        <m:t>488</m:t>
                      </m:r>
                      <m:r>
                        <a:rPr lang="en-US" i="1">
                          <a:latin typeface="Cambria Math" panose="02040503050406030204" pitchFamily="18" charset="0"/>
                          <a:ea typeface="宋体" pitchFamily="2" charset="-122"/>
                          <a:cs typeface="Times New Roman" panose="02020603050405020304" pitchFamily="18" charset="0"/>
                        </a:rPr>
                        <m:t> (</m:t>
                      </m:r>
                      <m:r>
                        <a:rPr lang="en-US" i="1">
                          <a:latin typeface="Cambria Math" panose="02040503050406030204" pitchFamily="18" charset="0"/>
                          <a:ea typeface="宋体" pitchFamily="2" charset="-122"/>
                          <a:cs typeface="Times New Roman" panose="02020603050405020304" pitchFamily="18" charset="0"/>
                        </a:rPr>
                        <m:t>𝑛𝑠</m:t>
                      </m:r>
                      <m:r>
                        <a:rPr lang="en-US" i="1">
                          <a:latin typeface="Cambria Math" panose="02040503050406030204" pitchFamily="18" charset="0"/>
                          <a:ea typeface="宋体" pitchFamily="2" charset="-122"/>
                          <a:cs typeface="Times New Roman" panose="02020603050405020304" pitchFamily="18" charset="0"/>
                        </a:rPr>
                        <m:t>)</m:t>
                      </m:r>
                    </m:oMath>
                  </m:oMathPara>
                </a14:m>
                <a:endParaRPr lang="en-US" dirty="0">
                  <a:solidFill>
                    <a:srgbClr val="000000"/>
                  </a:solidFill>
                  <a:latin typeface="Times New Roman" panose="02020603050405020304" pitchFamily="18" charset="0"/>
                  <a:ea typeface="宋体" pitchFamily="2" charset="-122"/>
                  <a:cs typeface="Arial" panose="020B0604020202090204" pitchFamily="34" charset="0"/>
                </a:endParaRPr>
              </a:p>
              <a:p>
                <a:pPr algn="just">
                  <a:lnSpc>
                    <a:spcPct val="150000"/>
                  </a:lnSpc>
                </a:pPr>
                <a:r>
                  <a:rPr lang="zh-CN" altLang="en-US" sz="2000" dirty="0">
                    <a:solidFill>
                      <a:srgbClr val="000000"/>
                    </a:solidFill>
                    <a:latin typeface="Times New Roman" panose="02020603050405020304" pitchFamily="18" charset="0"/>
                    <a:ea typeface="宋体" pitchFamily="2" charset="-122"/>
                    <a:cs typeface="Times New Roman" panose="02020603050405020304" pitchFamily="18" charset="0"/>
                  </a:rPr>
                  <a:t>信息传输速率为</a:t>
                </a:r>
                <a:endParaRPr lang="en-US" sz="2000" dirty="0">
                  <a:solidFill>
                    <a:srgbClr val="000000"/>
                  </a:solidFill>
                  <a:latin typeface="Times New Roman" panose="02020603050405020304" pitchFamily="18" charset="0"/>
                  <a:ea typeface="宋体" pitchFamily="2" charset="-122"/>
                  <a:cs typeface="Arial" panose="020B0604020202090204" pitchFamily="34" charset="0"/>
                </a:endParaRPr>
              </a:p>
              <a:p>
                <a:pPr algn="just"/>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宋体" pitchFamily="2" charset="-122"/>
                              <a:cs typeface="Times New Roman" panose="02020603050405020304" pitchFamily="18" charset="0"/>
                            </a:rPr>
                            <m:t>𝑅</m:t>
                          </m:r>
                        </m:e>
                        <m:sub>
                          <m:r>
                            <a:rPr lang="en-US" i="1">
                              <a:latin typeface="Cambria Math" panose="02040503050406030204" pitchFamily="18" charset="0"/>
                              <a:ea typeface="宋体" pitchFamily="2" charset="-122"/>
                              <a:cs typeface="Times New Roman" panose="02020603050405020304" pitchFamily="18" charset="0"/>
                            </a:rPr>
                            <m:t>𝑏</m:t>
                          </m:r>
                        </m:sub>
                      </m:sSub>
                      <m:r>
                        <a:rPr lang="en-US" i="1">
                          <a:latin typeface="Cambria Math" panose="02040503050406030204" pitchFamily="18" charset="0"/>
                          <a:ea typeface="宋体" pitchFamily="2" charset="-122"/>
                          <a:cs typeface="Times New Roman" panose="02020603050405020304" pitchFamily="18" charset="0"/>
                        </a:rPr>
                        <m:t>=</m:t>
                      </m:r>
                      <m:r>
                        <a:rPr lang="en-US" i="1">
                          <a:latin typeface="Cambria Math" panose="02040503050406030204" pitchFamily="18" charset="0"/>
                          <a:ea typeface="宋体" pitchFamily="2" charset="-122"/>
                          <a:cs typeface="Times New Roman" panose="02020603050405020304" pitchFamily="18" charset="0"/>
                        </a:rPr>
                        <m:t>8000</m:t>
                      </m:r>
                      <m:r>
                        <a:rPr lang="en-US" i="1">
                          <a:latin typeface="Cambria Math" panose="02040503050406030204" pitchFamily="18" charset="0"/>
                          <a:ea typeface="宋体" pitchFamily="2" charset="-122"/>
                          <a:cs typeface="Times New Roman" panose="02020603050405020304" pitchFamily="18" charset="0"/>
                        </a:rPr>
                        <m:t>×</m:t>
                      </m:r>
                      <m:r>
                        <a:rPr lang="en-US" i="1">
                          <a:latin typeface="Cambria Math" panose="02040503050406030204" pitchFamily="18" charset="0"/>
                          <a:ea typeface="宋体" pitchFamily="2" charset="-122"/>
                          <a:cs typeface="Times New Roman" panose="02020603050405020304" pitchFamily="18" charset="0"/>
                        </a:rPr>
                        <m:t>32</m:t>
                      </m:r>
                      <m:r>
                        <a:rPr lang="en-US" i="1">
                          <a:latin typeface="Cambria Math" panose="02040503050406030204" pitchFamily="18" charset="0"/>
                          <a:ea typeface="宋体" pitchFamily="2" charset="-122"/>
                          <a:cs typeface="Times New Roman" panose="02020603050405020304" pitchFamily="18" charset="0"/>
                        </a:rPr>
                        <m:t>×</m:t>
                      </m:r>
                      <m:r>
                        <a:rPr lang="en-US" i="1">
                          <a:latin typeface="Cambria Math" panose="02040503050406030204" pitchFamily="18" charset="0"/>
                          <a:ea typeface="宋体" pitchFamily="2" charset="-122"/>
                          <a:cs typeface="Times New Roman" panose="02020603050405020304" pitchFamily="18" charset="0"/>
                        </a:rPr>
                        <m:t>8</m:t>
                      </m:r>
                      <m:r>
                        <a:rPr lang="en-US" i="1">
                          <a:latin typeface="Cambria Math" panose="02040503050406030204" pitchFamily="18" charset="0"/>
                          <a:ea typeface="宋体" pitchFamily="2" charset="-122"/>
                          <a:cs typeface="Times New Roman" panose="02020603050405020304" pitchFamily="18" charset="0"/>
                        </a:rPr>
                        <m:t>=</m:t>
                      </m:r>
                      <m:r>
                        <a:rPr lang="en-US" i="1">
                          <a:latin typeface="Cambria Math" panose="02040503050406030204" pitchFamily="18" charset="0"/>
                          <a:ea typeface="宋体" pitchFamily="2" charset="-122"/>
                          <a:cs typeface="Times New Roman" panose="02020603050405020304" pitchFamily="18" charset="0"/>
                        </a:rPr>
                        <m:t>2</m:t>
                      </m:r>
                      <m:r>
                        <a:rPr lang="en-US" i="1">
                          <a:latin typeface="Cambria Math" panose="02040503050406030204" pitchFamily="18" charset="0"/>
                          <a:ea typeface="宋体" pitchFamily="2" charset="-122"/>
                          <a:cs typeface="Times New Roman" panose="02020603050405020304" pitchFamily="18" charset="0"/>
                        </a:rPr>
                        <m:t>.</m:t>
                      </m:r>
                      <m:r>
                        <a:rPr lang="en-US" i="1">
                          <a:latin typeface="Cambria Math" panose="02040503050406030204" pitchFamily="18" charset="0"/>
                          <a:ea typeface="宋体" pitchFamily="2" charset="-122"/>
                          <a:cs typeface="Times New Roman" panose="02020603050405020304" pitchFamily="18" charset="0"/>
                        </a:rPr>
                        <m:t>048</m:t>
                      </m:r>
                      <m:r>
                        <a:rPr lang="en-US" i="1">
                          <a:latin typeface="Cambria Math" panose="02040503050406030204" pitchFamily="18" charset="0"/>
                          <a:ea typeface="宋体" pitchFamily="2" charset="-122"/>
                          <a:cs typeface="Times New Roman" panose="02020603050405020304" pitchFamily="18" charset="0"/>
                        </a:rPr>
                        <m:t> (</m:t>
                      </m:r>
                      <m:r>
                        <a:rPr lang="en-US" i="1">
                          <a:latin typeface="Cambria Math" panose="02040503050406030204" pitchFamily="18" charset="0"/>
                          <a:ea typeface="宋体" pitchFamily="2" charset="-122"/>
                          <a:cs typeface="Times New Roman" panose="02020603050405020304" pitchFamily="18" charset="0"/>
                        </a:rPr>
                        <m:t>𝑀𝑏</m:t>
                      </m:r>
                      <m:r>
                        <a:rPr lang="en-US" i="1">
                          <a:latin typeface="Cambria Math" panose="02040503050406030204" pitchFamily="18" charset="0"/>
                          <a:ea typeface="宋体" pitchFamily="2" charset="-122"/>
                          <a:cs typeface="Times New Roman" panose="02020603050405020304" pitchFamily="18" charset="0"/>
                        </a:rPr>
                        <m:t>/</m:t>
                      </m:r>
                      <m:r>
                        <a:rPr lang="en-US" i="1">
                          <a:latin typeface="Cambria Math" panose="02040503050406030204" pitchFamily="18" charset="0"/>
                          <a:ea typeface="宋体" pitchFamily="2" charset="-122"/>
                          <a:cs typeface="Times New Roman" panose="02020603050405020304" pitchFamily="18" charset="0"/>
                        </a:rPr>
                        <m:t>𝑠</m:t>
                      </m:r>
                      <m:r>
                        <a:rPr lang="en-US" i="1">
                          <a:latin typeface="Cambria Math" panose="02040503050406030204" pitchFamily="18" charset="0"/>
                          <a:ea typeface="宋体" pitchFamily="2" charset="-122"/>
                          <a:cs typeface="Times New Roman" panose="02020603050405020304" pitchFamily="18" charset="0"/>
                        </a:rPr>
                        <m:t>)</m:t>
                      </m:r>
                    </m:oMath>
                  </m:oMathPara>
                </a14:m>
                <a:endParaRPr lang="en-US" altLang="zh-CN" sz="2000" dirty="0"/>
              </a:p>
            </p:txBody>
          </p:sp>
        </mc:Choice>
        <mc:Fallback>
          <p:sp>
            <p:nvSpPr>
              <p:cNvPr id="7" name="TextBox 6"/>
              <p:cNvSpPr txBox="1">
                <a:spLocks noRot="1" noChangeAspect="1" noMove="1" noResize="1" noEditPoints="1" noAdjustHandles="1" noChangeArrowheads="1" noChangeShapeType="1" noTextEdit="1"/>
              </p:cNvSpPr>
              <p:nvPr/>
            </p:nvSpPr>
            <p:spPr>
              <a:xfrm>
                <a:off x="767408" y="1077507"/>
                <a:ext cx="10369152" cy="5628640"/>
              </a:xfrm>
              <a:prstGeom prst="rect">
                <a:avLst/>
              </a:prstGeom>
              <a:blipFill rotWithShape="1">
                <a:blip r:embed="rId2"/>
                <a:stretch>
                  <a:fillRect l="-3" t="-10" r="5" b="10"/>
                </a:stretch>
              </a:blipFill>
            </p:spPr>
            <p:txBody>
              <a:bodyPr/>
              <a:lstStyle/>
              <a:p>
                <a:r>
                  <a:rPr lang="zh-CN" altLang="en-US">
                    <a:noFill/>
                  </a:rPr>
                  <a:t> </a:t>
                </a:r>
              </a:p>
            </p:txBody>
          </p:sp>
        </mc:Fallback>
      </mc:AlternateContent>
      <p:sp>
        <p:nvSpPr>
          <p:cNvPr id="5" name="Rectangle 2"/>
          <p:cNvSpPr>
            <a:spLocks noGrp="1" noChangeArrowheads="1"/>
          </p:cNvSpPr>
          <p:nvPr>
            <p:ph type="title"/>
          </p:nvPr>
        </p:nvSpPr>
        <p:spPr>
          <a:xfrm>
            <a:off x="695400" y="908705"/>
            <a:ext cx="4468558" cy="609600"/>
          </a:xfrm>
        </p:spPr>
        <p:txBody>
          <a:bodyPr/>
          <a:p>
            <a:pPr algn="l">
              <a:spcBef>
                <a:spcPct val="50000"/>
              </a:spcBef>
              <a:buFont typeface="Wingdings" panose="05000000000000000000" pitchFamily="2" charset="2"/>
              <a:buChar char="Ø"/>
            </a:pPr>
            <a:r>
              <a:rPr lang="en-US" altLang="zh-CN" sz="2600" b="1" dirty="0">
                <a:latin typeface="华文楷体" panose="02010600040101010101" charset="-122"/>
                <a:ea typeface="华文楷体" panose="02010600040101010101" charset="-122"/>
              </a:rPr>
              <a:t>PCM30/32</a:t>
            </a:r>
            <a:r>
              <a:rPr lang="zh-CN" altLang="en-US" sz="2600" b="1" dirty="0">
                <a:latin typeface="华文楷体" panose="02010600040101010101" charset="-122"/>
                <a:ea typeface="华文楷体" panose="02010600040101010101" charset="-122"/>
              </a:rPr>
              <a:t>路制式基群</a:t>
            </a:r>
            <a:endParaRPr lang="zh-CN" altLang="en-US" sz="2600" b="1" dirty="0">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4" name="Picture 3"/>
          <p:cNvPicPr>
            <a:picLocks noChangeAspect="1"/>
          </p:cNvPicPr>
          <p:nvPr/>
        </p:nvPicPr>
        <p:blipFill>
          <a:blip r:embed="rId2"/>
          <a:stretch>
            <a:fillRect/>
          </a:stretch>
        </p:blipFill>
        <p:spPr>
          <a:xfrm>
            <a:off x="1919536" y="1196752"/>
            <a:ext cx="7925846" cy="5472608"/>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548536"/>
            <a:ext cx="10972800" cy="1143000"/>
          </a:xfrm>
        </p:spPr>
        <p:txBody>
          <a:bodyPr/>
          <a:p>
            <a:r>
              <a:rPr lang="zh-CN" altLang="en-US">
                <a:latin typeface="华文楷体" panose="02010600040101010101" charset="-122"/>
                <a:ea typeface="华文楷体" panose="02010600040101010101" charset="-122"/>
              </a:rPr>
              <a:t>第四章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数字信号的基带</a:t>
            </a:r>
            <a:r>
              <a:rPr lang="zh-CN" altLang="en-US">
                <a:latin typeface="华文楷体" panose="02010600040101010101" charset="-122"/>
                <a:ea typeface="华文楷体" panose="02010600040101010101" charset="-122"/>
              </a:rPr>
              <a:t>传输</a:t>
            </a:r>
            <a:endParaRPr lang="zh-CN" altLang="en-US">
              <a:latin typeface="华文楷体" panose="02010600040101010101" charset="-122"/>
              <a:ea typeface="华文楷体" panose="02010600040101010101" charset="-122"/>
            </a:endParaRPr>
          </a:p>
        </p:txBody>
      </p:sp>
      <p:sp>
        <p:nvSpPr>
          <p:cNvPr id="4" name="内容占位符 3"/>
          <p:cNvSpPr>
            <a:spLocks noGrp="1"/>
          </p:cNvSpPr>
          <p:nvPr>
            <p:ph idx="1"/>
            <p:custDataLst>
              <p:tags r:id="rId3"/>
            </p:custDataLst>
          </p:nvPr>
        </p:nvSpPr>
        <p:spPr>
          <a:xfrm>
            <a:off x="624205" y="1627505"/>
            <a:ext cx="10972800" cy="4526280"/>
          </a:xfrm>
        </p:spPr>
        <p:txBody>
          <a:bodyPr/>
          <a:p>
            <a:r>
              <a:rPr lang="zh-CN" altLang="en-US" sz="2800">
                <a:latin typeface="华文楷体" panose="02010600040101010101" charset="-122"/>
                <a:ea typeface="华文楷体" panose="02010600040101010101" charset="-122"/>
              </a:rPr>
              <a:t>识记——重要基本概念（基带传输系统基本模型、码型变换、波形变换、基带信号波形、单极性不归零码、双极性不归零码、单极性归零码、双极性归零码、差分码、多元码型、线路码及其主要特性、AMI码、HDB3码、CMI码、数字双相码、升余弦传输特性系统、眼图及眼图模型、横向滤波器、时域均衡技术）。</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画图——基带信号、AMI码、HDB3码、CMI码、数字双相码的波形图。</a:t>
            </a:r>
            <a:endParaRPr lang="zh-CN" altLang="en-US" sz="2800">
              <a:latin typeface="华文楷体" panose="02010600040101010101" charset="-122"/>
              <a:ea typeface="华文楷体" panose="02010600040101010101" charset="-122"/>
            </a:endParaRPr>
          </a:p>
          <a:p>
            <a:endParaRPr lang="zh-CN" altLang="en-US" sz="2800">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484401"/>
            <a:ext cx="10972800" cy="1143000"/>
          </a:xfrm>
        </p:spPr>
        <p:txBody>
          <a:bodyPr/>
          <a:p>
            <a:r>
              <a:rPr lang="zh-CN" altLang="en-US">
                <a:latin typeface="华文楷体" panose="02010600040101010101" charset="-122"/>
                <a:ea typeface="华文楷体" panose="02010600040101010101" charset="-122"/>
              </a:rPr>
              <a:t>第四章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数字信号的基带</a:t>
            </a:r>
            <a:r>
              <a:rPr lang="zh-CN" altLang="en-US">
                <a:latin typeface="华文楷体" panose="02010600040101010101" charset="-122"/>
                <a:ea typeface="华文楷体" panose="02010600040101010101" charset="-122"/>
              </a:rPr>
              <a:t>传输</a:t>
            </a:r>
            <a:endParaRPr lang="zh-CN" altLang="en-US">
              <a:latin typeface="华文楷体" panose="02010600040101010101" charset="-122"/>
              <a:ea typeface="华文楷体" panose="02010600040101010101" charset="-122"/>
            </a:endParaRPr>
          </a:p>
        </p:txBody>
      </p:sp>
      <p:sp>
        <p:nvSpPr>
          <p:cNvPr id="4" name="内容占位符 3"/>
          <p:cNvSpPr>
            <a:spLocks noGrp="1"/>
          </p:cNvSpPr>
          <p:nvPr>
            <p:ph idx="1"/>
            <p:custDataLst>
              <p:tags r:id="rId3"/>
            </p:custDataLst>
          </p:nvPr>
        </p:nvSpPr>
        <p:spPr>
          <a:xfrm>
            <a:off x="624205" y="1627505"/>
            <a:ext cx="11211560" cy="4526280"/>
          </a:xfrm>
        </p:spPr>
        <p:txBody>
          <a:bodyPr/>
          <a:p>
            <a:r>
              <a:rPr lang="zh-CN" altLang="en-US" sz="2800">
                <a:latin typeface="华文楷体" panose="02010600040101010101" charset="-122"/>
                <a:ea typeface="华文楷体" panose="02010600040101010101" charset="-122"/>
              </a:rPr>
              <a:t>理解——理解基带信号的功率谱的推导过程，掌握单极性不归零码、双极性不归零码、单极性归零码、双极性归零码以及AMI码、HDB3码、CMI码、数字双相码的功率谱特点。</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理解——会从系统分析角度导出无码间串扰的时频判据（奈奎斯特准则）；给出信号码元宽度和系统频带传输特性时，会判断给出系统是否无码间串扰；会判断理想低通、升余弦传输系统和给出系统的带宽和频带利用率。</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了解——无码间串扰时信道加性噪声对基带传输的影响公式的推导。</a:t>
            </a:r>
            <a:endParaRPr lang="zh-CN" altLang="en-US" sz="2800">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46251"/>
            <a:ext cx="10972800" cy="1143000"/>
          </a:xfrm>
        </p:spPr>
        <p:txBody>
          <a:bodyPr/>
          <a:p>
            <a:r>
              <a:rPr lang="zh-CN" altLang="en-US">
                <a:latin typeface="华文楷体" panose="02010600040101010101" charset="-122"/>
                <a:ea typeface="华文楷体" panose="02010600040101010101" charset="-122"/>
              </a:rPr>
              <a:t>第四章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数字信号的基带</a:t>
            </a:r>
            <a:r>
              <a:rPr lang="zh-CN" altLang="en-US">
                <a:latin typeface="华文楷体" panose="02010600040101010101" charset="-122"/>
                <a:ea typeface="华文楷体" panose="02010600040101010101" charset="-122"/>
              </a:rPr>
              <a:t>传输</a:t>
            </a:r>
            <a:endParaRPr lang="zh-CN" altLang="en-US">
              <a:latin typeface="华文楷体" panose="02010600040101010101" charset="-122"/>
              <a:ea typeface="华文楷体" panose="02010600040101010101" charset="-122"/>
            </a:endParaRPr>
          </a:p>
        </p:txBody>
      </p:sp>
      <p:sp>
        <p:nvSpPr>
          <p:cNvPr id="5" name="矩形 4"/>
          <p:cNvSpPr/>
          <p:nvPr>
            <p:custDataLst>
              <p:tags r:id="rId3"/>
            </p:custDataLst>
          </p:nvPr>
        </p:nvSpPr>
        <p:spPr>
          <a:xfrm>
            <a:off x="3070225" y="6290310"/>
            <a:ext cx="1440180" cy="48577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均衡</a:t>
            </a:r>
            <a:r>
              <a:rPr lang="zh-CN" altLang="en-US">
                <a:latin typeface="华文楷体" panose="02010600040101010101" charset="-122"/>
                <a:ea typeface="华文楷体" panose="02010600040101010101" charset="-122"/>
              </a:rPr>
              <a:t>技术</a:t>
            </a:r>
            <a:endParaRPr lang="zh-CN" altLang="en-US">
              <a:latin typeface="华文楷体" panose="02010600040101010101" charset="-122"/>
              <a:ea typeface="华文楷体" panose="02010600040101010101" charset="-122"/>
            </a:endParaRPr>
          </a:p>
        </p:txBody>
      </p:sp>
      <p:sp>
        <p:nvSpPr>
          <p:cNvPr id="6" name="矩形 5"/>
          <p:cNvSpPr/>
          <p:nvPr>
            <p:custDataLst>
              <p:tags r:id="rId4"/>
            </p:custDataLst>
          </p:nvPr>
        </p:nvSpPr>
        <p:spPr>
          <a:xfrm>
            <a:off x="7247890" y="6278880"/>
            <a:ext cx="1440180" cy="48577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部</a:t>
            </a:r>
            <a:r>
              <a:rPr lang="zh-CN" altLang="en-US">
                <a:latin typeface="华文楷体" panose="02010600040101010101" charset="-122"/>
                <a:ea typeface="华文楷体" panose="02010600040101010101" charset="-122"/>
              </a:rPr>
              <a:t>分响应</a:t>
            </a:r>
            <a:endParaRPr lang="zh-CN" altLang="en-US">
              <a:latin typeface="华文楷体" panose="02010600040101010101" charset="-122"/>
              <a:ea typeface="华文楷体" panose="02010600040101010101" charset="-122"/>
            </a:endParaRPr>
          </a:p>
        </p:txBody>
      </p:sp>
      <p:sp>
        <p:nvSpPr>
          <p:cNvPr id="7" name="矩形 6"/>
          <p:cNvSpPr/>
          <p:nvPr>
            <p:custDataLst>
              <p:tags r:id="rId5"/>
            </p:custDataLst>
          </p:nvPr>
        </p:nvSpPr>
        <p:spPr>
          <a:xfrm>
            <a:off x="1054735" y="1413510"/>
            <a:ext cx="1741805" cy="5759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数字</a:t>
            </a:r>
            <a:r>
              <a:rPr lang="zh-CN" altLang="en-US">
                <a:latin typeface="华文楷体" panose="02010600040101010101" charset="-122"/>
                <a:ea typeface="华文楷体" panose="02010600040101010101" charset="-122"/>
              </a:rPr>
              <a:t>基带信号</a:t>
            </a:r>
            <a:endParaRPr lang="zh-CN" altLang="en-US">
              <a:latin typeface="华文楷体" panose="02010600040101010101" charset="-122"/>
              <a:ea typeface="华文楷体" panose="02010600040101010101" charset="-122"/>
            </a:endParaRPr>
          </a:p>
        </p:txBody>
      </p:sp>
      <p:sp>
        <p:nvSpPr>
          <p:cNvPr id="8" name="矩形 7"/>
          <p:cNvSpPr/>
          <p:nvPr>
            <p:custDataLst>
              <p:tags r:id="rId6"/>
            </p:custDataLst>
          </p:nvPr>
        </p:nvSpPr>
        <p:spPr>
          <a:xfrm>
            <a:off x="916940" y="3389630"/>
            <a:ext cx="2065655" cy="5759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数字基带传输</a:t>
            </a:r>
            <a:r>
              <a:rPr lang="zh-CN" altLang="en-US">
                <a:latin typeface="华文楷体" panose="02010600040101010101" charset="-122"/>
                <a:ea typeface="华文楷体" panose="02010600040101010101" charset="-122"/>
              </a:rPr>
              <a:t>系统</a:t>
            </a:r>
            <a:endParaRPr lang="zh-CN" altLang="en-US">
              <a:latin typeface="华文楷体" panose="02010600040101010101" charset="-122"/>
              <a:ea typeface="华文楷体" panose="02010600040101010101" charset="-122"/>
            </a:endParaRPr>
          </a:p>
        </p:txBody>
      </p:sp>
      <p:sp>
        <p:nvSpPr>
          <p:cNvPr id="9" name="矩形 8"/>
          <p:cNvSpPr/>
          <p:nvPr>
            <p:custDataLst>
              <p:tags r:id="rId7"/>
            </p:custDataLst>
          </p:nvPr>
        </p:nvSpPr>
        <p:spPr>
          <a:xfrm>
            <a:off x="3430905" y="1196975"/>
            <a:ext cx="1000760" cy="57594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波形</a:t>
            </a:r>
            <a:endParaRPr lang="zh-CN" altLang="en-US">
              <a:latin typeface="华文楷体" panose="02010600040101010101" charset="-122"/>
              <a:ea typeface="华文楷体" panose="02010600040101010101" charset="-122"/>
            </a:endParaRPr>
          </a:p>
        </p:txBody>
      </p:sp>
      <p:sp>
        <p:nvSpPr>
          <p:cNvPr id="10" name="矩形 9"/>
          <p:cNvSpPr/>
          <p:nvPr>
            <p:custDataLst>
              <p:tags r:id="rId8"/>
            </p:custDataLst>
          </p:nvPr>
        </p:nvSpPr>
        <p:spPr>
          <a:xfrm>
            <a:off x="3430905" y="1990725"/>
            <a:ext cx="1000760" cy="57594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线路码</a:t>
            </a:r>
            <a:r>
              <a:rPr lang="zh-CN" altLang="en-US">
                <a:latin typeface="华文楷体" panose="02010600040101010101" charset="-122"/>
                <a:ea typeface="华文楷体" panose="02010600040101010101" charset="-122"/>
              </a:rPr>
              <a:t>码形</a:t>
            </a:r>
            <a:endParaRPr lang="zh-CN" altLang="en-US">
              <a:latin typeface="华文楷体" panose="02010600040101010101" charset="-122"/>
              <a:ea typeface="华文楷体" panose="02010600040101010101" charset="-122"/>
            </a:endParaRPr>
          </a:p>
        </p:txBody>
      </p:sp>
      <p:sp>
        <p:nvSpPr>
          <p:cNvPr id="11" name="矩形 10"/>
          <p:cNvSpPr/>
          <p:nvPr>
            <p:custDataLst>
              <p:tags r:id="rId9"/>
            </p:custDataLst>
          </p:nvPr>
        </p:nvSpPr>
        <p:spPr>
          <a:xfrm>
            <a:off x="4866640" y="1125220"/>
            <a:ext cx="6751955" cy="5759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cs typeface="华文楷体" panose="02010600040101010101" charset="-122"/>
              </a:rPr>
              <a:t>（</a:t>
            </a:r>
            <a:r>
              <a:rPr lang="zh-CN" altLang="en-US">
                <a:solidFill>
                  <a:srgbClr val="C00000"/>
                </a:solidFill>
                <a:latin typeface="华文楷体" panose="02010600040101010101" charset="-122"/>
                <a:ea typeface="华文楷体" panose="02010600040101010101" charset="-122"/>
                <a:cs typeface="华文楷体" panose="02010600040101010101" charset="-122"/>
              </a:rPr>
              <a:t>单极性不归零</a:t>
            </a:r>
            <a:r>
              <a:rPr lang="en-US" altLang="zh-CN">
                <a:solidFill>
                  <a:srgbClr val="C00000"/>
                </a:solidFill>
                <a:latin typeface="华文楷体" panose="02010600040101010101" charset="-122"/>
                <a:ea typeface="华文楷体" panose="02010600040101010101" charset="-122"/>
                <a:cs typeface="华文楷体" panose="02010600040101010101" charset="-122"/>
              </a:rPr>
              <a:t> </a:t>
            </a:r>
            <a:r>
              <a:rPr lang="zh-CN" altLang="en-US">
                <a:solidFill>
                  <a:srgbClr val="C00000"/>
                </a:solidFill>
                <a:latin typeface="华文楷体" panose="02010600040101010101" charset="-122"/>
                <a:ea typeface="华文楷体" panose="02010600040101010101" charset="-122"/>
                <a:cs typeface="华文楷体" panose="02010600040101010101" charset="-122"/>
              </a:rPr>
              <a:t>码，双极性不归零码，单极性归零码，双极性归零码，差分码</a:t>
            </a:r>
            <a:r>
              <a:rPr lang="zh-CN" altLang="en-US">
                <a:latin typeface="华文楷体" panose="02010600040101010101" charset="-122"/>
                <a:ea typeface="华文楷体" panose="02010600040101010101" charset="-122"/>
                <a:cs typeface="华文楷体" panose="02010600040101010101" charset="-122"/>
              </a:rPr>
              <a:t>，多元</a:t>
            </a:r>
            <a:r>
              <a:rPr lang="zh-CN" altLang="en-US">
                <a:latin typeface="华文楷体" panose="02010600040101010101" charset="-122"/>
                <a:ea typeface="华文楷体" panose="02010600040101010101" charset="-122"/>
                <a:cs typeface="华文楷体" panose="02010600040101010101" charset="-122"/>
              </a:rPr>
              <a:t>码）</a:t>
            </a:r>
            <a:endParaRPr lang="zh-CN" altLang="en-US">
              <a:latin typeface="华文楷体" panose="02010600040101010101" charset="-122"/>
              <a:ea typeface="华文楷体" panose="02010600040101010101" charset="-122"/>
              <a:cs typeface="华文楷体" panose="02010600040101010101" charset="-122"/>
            </a:endParaRPr>
          </a:p>
        </p:txBody>
      </p:sp>
      <p:sp>
        <p:nvSpPr>
          <p:cNvPr id="12" name="矩形 11"/>
          <p:cNvSpPr/>
          <p:nvPr>
            <p:custDataLst>
              <p:tags r:id="rId10"/>
            </p:custDataLst>
          </p:nvPr>
        </p:nvSpPr>
        <p:spPr>
          <a:xfrm>
            <a:off x="4726940" y="2009140"/>
            <a:ext cx="6819900" cy="5759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cs typeface="华文楷体" panose="02010600040101010101" charset="-122"/>
              </a:rPr>
              <a:t>（</a:t>
            </a:r>
            <a:r>
              <a:rPr lang="en-US" altLang="zh-CN">
                <a:solidFill>
                  <a:srgbClr val="C00000"/>
                </a:solidFill>
                <a:latin typeface="华文楷体" panose="02010600040101010101" charset="-122"/>
                <a:ea typeface="华文楷体" panose="02010600040101010101" charset="-122"/>
                <a:cs typeface="华文楷体" panose="02010600040101010101" charset="-122"/>
              </a:rPr>
              <a:t>AMI</a:t>
            </a:r>
            <a:r>
              <a:rPr lang="zh-CN" altLang="en-US">
                <a:solidFill>
                  <a:srgbClr val="C00000"/>
                </a:solidFill>
                <a:latin typeface="华文楷体" panose="02010600040101010101" charset="-122"/>
                <a:ea typeface="华文楷体" panose="02010600040101010101" charset="-122"/>
                <a:cs typeface="华文楷体" panose="02010600040101010101" charset="-122"/>
              </a:rPr>
              <a:t>码，</a:t>
            </a:r>
            <a:r>
              <a:rPr lang="en-US" altLang="zh-CN">
                <a:solidFill>
                  <a:srgbClr val="C00000"/>
                </a:solidFill>
                <a:latin typeface="华文楷体" panose="02010600040101010101" charset="-122"/>
                <a:ea typeface="华文楷体" panose="02010600040101010101" charset="-122"/>
                <a:cs typeface="华文楷体" panose="02010600040101010101" charset="-122"/>
              </a:rPr>
              <a:t>HDB3</a:t>
            </a:r>
            <a:r>
              <a:rPr lang="zh-CN" altLang="en-US">
                <a:solidFill>
                  <a:srgbClr val="C00000"/>
                </a:solidFill>
                <a:latin typeface="华文楷体" panose="02010600040101010101" charset="-122"/>
                <a:ea typeface="华文楷体" panose="02010600040101010101" charset="-122"/>
                <a:cs typeface="华文楷体" panose="02010600040101010101" charset="-122"/>
              </a:rPr>
              <a:t>码</a:t>
            </a:r>
            <a:r>
              <a:rPr lang="zh-CN" altLang="en-US">
                <a:latin typeface="华文楷体" panose="02010600040101010101" charset="-122"/>
                <a:ea typeface="华文楷体" panose="02010600040101010101" charset="-122"/>
                <a:cs typeface="华文楷体" panose="02010600040101010101" charset="-122"/>
              </a:rPr>
              <a:t>，</a:t>
            </a:r>
            <a:r>
              <a:rPr lang="en-US" altLang="zh-CN">
                <a:latin typeface="华文楷体" panose="02010600040101010101" charset="-122"/>
                <a:ea typeface="华文楷体" panose="02010600040101010101" charset="-122"/>
                <a:cs typeface="华文楷体" panose="02010600040101010101" charset="-122"/>
              </a:rPr>
              <a:t>CMI</a:t>
            </a:r>
            <a:r>
              <a:rPr lang="zh-CN" altLang="en-US">
                <a:latin typeface="华文楷体" panose="02010600040101010101" charset="-122"/>
                <a:ea typeface="华文楷体" panose="02010600040101010101" charset="-122"/>
                <a:cs typeface="华文楷体" panose="02010600040101010101" charset="-122"/>
              </a:rPr>
              <a:t>码，数字双向码，延时调制码，分组</a:t>
            </a:r>
            <a:r>
              <a:rPr lang="zh-CN" altLang="en-US">
                <a:latin typeface="华文楷体" panose="02010600040101010101" charset="-122"/>
                <a:ea typeface="华文楷体" panose="02010600040101010101" charset="-122"/>
                <a:cs typeface="华文楷体" panose="02010600040101010101" charset="-122"/>
              </a:rPr>
              <a:t>码）</a:t>
            </a:r>
            <a:endParaRPr lang="zh-CN" altLang="en-US">
              <a:latin typeface="华文楷体" panose="02010600040101010101" charset="-122"/>
              <a:ea typeface="华文楷体" panose="02010600040101010101" charset="-122"/>
              <a:cs typeface="华文楷体" panose="02010600040101010101" charset="-122"/>
            </a:endParaRPr>
          </a:p>
        </p:txBody>
      </p:sp>
      <p:sp>
        <p:nvSpPr>
          <p:cNvPr id="13" name="矩形 12"/>
          <p:cNvSpPr/>
          <p:nvPr>
            <p:custDataLst>
              <p:tags r:id="rId11"/>
            </p:custDataLst>
          </p:nvPr>
        </p:nvSpPr>
        <p:spPr>
          <a:xfrm>
            <a:off x="3430905" y="2853690"/>
            <a:ext cx="1000760" cy="57594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功率谱</a:t>
            </a:r>
            <a:endParaRPr lang="zh-CN" altLang="en-US">
              <a:latin typeface="华文楷体" panose="02010600040101010101" charset="-122"/>
              <a:ea typeface="华文楷体" panose="02010600040101010101" charset="-122"/>
            </a:endParaRPr>
          </a:p>
        </p:txBody>
      </p:sp>
      <p:sp>
        <p:nvSpPr>
          <p:cNvPr id="14" name="矩形 13"/>
          <p:cNvSpPr/>
          <p:nvPr>
            <p:custDataLst>
              <p:tags r:id="rId12"/>
            </p:custDataLst>
          </p:nvPr>
        </p:nvSpPr>
        <p:spPr>
          <a:xfrm>
            <a:off x="4726940" y="2850515"/>
            <a:ext cx="2030095" cy="5759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连续谱、离散谱</a:t>
            </a:r>
            <a:endParaRPr lang="zh-CN" altLang="en-US">
              <a:solidFill>
                <a:srgbClr val="C00000"/>
              </a:solidFill>
              <a:latin typeface="华文楷体" panose="02010600040101010101" charset="-122"/>
              <a:ea typeface="华文楷体" panose="02010600040101010101" charset="-122"/>
            </a:endParaRPr>
          </a:p>
        </p:txBody>
      </p:sp>
      <p:cxnSp>
        <p:nvCxnSpPr>
          <p:cNvPr id="15" name="肘形连接符 14"/>
          <p:cNvCxnSpPr>
            <a:stCxn id="11" idx="3"/>
            <a:endCxn id="14" idx="3"/>
          </p:cNvCxnSpPr>
          <p:nvPr>
            <p:custDataLst>
              <p:tags r:id="rId13"/>
            </p:custDataLst>
          </p:nvPr>
        </p:nvCxnSpPr>
        <p:spPr>
          <a:xfrm flipH="1">
            <a:off x="6757035" y="1413510"/>
            <a:ext cx="4861560" cy="1725295"/>
          </a:xfrm>
          <a:prstGeom prst="bentConnector3">
            <a:avLst>
              <a:gd name="adj1" fmla="val -4898"/>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16" name="矩形 15"/>
          <p:cNvSpPr/>
          <p:nvPr>
            <p:custDataLst>
              <p:tags r:id="rId14"/>
            </p:custDataLst>
          </p:nvPr>
        </p:nvSpPr>
        <p:spPr>
          <a:xfrm>
            <a:off x="2566670" y="4152900"/>
            <a:ext cx="1440180" cy="5759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码间串扰</a:t>
            </a:r>
            <a:endParaRPr lang="zh-CN" altLang="en-US">
              <a:solidFill>
                <a:srgbClr val="C00000"/>
              </a:solidFill>
              <a:latin typeface="华文楷体" panose="02010600040101010101" charset="-122"/>
              <a:ea typeface="华文楷体" panose="02010600040101010101" charset="-122"/>
            </a:endParaRPr>
          </a:p>
        </p:txBody>
      </p:sp>
      <p:sp>
        <p:nvSpPr>
          <p:cNvPr id="17" name="矩形 16"/>
          <p:cNvSpPr/>
          <p:nvPr>
            <p:custDataLst>
              <p:tags r:id="rId15"/>
            </p:custDataLst>
          </p:nvPr>
        </p:nvSpPr>
        <p:spPr>
          <a:xfrm>
            <a:off x="4236085" y="4149725"/>
            <a:ext cx="2520950" cy="57594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波形无失真传输条件</a:t>
            </a:r>
            <a:endParaRPr lang="zh-CN" altLang="en-US">
              <a:solidFill>
                <a:srgbClr val="C00000"/>
              </a:solidFill>
              <a:latin typeface="华文楷体" panose="02010600040101010101" charset="-122"/>
              <a:ea typeface="华文楷体" panose="02010600040101010101" charset="-122"/>
            </a:endParaRPr>
          </a:p>
        </p:txBody>
      </p:sp>
      <p:sp>
        <p:nvSpPr>
          <p:cNvPr id="18" name="矩形 17"/>
          <p:cNvSpPr/>
          <p:nvPr>
            <p:custDataLst>
              <p:tags r:id="rId16"/>
            </p:custDataLst>
          </p:nvPr>
        </p:nvSpPr>
        <p:spPr>
          <a:xfrm>
            <a:off x="6972300" y="3632200"/>
            <a:ext cx="843915" cy="5759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时域</a:t>
            </a:r>
            <a:endParaRPr lang="zh-CN" altLang="en-US">
              <a:latin typeface="华文楷体" panose="02010600040101010101" charset="-122"/>
              <a:ea typeface="华文楷体" panose="02010600040101010101" charset="-122"/>
            </a:endParaRPr>
          </a:p>
        </p:txBody>
      </p:sp>
      <p:sp>
        <p:nvSpPr>
          <p:cNvPr id="19" name="矩形 18"/>
          <p:cNvSpPr/>
          <p:nvPr>
            <p:custDataLst>
              <p:tags r:id="rId17"/>
            </p:custDataLst>
          </p:nvPr>
        </p:nvSpPr>
        <p:spPr>
          <a:xfrm>
            <a:off x="6986270" y="4436745"/>
            <a:ext cx="843915" cy="5759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频域</a:t>
            </a:r>
            <a:endParaRPr lang="zh-CN" altLang="en-US">
              <a:latin typeface="华文楷体" panose="02010600040101010101" charset="-122"/>
              <a:ea typeface="华文楷体" panose="02010600040101010101" charset="-122"/>
            </a:endParaRPr>
          </a:p>
        </p:txBody>
      </p:sp>
      <p:sp>
        <p:nvSpPr>
          <p:cNvPr id="20" name="矩形 19"/>
          <p:cNvSpPr/>
          <p:nvPr>
            <p:custDataLst>
              <p:tags r:id="rId18"/>
            </p:custDataLst>
          </p:nvPr>
        </p:nvSpPr>
        <p:spPr>
          <a:xfrm>
            <a:off x="8255635" y="3965575"/>
            <a:ext cx="3861435" cy="5759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理想低通滤波器</a:t>
            </a:r>
            <a:r>
              <a:rPr lang="zh-CN" altLang="en-US">
                <a:latin typeface="华文楷体" panose="02010600040101010101" charset="-122"/>
                <a:ea typeface="华文楷体" panose="02010600040101010101" charset="-122"/>
              </a:rPr>
              <a:t>，余弦滚降</a:t>
            </a:r>
            <a:r>
              <a:rPr lang="zh-CN" altLang="en-US">
                <a:latin typeface="华文楷体" panose="02010600040101010101" charset="-122"/>
                <a:ea typeface="华文楷体" panose="02010600040101010101" charset="-122"/>
              </a:rPr>
              <a:t>滤波器</a:t>
            </a:r>
            <a:endParaRPr lang="zh-CN" altLang="en-US">
              <a:latin typeface="华文楷体" panose="02010600040101010101" charset="-122"/>
              <a:ea typeface="华文楷体" panose="02010600040101010101" charset="-122"/>
            </a:endParaRPr>
          </a:p>
        </p:txBody>
      </p:sp>
      <p:sp>
        <p:nvSpPr>
          <p:cNvPr id="21" name="矩形 20"/>
          <p:cNvSpPr/>
          <p:nvPr>
            <p:custDataLst>
              <p:tags r:id="rId19"/>
            </p:custDataLst>
          </p:nvPr>
        </p:nvSpPr>
        <p:spPr>
          <a:xfrm>
            <a:off x="10601960" y="4797425"/>
            <a:ext cx="1314450" cy="48514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滚降系数</a:t>
            </a:r>
            <a:endParaRPr lang="zh-CN" altLang="en-US">
              <a:solidFill>
                <a:srgbClr val="C00000"/>
              </a:solidFill>
              <a:latin typeface="华文楷体" panose="02010600040101010101" charset="-122"/>
              <a:ea typeface="华文楷体" panose="02010600040101010101" charset="-122"/>
            </a:endParaRPr>
          </a:p>
        </p:txBody>
      </p:sp>
      <p:sp>
        <p:nvSpPr>
          <p:cNvPr id="22" name="矩形 21"/>
          <p:cNvSpPr/>
          <p:nvPr>
            <p:custDataLst>
              <p:tags r:id="rId20"/>
            </p:custDataLst>
          </p:nvPr>
        </p:nvSpPr>
        <p:spPr>
          <a:xfrm>
            <a:off x="2566670" y="5085715"/>
            <a:ext cx="1986915" cy="50228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随机噪声影响</a:t>
            </a:r>
            <a:endParaRPr lang="zh-CN" altLang="en-US">
              <a:solidFill>
                <a:srgbClr val="C00000"/>
              </a:solidFill>
              <a:latin typeface="华文楷体" panose="02010600040101010101" charset="-122"/>
              <a:ea typeface="华文楷体" panose="02010600040101010101" charset="-122"/>
            </a:endParaRPr>
          </a:p>
        </p:txBody>
      </p:sp>
      <p:sp>
        <p:nvSpPr>
          <p:cNvPr id="23" name="矩形 22"/>
          <p:cNvSpPr/>
          <p:nvPr>
            <p:custDataLst>
              <p:tags r:id="rId21"/>
            </p:custDataLst>
          </p:nvPr>
        </p:nvSpPr>
        <p:spPr>
          <a:xfrm>
            <a:off x="5014595" y="5080635"/>
            <a:ext cx="1024255" cy="50228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误码率</a:t>
            </a:r>
            <a:endParaRPr lang="zh-CN" altLang="en-US">
              <a:latin typeface="华文楷体" panose="02010600040101010101" charset="-122"/>
              <a:ea typeface="华文楷体" panose="02010600040101010101" charset="-122"/>
            </a:endParaRPr>
          </a:p>
        </p:txBody>
      </p:sp>
      <p:sp>
        <p:nvSpPr>
          <p:cNvPr id="24" name="矩形 23"/>
          <p:cNvSpPr/>
          <p:nvPr>
            <p:custDataLst>
              <p:tags r:id="rId22"/>
            </p:custDataLst>
          </p:nvPr>
        </p:nvSpPr>
        <p:spPr>
          <a:xfrm>
            <a:off x="3070860" y="5707380"/>
            <a:ext cx="1024255" cy="485140"/>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眼图</a:t>
            </a:r>
            <a:endParaRPr lang="zh-CN" altLang="en-US">
              <a:latin typeface="华文楷体" panose="02010600040101010101" charset="-122"/>
              <a:ea typeface="华文楷体" panose="02010600040101010101" charset="-122"/>
            </a:endParaRPr>
          </a:p>
        </p:txBody>
      </p:sp>
      <p:sp>
        <p:nvSpPr>
          <p:cNvPr id="25" name="左大括号 24"/>
          <p:cNvSpPr/>
          <p:nvPr>
            <p:custDataLst>
              <p:tags r:id="rId23"/>
            </p:custDataLst>
          </p:nvPr>
        </p:nvSpPr>
        <p:spPr>
          <a:xfrm>
            <a:off x="3070860" y="1413510"/>
            <a:ext cx="216535" cy="1727835"/>
          </a:xfrm>
          <a:prstGeom prst="leftBrace">
            <a:avLst>
              <a:gd name="adj1" fmla="val 8333"/>
              <a:gd name="adj2" fmla="val 23961"/>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华文楷体" panose="02010600040101010101" charset="-122"/>
              <a:ea typeface="华文楷体" panose="02010600040101010101" charset="-122"/>
            </a:endParaRPr>
          </a:p>
        </p:txBody>
      </p:sp>
      <p:cxnSp>
        <p:nvCxnSpPr>
          <p:cNvPr id="26" name="直接箭头连接符 25"/>
          <p:cNvCxnSpPr>
            <a:stCxn id="13" idx="3"/>
            <a:endCxn id="14" idx="1"/>
          </p:cNvCxnSpPr>
          <p:nvPr>
            <p:custDataLst>
              <p:tags r:id="rId24"/>
            </p:custDataLst>
          </p:nvPr>
        </p:nvCxnSpPr>
        <p:spPr>
          <a:xfrm flipV="1">
            <a:off x="4431665" y="3138805"/>
            <a:ext cx="295275" cy="31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肘形连接符 27"/>
          <p:cNvCxnSpPr>
            <a:stCxn id="8" idx="2"/>
            <a:endCxn id="29" idx="1"/>
          </p:cNvCxnSpPr>
          <p:nvPr>
            <p:custDataLst>
              <p:tags r:id="rId25"/>
            </p:custDataLst>
          </p:nvPr>
        </p:nvCxnSpPr>
        <p:spPr>
          <a:xfrm rot="5400000" flipV="1">
            <a:off x="1698625" y="4217035"/>
            <a:ext cx="831850" cy="32893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29" name="左大括号 28"/>
          <p:cNvSpPr/>
          <p:nvPr>
            <p:custDataLst>
              <p:tags r:id="rId26"/>
            </p:custDataLst>
          </p:nvPr>
        </p:nvSpPr>
        <p:spPr>
          <a:xfrm>
            <a:off x="2279015" y="4364990"/>
            <a:ext cx="215900" cy="86423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华文楷体" panose="02010600040101010101" charset="-122"/>
              <a:ea typeface="华文楷体" panose="02010600040101010101" charset="-122"/>
            </a:endParaRPr>
          </a:p>
        </p:txBody>
      </p:sp>
      <p:cxnSp>
        <p:nvCxnSpPr>
          <p:cNvPr id="30" name="肘形连接符 29"/>
          <p:cNvCxnSpPr>
            <a:stCxn id="8" idx="2"/>
            <a:endCxn id="24" idx="1"/>
          </p:cNvCxnSpPr>
          <p:nvPr>
            <p:custDataLst>
              <p:tags r:id="rId27"/>
            </p:custDataLst>
          </p:nvPr>
        </p:nvCxnSpPr>
        <p:spPr>
          <a:xfrm rot="5400000" flipV="1">
            <a:off x="1518285" y="4397375"/>
            <a:ext cx="1984375" cy="112077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31" name="肘形连接符 30"/>
          <p:cNvCxnSpPr>
            <a:stCxn id="8" idx="2"/>
            <a:endCxn id="5" idx="1"/>
          </p:cNvCxnSpPr>
          <p:nvPr>
            <p:custDataLst>
              <p:tags r:id="rId28"/>
            </p:custDataLst>
          </p:nvPr>
        </p:nvCxnSpPr>
        <p:spPr>
          <a:xfrm rot="5400000" flipV="1">
            <a:off x="1226185" y="4689475"/>
            <a:ext cx="2567940" cy="112014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32" name="直接箭头连接符 31"/>
          <p:cNvCxnSpPr>
            <a:stCxn id="16" idx="3"/>
            <a:endCxn id="17" idx="1"/>
          </p:cNvCxnSpPr>
          <p:nvPr>
            <p:custDataLst>
              <p:tags r:id="rId29"/>
            </p:custDataLst>
          </p:nvPr>
        </p:nvCxnSpPr>
        <p:spPr>
          <a:xfrm flipV="1">
            <a:off x="4006850" y="4438015"/>
            <a:ext cx="229235" cy="31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3" name="左大括号 32"/>
          <p:cNvSpPr/>
          <p:nvPr>
            <p:custDataLst>
              <p:tags r:id="rId30"/>
            </p:custDataLst>
          </p:nvPr>
        </p:nvSpPr>
        <p:spPr>
          <a:xfrm>
            <a:off x="6815455" y="3789045"/>
            <a:ext cx="143510" cy="93599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华文楷体" panose="02010600040101010101" charset="-122"/>
              <a:ea typeface="华文楷体" panose="02010600040101010101" charset="-122"/>
            </a:endParaRPr>
          </a:p>
        </p:txBody>
      </p:sp>
      <p:cxnSp>
        <p:nvCxnSpPr>
          <p:cNvPr id="34" name="直接箭头连接符 33"/>
          <p:cNvCxnSpPr>
            <a:stCxn id="21" idx="0"/>
          </p:cNvCxnSpPr>
          <p:nvPr>
            <p:custDataLst>
              <p:tags r:id="rId31"/>
            </p:custDataLst>
          </p:nvPr>
        </p:nvCxnSpPr>
        <p:spPr>
          <a:xfrm flipV="1">
            <a:off x="11259185" y="4581525"/>
            <a:ext cx="42545" cy="2159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5" name="直接箭头连接符 34"/>
          <p:cNvCxnSpPr>
            <a:stCxn id="22" idx="3"/>
            <a:endCxn id="23" idx="1"/>
          </p:cNvCxnSpPr>
          <p:nvPr>
            <p:custDataLst>
              <p:tags r:id="rId32"/>
            </p:custDataLst>
          </p:nvPr>
        </p:nvCxnSpPr>
        <p:spPr>
          <a:xfrm flipV="1">
            <a:off x="4553585" y="5332095"/>
            <a:ext cx="461010" cy="50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6" name="矩形 35"/>
          <p:cNvSpPr/>
          <p:nvPr>
            <p:custDataLst>
              <p:tags r:id="rId33"/>
            </p:custDataLst>
          </p:nvPr>
        </p:nvSpPr>
        <p:spPr>
          <a:xfrm>
            <a:off x="549910" y="4152900"/>
            <a:ext cx="1121410" cy="5759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影响因素</a:t>
            </a:r>
            <a:endParaRPr lang="zh-CN" altLang="en-US">
              <a:solidFill>
                <a:srgbClr val="C00000"/>
              </a:solidFill>
              <a:latin typeface="华文楷体" panose="02010600040101010101" charset="-122"/>
              <a:ea typeface="华文楷体" panose="02010600040101010101" charset="-122"/>
            </a:endParaRPr>
          </a:p>
        </p:txBody>
      </p:sp>
      <p:sp>
        <p:nvSpPr>
          <p:cNvPr id="37" name="矩形 36"/>
          <p:cNvSpPr/>
          <p:nvPr>
            <p:custDataLst>
              <p:tags r:id="rId34"/>
            </p:custDataLst>
          </p:nvPr>
        </p:nvSpPr>
        <p:spPr>
          <a:xfrm>
            <a:off x="384175" y="5080635"/>
            <a:ext cx="1503045" cy="5759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观察与</a:t>
            </a:r>
            <a:r>
              <a:rPr lang="zh-CN" altLang="en-US">
                <a:latin typeface="华文楷体" panose="02010600040101010101" charset="-122"/>
                <a:ea typeface="华文楷体" panose="02010600040101010101" charset="-122"/>
              </a:rPr>
              <a:t>调整</a:t>
            </a:r>
            <a:endParaRPr lang="zh-CN" altLang="en-US">
              <a:latin typeface="华文楷体" panose="02010600040101010101" charset="-122"/>
              <a:ea typeface="华文楷体" panose="02010600040101010101" charset="-122"/>
            </a:endParaRPr>
          </a:p>
        </p:txBody>
      </p:sp>
      <p:sp>
        <p:nvSpPr>
          <p:cNvPr id="38" name="矩形 37"/>
          <p:cNvSpPr/>
          <p:nvPr>
            <p:custDataLst>
              <p:tags r:id="rId35"/>
            </p:custDataLst>
          </p:nvPr>
        </p:nvSpPr>
        <p:spPr>
          <a:xfrm>
            <a:off x="508000" y="5958205"/>
            <a:ext cx="1262380" cy="5759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改善</a:t>
            </a:r>
            <a:r>
              <a:rPr lang="zh-CN" altLang="en-US">
                <a:latin typeface="华文楷体" panose="02010600040101010101" charset="-122"/>
                <a:ea typeface="华文楷体" panose="02010600040101010101" charset="-122"/>
              </a:rPr>
              <a:t>措施</a:t>
            </a:r>
            <a:endParaRPr lang="zh-CN" altLang="en-US">
              <a:latin typeface="华文楷体" panose="02010600040101010101" charset="-122"/>
              <a:ea typeface="华文楷体" panose="02010600040101010101" charset="-122"/>
            </a:endParaRPr>
          </a:p>
        </p:txBody>
      </p:sp>
      <p:sp>
        <p:nvSpPr>
          <p:cNvPr id="39" name="矩形 38"/>
          <p:cNvSpPr/>
          <p:nvPr>
            <p:custDataLst>
              <p:tags r:id="rId36"/>
            </p:custDataLst>
          </p:nvPr>
        </p:nvSpPr>
        <p:spPr>
          <a:xfrm>
            <a:off x="6743065" y="5102860"/>
            <a:ext cx="1678940" cy="48514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最佳判决</a:t>
            </a:r>
            <a:r>
              <a:rPr lang="zh-CN" altLang="en-US">
                <a:latin typeface="华文楷体" panose="02010600040101010101" charset="-122"/>
                <a:ea typeface="华文楷体" panose="02010600040101010101" charset="-122"/>
              </a:rPr>
              <a:t>门限</a:t>
            </a:r>
            <a:endParaRPr lang="zh-CN" altLang="en-US">
              <a:latin typeface="华文楷体" panose="02010600040101010101" charset="-122"/>
              <a:ea typeface="华文楷体" panose="02010600040101010101" charset="-122"/>
            </a:endParaRPr>
          </a:p>
        </p:txBody>
      </p:sp>
      <p:cxnSp>
        <p:nvCxnSpPr>
          <p:cNvPr id="40" name="直接箭头连接符 39"/>
          <p:cNvCxnSpPr>
            <a:stCxn id="39" idx="1"/>
            <a:endCxn id="23" idx="3"/>
          </p:cNvCxnSpPr>
          <p:nvPr>
            <p:custDataLst>
              <p:tags r:id="rId37"/>
            </p:custDataLst>
          </p:nvPr>
        </p:nvCxnSpPr>
        <p:spPr>
          <a:xfrm flipH="1" flipV="1">
            <a:off x="6038850" y="5332095"/>
            <a:ext cx="704215" cy="133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7" name="矩形 26"/>
          <p:cNvSpPr/>
          <p:nvPr>
            <p:custDataLst>
              <p:tags r:id="rId38"/>
            </p:custDataLst>
          </p:nvPr>
        </p:nvSpPr>
        <p:spPr>
          <a:xfrm>
            <a:off x="8544560" y="3427730"/>
            <a:ext cx="1503045" cy="5759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传输特性</a:t>
            </a:r>
            <a:r>
              <a:rPr lang="zh-CN" altLang="en-US">
                <a:latin typeface="华文楷体" panose="02010600040101010101" charset="-122"/>
                <a:ea typeface="华文楷体" panose="02010600040101010101" charset="-122"/>
              </a:rPr>
              <a:t>）</a:t>
            </a:r>
            <a:endParaRPr lang="zh-CN" altLang="en-US">
              <a:latin typeface="华文楷体" panose="02010600040101010101" charset="-122"/>
              <a:ea typeface="华文楷体" panose="02010600040101010101" charset="-122"/>
            </a:endParaRPr>
          </a:p>
        </p:txBody>
      </p:sp>
      <p:sp>
        <p:nvSpPr>
          <p:cNvPr id="41" name="矩形 40"/>
          <p:cNvSpPr/>
          <p:nvPr>
            <p:custDataLst>
              <p:tags r:id="rId39"/>
            </p:custDataLst>
          </p:nvPr>
        </p:nvSpPr>
        <p:spPr>
          <a:xfrm>
            <a:off x="4310380" y="6232525"/>
            <a:ext cx="1987550" cy="5759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（横向</a:t>
            </a:r>
            <a:r>
              <a:rPr lang="zh-CN" altLang="en-US">
                <a:solidFill>
                  <a:srgbClr val="C00000"/>
                </a:solidFill>
                <a:latin typeface="华文楷体" panose="02010600040101010101" charset="-122"/>
                <a:ea typeface="华文楷体" panose="02010600040101010101" charset="-122"/>
              </a:rPr>
              <a:t>滤波器）</a:t>
            </a:r>
            <a:endParaRPr lang="zh-CN" altLang="en-US">
              <a:solidFill>
                <a:srgbClr val="C00000"/>
              </a:solidFill>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graphicFrame>
        <p:nvGraphicFramePr>
          <p:cNvPr id="4" name="对象 -2147482122"/>
          <p:cNvGraphicFramePr>
            <a:graphicFrameLocks noChangeAspect="1"/>
          </p:cNvGraphicFramePr>
          <p:nvPr>
            <p:custDataLst>
              <p:tags r:id="rId2"/>
            </p:custDataLst>
          </p:nvPr>
        </p:nvGraphicFramePr>
        <p:xfrm>
          <a:off x="4079875" y="107950"/>
          <a:ext cx="7412355" cy="6609080"/>
        </p:xfrm>
        <a:graphic>
          <a:graphicData uri="http://schemas.openxmlformats.org/presentationml/2006/ole">
            <mc:AlternateContent xmlns:mc="http://schemas.openxmlformats.org/markup-compatibility/2006">
              <mc:Choice xmlns:v="urn:schemas-microsoft-com:vml" Requires="v">
                <p:oleObj spid="_x0000_s5128" name="" r:id="rId3" imgW="4527550" imgH="4052570" progId="Word.Picture.8">
                  <p:embed/>
                </p:oleObj>
              </mc:Choice>
              <mc:Fallback>
                <p:oleObj name="" r:id="rId3" imgW="4527550" imgH="4052570" progId="Word.Picture.8">
                  <p:embed/>
                  <p:pic>
                    <p:nvPicPr>
                      <p:cNvPr id="0" name="图片 3075"/>
                      <p:cNvPicPr/>
                      <p:nvPr/>
                    </p:nvPicPr>
                    <p:blipFill>
                      <a:blip r:embed="rId4"/>
                      <a:stretch>
                        <a:fillRect/>
                      </a:stretch>
                    </p:blipFill>
                    <p:spPr>
                      <a:xfrm>
                        <a:off x="4079875" y="107950"/>
                        <a:ext cx="7412355" cy="6609080"/>
                      </a:xfrm>
                      <a:prstGeom prst="rect">
                        <a:avLst/>
                      </a:prstGeom>
                      <a:noFill/>
                      <a:ln w="38100">
                        <a:noFill/>
                        <a:miter/>
                      </a:ln>
                    </p:spPr>
                  </p:pic>
                </p:oleObj>
              </mc:Fallback>
            </mc:AlternateContent>
          </a:graphicData>
        </a:graphic>
      </p:graphicFrame>
      <p:sp>
        <p:nvSpPr>
          <p:cNvPr id="100" name="文本框 99"/>
          <p:cNvSpPr txBox="1"/>
          <p:nvPr>
            <p:custDataLst>
              <p:tags r:id="rId5"/>
            </p:custDataLst>
          </p:nvPr>
        </p:nvSpPr>
        <p:spPr>
          <a:xfrm>
            <a:off x="479425" y="980440"/>
            <a:ext cx="3587750" cy="2431415"/>
          </a:xfrm>
          <a:prstGeom prst="rect">
            <a:avLst/>
          </a:prstGeom>
          <a:noFill/>
          <a:ln w="9525">
            <a:noFill/>
          </a:ln>
        </p:spPr>
        <p:txBody>
          <a:bodyPr>
            <a:noAutofit/>
          </a:bodyPr>
          <a:p>
            <a:pPr marL="457200" indent="-457200" algn="ctr">
              <a:buFont typeface="Arial" panose="020B0604020202090204" pitchFamily="34" charset="0"/>
              <a:buChar char="•"/>
            </a:pPr>
            <a:endParaRPr lang="zh-CN" altLang="en-US" sz="2800" dirty="0">
              <a:sym typeface="+mn-ea"/>
            </a:endParaRPr>
          </a:p>
          <a:p>
            <a:pPr marL="457200" indent="-457200" algn="ctr">
              <a:buFont typeface="Arial" panose="020B0604020202090204" pitchFamily="34" charset="0"/>
              <a:buChar char="•"/>
            </a:pPr>
            <a:r>
              <a:rPr lang="zh-CN" altLang="en-US" sz="2800" dirty="0">
                <a:sym typeface="+mn-ea"/>
              </a:rPr>
              <a:t>几种</a:t>
            </a:r>
            <a:r>
              <a:rPr lang="zh-CN" altLang="en-US" sz="2800" dirty="0">
                <a:gradFill>
                  <a:gsLst>
                    <a:gs pos="0">
                      <a:srgbClr val="7B32B2"/>
                    </a:gs>
                    <a:gs pos="100000">
                      <a:srgbClr val="401A5D"/>
                    </a:gs>
                  </a:gsLst>
                  <a:lin scaled="0"/>
                </a:gradFill>
                <a:sym typeface="+mn-ea"/>
              </a:rPr>
              <a:t>常见的数字基带信号</a:t>
            </a:r>
            <a:r>
              <a:rPr lang="zh-CN" altLang="en-US" sz="2800" dirty="0">
                <a:solidFill>
                  <a:srgbClr val="FF0000"/>
                </a:solidFill>
                <a:sym typeface="+mn-ea"/>
              </a:rPr>
              <a:t>矩形</a:t>
            </a:r>
            <a:r>
              <a:rPr lang="zh-CN" altLang="en-US" sz="2800" dirty="0">
                <a:gradFill>
                  <a:gsLst>
                    <a:gs pos="0">
                      <a:srgbClr val="7B32B2"/>
                    </a:gs>
                    <a:gs pos="100000">
                      <a:srgbClr val="401A5D"/>
                    </a:gs>
                  </a:gsLst>
                  <a:lin scaled="0"/>
                </a:gradFill>
                <a:sym typeface="+mn-ea"/>
              </a:rPr>
              <a:t>波形</a:t>
            </a:r>
            <a:endParaRPr lang="en-US" altLang="en-US" sz="2800" b="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2824480" y="45085"/>
            <a:ext cx="9275445" cy="779780"/>
          </a:xfrm>
        </p:spPr>
        <p:txBody>
          <a:bodyPr/>
          <a:p>
            <a:pPr marL="571500" indent="-571500" algn="l">
              <a:buFont typeface="Arial" panose="020B0604020202090204" pitchFamily="34" charset="0"/>
              <a:buChar char="•"/>
            </a:pPr>
            <a:r>
              <a:rPr lang="zh-CN" altLang="en-US" sz="2800" dirty="0">
                <a:latin typeface="华文楷体" panose="02010600040101010101" charset="-122"/>
                <a:ea typeface="华文楷体" panose="02010600040101010101" charset="-122"/>
                <a:sym typeface="+mn-ea"/>
              </a:rPr>
              <a:t>基带传输的常用码型</a:t>
            </a:r>
            <a:endParaRPr lang="zh-CN" altLang="en-US" sz="2800" dirty="0">
              <a:latin typeface="华文楷体" panose="02010600040101010101" charset="-122"/>
              <a:ea typeface="华文楷体" panose="02010600040101010101" charset="-122"/>
              <a:sym typeface="+mn-ea"/>
            </a:endParaRPr>
          </a:p>
        </p:txBody>
      </p:sp>
      <p:sp>
        <p:nvSpPr>
          <p:cNvPr id="4" name="内容占位符 3"/>
          <p:cNvSpPr>
            <a:spLocks noGrp="1"/>
          </p:cNvSpPr>
          <p:nvPr>
            <p:ph idx="1"/>
            <p:custDataLst>
              <p:tags r:id="rId3"/>
            </p:custDataLst>
          </p:nvPr>
        </p:nvSpPr>
        <p:spPr>
          <a:xfrm>
            <a:off x="608330" y="692150"/>
            <a:ext cx="11348720" cy="5488940"/>
          </a:xfrm>
        </p:spPr>
        <p:txBody>
          <a:bodyPr/>
          <a:p>
            <a:pPr marL="0" indent="0" algn="just">
              <a:buNone/>
            </a:pPr>
            <a:r>
              <a:rPr lang="zh-CN" altLang="en-US" sz="2400">
                <a:solidFill>
                  <a:schemeClr val="tx1"/>
                </a:solidFill>
                <a:latin typeface="华文楷体" panose="02010600040101010101" charset="-122"/>
                <a:ea typeface="华文楷体" panose="02010600040101010101" charset="-122"/>
                <a:cs typeface="华文楷体" panose="02010600040101010101" charset="-122"/>
              </a:rPr>
              <a:t>1．</a:t>
            </a:r>
            <a:r>
              <a:rPr lang="zh-CN" altLang="en-US" sz="2400">
                <a:solidFill>
                  <a:srgbClr val="FF0000"/>
                </a:solidFill>
                <a:latin typeface="华文楷体" panose="02010600040101010101" charset="-122"/>
                <a:ea typeface="华文楷体" panose="02010600040101010101" charset="-122"/>
                <a:cs typeface="华文楷体" panose="02010600040101010101" charset="-122"/>
              </a:rPr>
              <a:t>AMI码</a:t>
            </a:r>
            <a:r>
              <a:rPr lang="zh-CN" altLang="en-US" sz="2400">
                <a:solidFill>
                  <a:schemeClr val="tx1"/>
                </a:solidFill>
                <a:latin typeface="华文楷体" panose="02010600040101010101" charset="-122"/>
                <a:ea typeface="华文楷体" panose="02010600040101010101" charset="-122"/>
                <a:cs typeface="华文楷体" panose="02010600040101010101" charset="-122"/>
              </a:rPr>
              <a:t>（Alternate Mark Inversion，</a:t>
            </a:r>
            <a:r>
              <a:rPr lang="zh-CN" altLang="en-US" sz="2400">
                <a:solidFill>
                  <a:srgbClr val="FF0000"/>
                </a:solidFill>
                <a:latin typeface="华文楷体" panose="02010600040101010101" charset="-122"/>
                <a:ea typeface="华文楷体" panose="02010600040101010101" charset="-122"/>
                <a:cs typeface="华文楷体" panose="02010600040101010101" charset="-122"/>
                <a:sym typeface="+mn-ea"/>
              </a:rPr>
              <a:t>传号交替反转码</a:t>
            </a:r>
            <a:r>
              <a:rPr lang="zh-CN" altLang="en-US" sz="2400">
                <a:solidFill>
                  <a:schemeClr val="tx1"/>
                </a:solidFill>
                <a:latin typeface="华文楷体" panose="02010600040101010101" charset="-122"/>
                <a:ea typeface="华文楷体" panose="02010600040101010101" charset="-122"/>
                <a:cs typeface="华文楷体" panose="02010600040101010101" charset="-122"/>
              </a:rPr>
              <a:t>）</a:t>
            </a:r>
            <a:endParaRPr lang="zh-CN" altLang="en-US" sz="2400">
              <a:solidFill>
                <a:schemeClr val="tx1"/>
              </a:solidFill>
              <a:latin typeface="华文楷体" panose="02010600040101010101" charset="-122"/>
              <a:ea typeface="华文楷体" panose="02010600040101010101" charset="-122"/>
              <a:cs typeface="华文楷体" panose="02010600040101010101" charset="-122"/>
            </a:endParaRPr>
          </a:p>
          <a:p>
            <a:pPr algn="just"/>
            <a:r>
              <a:rPr lang="zh-CN" altLang="en-US" sz="2400">
                <a:solidFill>
                  <a:srgbClr val="FF0000"/>
                </a:solidFill>
                <a:latin typeface="华文楷体" panose="02010600040101010101" charset="-122"/>
                <a:ea typeface="华文楷体" panose="02010600040101010101" charset="-122"/>
                <a:cs typeface="华文楷体" panose="02010600040101010101" charset="-122"/>
              </a:rPr>
              <a:t>编码规则</a:t>
            </a:r>
            <a:r>
              <a:rPr lang="zh-CN" altLang="en-US" sz="2400">
                <a:solidFill>
                  <a:schemeClr val="tx1"/>
                </a:solidFill>
                <a:latin typeface="华文楷体" panose="02010600040101010101" charset="-122"/>
                <a:ea typeface="华文楷体" panose="02010600040101010101" charset="-122"/>
                <a:cs typeface="华文楷体" panose="02010600040101010101" charset="-122"/>
              </a:rPr>
              <a:t>：</a:t>
            </a:r>
            <a:r>
              <a:rPr lang="en-US" altLang="zh-CN" sz="2400">
                <a:solidFill>
                  <a:schemeClr val="tx1"/>
                </a:solidFill>
                <a:latin typeface="华文楷体" panose="02010600040101010101" charset="-122"/>
                <a:ea typeface="华文楷体" panose="02010600040101010101" charset="-122"/>
                <a:cs typeface="华文楷体" panose="02010600040101010101" charset="-122"/>
              </a:rPr>
              <a:t>                                                   </a:t>
            </a:r>
            <a:r>
              <a:rPr lang="zh-CN" altLang="en-US" sz="2400">
                <a:solidFill>
                  <a:schemeClr val="tx1"/>
                </a:solidFill>
                <a:latin typeface="华文楷体" panose="02010600040101010101" charset="-122"/>
                <a:ea typeface="华文楷体" panose="02010600040101010101" charset="-122"/>
                <a:cs typeface="华文楷体" panose="02010600040101010101" charset="-122"/>
              </a:rPr>
              <a:t>半占空归零脉冲</a:t>
            </a:r>
            <a:endParaRPr lang="zh-CN" altLang="en-US" sz="2400">
              <a:solidFill>
                <a:schemeClr val="tx1"/>
              </a:solidFill>
              <a:latin typeface="华文楷体" panose="02010600040101010101" charset="-122"/>
              <a:ea typeface="华文楷体" panose="02010600040101010101" charset="-122"/>
              <a:cs typeface="华文楷体" panose="02010600040101010101" charset="-122"/>
            </a:endParaRPr>
          </a:p>
          <a:p>
            <a:pPr algn="just"/>
            <a:endParaRPr lang="zh-CN" altLang="en-US" sz="2400">
              <a:solidFill>
                <a:schemeClr val="tx1"/>
              </a:solidFill>
              <a:latin typeface="华文楷体" panose="02010600040101010101" charset="-122"/>
              <a:ea typeface="华文楷体" panose="02010600040101010101" charset="-122"/>
              <a:cs typeface="华文楷体" panose="02010600040101010101" charset="-122"/>
            </a:endParaRPr>
          </a:p>
          <a:p>
            <a:pPr marL="0" indent="0" algn="just">
              <a:buNone/>
            </a:pPr>
            <a:r>
              <a:rPr lang="zh-CN" altLang="en-US" sz="2400">
                <a:latin typeface="华文楷体" panose="02010600040101010101" charset="-122"/>
                <a:ea typeface="华文楷体" panose="02010600040101010101" charset="-122"/>
                <a:cs typeface="华文楷体" panose="02010600040101010101" charset="-122"/>
                <a:sym typeface="+mn-ea"/>
              </a:rPr>
              <a:t>2．</a:t>
            </a:r>
            <a:r>
              <a:rPr lang="zh-CN" altLang="en-US" sz="2400">
                <a:solidFill>
                  <a:srgbClr val="FF0000"/>
                </a:solidFill>
                <a:latin typeface="华文楷体" panose="02010600040101010101" charset="-122"/>
                <a:ea typeface="华文楷体" panose="02010600040101010101" charset="-122"/>
                <a:cs typeface="华文楷体" panose="02010600040101010101" charset="-122"/>
                <a:sym typeface="+mn-ea"/>
              </a:rPr>
              <a:t>HDB</a:t>
            </a:r>
            <a:r>
              <a:rPr lang="zh-CN" altLang="en-US" sz="2400" baseline="-25000">
                <a:solidFill>
                  <a:srgbClr val="FF0000"/>
                </a:solidFill>
                <a:latin typeface="华文楷体" panose="02010600040101010101" charset="-122"/>
                <a:ea typeface="华文楷体" panose="02010600040101010101" charset="-122"/>
                <a:cs typeface="华文楷体" panose="02010600040101010101" charset="-122"/>
                <a:sym typeface="+mn-ea"/>
              </a:rPr>
              <a:t>3</a:t>
            </a:r>
            <a:r>
              <a:rPr lang="zh-CN" altLang="en-US" sz="2400">
                <a:solidFill>
                  <a:srgbClr val="FF0000"/>
                </a:solidFill>
                <a:latin typeface="华文楷体" panose="02010600040101010101" charset="-122"/>
                <a:ea typeface="华文楷体" panose="02010600040101010101" charset="-122"/>
                <a:cs typeface="华文楷体" panose="02010600040101010101" charset="-122"/>
                <a:sym typeface="+mn-ea"/>
              </a:rPr>
              <a:t>码</a:t>
            </a:r>
            <a:r>
              <a:rPr lang="zh-CN" altLang="en-US" sz="2400">
                <a:latin typeface="华文楷体" panose="02010600040101010101" charset="-122"/>
                <a:ea typeface="华文楷体" panose="02010600040101010101" charset="-122"/>
                <a:cs typeface="华文楷体" panose="02010600040101010101" charset="-122"/>
                <a:sym typeface="+mn-ea"/>
              </a:rPr>
              <a:t>（High Density Bipolar of Order 3 Code，</a:t>
            </a:r>
            <a:r>
              <a:rPr lang="zh-CN" altLang="en-US" sz="2400">
                <a:solidFill>
                  <a:srgbClr val="FF0000"/>
                </a:solidFill>
                <a:latin typeface="华文楷体" panose="02010600040101010101" charset="-122"/>
                <a:ea typeface="华文楷体" panose="02010600040101010101" charset="-122"/>
                <a:cs typeface="华文楷体" panose="02010600040101010101" charset="-122"/>
                <a:sym typeface="+mn-ea"/>
              </a:rPr>
              <a:t>三阶高密度双极性码</a:t>
            </a:r>
            <a:r>
              <a:rPr lang="zh-CN" altLang="en-US" sz="2400">
                <a:latin typeface="华文楷体" panose="02010600040101010101" charset="-122"/>
                <a:ea typeface="华文楷体" panose="02010600040101010101" charset="-122"/>
                <a:cs typeface="华文楷体" panose="02010600040101010101" charset="-122"/>
                <a:sym typeface="+mn-ea"/>
              </a:rPr>
              <a:t>）</a:t>
            </a:r>
            <a:endParaRPr lang="zh-CN" altLang="en-US" sz="2400">
              <a:latin typeface="华文楷体" panose="02010600040101010101" charset="-122"/>
              <a:ea typeface="华文楷体" panose="02010600040101010101" charset="-122"/>
              <a:cs typeface="华文楷体" panose="02010600040101010101" charset="-122"/>
            </a:endParaRPr>
          </a:p>
          <a:p>
            <a:pPr marL="742950" lvl="1" indent="-285750" algn="l" defTabSz="0" eaLnBrk="1" hangingPunct="1">
              <a:lnSpc>
                <a:spcPct val="150000"/>
              </a:lnSpc>
              <a:buClr>
                <a:srgbClr val="0000CC"/>
              </a:buClr>
              <a:buSzPct val="50000"/>
              <a:buFont typeface="Wingdings" panose="05000000000000000000" pitchFamily="2" charset="2"/>
              <a:buChar char="u"/>
            </a:pP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连“</a:t>
            </a:r>
            <a:r>
              <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0”</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个数</a:t>
            </a:r>
            <a:r>
              <a:rPr lang="zh-CN" altLang="en-US" sz="2400" kern="1200" dirty="0">
                <a:solidFill>
                  <a:srgbClr val="0000CC"/>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不超</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过</a:t>
            </a:r>
            <a:r>
              <a:rPr lang="en-US" altLang="zh-CN" sz="2400" b="1" kern="1200" dirty="0">
                <a:solidFill>
                  <a:srgbClr val="0000CC"/>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3</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个时，遵循</a:t>
            </a:r>
            <a:r>
              <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AMI</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的编码规则；</a:t>
            </a:r>
            <a:endPar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p>
            <a:pPr marL="742950" lvl="1" indent="-285750" algn="l" defTabSz="0" eaLnBrk="1" hangingPunct="1">
              <a:lnSpc>
                <a:spcPct val="150000"/>
              </a:lnSpc>
              <a:buClr>
                <a:srgbClr val="0000CC"/>
              </a:buClr>
              <a:buSzPct val="50000"/>
              <a:buFont typeface="Wingdings" panose="05000000000000000000" pitchFamily="2" charset="2"/>
              <a:buChar char="u"/>
            </a:pP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连“</a:t>
            </a:r>
            <a:r>
              <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0”</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个数</a:t>
            </a:r>
            <a:r>
              <a:rPr lang="zh-CN" altLang="en-US" sz="2400" kern="1200" dirty="0">
                <a:solidFill>
                  <a:srgbClr val="0000CC"/>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超</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过</a:t>
            </a:r>
            <a:r>
              <a:rPr lang="en-US" altLang="zh-CN" sz="2400" b="1" kern="1200" dirty="0">
                <a:solidFill>
                  <a:srgbClr val="0000CC"/>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3</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个时，将第</a:t>
            </a:r>
            <a:r>
              <a:rPr lang="en-US" altLang="zh-CN" sz="2400" b="1" kern="12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4</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个“</a:t>
            </a:r>
            <a:r>
              <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0”</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改为非“</a:t>
            </a:r>
            <a:r>
              <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0”</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脉冲，  </a:t>
            </a:r>
            <a:endPar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p>
            <a:pPr marL="742950" lvl="1" indent="-285750" algn="l" defTabSz="0" eaLnBrk="1" hangingPunct="1">
              <a:lnSpc>
                <a:spcPct val="150000"/>
              </a:lnSpc>
              <a:buClr>
                <a:srgbClr val="0000CC"/>
              </a:buClr>
              <a:buSzPct val="50000"/>
            </a:pPr>
            <a:r>
              <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记为</a:t>
            </a:r>
            <a:r>
              <a:rPr lang="en-US" altLang="zh-CN" sz="2400" b="1" kern="12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V</a:t>
            </a:r>
            <a:r>
              <a:rPr lang="en-US" altLang="zh-CN" sz="2400" b="1" kern="1200" baseline="-250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或</a:t>
            </a:r>
            <a:r>
              <a:rPr lang="en-US" altLang="zh-CN" sz="2400" b="1" kern="12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V</a:t>
            </a:r>
            <a:r>
              <a:rPr lang="en-US" altLang="zh-CN" sz="2400" b="1" kern="1200" baseline="-250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，称为</a:t>
            </a:r>
            <a:r>
              <a:rPr lang="zh-CN" altLang="en-US" sz="2400" kern="12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破坏脉冲</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t>
            </a:r>
            <a:endPar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p>
            <a:pPr marL="742950" lvl="1" indent="-285750" algn="l" defTabSz="0" eaLnBrk="1" hangingPunct="1">
              <a:lnSpc>
                <a:spcPct val="150000"/>
              </a:lnSpc>
              <a:buClr>
                <a:srgbClr val="0000CC"/>
              </a:buClr>
              <a:buSzPct val="50000"/>
              <a:buFont typeface="Wingdings" panose="05000000000000000000" pitchFamily="2" charset="2"/>
              <a:buChar char="u"/>
            </a:pP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相邻</a:t>
            </a:r>
            <a:r>
              <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V</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码的极性必须交替出现（确保无直流）；</a:t>
            </a:r>
            <a:endPar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p>
            <a:pPr marL="742950" lvl="1" indent="-285750" algn="l" defTabSz="0" eaLnBrk="1" hangingPunct="1">
              <a:lnSpc>
                <a:spcPct val="150000"/>
              </a:lnSpc>
              <a:buClr>
                <a:srgbClr val="0000CC"/>
              </a:buClr>
              <a:buSzPct val="50000"/>
              <a:buFont typeface="Wingdings" panose="05000000000000000000" pitchFamily="2" charset="2"/>
              <a:buChar char="u"/>
            </a:pPr>
            <a:r>
              <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V</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码的极性应与前一个非“</a:t>
            </a:r>
            <a:r>
              <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0”</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脉冲的极性相同，否则， </a:t>
            </a:r>
            <a:endPar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p>
            <a:pPr marL="742950" lvl="1" indent="-285750" algn="l" defTabSz="0" eaLnBrk="1" hangingPunct="1">
              <a:lnSpc>
                <a:spcPct val="150000"/>
              </a:lnSpc>
              <a:buClr>
                <a:srgbClr val="0000CC"/>
              </a:buClr>
              <a:buSzPct val="50000"/>
            </a:pPr>
            <a:r>
              <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将</a:t>
            </a:r>
            <a:r>
              <a:rPr lang="en-US" altLang="zh-CN" sz="2400" b="1" kern="1200" dirty="0">
                <a:solidFill>
                  <a:srgbClr val="000099"/>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0000</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更改为</a:t>
            </a:r>
            <a:r>
              <a:rPr lang="en-US" altLang="zh-CN" sz="2400" b="1" kern="12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B</a:t>
            </a:r>
            <a:r>
              <a:rPr lang="en-US" altLang="zh-CN" sz="2400" b="1" kern="1200" baseline="-250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t>
            </a:r>
            <a:r>
              <a:rPr lang="en-US" altLang="zh-CN" sz="2400" b="1" kern="1200" dirty="0">
                <a:solidFill>
                  <a:srgbClr val="000099"/>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00V</a:t>
            </a:r>
            <a:r>
              <a:rPr lang="en-US" altLang="zh-CN" sz="2400" b="1" kern="1200" baseline="-25000" dirty="0">
                <a:solidFill>
                  <a:srgbClr val="000099"/>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t>
            </a:r>
            <a:r>
              <a:rPr lang="en-US" altLang="zh-CN" sz="2400" kern="1200" baseline="-25000" dirty="0">
                <a:solidFill>
                  <a:srgbClr val="CC33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或</a:t>
            </a:r>
            <a:r>
              <a:rPr lang="zh-CN" altLang="en-US" sz="2400" kern="1200" dirty="0">
                <a:solidFill>
                  <a:srgbClr val="000099"/>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lang="en-US" altLang="zh-CN" sz="2400" b="1" kern="12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B</a:t>
            </a:r>
            <a:r>
              <a:rPr lang="en-US" altLang="zh-CN" sz="2400" b="1" kern="1200" baseline="-250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t>
            </a:r>
            <a:r>
              <a:rPr lang="en-US" altLang="zh-CN" sz="2400" b="1" kern="1200" dirty="0">
                <a:solidFill>
                  <a:srgbClr val="000099"/>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00V</a:t>
            </a:r>
            <a:r>
              <a:rPr lang="en-US" altLang="zh-CN" sz="2400" b="1" kern="1200" baseline="-25000" dirty="0">
                <a:solidFill>
                  <a:srgbClr val="000099"/>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t>
            </a:r>
            <a:r>
              <a:rPr lang="en-US" altLang="zh-CN" sz="2400" kern="1200" dirty="0">
                <a:solidFill>
                  <a:srgbClr val="D60093"/>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t>
            </a:r>
            <a:r>
              <a:rPr lang="en-US" altLang="zh-CN" sz="2400" b="1" kern="1200" dirty="0">
                <a:solidFill>
                  <a:srgbClr val="000099"/>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B</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称为</a:t>
            </a:r>
            <a:r>
              <a:rPr lang="zh-CN" altLang="en-US" sz="2400" kern="12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调节脉冲</a:t>
            </a:r>
            <a:r>
              <a:rPr lang="zh-CN" altLang="en-US" sz="2400" kern="1200" dirty="0">
                <a:solidFill>
                  <a:srgbClr val="000099"/>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t>
            </a:r>
            <a:endPar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a:p>
            <a:pPr marL="742950" lvl="1" indent="-285750" algn="l" defTabSz="0" eaLnBrk="1" hangingPunct="1">
              <a:lnSpc>
                <a:spcPct val="150000"/>
              </a:lnSpc>
              <a:buClr>
                <a:srgbClr val="0000CC"/>
              </a:buClr>
              <a:buSzPct val="50000"/>
              <a:buFont typeface="Wingdings" panose="05000000000000000000" pitchFamily="2" charset="2"/>
              <a:buChar char="u"/>
            </a:pPr>
            <a:r>
              <a:rPr lang="en-US" altLang="zh-CN"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V</a:t>
            </a:r>
            <a:r>
              <a:rPr lang="zh-CN" altLang="en-US" sz="2400" kern="1200" dirty="0">
                <a:latin typeface="华文楷体" panose="02010600040101010101" charset="-122"/>
                <a:ea typeface="华文楷体" panose="02010600040101010101" charset="-122"/>
                <a:cs typeface="华文楷体" panose="02010600040101010101" charset="-122"/>
                <a:sym typeface="Times New Roman" panose="02020603050405020304" pitchFamily="18" charset="0"/>
              </a:rPr>
              <a:t>码之后的传号码极性也要交替。</a:t>
            </a:r>
            <a:endParaRPr lang="zh-CN" altLang="en-US" sz="2400" kern="1200" dirty="0">
              <a:latin typeface="华文楷体" panose="02010600040101010101" charset="-122"/>
              <a:ea typeface="华文楷体" panose="02010600040101010101" charset="-122"/>
              <a:cs typeface="华文楷体" panose="02010600040101010101" charset="-122"/>
              <a:sym typeface="Tahoma" panose="020B0604030504040204" pitchFamily="34" charset="0"/>
            </a:endParaRPr>
          </a:p>
          <a:p>
            <a:pPr algn="just"/>
            <a:endParaRPr lang="zh-CN" altLang="en-US" sz="2400">
              <a:solidFill>
                <a:schemeClr val="tx1"/>
              </a:solidFill>
              <a:latin typeface="华文楷体" panose="02010600040101010101" charset="-122"/>
              <a:ea typeface="华文楷体" panose="02010600040101010101" charset="-122"/>
              <a:cs typeface="华文楷体" panose="02010600040101010101" charset="-122"/>
            </a:endParaRPr>
          </a:p>
        </p:txBody>
      </p:sp>
      <p:sp>
        <p:nvSpPr>
          <p:cNvPr id="5" name="Rectangle 16"/>
          <p:cNvSpPr>
            <a:spLocks noChangeAspect="1"/>
          </p:cNvSpPr>
          <p:nvPr>
            <p:custDataLst>
              <p:tags r:id="rId4"/>
            </p:custDataLst>
          </p:nvPr>
        </p:nvSpPr>
        <p:spPr>
          <a:xfrm>
            <a:off x="2855595" y="1628775"/>
            <a:ext cx="3792220" cy="852805"/>
          </a:xfrm>
          <a:prstGeom prst="rect">
            <a:avLst/>
          </a:prstGeom>
          <a:solidFill>
            <a:srgbClr val="E4E4E4"/>
          </a:solidFill>
          <a:ln w="9525" cap="flat" cmpd="sng">
            <a:solidFill>
              <a:srgbClr val="B2B2B2"/>
            </a:solidFill>
            <a:prstDash val="solid"/>
            <a:miter/>
            <a:headEnd type="none" w="med" len="med"/>
            <a:tailEnd type="none" w="med" len="med"/>
          </a:ln>
        </p:spPr>
        <p:txBody>
          <a:bodyPr wrap="none" anchor="ctr" anchorCtr="0"/>
          <a:p>
            <a:pPr indent="304800" algn="l">
              <a:lnSpc>
                <a:spcPts val="3600"/>
              </a:lnSpc>
            </a:pPr>
            <a:r>
              <a:rPr lang="zh-CN" altLang="en-US" sz="2800" dirty="0">
                <a:solidFill>
                  <a:srgbClr val="003399"/>
                </a:solidFill>
                <a:latin typeface="华文楷体" panose="02010600040101010101" charset="-122"/>
                <a:ea typeface="华文楷体" panose="02010600040101010101" charset="-122"/>
                <a:cs typeface="华文楷体" panose="02010600040101010101" charset="-122"/>
                <a:sym typeface="Tahoma" panose="020B0604030504040204" pitchFamily="34" charset="0"/>
              </a:rPr>
              <a:t>   </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en-US" altLang="zh-CN" sz="2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1” —— +1</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en-US" altLang="zh-CN" sz="2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-1</a:t>
            </a:r>
            <a:r>
              <a:rPr lang="zh-CN" altLang="en-US" sz="28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交替</a:t>
            </a:r>
            <a:endParaRPr lang="zh-CN" altLang="en-US" sz="28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a:p>
            <a:pPr indent="304800" algn="l">
              <a:lnSpc>
                <a:spcPts val="3600"/>
              </a:lnSpc>
            </a:pPr>
            <a:r>
              <a:rPr lang="en-US" altLang="zh-CN" sz="2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en-US" altLang="zh-CN" sz="2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0” —— 0  </a:t>
            </a:r>
            <a:endParaRPr lang="en-US" altLang="zh-CN" sz="28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2824480" y="45085"/>
            <a:ext cx="9275445" cy="779780"/>
          </a:xfrm>
        </p:spPr>
        <p:txBody>
          <a:bodyPr/>
          <a:p>
            <a:pPr marL="571500" indent="-571500" algn="l">
              <a:buFont typeface="Arial" panose="020B0604020202090204" pitchFamily="34" charset="0"/>
              <a:buChar char="•"/>
            </a:pPr>
            <a:r>
              <a:rPr lang="zh-CN" altLang="en-US" sz="2800" dirty="0">
                <a:latin typeface="华文楷体" panose="02010600040101010101" charset="-122"/>
                <a:ea typeface="华文楷体" panose="02010600040101010101" charset="-122"/>
                <a:sym typeface="+mn-ea"/>
              </a:rPr>
              <a:t>基带信号的功率谱</a:t>
            </a:r>
            <a:endParaRPr lang="zh-CN" altLang="en-US" sz="2800" dirty="0">
              <a:latin typeface="华文楷体" panose="02010600040101010101" charset="-122"/>
              <a:ea typeface="华文楷体" panose="02010600040101010101" charset="-122"/>
              <a:sym typeface="+mn-ea"/>
            </a:endParaRPr>
          </a:p>
        </p:txBody>
      </p:sp>
      <p:graphicFrame>
        <p:nvGraphicFramePr>
          <p:cNvPr id="5" name="对象 -2147482117"/>
          <p:cNvGraphicFramePr>
            <a:graphicFrameLocks noChangeAspect="1"/>
          </p:cNvGraphicFramePr>
          <p:nvPr>
            <p:custDataLst>
              <p:tags r:id="rId3"/>
            </p:custDataLst>
          </p:nvPr>
        </p:nvGraphicFramePr>
        <p:xfrm>
          <a:off x="7392670" y="476885"/>
          <a:ext cx="4815840" cy="1322705"/>
        </p:xfrm>
        <a:graphic>
          <a:graphicData uri="http://schemas.openxmlformats.org/presentationml/2006/ole">
            <mc:AlternateContent xmlns:mc="http://schemas.openxmlformats.org/markup-compatibility/2006">
              <mc:Choice xmlns:v="urn:schemas-microsoft-com:vml" Requires="v">
                <p:oleObj spid="_x0000_s6" name="" r:id="rId4" imgW="1333500" imgH="431800" progId="Equation.3">
                  <p:embed/>
                </p:oleObj>
              </mc:Choice>
              <mc:Fallback>
                <p:oleObj name="" r:id="rId4" imgW="1333500" imgH="431800" progId="Equation.3">
                  <p:embed/>
                  <p:pic>
                    <p:nvPicPr>
                      <p:cNvPr id="0" name="图片 3075"/>
                      <p:cNvPicPr/>
                      <p:nvPr/>
                    </p:nvPicPr>
                    <p:blipFill>
                      <a:blip r:embed="rId5"/>
                      <a:stretch>
                        <a:fillRect/>
                      </a:stretch>
                    </p:blipFill>
                    <p:spPr>
                      <a:xfrm>
                        <a:off x="7392670" y="476885"/>
                        <a:ext cx="4815840" cy="1322705"/>
                      </a:xfrm>
                      <a:prstGeom prst="rect">
                        <a:avLst/>
                      </a:prstGeom>
                      <a:noFill/>
                      <a:ln w="38100">
                        <a:noFill/>
                        <a:miter/>
                      </a:ln>
                    </p:spPr>
                  </p:pic>
                </p:oleObj>
              </mc:Fallback>
            </mc:AlternateContent>
          </a:graphicData>
        </a:graphic>
      </p:graphicFrame>
      <p:sp>
        <p:nvSpPr>
          <p:cNvPr id="16401" name="矩形 26"/>
          <p:cNvSpPr/>
          <p:nvPr>
            <p:custDataLst>
              <p:tags r:id="rId6"/>
            </p:custDataLst>
          </p:nvPr>
        </p:nvSpPr>
        <p:spPr>
          <a:xfrm>
            <a:off x="480060" y="908685"/>
            <a:ext cx="6925945" cy="521970"/>
          </a:xfrm>
          <a:prstGeom prst="rect">
            <a:avLst/>
          </a:prstGeom>
          <a:solidFill>
            <a:srgbClr val="E7E7E7"/>
          </a:solidFill>
          <a:ln w="9525" cap="flat" cmpd="sng">
            <a:solidFill>
              <a:srgbClr val="8D8D8D"/>
            </a:solidFill>
            <a:prstDash val="solid"/>
            <a:miter/>
            <a:headEnd type="none" w="med" len="med"/>
            <a:tailEnd type="none" w="med" len="med"/>
          </a:ln>
        </p:spPr>
        <p:txBody>
          <a:bodyPr wrap="square">
            <a:spAutoFit/>
          </a:bodyPr>
          <a:p>
            <a:pPr marL="228600" indent="-228600">
              <a:spcBef>
                <a:spcPct val="20000"/>
              </a:spcBef>
              <a:buClr>
                <a:srgbClr val="3333CC"/>
              </a:buClr>
              <a:buSzPct val="50000"/>
            </a:pPr>
            <a:r>
              <a:rPr lang="zh-CN" altLang="en-US" sz="2800" dirty="0">
                <a:solidFill>
                  <a:srgbClr val="000099"/>
                </a:solidFill>
                <a:latin typeface="华文楷体" panose="02010600040101010101" charset="-122"/>
                <a:ea typeface="华文楷体" panose="02010600040101010101" charset="-122"/>
                <a:sym typeface="微软雅黑" panose="020B0503020204020204" pitchFamily="34" charset="-122"/>
              </a:rPr>
              <a:t>数字基带信号的表示式（</a:t>
            </a:r>
            <a:r>
              <a:rPr lang="zh-CN" altLang="en-US" sz="2800">
                <a:solidFill>
                  <a:srgbClr val="FF0000"/>
                </a:solidFill>
                <a:latin typeface="华文楷体" panose="02010600040101010101" charset="-122"/>
                <a:ea typeface="华文楷体" panose="02010600040101010101" charset="-122"/>
                <a:sym typeface="+mn-ea"/>
              </a:rPr>
              <a:t>随机脉冲序列）</a:t>
            </a:r>
            <a:r>
              <a:rPr lang="zh-CN" altLang="en-US" sz="2800" dirty="0">
                <a:solidFill>
                  <a:srgbClr val="000099"/>
                </a:solidFill>
                <a:latin typeface="华文楷体" panose="02010600040101010101" charset="-122"/>
                <a:ea typeface="华文楷体" panose="02010600040101010101" charset="-122"/>
                <a:sym typeface="微软雅黑" panose="020B0503020204020204" pitchFamily="34" charset="-122"/>
              </a:rPr>
              <a:t>：</a:t>
            </a:r>
            <a:endParaRPr lang="zh-CN" altLang="en-US" sz="2800" dirty="0">
              <a:solidFill>
                <a:srgbClr val="000099"/>
              </a:solidFill>
              <a:latin typeface="华文楷体" panose="02010600040101010101" charset="-122"/>
              <a:ea typeface="华文楷体" panose="02010600040101010101" charset="-122"/>
              <a:sym typeface="微软雅黑" panose="020B0503020204020204" pitchFamily="34" charset="-122"/>
            </a:endParaRPr>
          </a:p>
        </p:txBody>
      </p:sp>
      <p:sp>
        <p:nvSpPr>
          <p:cNvPr id="7" name="文本框 6"/>
          <p:cNvSpPr txBox="1"/>
          <p:nvPr/>
        </p:nvSpPr>
        <p:spPr>
          <a:xfrm>
            <a:off x="264160" y="2061210"/>
            <a:ext cx="6096000" cy="521970"/>
          </a:xfrm>
          <a:prstGeom prst="rect">
            <a:avLst/>
          </a:prstGeom>
          <a:noFill/>
        </p:spPr>
        <p:txBody>
          <a:bodyPr wrap="square" rtlCol="0" anchor="t">
            <a:spAutoFit/>
          </a:bodyPr>
          <a:p>
            <a:pPr marL="457200" indent="-457200" algn="just">
              <a:buFont typeface="Arial" panose="020B0604020202090204" pitchFamily="34" charset="0"/>
              <a:buChar char="•"/>
            </a:pPr>
            <a:r>
              <a:rPr lang="zh-CN" altLang="en-US" sz="2800">
                <a:latin typeface="华文楷体" panose="02010600040101010101" charset="-122"/>
                <a:ea typeface="华文楷体" panose="02010600040101010101" charset="-122"/>
                <a:cs typeface="华文楷体" panose="02010600040101010101" charset="-122"/>
                <a:sym typeface="+mn-ea"/>
              </a:rPr>
              <a:t>m(t)的功率谱密度</a:t>
            </a:r>
            <a:r>
              <a:rPr lang="en-US" altLang="zh-CN" sz="2800">
                <a:latin typeface="华文楷体" panose="02010600040101010101" charset="-122"/>
                <a:ea typeface="华文楷体" panose="02010600040101010101" charset="-122"/>
                <a:cs typeface="华文楷体" panose="02010600040101010101" charset="-122"/>
                <a:sym typeface="+mn-ea"/>
              </a:rPr>
              <a:t>:</a:t>
            </a:r>
            <a:endParaRPr lang="en-US" altLang="zh-CN" sz="2800">
              <a:latin typeface="华文楷体" panose="02010600040101010101" charset="-122"/>
              <a:ea typeface="华文楷体" panose="02010600040101010101" charset="-122"/>
              <a:cs typeface="华文楷体" panose="02010600040101010101" charset="-122"/>
              <a:sym typeface="+mn-ea"/>
            </a:endParaRPr>
          </a:p>
        </p:txBody>
      </p:sp>
      <p:graphicFrame>
        <p:nvGraphicFramePr>
          <p:cNvPr id="8" name="对象 -2147481025"/>
          <p:cNvGraphicFramePr>
            <a:graphicFrameLocks noChangeAspect="1"/>
          </p:cNvGraphicFramePr>
          <p:nvPr>
            <p:custDataLst>
              <p:tags r:id="rId7"/>
            </p:custDataLst>
          </p:nvPr>
        </p:nvGraphicFramePr>
        <p:xfrm>
          <a:off x="3720465" y="1839595"/>
          <a:ext cx="8314690" cy="1005205"/>
        </p:xfrm>
        <a:graphic>
          <a:graphicData uri="http://schemas.openxmlformats.org/presentationml/2006/ole">
            <mc:AlternateContent xmlns:mc="http://schemas.openxmlformats.org/markup-compatibility/2006">
              <mc:Choice xmlns:v="urn:schemas-microsoft-com:vml" Requires="v">
                <p:oleObj spid="_x0000_s11272" name="" r:id="rId8" imgW="3505200" imgH="431800" progId="Equation.3">
                  <p:embed/>
                </p:oleObj>
              </mc:Choice>
              <mc:Fallback>
                <p:oleObj name="" r:id="rId8" imgW="3505200" imgH="431800" progId="Equation.3">
                  <p:embed/>
                  <p:pic>
                    <p:nvPicPr>
                      <p:cNvPr id="0" name="图片 3075"/>
                      <p:cNvPicPr/>
                      <p:nvPr/>
                    </p:nvPicPr>
                    <p:blipFill>
                      <a:blip r:embed="rId9"/>
                      <a:stretch>
                        <a:fillRect/>
                      </a:stretch>
                    </p:blipFill>
                    <p:spPr>
                      <a:xfrm>
                        <a:off x="3720465" y="1839595"/>
                        <a:ext cx="8314690" cy="1005205"/>
                      </a:xfrm>
                      <a:prstGeom prst="rect">
                        <a:avLst/>
                      </a:prstGeom>
                      <a:no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9" name="文本框 8"/>
              <p:cNvSpPr txBox="1"/>
              <p:nvPr>
                <p:custDataLst>
                  <p:tags r:id="rId10"/>
                </p:custDataLst>
              </p:nvPr>
            </p:nvSpPr>
            <p:spPr>
              <a:xfrm>
                <a:off x="1055370" y="3319780"/>
                <a:ext cx="8873490" cy="2404110"/>
              </a:xfrm>
              <a:prstGeom prst="rect">
                <a:avLst/>
              </a:prstGeom>
              <a:noFill/>
              <a:ln>
                <a:solidFill>
                  <a:schemeClr val="tx1">
                    <a:lumMod val="50000"/>
                    <a:lumOff val="50000"/>
                  </a:schemeClr>
                </a:solidFill>
              </a:ln>
            </p:spPr>
            <p:txBody>
              <a:bodyPr wrap="square" rtlCol="0" anchor="t">
                <a:spAutoFit/>
              </a:bodyPr>
              <a:p>
                <a:pPr algn="l"/>
                <a14:m>
                  <m:oMathPara xmlns:m="http://schemas.openxmlformats.org/officeDocument/2006/math">
                    <m:oMathParaPr>
                      <m:jc m:val="left"/>
                    </m:oMathParaPr>
                    <m:oMath xmlns:m="http://schemas.openxmlformats.org/officeDocument/2006/math">
                      <m:sSub>
                        <m:sSubPr>
                          <m:ctrlPr>
                            <a:rPr lang="en-US" altLang="zh-CN" sz="2400" i="1">
                              <a:solidFill>
                                <a:schemeClr val="tx1"/>
                              </a:solidFill>
                              <a:latin typeface="DejaVu Math TeX Gyre" panose="02000503000000000000" charset="0"/>
                              <a:cs typeface="DejaVu Math TeX Gyre" panose="02000503000000000000" charset="0"/>
                            </a:rPr>
                          </m:ctrlPr>
                        </m:sSubPr>
                        <m:e>
                          <m:sSub>
                            <m:sSubPr>
                              <m:ctrlPr>
                                <a:rPr lang="en-US" altLang="zh-CN" sz="2400" i="1">
                                  <a:solidFill>
                                    <a:schemeClr val="tx1"/>
                                  </a:solidFill>
                                  <a:latin typeface="DejaVu Math TeX Gyre" panose="02000503000000000000" charset="0"/>
                                  <a:cs typeface="DejaVu Math TeX Gyre" panose="02000503000000000000" charset="0"/>
                                </a:rPr>
                              </m:ctrlPr>
                            </m:sSubPr>
                            <m:e>
                              <m:r>
                                <a:rPr lang="en-US" altLang="zh-CN" sz="2400" i="1">
                                  <a:solidFill>
                                    <a:schemeClr val="tx1"/>
                                  </a:solidFill>
                                  <a:latin typeface="DejaVu Math TeX Gyre" panose="02000503000000000000" charset="0"/>
                                  <a:cs typeface="DejaVu Math TeX Gyre" panose="02000503000000000000" charset="0"/>
                                </a:rPr>
                                <m:t>𝑃</m:t>
                              </m:r>
                            </m:e>
                            <m:sub>
                              <m:r>
                                <a:rPr lang="en-US" altLang="zh-CN" sz="2400" i="1">
                                  <a:solidFill>
                                    <a:schemeClr val="tx1"/>
                                  </a:solidFill>
                                  <a:latin typeface="DejaVu Math TeX Gyre" panose="02000503000000000000" charset="0"/>
                                  <a:cs typeface="DejaVu Math TeX Gyre" panose="02000503000000000000" charset="0"/>
                                </a:rPr>
                                <m:t>𝑆</m:t>
                              </m:r>
                            </m:sub>
                          </m:sSub>
                          <m:d>
                            <m:dPr>
                              <m:ctrlPr>
                                <a:rPr lang="en-US" altLang="zh-CN" sz="2400" i="1">
                                  <a:solidFill>
                                    <a:schemeClr val="tx1"/>
                                  </a:solidFill>
                                  <a:latin typeface="DejaVu Math TeX Gyre" panose="02000503000000000000" charset="0"/>
                                  <a:cs typeface="DejaVu Math TeX Gyre" panose="02000503000000000000" charset="0"/>
                                </a:rPr>
                              </m:ctrlPr>
                            </m:dPr>
                            <m:e>
                              <m:r>
                                <a:rPr lang="en-US" altLang="zh-CN" sz="2400" i="1">
                                  <a:solidFill>
                                    <a:schemeClr val="tx1"/>
                                  </a:solidFill>
                                  <a:latin typeface="DejaVu Math TeX Gyre" panose="02000503000000000000" charset="0"/>
                                  <a:cs typeface="DejaVu Math TeX Gyre" panose="02000503000000000000" charset="0"/>
                                </a:rPr>
                                <m:t>𝑓</m:t>
                              </m:r>
                            </m:e>
                          </m:d>
                          <m:r>
                            <a:rPr lang="en-US" altLang="zh-CN" sz="2400" i="1">
                              <a:solidFill>
                                <a:schemeClr val="tx1"/>
                              </a:solidFill>
                              <a:latin typeface="DejaVu Math TeX Gyre" panose="02000503000000000000" charset="0"/>
                              <a:cs typeface="DejaVu Math TeX Gyre" panose="02000503000000000000" charset="0"/>
                            </a:rPr>
                            <m:t> </m:t>
                          </m:r>
                          <m:r>
                            <a:rPr lang="en-US" altLang="zh-CN" sz="2400" i="1">
                              <a:solidFill>
                                <a:schemeClr val="tx1"/>
                              </a:solidFill>
                              <a:latin typeface="DejaVu Math TeX Gyre" panose="02000503000000000000" charset="0"/>
                              <a:cs typeface="DejaVu Math TeX Gyre" panose="02000503000000000000" charset="0"/>
                            </a:rPr>
                            <m:t>=</m:t>
                          </m:r>
                          <m:sSub>
                            <m:sSubPr>
                              <m:ctrlPr>
                                <a:rPr lang="en-US" altLang="zh-CN" sz="2400" i="1">
                                  <a:solidFill>
                                    <a:schemeClr val="tx1"/>
                                  </a:solidFill>
                                  <a:latin typeface="DejaVu Math TeX Gyre" panose="02000503000000000000" charset="0"/>
                                  <a:cs typeface="DejaVu Math TeX Gyre" panose="02000503000000000000" charset="0"/>
                                </a:rPr>
                              </m:ctrlPr>
                            </m:sSubPr>
                            <m:e>
                              <m:r>
                                <a:rPr lang="en-US" altLang="zh-CN" sz="2400" i="1">
                                  <a:solidFill>
                                    <a:schemeClr val="tx1"/>
                                  </a:solidFill>
                                  <a:latin typeface="DejaVu Math TeX Gyre" panose="02000503000000000000" charset="0"/>
                                  <a:cs typeface="DejaVu Math TeX Gyre" panose="02000503000000000000" charset="0"/>
                                </a:rPr>
                                <m:t>𝑃</m:t>
                              </m:r>
                            </m:e>
                            <m:sub>
                              <m:r>
                                <a:rPr lang="en-US" altLang="zh-CN" sz="2400" i="1">
                                  <a:solidFill>
                                    <a:schemeClr val="tx1"/>
                                  </a:solidFill>
                                  <a:latin typeface="DejaVu Math TeX Gyre" panose="02000503000000000000" charset="0"/>
                                  <a:cs typeface="DejaVu Math TeX Gyre" panose="02000503000000000000" charset="0"/>
                                </a:rPr>
                                <m:t>𝑢</m:t>
                              </m:r>
                            </m:sub>
                          </m:sSub>
                          <m:d>
                            <m:dPr>
                              <m:ctrlPr>
                                <a:rPr lang="en-US" altLang="zh-CN" sz="2400" i="1">
                                  <a:solidFill>
                                    <a:schemeClr val="tx1"/>
                                  </a:solidFill>
                                  <a:latin typeface="DejaVu Math TeX Gyre" panose="02000503000000000000" charset="0"/>
                                  <a:cs typeface="DejaVu Math TeX Gyre" panose="02000503000000000000" charset="0"/>
                                </a:rPr>
                              </m:ctrlPr>
                            </m:dPr>
                            <m:e>
                              <m:r>
                                <a:rPr lang="en-US" altLang="zh-CN" sz="2400" i="1">
                                  <a:solidFill>
                                    <a:schemeClr val="tx1"/>
                                  </a:solidFill>
                                  <a:latin typeface="DejaVu Math TeX Gyre" panose="02000503000000000000" charset="0"/>
                                  <a:cs typeface="DejaVu Math TeX Gyre" panose="02000503000000000000" charset="0"/>
                                </a:rPr>
                                <m:t>𝑓</m:t>
                              </m:r>
                            </m:e>
                          </m:d>
                          <m:r>
                            <a:rPr lang="en-US" altLang="zh-CN" sz="2400" i="1">
                              <a:solidFill>
                                <a:schemeClr val="tx1"/>
                              </a:solidFill>
                              <a:latin typeface="DejaVu Math TeX Gyre" panose="02000503000000000000" charset="0"/>
                              <a:cs typeface="DejaVu Math TeX Gyre" panose="02000503000000000000" charset="0"/>
                            </a:rPr>
                            <m:t> </m:t>
                          </m:r>
                          <m:r>
                            <a:rPr lang="en-US" altLang="zh-CN" sz="2400" i="1">
                              <a:solidFill>
                                <a:schemeClr val="tx1"/>
                              </a:solidFill>
                              <a:latin typeface="DejaVu Math TeX Gyre" panose="02000503000000000000" charset="0"/>
                              <a:cs typeface="DejaVu Math TeX Gyre" panose="02000503000000000000" charset="0"/>
                            </a:rPr>
                            <m:t>+</m:t>
                          </m:r>
                          <m:r>
                            <a:rPr lang="en-US" altLang="zh-CN" sz="2400" i="1">
                              <a:solidFill>
                                <a:schemeClr val="tx1"/>
                              </a:solidFill>
                              <a:latin typeface="DejaVu Math TeX Gyre" panose="02000503000000000000" charset="0"/>
                              <a:cs typeface="DejaVu Math TeX Gyre" panose="02000503000000000000" charset="0"/>
                            </a:rPr>
                            <m:t>𝑃</m:t>
                          </m:r>
                        </m:e>
                        <m:sub>
                          <m:r>
                            <a:rPr lang="en-US" altLang="zh-CN" sz="2400" i="1">
                              <a:solidFill>
                                <a:schemeClr val="tx1"/>
                              </a:solidFill>
                              <a:latin typeface="DejaVu Math TeX Gyre" panose="02000503000000000000" charset="0"/>
                              <a:cs typeface="DejaVu Math TeX Gyre" panose="02000503000000000000" charset="0"/>
                            </a:rPr>
                            <m:t>𝑣</m:t>
                          </m:r>
                        </m:sub>
                      </m:sSub>
                      <m:d>
                        <m:dPr>
                          <m:ctrlPr>
                            <a:rPr lang="en-US" altLang="zh-CN" sz="2400" i="1">
                              <a:solidFill>
                                <a:schemeClr val="tx1"/>
                              </a:solidFill>
                              <a:latin typeface="DejaVu Math TeX Gyre" panose="02000503000000000000" charset="0"/>
                              <a:cs typeface="DejaVu Math TeX Gyre" panose="02000503000000000000" charset="0"/>
                            </a:rPr>
                          </m:ctrlPr>
                        </m:dPr>
                        <m:e>
                          <m:r>
                            <a:rPr lang="en-US" altLang="zh-CN" sz="2400" i="1">
                              <a:solidFill>
                                <a:schemeClr val="tx1"/>
                              </a:solidFill>
                              <a:latin typeface="DejaVu Math TeX Gyre" panose="02000503000000000000" charset="0"/>
                              <a:cs typeface="DejaVu Math TeX Gyre" panose="02000503000000000000" charset="0"/>
                            </a:rPr>
                            <m:t>𝑓</m:t>
                          </m:r>
                        </m:e>
                      </m:d>
                    </m:oMath>
                  </m:oMathPara>
                </a14:m>
                <a:endParaRPr lang="en-US" altLang="zh-CN" sz="2400" i="1">
                  <a:solidFill>
                    <a:schemeClr val="tx1"/>
                  </a:solidFill>
                  <a:latin typeface="DejaVu Math TeX Gyre" panose="02000503000000000000" charset="0"/>
                  <a:cs typeface="DejaVu Math TeX Gyre" panose="02000503000000000000" charset="0"/>
                </a:endParaRPr>
              </a:p>
              <a:p>
                <a:pPr algn="l"/>
                <a:endParaRPr lang="en-US" altLang="zh-CN" sz="2400" i="1">
                  <a:solidFill>
                    <a:schemeClr val="tx1"/>
                  </a:solidFill>
                  <a:latin typeface="DejaVu Math TeX Gyre" panose="02000503000000000000" charset="0"/>
                  <a:cs typeface="DejaVu Math TeX Gyre" panose="02000503000000000000" charset="0"/>
                </a:endParaRPr>
              </a:p>
              <a:p>
                <a:pPr algn="l"/>
                <a:r>
                  <a:rPr lang="en-US" altLang="zh-CN" sz="2400" i="1">
                    <a:solidFill>
                      <a:schemeClr val="tx1"/>
                    </a:solidFill>
                    <a:latin typeface="DejaVu Math TeX Gyre" panose="02000503000000000000" charset="0"/>
                    <a:cs typeface="DejaVu Math TeX Gyre" panose="02000503000000000000" charset="0"/>
                  </a:rPr>
                  <a:t> =</a:t>
                </a:r>
                <a14:m>
                  <m:oMath xmlns:m="http://schemas.openxmlformats.org/officeDocument/2006/math">
                    <m:sSub>
                      <m:sSubPr>
                        <m:ctrlPr>
                          <a:rPr lang="en-US" altLang="zh-CN" sz="2400" i="1">
                            <a:solidFill>
                              <a:schemeClr val="tx1"/>
                            </a:solidFill>
                            <a:latin typeface="DejaVu Math TeX Gyre" panose="02000503000000000000" charset="0"/>
                            <a:cs typeface="DejaVu Math TeX Gyre" panose="02000503000000000000" charset="0"/>
                          </a:rPr>
                        </m:ctrlPr>
                      </m:sSubPr>
                      <m:e>
                        <m:r>
                          <a:rPr lang="en-US" altLang="zh-CN" sz="2400" i="1">
                            <a:solidFill>
                              <a:schemeClr val="tx1"/>
                            </a:solidFill>
                            <a:latin typeface="DejaVu Math TeX Gyre" panose="02000503000000000000" charset="0"/>
                            <a:cs typeface="DejaVu Math TeX Gyre" panose="02000503000000000000" charset="0"/>
                          </a:rPr>
                          <m:t>𝑓</m:t>
                        </m:r>
                      </m:e>
                      <m:sub>
                        <m:r>
                          <a:rPr lang="en-US" altLang="zh-CN" sz="2400" i="1">
                            <a:solidFill>
                              <a:schemeClr val="tx1"/>
                            </a:solidFill>
                            <a:latin typeface="DejaVu Math TeX Gyre" panose="02000503000000000000" charset="0"/>
                            <a:cs typeface="DejaVu Math TeX Gyre" panose="02000503000000000000" charset="0"/>
                          </a:rPr>
                          <m:t>𝑆</m:t>
                        </m:r>
                      </m:sub>
                    </m:sSub>
                    <m:r>
                      <a:rPr lang="en-US" altLang="zh-CN" sz="2400" i="1">
                        <a:solidFill>
                          <a:schemeClr val="tx1"/>
                        </a:solidFill>
                        <a:latin typeface="DejaVu Math TeX Gyre" panose="02000503000000000000" charset="0"/>
                        <a:cs typeface="DejaVu Math TeX Gyre" panose="02000503000000000000" charset="0"/>
                      </a:rPr>
                      <m:t>𝑃</m:t>
                    </m:r>
                    <m:d>
                      <m:dPr>
                        <m:ctrlPr>
                          <a:rPr lang="en-US" altLang="zh-CN" sz="2400" i="1">
                            <a:solidFill>
                              <a:schemeClr val="tx1"/>
                            </a:solidFill>
                            <a:latin typeface="DejaVu Math TeX Gyre" panose="02000503000000000000" charset="0"/>
                            <a:cs typeface="DejaVu Math TeX Gyre" panose="02000503000000000000" charset="0"/>
                          </a:rPr>
                        </m:ctrlPr>
                      </m:dPr>
                      <m:e>
                        <m:r>
                          <a:rPr lang="en-US" altLang="zh-CN" sz="2400" i="1">
                            <a:solidFill>
                              <a:schemeClr val="tx1"/>
                            </a:solidFill>
                            <a:latin typeface="DejaVu Math TeX Gyre" panose="02000503000000000000" charset="0"/>
                            <a:cs typeface="DejaVu Math TeX Gyre" panose="02000503000000000000" charset="0"/>
                          </a:rPr>
                          <m:t>1</m:t>
                        </m:r>
                        <m:r>
                          <a:rPr lang="en-US" altLang="zh-CN" sz="2400" i="1">
                            <a:solidFill>
                              <a:schemeClr val="tx1"/>
                            </a:solidFill>
                            <a:latin typeface="DejaVu Math TeX Gyre" panose="02000503000000000000" charset="0"/>
                            <a:cs typeface="DejaVu Math TeX Gyre" panose="02000503000000000000" charset="0"/>
                          </a:rPr>
                          <m:t>−</m:t>
                        </m:r>
                        <m:r>
                          <a:rPr lang="en-US" altLang="zh-CN" sz="2400" i="1">
                            <a:solidFill>
                              <a:schemeClr val="tx1"/>
                            </a:solidFill>
                            <a:latin typeface="DejaVu Math TeX Gyre" panose="02000503000000000000" charset="0"/>
                            <a:cs typeface="DejaVu Math TeX Gyre" panose="02000503000000000000" charset="0"/>
                          </a:rPr>
                          <m:t>𝑃</m:t>
                        </m:r>
                      </m:e>
                    </m:d>
                    <m:sSup>
                      <m:sSupPr>
                        <m:ctrlPr>
                          <a:rPr lang="en-US" altLang="zh-CN" sz="2400" i="1">
                            <a:solidFill>
                              <a:schemeClr val="tx1"/>
                            </a:solidFill>
                            <a:latin typeface="DejaVu Math TeX Gyre" panose="02000503000000000000" charset="0"/>
                            <a:cs typeface="DejaVu Math TeX Gyre" panose="02000503000000000000" charset="0"/>
                          </a:rPr>
                        </m:ctrlPr>
                      </m:sSupPr>
                      <m:e>
                        <m:d>
                          <m:dPr>
                            <m:begChr m:val="|"/>
                            <m:endChr m:val="|"/>
                            <m:ctrlPr>
                              <a:rPr lang="en-US" altLang="zh-CN" sz="2400" i="1">
                                <a:solidFill>
                                  <a:schemeClr val="tx1"/>
                                </a:solidFill>
                                <a:latin typeface="DejaVu Math TeX Gyre" panose="02000503000000000000" charset="0"/>
                                <a:cs typeface="DejaVu Math TeX Gyre" panose="02000503000000000000" charset="0"/>
                              </a:rPr>
                            </m:ctrlPr>
                          </m:dPr>
                          <m:e>
                            <m:sSub>
                              <m:sSubPr>
                                <m:ctrlPr>
                                  <a:rPr lang="en-US" altLang="zh-CN" sz="2400" i="1">
                                    <a:solidFill>
                                      <a:schemeClr val="tx1"/>
                                    </a:solidFill>
                                    <a:latin typeface="DejaVu Math TeX Gyre" panose="02000503000000000000" charset="0"/>
                                    <a:cs typeface="DejaVu Math TeX Gyre" panose="02000503000000000000" charset="0"/>
                                  </a:rPr>
                                </m:ctrlPr>
                              </m:sSubPr>
                              <m:e>
                                <m:r>
                                  <a:rPr lang="en-US" altLang="zh-CN" sz="2400" i="1">
                                    <a:solidFill>
                                      <a:schemeClr val="tx1"/>
                                    </a:solidFill>
                                    <a:latin typeface="DejaVu Math TeX Gyre" panose="02000503000000000000" charset="0"/>
                                    <a:cs typeface="DejaVu Math TeX Gyre" panose="02000503000000000000" charset="0"/>
                                  </a:rPr>
                                  <m:t>𝐺</m:t>
                                </m:r>
                              </m:e>
                              <m:sub>
                                <m:r>
                                  <a:rPr lang="en-US" altLang="zh-CN" sz="2400" i="1">
                                    <a:solidFill>
                                      <a:schemeClr val="tx1"/>
                                    </a:solidFill>
                                    <a:latin typeface="DejaVu Math TeX Gyre" panose="02000503000000000000" charset="0"/>
                                    <a:cs typeface="DejaVu Math TeX Gyre" panose="02000503000000000000" charset="0"/>
                                  </a:rPr>
                                  <m:t>1</m:t>
                                </m:r>
                              </m:sub>
                            </m:sSub>
                            <m:d>
                              <m:dPr>
                                <m:ctrlPr>
                                  <a:rPr lang="en-US" altLang="zh-CN" sz="2400" i="1">
                                    <a:solidFill>
                                      <a:schemeClr val="tx1"/>
                                    </a:solidFill>
                                    <a:latin typeface="DejaVu Math TeX Gyre" panose="02000503000000000000" charset="0"/>
                                    <a:cs typeface="DejaVu Math TeX Gyre" panose="02000503000000000000" charset="0"/>
                                  </a:rPr>
                                </m:ctrlPr>
                              </m:dPr>
                              <m:e>
                                <m:r>
                                  <a:rPr lang="en-US" altLang="zh-CN" sz="2400" i="1">
                                    <a:solidFill>
                                      <a:schemeClr val="tx1"/>
                                    </a:solidFill>
                                    <a:latin typeface="DejaVu Math TeX Gyre" panose="02000503000000000000" charset="0"/>
                                    <a:cs typeface="DejaVu Math TeX Gyre" panose="02000503000000000000" charset="0"/>
                                  </a:rPr>
                                  <m:t>𝑓</m:t>
                                </m:r>
                              </m:e>
                            </m:d>
                            <m:r>
                              <a:rPr lang="en-US" altLang="zh-CN" sz="2400" i="1">
                                <a:solidFill>
                                  <a:schemeClr val="tx1"/>
                                </a:solidFill>
                                <a:latin typeface="DejaVu Math TeX Gyre" panose="02000503000000000000" charset="0"/>
                                <a:cs typeface="DejaVu Math TeX Gyre" panose="02000503000000000000" charset="0"/>
                              </a:rPr>
                              <m:t>−</m:t>
                            </m:r>
                            <m:sSub>
                              <m:sSubPr>
                                <m:ctrlPr>
                                  <a:rPr lang="en-US" altLang="zh-CN" sz="2400" i="1">
                                    <a:solidFill>
                                      <a:schemeClr val="tx1"/>
                                    </a:solidFill>
                                    <a:latin typeface="DejaVu Math TeX Gyre" panose="02000503000000000000" charset="0"/>
                                    <a:cs typeface="DejaVu Math TeX Gyre" panose="02000503000000000000" charset="0"/>
                                  </a:rPr>
                                </m:ctrlPr>
                              </m:sSubPr>
                              <m:e>
                                <m:r>
                                  <a:rPr lang="en-US" altLang="zh-CN" sz="2400" i="1">
                                    <a:solidFill>
                                      <a:schemeClr val="tx1"/>
                                    </a:solidFill>
                                    <a:latin typeface="DejaVu Math TeX Gyre" panose="02000503000000000000" charset="0"/>
                                    <a:cs typeface="DejaVu Math TeX Gyre" panose="02000503000000000000" charset="0"/>
                                  </a:rPr>
                                  <m:t>𝐺</m:t>
                                </m:r>
                              </m:e>
                              <m:sub>
                                <m:r>
                                  <a:rPr lang="en-US" altLang="zh-CN" sz="2400" i="1">
                                    <a:solidFill>
                                      <a:schemeClr val="tx1"/>
                                    </a:solidFill>
                                    <a:latin typeface="DejaVu Math TeX Gyre" panose="02000503000000000000" charset="0"/>
                                    <a:cs typeface="DejaVu Math TeX Gyre" panose="02000503000000000000" charset="0"/>
                                  </a:rPr>
                                  <m:t>2</m:t>
                                </m:r>
                              </m:sub>
                            </m:sSub>
                            <m:d>
                              <m:dPr>
                                <m:ctrlPr>
                                  <a:rPr lang="en-US" altLang="zh-CN" sz="2400" i="1">
                                    <a:solidFill>
                                      <a:schemeClr val="tx1"/>
                                    </a:solidFill>
                                    <a:latin typeface="DejaVu Math TeX Gyre" panose="02000503000000000000" charset="0"/>
                                    <a:cs typeface="DejaVu Math TeX Gyre" panose="02000503000000000000" charset="0"/>
                                  </a:rPr>
                                </m:ctrlPr>
                              </m:dPr>
                              <m:e>
                                <m:r>
                                  <a:rPr lang="en-US" altLang="zh-CN" sz="2400" i="1">
                                    <a:solidFill>
                                      <a:schemeClr val="tx1"/>
                                    </a:solidFill>
                                    <a:latin typeface="DejaVu Math TeX Gyre" panose="02000503000000000000" charset="0"/>
                                    <a:cs typeface="DejaVu Math TeX Gyre" panose="02000503000000000000" charset="0"/>
                                  </a:rPr>
                                  <m:t>𝑓</m:t>
                                </m:r>
                              </m:e>
                            </m:d>
                          </m:e>
                        </m:d>
                      </m:e>
                      <m:sup>
                        <m:r>
                          <a:rPr lang="en-US" altLang="zh-CN" sz="2400" i="1">
                            <a:solidFill>
                              <a:schemeClr val="tx1"/>
                            </a:solidFill>
                            <a:latin typeface="DejaVu Math TeX Gyre" panose="02000503000000000000" charset="0"/>
                            <a:cs typeface="DejaVu Math TeX Gyre" panose="02000503000000000000" charset="0"/>
                          </a:rPr>
                          <m:t>2</m:t>
                        </m:r>
                      </m:sup>
                    </m:sSup>
                  </m:oMath>
                </a14:m>
                <a:endParaRPr lang="en-US" altLang="zh-CN" sz="2400" i="1">
                  <a:solidFill>
                    <a:schemeClr val="tx1"/>
                  </a:solidFill>
                  <a:latin typeface="DejaVu Math TeX Gyre" panose="02000503000000000000" charset="0"/>
                  <a:cs typeface="DejaVu Math TeX Gyre" panose="02000503000000000000" charset="0"/>
                </a:endParaRPr>
              </a:p>
              <a:p>
                <a:pPr algn="l"/>
                <a:endParaRPr lang="en-US" altLang="zh-CN" sz="2400" i="1">
                  <a:solidFill>
                    <a:schemeClr val="tx1"/>
                  </a:solidFill>
                  <a:latin typeface="DejaVu Math TeX Gyre" panose="02000503000000000000" charset="0"/>
                  <a:cs typeface="DejaVu Math TeX Gyre" panose="02000503000000000000" charset="0"/>
                </a:endParaRPr>
              </a:p>
              <a:p>
                <a:pPr algn="l"/>
                <a14:m>
                  <m:oMath xmlns:m="http://schemas.openxmlformats.org/officeDocument/2006/math">
                    <m:r>
                      <a:rPr lang="en-US" altLang="zh-CN" sz="2400" i="1">
                        <a:solidFill>
                          <a:schemeClr val="tx1"/>
                        </a:solidFill>
                        <a:latin typeface="DejaVu Math TeX Gyre" panose="02000503000000000000" charset="0"/>
                        <a:cs typeface="DejaVu Math TeX Gyre" panose="02000503000000000000" charset="0"/>
                      </a:rPr>
                      <m:t>+</m:t>
                    </m:r>
                    <m:nary>
                      <m:naryPr>
                        <m:chr m:val="∑"/>
                        <m:limLoc m:val="undOvr"/>
                        <m:ctrlPr>
                          <a:rPr lang="en-US" altLang="zh-CN" sz="2400" i="1">
                            <a:solidFill>
                              <a:schemeClr val="tx1"/>
                            </a:solidFill>
                            <a:latin typeface="DejaVu Math TeX Gyre" panose="02000503000000000000" charset="0"/>
                            <a:cs typeface="DejaVu Math TeX Gyre" panose="02000503000000000000" charset="0"/>
                          </a:rPr>
                        </m:ctrlPr>
                      </m:naryPr>
                      <m:sub>
                        <m:r>
                          <a:rPr lang="en-US" altLang="zh-CN" sz="2400" i="1">
                            <a:solidFill>
                              <a:schemeClr val="tx1"/>
                            </a:solidFill>
                            <a:latin typeface="DejaVu Math TeX Gyre" panose="02000503000000000000" charset="0"/>
                            <a:cs typeface="DejaVu Math TeX Gyre" panose="02000503000000000000" charset="0"/>
                          </a:rPr>
                          <m:t>𝑚</m:t>
                        </m:r>
                        <m:r>
                          <a:rPr lang="en-US" altLang="zh-CN" sz="2400" i="1">
                            <a:solidFill>
                              <a:schemeClr val="tx1"/>
                            </a:solidFill>
                            <a:latin typeface="DejaVu Math TeX Gyre" panose="02000503000000000000" charset="0"/>
                            <a:cs typeface="DejaVu Math TeX Gyre" panose="02000503000000000000" charset="0"/>
                          </a:rPr>
                          <m:t>=−∞</m:t>
                        </m:r>
                      </m:sub>
                      <m:sup>
                        <m:r>
                          <a:rPr lang="en-US" altLang="zh-CN" sz="2400" i="1">
                            <a:solidFill>
                              <a:schemeClr val="tx1"/>
                            </a:solidFill>
                            <a:latin typeface="DejaVu Math TeX Gyre" panose="02000503000000000000" charset="0"/>
                            <a:cs typeface="DejaVu Math TeX Gyre" panose="02000503000000000000" charset="0"/>
                          </a:rPr>
                          <m:t>∞</m:t>
                        </m:r>
                      </m:sup>
                      <m:e>
                        <m:sSup>
                          <m:sSupPr>
                            <m:ctrlPr>
                              <a:rPr lang="en-US" altLang="zh-CN" sz="2400" i="1">
                                <a:solidFill>
                                  <a:schemeClr val="tx1"/>
                                </a:solidFill>
                                <a:latin typeface="DejaVu Math TeX Gyre" panose="02000503000000000000" charset="0"/>
                                <a:cs typeface="DejaVu Math TeX Gyre" panose="02000503000000000000" charset="0"/>
                              </a:rPr>
                            </m:ctrlPr>
                          </m:sSupPr>
                          <m:e>
                            <m:d>
                              <m:dPr>
                                <m:begChr m:val="|"/>
                                <m:endChr m:val="|"/>
                                <m:ctrlPr>
                                  <a:rPr lang="en-US" altLang="zh-CN" sz="2400" i="1">
                                    <a:solidFill>
                                      <a:schemeClr val="tx1"/>
                                    </a:solidFill>
                                    <a:latin typeface="DejaVu Math TeX Gyre" panose="02000503000000000000" charset="0"/>
                                    <a:cs typeface="DejaVu Math TeX Gyre" panose="02000503000000000000" charset="0"/>
                                  </a:rPr>
                                </m:ctrlPr>
                              </m:dPr>
                              <m:e>
                                <m:sSub>
                                  <m:sSubPr>
                                    <m:ctrlPr>
                                      <a:rPr lang="en-US" altLang="zh-CN" sz="2400" i="1">
                                        <a:solidFill>
                                          <a:schemeClr val="tx1"/>
                                        </a:solidFill>
                                        <a:latin typeface="DejaVu Math TeX Gyre" panose="02000503000000000000" charset="0"/>
                                        <a:cs typeface="DejaVu Math TeX Gyre" panose="02000503000000000000" charset="0"/>
                                      </a:rPr>
                                    </m:ctrlPr>
                                  </m:sSubPr>
                                  <m:e>
                                    <m:r>
                                      <a:rPr lang="en-US" altLang="zh-CN" sz="2400" i="1">
                                        <a:solidFill>
                                          <a:schemeClr val="tx1"/>
                                        </a:solidFill>
                                        <a:latin typeface="DejaVu Math TeX Gyre" panose="02000503000000000000" charset="0"/>
                                        <a:cs typeface="DejaVu Math TeX Gyre" panose="02000503000000000000" charset="0"/>
                                      </a:rPr>
                                      <m:t>𝑓</m:t>
                                    </m:r>
                                  </m:e>
                                  <m:sub>
                                    <m:r>
                                      <a:rPr lang="en-US" altLang="zh-CN" sz="2400" i="1">
                                        <a:solidFill>
                                          <a:schemeClr val="tx1"/>
                                        </a:solidFill>
                                        <a:latin typeface="DejaVu Math TeX Gyre" panose="02000503000000000000" charset="0"/>
                                        <a:cs typeface="DejaVu Math TeX Gyre" panose="02000503000000000000" charset="0"/>
                                      </a:rPr>
                                      <m:t>𝑆</m:t>
                                    </m:r>
                                  </m:sub>
                                </m:sSub>
                                <m:d>
                                  <m:dPr>
                                    <m:begChr m:val="["/>
                                    <m:endChr m:val="]"/>
                                    <m:ctrlPr>
                                      <a:rPr lang="en-US" altLang="zh-CN" sz="2400" i="1">
                                        <a:solidFill>
                                          <a:schemeClr val="tx1"/>
                                        </a:solidFill>
                                        <a:latin typeface="DejaVu Math TeX Gyre" panose="02000503000000000000" charset="0"/>
                                        <a:cs typeface="DejaVu Math TeX Gyre" panose="02000503000000000000" charset="0"/>
                                      </a:rPr>
                                    </m:ctrlPr>
                                  </m:dPr>
                                  <m:e>
                                    <m:r>
                                      <a:rPr lang="en-US" altLang="zh-CN" sz="2400" i="1">
                                        <a:solidFill>
                                          <a:schemeClr val="tx1"/>
                                        </a:solidFill>
                                        <a:latin typeface="DejaVu Math TeX Gyre" panose="02000503000000000000" charset="0"/>
                                        <a:cs typeface="DejaVu Math TeX Gyre" panose="02000503000000000000" charset="0"/>
                                      </a:rPr>
                                      <m:t>𝑃</m:t>
                                    </m:r>
                                    <m:sSub>
                                      <m:sSubPr>
                                        <m:ctrlPr>
                                          <a:rPr lang="en-US" altLang="zh-CN" sz="2400" i="1">
                                            <a:solidFill>
                                              <a:schemeClr val="tx1"/>
                                            </a:solidFill>
                                            <a:latin typeface="DejaVu Math TeX Gyre" panose="02000503000000000000" charset="0"/>
                                            <a:cs typeface="DejaVu Math TeX Gyre" panose="02000503000000000000" charset="0"/>
                                          </a:rPr>
                                        </m:ctrlPr>
                                      </m:sSubPr>
                                      <m:e>
                                        <m:r>
                                          <a:rPr lang="en-US" altLang="zh-CN" sz="2400" i="1">
                                            <a:solidFill>
                                              <a:schemeClr val="tx1"/>
                                            </a:solidFill>
                                            <a:latin typeface="DejaVu Math TeX Gyre" panose="02000503000000000000" charset="0"/>
                                            <a:cs typeface="DejaVu Math TeX Gyre" panose="02000503000000000000" charset="0"/>
                                          </a:rPr>
                                          <m:t>𝐺</m:t>
                                        </m:r>
                                      </m:e>
                                      <m:sub>
                                        <m:r>
                                          <a:rPr lang="en-US" altLang="zh-CN" sz="2400" i="1">
                                            <a:solidFill>
                                              <a:schemeClr val="tx1"/>
                                            </a:solidFill>
                                            <a:latin typeface="DejaVu Math TeX Gyre" panose="02000503000000000000" charset="0"/>
                                            <a:cs typeface="DejaVu Math TeX Gyre" panose="02000503000000000000" charset="0"/>
                                          </a:rPr>
                                          <m:t>1</m:t>
                                        </m:r>
                                      </m:sub>
                                    </m:sSub>
                                    <m:d>
                                      <m:dPr>
                                        <m:ctrlPr>
                                          <a:rPr lang="en-US" altLang="zh-CN" sz="2400" i="1">
                                            <a:solidFill>
                                              <a:schemeClr val="tx1"/>
                                            </a:solidFill>
                                            <a:latin typeface="DejaVu Math TeX Gyre" panose="02000503000000000000" charset="0"/>
                                            <a:cs typeface="DejaVu Math TeX Gyre" panose="02000503000000000000" charset="0"/>
                                          </a:rPr>
                                        </m:ctrlPr>
                                      </m:dPr>
                                      <m:e>
                                        <m:r>
                                          <a:rPr lang="en-US" altLang="zh-CN" sz="2400" i="1">
                                            <a:solidFill>
                                              <a:schemeClr val="tx1"/>
                                            </a:solidFill>
                                            <a:latin typeface="DejaVu Math TeX Gyre" panose="02000503000000000000" charset="0"/>
                                            <a:cs typeface="DejaVu Math TeX Gyre" panose="02000503000000000000" charset="0"/>
                                          </a:rPr>
                                          <m:t>𝑚</m:t>
                                        </m:r>
                                        <m:sSub>
                                          <m:sSubPr>
                                            <m:ctrlPr>
                                              <a:rPr lang="en-US" altLang="zh-CN" sz="2400" i="1">
                                                <a:solidFill>
                                                  <a:schemeClr val="tx1"/>
                                                </a:solidFill>
                                                <a:latin typeface="DejaVu Math TeX Gyre" panose="02000503000000000000" charset="0"/>
                                                <a:cs typeface="DejaVu Math TeX Gyre" panose="02000503000000000000" charset="0"/>
                                              </a:rPr>
                                            </m:ctrlPr>
                                          </m:sSubPr>
                                          <m:e>
                                            <m:r>
                                              <a:rPr lang="en-US" altLang="zh-CN" sz="2400" i="1">
                                                <a:solidFill>
                                                  <a:schemeClr val="tx1"/>
                                                </a:solidFill>
                                                <a:latin typeface="DejaVu Math TeX Gyre" panose="02000503000000000000" charset="0"/>
                                                <a:cs typeface="DejaVu Math TeX Gyre" panose="02000503000000000000" charset="0"/>
                                              </a:rPr>
                                              <m:t>𝑓</m:t>
                                            </m:r>
                                          </m:e>
                                          <m:sub>
                                            <m:r>
                                              <a:rPr lang="en-US" altLang="zh-CN" sz="2400" i="1">
                                                <a:solidFill>
                                                  <a:schemeClr val="tx1"/>
                                                </a:solidFill>
                                                <a:latin typeface="DejaVu Math TeX Gyre" panose="02000503000000000000" charset="0"/>
                                                <a:cs typeface="DejaVu Math TeX Gyre" panose="02000503000000000000" charset="0"/>
                                              </a:rPr>
                                              <m:t>𝑆</m:t>
                                            </m:r>
                                          </m:sub>
                                        </m:sSub>
                                      </m:e>
                                    </m:d>
                                    <m:r>
                                      <a:rPr lang="en-US" altLang="zh-CN" sz="2400" i="1">
                                        <a:solidFill>
                                          <a:schemeClr val="tx1"/>
                                        </a:solidFill>
                                        <a:latin typeface="DejaVu Math TeX Gyre" panose="02000503000000000000" charset="0"/>
                                        <a:cs typeface="DejaVu Math TeX Gyre" panose="02000503000000000000" charset="0"/>
                                      </a:rPr>
                                      <m:t>+</m:t>
                                    </m:r>
                                    <m:d>
                                      <m:dPr>
                                        <m:ctrlPr>
                                          <a:rPr lang="en-US" altLang="zh-CN" sz="2400" i="1">
                                            <a:solidFill>
                                              <a:schemeClr val="tx1"/>
                                            </a:solidFill>
                                            <a:latin typeface="DejaVu Math TeX Gyre" panose="02000503000000000000" charset="0"/>
                                            <a:cs typeface="DejaVu Math TeX Gyre" panose="02000503000000000000" charset="0"/>
                                          </a:rPr>
                                        </m:ctrlPr>
                                      </m:dPr>
                                      <m:e>
                                        <m:r>
                                          <a:rPr lang="en-US" altLang="zh-CN" sz="2400" i="1">
                                            <a:solidFill>
                                              <a:schemeClr val="tx1"/>
                                            </a:solidFill>
                                            <a:latin typeface="DejaVu Math TeX Gyre" panose="02000503000000000000" charset="0"/>
                                            <a:cs typeface="DejaVu Math TeX Gyre" panose="02000503000000000000" charset="0"/>
                                          </a:rPr>
                                          <m:t>1</m:t>
                                        </m:r>
                                        <m:r>
                                          <a:rPr lang="en-US" altLang="zh-CN" sz="2400" i="1">
                                            <a:solidFill>
                                              <a:schemeClr val="tx1"/>
                                            </a:solidFill>
                                            <a:latin typeface="DejaVu Math TeX Gyre" panose="02000503000000000000" charset="0"/>
                                            <a:cs typeface="DejaVu Math TeX Gyre" panose="02000503000000000000" charset="0"/>
                                          </a:rPr>
                                          <m:t>−</m:t>
                                        </m:r>
                                        <m:r>
                                          <a:rPr lang="en-US" altLang="zh-CN" sz="2400" i="1">
                                            <a:solidFill>
                                              <a:schemeClr val="tx1"/>
                                            </a:solidFill>
                                            <a:latin typeface="DejaVu Math TeX Gyre" panose="02000503000000000000" charset="0"/>
                                            <a:cs typeface="DejaVu Math TeX Gyre" panose="02000503000000000000" charset="0"/>
                                          </a:rPr>
                                          <m:t>𝑃</m:t>
                                        </m:r>
                                      </m:e>
                                    </m:d>
                                    <m:sSub>
                                      <m:sSubPr>
                                        <m:ctrlPr>
                                          <a:rPr lang="en-US" altLang="zh-CN" sz="2400" i="1">
                                            <a:solidFill>
                                              <a:schemeClr val="tx1"/>
                                            </a:solidFill>
                                            <a:latin typeface="DejaVu Math TeX Gyre" panose="02000503000000000000" charset="0"/>
                                            <a:cs typeface="DejaVu Math TeX Gyre" panose="02000503000000000000" charset="0"/>
                                          </a:rPr>
                                        </m:ctrlPr>
                                      </m:sSubPr>
                                      <m:e>
                                        <m:r>
                                          <a:rPr lang="en-US" altLang="zh-CN" sz="2400" i="1">
                                            <a:solidFill>
                                              <a:schemeClr val="tx1"/>
                                            </a:solidFill>
                                            <a:latin typeface="DejaVu Math TeX Gyre" panose="02000503000000000000" charset="0"/>
                                            <a:cs typeface="DejaVu Math TeX Gyre" panose="02000503000000000000" charset="0"/>
                                          </a:rPr>
                                          <m:t>𝐺</m:t>
                                        </m:r>
                                      </m:e>
                                      <m:sub>
                                        <m:r>
                                          <a:rPr lang="en-US" altLang="zh-CN" sz="2400" i="1">
                                            <a:solidFill>
                                              <a:schemeClr val="tx1"/>
                                            </a:solidFill>
                                            <a:latin typeface="DejaVu Math TeX Gyre" panose="02000503000000000000" charset="0"/>
                                            <a:cs typeface="DejaVu Math TeX Gyre" panose="02000503000000000000" charset="0"/>
                                          </a:rPr>
                                          <m:t>2</m:t>
                                        </m:r>
                                      </m:sub>
                                    </m:sSub>
                                    <m:d>
                                      <m:dPr>
                                        <m:ctrlPr>
                                          <a:rPr lang="en-US" altLang="zh-CN" sz="2400" i="1">
                                            <a:solidFill>
                                              <a:schemeClr val="tx1"/>
                                            </a:solidFill>
                                            <a:latin typeface="DejaVu Math TeX Gyre" panose="02000503000000000000" charset="0"/>
                                            <a:cs typeface="DejaVu Math TeX Gyre" panose="02000503000000000000" charset="0"/>
                                          </a:rPr>
                                        </m:ctrlPr>
                                      </m:dPr>
                                      <m:e>
                                        <m:r>
                                          <a:rPr lang="en-US" altLang="zh-CN" sz="2400" i="1">
                                            <a:solidFill>
                                              <a:schemeClr val="tx1"/>
                                            </a:solidFill>
                                            <a:latin typeface="DejaVu Math TeX Gyre" panose="02000503000000000000" charset="0"/>
                                            <a:cs typeface="DejaVu Math TeX Gyre" panose="02000503000000000000" charset="0"/>
                                          </a:rPr>
                                          <m:t>𝑚</m:t>
                                        </m:r>
                                        <m:sSub>
                                          <m:sSubPr>
                                            <m:ctrlPr>
                                              <a:rPr lang="en-US" altLang="zh-CN" sz="2400" i="1">
                                                <a:solidFill>
                                                  <a:schemeClr val="tx1"/>
                                                </a:solidFill>
                                                <a:latin typeface="DejaVu Math TeX Gyre" panose="02000503000000000000" charset="0"/>
                                                <a:cs typeface="DejaVu Math TeX Gyre" panose="02000503000000000000" charset="0"/>
                                              </a:rPr>
                                            </m:ctrlPr>
                                          </m:sSubPr>
                                          <m:e>
                                            <m:r>
                                              <a:rPr lang="en-US" altLang="zh-CN" sz="2400" i="1">
                                                <a:solidFill>
                                                  <a:schemeClr val="tx1"/>
                                                </a:solidFill>
                                                <a:latin typeface="DejaVu Math TeX Gyre" panose="02000503000000000000" charset="0"/>
                                                <a:cs typeface="DejaVu Math TeX Gyre" panose="02000503000000000000" charset="0"/>
                                              </a:rPr>
                                              <m:t>𝑓</m:t>
                                            </m:r>
                                          </m:e>
                                          <m:sub>
                                            <m:r>
                                              <a:rPr lang="en-US" altLang="zh-CN" sz="2400" i="1">
                                                <a:solidFill>
                                                  <a:schemeClr val="tx1"/>
                                                </a:solidFill>
                                                <a:latin typeface="DejaVu Math TeX Gyre" panose="02000503000000000000" charset="0"/>
                                                <a:cs typeface="DejaVu Math TeX Gyre" panose="02000503000000000000" charset="0"/>
                                              </a:rPr>
                                              <m:t>𝑆</m:t>
                                            </m:r>
                                          </m:sub>
                                        </m:sSub>
                                      </m:e>
                                    </m:d>
                                  </m:e>
                                </m:d>
                              </m:e>
                            </m:d>
                          </m:e>
                          <m:sup>
                            <m:r>
                              <a:rPr lang="en-US" altLang="zh-CN" sz="2400" i="1">
                                <a:solidFill>
                                  <a:schemeClr val="tx1"/>
                                </a:solidFill>
                                <a:latin typeface="DejaVu Math TeX Gyre" panose="02000503000000000000" charset="0"/>
                                <a:cs typeface="DejaVu Math TeX Gyre" panose="02000503000000000000" charset="0"/>
                              </a:rPr>
                              <m:t>2</m:t>
                            </m:r>
                          </m:sup>
                        </m:sSup>
                        <m:r>
                          <a:rPr lang="en-US" altLang="zh-CN" sz="2400" i="1">
                            <a:solidFill>
                              <a:schemeClr val="tx1"/>
                            </a:solidFill>
                            <a:latin typeface="DejaVu Math TeX Gyre" panose="02000503000000000000" charset="0"/>
                            <a:cs typeface="DejaVu Math TeX Gyre" panose="02000503000000000000" charset="0"/>
                          </a:rPr>
                          <m:t>𝛿</m:t>
                        </m:r>
                        <m:d>
                          <m:dPr>
                            <m:ctrlPr>
                              <a:rPr lang="en-US" altLang="zh-CN" sz="2400" i="1">
                                <a:solidFill>
                                  <a:schemeClr val="tx1"/>
                                </a:solidFill>
                                <a:latin typeface="DejaVu Math TeX Gyre" panose="02000503000000000000" charset="0"/>
                                <a:cs typeface="DejaVu Math TeX Gyre" panose="02000503000000000000" charset="0"/>
                              </a:rPr>
                            </m:ctrlPr>
                          </m:dPr>
                          <m:e>
                            <m:r>
                              <a:rPr lang="en-US" altLang="zh-CN" sz="2400" i="1">
                                <a:solidFill>
                                  <a:schemeClr val="tx1"/>
                                </a:solidFill>
                                <a:latin typeface="DejaVu Math TeX Gyre" panose="02000503000000000000" charset="0"/>
                                <a:cs typeface="DejaVu Math TeX Gyre" panose="02000503000000000000" charset="0"/>
                              </a:rPr>
                              <m:t>𝑓</m:t>
                            </m:r>
                            <m:r>
                              <a:rPr lang="en-US" altLang="zh-CN" sz="2400" i="1">
                                <a:solidFill>
                                  <a:schemeClr val="tx1"/>
                                </a:solidFill>
                                <a:latin typeface="DejaVu Math TeX Gyre" panose="02000503000000000000" charset="0"/>
                                <a:cs typeface="DejaVu Math TeX Gyre" panose="02000503000000000000" charset="0"/>
                              </a:rPr>
                              <m:t>−</m:t>
                            </m:r>
                            <m:r>
                              <a:rPr lang="en-US" altLang="zh-CN" sz="2400" i="1">
                                <a:solidFill>
                                  <a:schemeClr val="tx1"/>
                                </a:solidFill>
                                <a:latin typeface="DejaVu Math TeX Gyre" panose="02000503000000000000" charset="0"/>
                                <a:cs typeface="DejaVu Math TeX Gyre" panose="02000503000000000000" charset="0"/>
                              </a:rPr>
                              <m:t>𝑚</m:t>
                            </m:r>
                            <m:sSub>
                              <m:sSubPr>
                                <m:ctrlPr>
                                  <a:rPr lang="en-US" altLang="zh-CN" sz="2400" i="1">
                                    <a:solidFill>
                                      <a:schemeClr val="tx1"/>
                                    </a:solidFill>
                                    <a:latin typeface="DejaVu Math TeX Gyre" panose="02000503000000000000" charset="0"/>
                                    <a:cs typeface="DejaVu Math TeX Gyre" panose="02000503000000000000" charset="0"/>
                                  </a:rPr>
                                </m:ctrlPr>
                              </m:sSubPr>
                              <m:e>
                                <m:r>
                                  <a:rPr lang="en-US" altLang="zh-CN" sz="2400" i="1">
                                    <a:solidFill>
                                      <a:schemeClr val="tx1"/>
                                    </a:solidFill>
                                    <a:latin typeface="DejaVu Math TeX Gyre" panose="02000503000000000000" charset="0"/>
                                    <a:cs typeface="DejaVu Math TeX Gyre" panose="02000503000000000000" charset="0"/>
                                  </a:rPr>
                                  <m:t>𝑓</m:t>
                                </m:r>
                              </m:e>
                              <m:sub>
                                <m:r>
                                  <a:rPr lang="en-US" altLang="zh-CN" sz="2400" i="1">
                                    <a:solidFill>
                                      <a:schemeClr val="tx1"/>
                                    </a:solidFill>
                                    <a:latin typeface="DejaVu Math TeX Gyre" panose="02000503000000000000" charset="0"/>
                                    <a:cs typeface="DejaVu Math TeX Gyre" panose="02000503000000000000" charset="0"/>
                                  </a:rPr>
                                  <m:t>𝑆</m:t>
                                </m:r>
                              </m:sub>
                            </m:sSub>
                          </m:e>
                        </m:d>
                      </m:e>
                    </m:nary>
                  </m:oMath>
                </a14:m>
                <a:r>
                  <a:rPr lang="en-US" altLang="zh-CN" sz="2400">
                    <a:solidFill>
                      <a:schemeClr val="tx1"/>
                    </a:solidFill>
                    <a:latin typeface="DejaVu Math TeX Gyre" panose="02000503000000000000" charset="0"/>
                    <a:cs typeface="DejaVu Math TeX Gyre" panose="02000503000000000000" charset="0"/>
                    <a:sym typeface="+mn-ea"/>
                  </a:rPr>
                  <a:t> </a:t>
                </a:r>
                <a:endParaRPr lang="en-US" altLang="zh-CN" sz="2400">
                  <a:solidFill>
                    <a:schemeClr val="tx1"/>
                  </a:solidFill>
                  <a:latin typeface="DejaVu Math TeX Gyre" panose="02000503000000000000" charset="0"/>
                  <a:cs typeface="DejaVu Math TeX Gyre" panose="02000503000000000000" charset="0"/>
                </a:endParaRPr>
              </a:p>
              <a:p>
                <a:pPr algn="l"/>
                <a:endParaRPr lang="en-US" altLang="zh-CN" sz="2400" i="1">
                  <a:solidFill>
                    <a:schemeClr val="tx1"/>
                  </a:solidFill>
                  <a:latin typeface="DejaVu Math TeX Gyre" panose="02000503000000000000" charset="0"/>
                  <a:cs typeface="DejaVu Math TeX Gyre" panose="02000503000000000000" charset="0"/>
                </a:endParaRPr>
              </a:p>
            </p:txBody>
          </p:sp>
        </mc:Choice>
        <mc:Fallback>
          <p:sp>
            <p:nvSpPr>
              <p:cNvPr id="9" name="文本框 8"/>
              <p:cNvSpPr txBox="1">
                <a:spLocks noRot="1" noChangeAspect="1" noMove="1" noResize="1" noEditPoints="1" noAdjustHandles="1" noChangeArrowheads="1" noChangeShapeType="1" noTextEdit="1"/>
              </p:cNvSpPr>
              <p:nvPr>
                <p:custDataLst>
                  <p:tags r:id="rId11"/>
                </p:custDataLst>
              </p:nvPr>
            </p:nvSpPr>
            <p:spPr>
              <a:xfrm>
                <a:off x="1055370" y="3319780"/>
                <a:ext cx="8873490" cy="2404110"/>
              </a:xfrm>
              <a:prstGeom prst="rect">
                <a:avLst/>
              </a:prstGeom>
              <a:blipFill rotWithShape="1">
                <a:blip r:embed="rId12"/>
                <a:stretch>
                  <a:fillRect l="-72" t="-264" r="-72" b="-264"/>
                </a:stretch>
              </a:blipFill>
              <a:ln>
                <a:solidFill>
                  <a:schemeClr val="tx1">
                    <a:lumMod val="50000"/>
                    <a:lumOff val="50000"/>
                  </a:schemeClr>
                </a:solidFill>
              </a:ln>
            </p:spPr>
            <p:txBody>
              <a:bodyPr/>
              <a:lstStyle/>
              <a:p>
                <a:r>
                  <a:rPr lang="zh-CN" altLang="en-US">
                    <a:noFill/>
                  </a:rPr>
                  <a:t> </a:t>
                </a:r>
              </a:p>
            </p:txBody>
          </p:sp>
        </mc:Fallback>
      </mc:AlternateContent>
      <p:sp>
        <p:nvSpPr>
          <p:cNvPr id="285698" name="Rectangle 2"/>
          <p:cNvSpPr>
            <a:spLocks noGrp="1" noChangeArrowheads="1"/>
          </p:cNvSpPr>
          <p:nvPr>
            <p:ph type="body" sz="half" idx="1"/>
            <p:custDataLst>
              <p:tags r:id="rId13"/>
            </p:custDataLst>
          </p:nvPr>
        </p:nvSpPr>
        <p:spPr bwMode="auto">
          <a:xfrm>
            <a:off x="1198245" y="5839460"/>
            <a:ext cx="5514975" cy="868363"/>
          </a:xfrm>
          <a:solidFill>
            <a:schemeClr val="accent1">
              <a:lumMod val="20000"/>
              <a:lumOff val="80000"/>
            </a:schemeClr>
          </a:solidFill>
        </p:spPr>
        <p:txBody>
          <a:bodyPr vert="horz" wrap="square" lIns="91440" tIns="45720" rIns="91440" bIns="45720" numCol="1" anchor="t" anchorCtr="0" compatLnSpc="1"/>
          <a:p>
            <a:pPr marL="0" marR="0" lvl="0" indent="-342900" algn="l"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cs typeface="华文楷体" panose="02010600040101010101" charset="-122"/>
                <a:sym typeface="Wingdings" panose="05000000000000000000" pitchFamily="2" charset="2"/>
              </a:rPr>
              <a:t>连续谱 </a:t>
            </a:r>
            <a:r>
              <a:rPr kumimoji="0" lang="en-US" altLang="zh-CN" sz="2800" b="1" i="0" u="none" strike="noStrike" kern="0" cap="none" spc="0" normalizeH="0" baseline="0" noProof="0" dirty="0">
                <a:ln>
                  <a:noFill/>
                </a:ln>
                <a:solidFill>
                  <a:srgbClr val="0000CC"/>
                </a:solidFill>
                <a:effectLst/>
                <a:uLnTx/>
                <a:uFillTx/>
                <a:cs typeface="华文楷体" panose="02010600040101010101" charset="-122"/>
                <a:sym typeface="Wingdings" panose="05000000000000000000" pitchFamily="2" charset="2"/>
              </a:rPr>
              <a:t></a:t>
            </a:r>
            <a:r>
              <a:rPr kumimoji="0" lang="zh-CN" altLang="en-US" sz="2400" b="1" i="0" u="none" strike="noStrike" kern="0" cap="none" spc="0" normalizeH="0" baseline="0" noProof="0" dirty="0">
                <a:ln>
                  <a:noFill/>
                </a:ln>
                <a:solidFill>
                  <a:srgbClr val="0000CC"/>
                </a:solidFill>
                <a:effectLst/>
                <a:uLnTx/>
                <a:uFillTx/>
                <a:cs typeface="华文楷体" panose="02010600040101010101" charset="-122"/>
                <a:sym typeface="Wingdings" panose="05000000000000000000" pitchFamily="2" charset="2"/>
              </a:rPr>
              <a:t> </a:t>
            </a:r>
            <a:r>
              <a:rPr kumimoji="0" lang="zh-CN" altLang="en-US" sz="2400" b="1" i="0" u="none" strike="noStrike" kern="0" cap="none" spc="0" normalizeH="0" baseline="0" noProof="0" dirty="0">
                <a:ln>
                  <a:noFill/>
                </a:ln>
                <a:solidFill>
                  <a:schemeClr val="tx1"/>
                </a:solidFill>
                <a:effectLst/>
                <a:uLnTx/>
                <a:uFillTx/>
                <a:cs typeface="华文楷体" panose="02010600040101010101" charset="-122"/>
                <a:sym typeface="Wingdings" panose="05000000000000000000" pitchFamily="2" charset="2"/>
              </a:rPr>
              <a:t>带宽 </a:t>
            </a:r>
            <a:r>
              <a:rPr kumimoji="0" lang="en-US" altLang="zh-CN" sz="2400" b="1" i="0" u="none" strike="noStrike" kern="0" cap="none" spc="0" normalizeH="0" baseline="0" noProof="0" dirty="0">
                <a:ln>
                  <a:noFill/>
                </a:ln>
                <a:solidFill>
                  <a:schemeClr val="tx1"/>
                </a:solidFill>
                <a:effectLst/>
                <a:uLnTx/>
                <a:uFillTx/>
                <a:cs typeface="华文楷体" panose="02010600040101010101" charset="-122"/>
                <a:sym typeface="Wingdings" panose="05000000000000000000" pitchFamily="2" charset="2"/>
              </a:rPr>
              <a:t>B</a:t>
            </a:r>
            <a:endParaRPr kumimoji="0" lang="en-US" altLang="zh-CN" sz="2400" b="1" i="0" u="none" strike="noStrike" kern="0" cap="none" spc="0" normalizeH="0" baseline="0" noProof="0" dirty="0">
              <a:ln>
                <a:noFill/>
              </a:ln>
              <a:solidFill>
                <a:schemeClr val="tx1"/>
              </a:solidFill>
              <a:effectLst/>
              <a:uLnTx/>
              <a:uFillTx/>
              <a:cs typeface="华文楷体" panose="02010600040101010101" charset="-122"/>
            </a:endParaRPr>
          </a:p>
          <a:p>
            <a:pPr marL="0" marR="0" lvl="0" indent="-342900" algn="l" defTabSz="914400" rtl="0" eaLnBrk="0" fontAlgn="base" latinLnBrk="0" hangingPunct="0">
              <a:lnSpc>
                <a:spcPct val="100000"/>
              </a:lnSpc>
              <a:spcBef>
                <a:spcPct val="0"/>
              </a:spcBef>
              <a:spcAft>
                <a:spcPct val="0"/>
              </a:spcAft>
              <a:buClr>
                <a:srgbClr val="800080"/>
              </a:buClr>
              <a:buSzPct val="6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cs typeface="华文楷体" panose="02010600040101010101" charset="-122"/>
              </a:rPr>
              <a:t>离散谱 </a:t>
            </a:r>
            <a:r>
              <a:rPr kumimoji="0" lang="en-US" altLang="zh-CN" sz="2800" b="1" i="0" u="none" strike="noStrike" kern="0" cap="none" spc="0" normalizeH="0" baseline="0" noProof="0" dirty="0">
                <a:ln>
                  <a:noFill/>
                </a:ln>
                <a:solidFill>
                  <a:srgbClr val="800080"/>
                </a:solidFill>
                <a:effectLst/>
                <a:uLnTx/>
                <a:uFillTx/>
                <a:cs typeface="华文楷体" panose="02010600040101010101" charset="-122"/>
                <a:sym typeface="Wingdings" panose="05000000000000000000" pitchFamily="2" charset="2"/>
              </a:rPr>
              <a:t></a:t>
            </a:r>
            <a:r>
              <a:rPr kumimoji="0" lang="zh-CN" altLang="en-US" sz="2400" b="1" i="0" u="none" strike="noStrike" kern="0" cap="none" spc="0" normalizeH="0" baseline="0" noProof="0" dirty="0">
                <a:ln>
                  <a:noFill/>
                </a:ln>
                <a:solidFill>
                  <a:schemeClr val="tx1"/>
                </a:solidFill>
                <a:effectLst/>
                <a:uLnTx/>
                <a:uFillTx/>
                <a:cs typeface="华文楷体" panose="02010600040101010101" charset="-122"/>
              </a:rPr>
              <a:t> 定时分量，形状（</a:t>
            </a:r>
            <a:r>
              <a:rPr kumimoji="0" lang="en-US" altLang="zh-CN" sz="2400" b="1" i="1" u="none" strike="noStrike" kern="0" cap="none" spc="0" normalizeH="0" baseline="0" noProof="0" dirty="0">
                <a:ln>
                  <a:noFill/>
                </a:ln>
                <a:solidFill>
                  <a:srgbClr val="800080"/>
                </a:solidFill>
                <a:effectLst/>
                <a:uLnTx/>
                <a:uFillTx/>
                <a:cs typeface="华文楷体" panose="02010600040101010101" charset="-122"/>
              </a:rPr>
              <a:t>m</a:t>
            </a:r>
            <a:r>
              <a:rPr kumimoji="0" lang="en-US" altLang="zh-CN" sz="2400" b="1" i="0" u="none" strike="noStrike" kern="0" cap="none" spc="0" normalizeH="0" baseline="0" noProof="0" dirty="0">
                <a:ln>
                  <a:noFill/>
                </a:ln>
                <a:solidFill>
                  <a:srgbClr val="800080"/>
                </a:solidFill>
                <a:effectLst/>
                <a:uLnTx/>
                <a:uFillTx/>
                <a:cs typeface="华文楷体" panose="02010600040101010101" charset="-122"/>
              </a:rPr>
              <a:t>=1</a:t>
            </a:r>
            <a:r>
              <a:rPr kumimoji="0" lang="en-US" altLang="zh-CN" sz="2400" b="1" i="0" u="none" strike="noStrike" kern="0" cap="none" spc="0" normalizeH="0" baseline="0" noProof="0" dirty="0">
                <a:ln>
                  <a:noFill/>
                </a:ln>
                <a:solidFill>
                  <a:schemeClr val="tx1"/>
                </a:solidFill>
                <a:effectLst/>
                <a:uLnTx/>
                <a:uFillTx/>
                <a:cs typeface="华文楷体" panose="02010600040101010101" charset="-122"/>
              </a:rPr>
              <a:t>)</a:t>
            </a:r>
            <a:r>
              <a:rPr kumimoji="0" lang="zh-CN" altLang="en-US" sz="2400" b="1" i="0" u="none" strike="noStrike" kern="0" cap="none" spc="0" normalizeH="0" baseline="0" noProof="0" dirty="0">
                <a:ln>
                  <a:noFill/>
                </a:ln>
                <a:solidFill>
                  <a:schemeClr val="tx1"/>
                </a:solidFill>
                <a:effectLst/>
                <a:uLnTx/>
                <a:uFillTx/>
                <a:cs typeface="华文楷体" panose="02010600040101010101" charset="-122"/>
              </a:rPr>
              <a:t>等</a:t>
            </a:r>
            <a:endParaRPr kumimoji="0" lang="en-US" altLang="zh-CN" sz="2400" b="1" i="0" u="none" strike="noStrike" kern="0" cap="none" spc="0" normalizeH="0" baseline="0" noProof="0" dirty="0">
              <a:ln>
                <a:noFill/>
              </a:ln>
              <a:solidFill>
                <a:schemeClr val="tx1"/>
              </a:solidFill>
              <a:effectLst/>
              <a:uLnTx/>
              <a:uFillTx/>
              <a:cs typeface="华文楷体" panose="02010600040101010101" charset="-122"/>
            </a:endParaRPr>
          </a:p>
        </p:txBody>
      </p:sp>
      <p:sp>
        <p:nvSpPr>
          <p:cNvPr id="285700" name="Rectangle 4"/>
          <p:cNvSpPr/>
          <p:nvPr>
            <p:custDataLst>
              <p:tags r:id="rId14"/>
            </p:custDataLst>
          </p:nvPr>
        </p:nvSpPr>
        <p:spPr>
          <a:xfrm>
            <a:off x="1471295" y="3895090"/>
            <a:ext cx="4255770" cy="609600"/>
          </a:xfrm>
          <a:prstGeom prst="rect">
            <a:avLst/>
          </a:prstGeom>
          <a:noFill/>
          <a:ln w="19050" cap="flat" cmpd="sng">
            <a:solidFill>
              <a:srgbClr val="0000CC"/>
            </a:solidFill>
            <a:prstDash val="dash"/>
            <a:miter/>
            <a:headEnd type="none" w="med" len="med"/>
            <a:tailEnd type="none" w="med" len="med"/>
          </a:ln>
        </p:spPr>
        <p:txBody>
          <a:bodyPr wrap="none" anchor="ctr" anchorCtr="0"/>
          <a:p>
            <a:pPr eaLnBrk="1" hangingPunct="1"/>
            <a:endParaRPr lang="zh-CN" altLang="en-US" dirty="0">
              <a:latin typeface="华文楷体" panose="02010600040101010101" charset="-122"/>
              <a:ea typeface="华文楷体" panose="02010600040101010101" charset="-122"/>
            </a:endParaRPr>
          </a:p>
        </p:txBody>
      </p:sp>
      <p:sp>
        <p:nvSpPr>
          <p:cNvPr id="285701" name="Rectangle 5"/>
          <p:cNvSpPr/>
          <p:nvPr>
            <p:custDataLst>
              <p:tags r:id="rId15"/>
            </p:custDataLst>
          </p:nvPr>
        </p:nvSpPr>
        <p:spPr>
          <a:xfrm>
            <a:off x="1470025" y="4639310"/>
            <a:ext cx="8415655" cy="878205"/>
          </a:xfrm>
          <a:prstGeom prst="rect">
            <a:avLst/>
          </a:prstGeom>
          <a:noFill/>
          <a:ln w="19050" cap="flat" cmpd="sng">
            <a:solidFill>
              <a:srgbClr val="800080"/>
            </a:solidFill>
            <a:prstDash val="dash"/>
            <a:miter/>
            <a:headEnd type="none" w="med" len="med"/>
            <a:tailEnd type="none" w="med" len="med"/>
          </a:ln>
        </p:spPr>
        <p:txBody>
          <a:bodyPr wrap="none" anchor="ctr" anchorCtr="0"/>
          <a:p>
            <a:pPr eaLnBrk="1" hangingPunct="1"/>
            <a:endParaRPr lang="zh-CN" altLang="en-US" dirty="0">
              <a:latin typeface="华文楷体" panose="02010600040101010101" charset="-122"/>
              <a:ea typeface="华文楷体" panose="02010600040101010101" charset="-122"/>
            </a:endParaRPr>
          </a:p>
        </p:txBody>
      </p:sp>
      <p:sp>
        <p:nvSpPr>
          <p:cNvPr id="10" name="矩形 9"/>
          <p:cNvSpPr/>
          <p:nvPr>
            <p:custDataLst>
              <p:tags r:id="rId16"/>
            </p:custDataLst>
          </p:nvPr>
        </p:nvSpPr>
        <p:spPr>
          <a:xfrm>
            <a:off x="5807710" y="3972878"/>
            <a:ext cx="1099185" cy="460375"/>
          </a:xfrm>
          <a:prstGeom prst="rect">
            <a:avLst/>
          </a:prstGeom>
          <a:solidFill>
            <a:schemeClr val="accent1">
              <a:lumMod val="20000"/>
              <a:lumOff val="80000"/>
            </a:schemeClr>
          </a:solidFill>
        </p:spPr>
        <p:txBody>
          <a:bodyPr wrap="none">
            <a:spAutoFit/>
          </a:bodyPr>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mn-cs"/>
              </a:rPr>
              <a:t>连续谱</a:t>
            </a:r>
            <a:endParaRPr kumimoji="0" lang="zh-CN" altLang="en-US" sz="2400" b="1" i="0" u="none"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mn-cs"/>
            </a:endParaRPr>
          </a:p>
        </p:txBody>
      </p:sp>
      <p:sp>
        <p:nvSpPr>
          <p:cNvPr id="12" name="矩形 11"/>
          <p:cNvSpPr/>
          <p:nvPr>
            <p:custDataLst>
              <p:tags r:id="rId17"/>
            </p:custDataLst>
          </p:nvPr>
        </p:nvSpPr>
        <p:spPr>
          <a:xfrm>
            <a:off x="8183880" y="5301615"/>
            <a:ext cx="1099185" cy="460375"/>
          </a:xfrm>
          <a:prstGeom prst="rect">
            <a:avLst/>
          </a:prstGeom>
          <a:solidFill>
            <a:schemeClr val="accent1">
              <a:lumMod val="20000"/>
              <a:lumOff val="80000"/>
            </a:schemeClr>
          </a:solidFill>
        </p:spPr>
        <p:txBody>
          <a:bodyPr wrap="none">
            <a:spAutoFit/>
          </a:bodyPr>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mn-cs"/>
              </a:rPr>
              <a:t>离散谱</a:t>
            </a:r>
            <a:endParaRPr kumimoji="0" lang="zh-CN" altLang="en-US" sz="2400" b="1" i="0" u="none"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mn-cs"/>
            </a:endParaRPr>
          </a:p>
        </p:txBody>
      </p:sp>
      <mc:AlternateContent xmlns:mc="http://schemas.openxmlformats.org/markup-compatibility/2006">
        <mc:Choice xmlns:a14="http://schemas.microsoft.com/office/drawing/2010/main" Requires="a14">
          <p:sp>
            <p:nvSpPr>
              <p:cNvPr id="15" name="文本框 14"/>
              <p:cNvSpPr txBox="1"/>
              <p:nvPr>
                <p:custDataLst>
                  <p:tags r:id="rId18"/>
                </p:custDataLst>
              </p:nvPr>
            </p:nvSpPr>
            <p:spPr>
              <a:xfrm>
                <a:off x="7005955" y="2959100"/>
                <a:ext cx="1625600" cy="862330"/>
              </a:xfrm>
              <a:prstGeom prst="rect">
                <a:avLst/>
              </a:prstGeom>
              <a:noFill/>
              <a:ln>
                <a:solidFill>
                  <a:srgbClr val="000099"/>
                </a:solidFill>
              </a:ln>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sz="2400" i="1">
                              <a:solidFill>
                                <a:srgbClr val="000099"/>
                              </a:solidFill>
                              <a:latin typeface="DejaVu Math TeX Gyre" panose="02000503000000000000" charset="0"/>
                              <a:cs typeface="DejaVu Math TeX Gyre" panose="02000503000000000000" charset="0"/>
                            </a:rPr>
                          </m:ctrlPr>
                        </m:sSubPr>
                        <m:e>
                          <m:r>
                            <a:rPr lang="en-US" altLang="zh-CN" sz="2400" i="1">
                              <a:solidFill>
                                <a:srgbClr val="000099"/>
                              </a:solidFill>
                              <a:latin typeface="DejaVu Math TeX Gyre" panose="02000503000000000000" charset="0"/>
                              <a:cs typeface="DejaVu Math TeX Gyre" panose="02000503000000000000" charset="0"/>
                            </a:rPr>
                            <m:t>𝑓</m:t>
                          </m:r>
                        </m:e>
                        <m:sub>
                          <m:r>
                            <a:rPr lang="en-US" altLang="zh-CN" sz="2400" i="1">
                              <a:solidFill>
                                <a:srgbClr val="000099"/>
                              </a:solidFill>
                              <a:latin typeface="DejaVu Math TeX Gyre" panose="02000503000000000000" charset="0"/>
                              <a:cs typeface="DejaVu Math TeX Gyre" panose="02000503000000000000" charset="0"/>
                            </a:rPr>
                            <m:t>𝑆</m:t>
                          </m:r>
                        </m:sub>
                      </m:sSub>
                      <m:r>
                        <a:rPr lang="en-US" altLang="zh-CN" sz="2400" i="1">
                          <a:solidFill>
                            <a:srgbClr val="000099"/>
                          </a:solidFill>
                          <a:latin typeface="DejaVu Math TeX Gyre" panose="02000503000000000000" charset="0"/>
                          <a:cs typeface="DejaVu Math TeX Gyre" panose="02000503000000000000" charset="0"/>
                        </a:rPr>
                        <m:t>=</m:t>
                      </m:r>
                      <m:f>
                        <m:fPr>
                          <m:ctrlPr>
                            <a:rPr lang="en-US" altLang="zh-CN" sz="2400" i="1">
                              <a:solidFill>
                                <a:srgbClr val="000099"/>
                              </a:solidFill>
                              <a:latin typeface="DejaVu Math TeX Gyre" panose="02000503000000000000" charset="0"/>
                              <a:cs typeface="DejaVu Math TeX Gyre" panose="02000503000000000000" charset="0"/>
                            </a:rPr>
                          </m:ctrlPr>
                        </m:fPr>
                        <m:num>
                          <m:r>
                            <a:rPr lang="en-US" altLang="zh-CN" sz="2400" i="1">
                              <a:solidFill>
                                <a:srgbClr val="000099"/>
                              </a:solidFill>
                              <a:latin typeface="DejaVu Math TeX Gyre" panose="02000503000000000000" charset="0"/>
                              <a:cs typeface="DejaVu Math TeX Gyre" panose="02000503000000000000" charset="0"/>
                            </a:rPr>
                            <m:t>1</m:t>
                          </m:r>
                        </m:num>
                        <m:den>
                          <m:sSub>
                            <m:sSubPr>
                              <m:ctrlPr>
                                <a:rPr lang="en-US" altLang="zh-CN" sz="2400" i="1">
                                  <a:solidFill>
                                    <a:srgbClr val="000099"/>
                                  </a:solidFill>
                                  <a:latin typeface="DejaVu Math TeX Gyre" panose="02000503000000000000" charset="0"/>
                                  <a:cs typeface="DejaVu Math TeX Gyre" panose="02000503000000000000" charset="0"/>
                                </a:rPr>
                              </m:ctrlPr>
                            </m:sSubPr>
                            <m:e>
                              <m:r>
                                <a:rPr lang="en-US" altLang="zh-CN" sz="2400" i="1">
                                  <a:solidFill>
                                    <a:srgbClr val="000099"/>
                                  </a:solidFill>
                                  <a:latin typeface="DejaVu Math TeX Gyre" panose="02000503000000000000" charset="0"/>
                                  <a:cs typeface="DejaVu Math TeX Gyre" panose="02000503000000000000" charset="0"/>
                                </a:rPr>
                                <m:t>𝑇</m:t>
                              </m:r>
                            </m:e>
                            <m:sub>
                              <m:r>
                                <a:rPr lang="en-US" altLang="zh-CN" sz="2400" i="1">
                                  <a:solidFill>
                                    <a:srgbClr val="000099"/>
                                  </a:solidFill>
                                  <a:latin typeface="DejaVu Math TeX Gyre" panose="02000503000000000000" charset="0"/>
                                  <a:cs typeface="DejaVu Math TeX Gyre" panose="02000503000000000000" charset="0"/>
                                </a:rPr>
                                <m:t>𝑠</m:t>
                              </m:r>
                            </m:sub>
                          </m:sSub>
                        </m:den>
                      </m:f>
                    </m:oMath>
                  </m:oMathPara>
                </a14:m>
                <a:endParaRPr lang="en-US" altLang="zh-CN" sz="2400" i="1">
                  <a:solidFill>
                    <a:srgbClr val="000099"/>
                  </a:solidFill>
                  <a:latin typeface="DejaVu Math TeX Gyre" panose="02000503000000000000" charset="0"/>
                  <a:cs typeface="DejaVu Math TeX Gyre" panose="02000503000000000000" charset="0"/>
                </a:endParaRPr>
              </a:p>
            </p:txBody>
          </p:sp>
        </mc:Choice>
        <mc:Fallback>
          <p:sp>
            <p:nvSpPr>
              <p:cNvPr id="15" name="文本框 14"/>
              <p:cNvSpPr txBox="1">
                <a:spLocks noRot="1" noChangeAspect="1" noMove="1" noResize="1" noEditPoints="1" noAdjustHandles="1" noChangeArrowheads="1" noChangeShapeType="1" noTextEdit="1"/>
              </p:cNvSpPr>
              <p:nvPr>
                <p:custDataLst>
                  <p:tags r:id="rId19"/>
                </p:custDataLst>
              </p:nvPr>
            </p:nvSpPr>
            <p:spPr>
              <a:xfrm>
                <a:off x="7005955" y="2959100"/>
                <a:ext cx="1625600" cy="862330"/>
              </a:xfrm>
              <a:prstGeom prst="rect">
                <a:avLst/>
              </a:prstGeom>
              <a:blipFill rotWithShape="1">
                <a:blip r:embed="rId20"/>
                <a:stretch>
                  <a:fillRect l="-391" t="-736" r="-391" b="-736"/>
                </a:stretch>
              </a:blipFill>
              <a:ln>
                <a:solidFill>
                  <a:srgbClr val="000099"/>
                </a:solidFill>
              </a:ln>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mc:AlternateContent xmlns:mc="http://schemas.openxmlformats.org/markup-compatibility/2006">
        <mc:Choice xmlns:a14="http://schemas.microsoft.com/office/drawing/2010/main" Requires="a14">
          <p:sp>
            <p:nvSpPr>
              <p:cNvPr id="2" name="标题 1"/>
              <p:cNvSpPr>
                <a:spLocks noGrp="1"/>
              </p:cNvSpPr>
              <p:nvPr>
                <p:ph type="title"/>
                <p:custDataLst>
                  <p:tags r:id="rId2"/>
                </p:custDataLst>
              </p:nvPr>
            </p:nvSpPr>
            <p:spPr>
              <a:xfrm>
                <a:off x="-454660" y="-45720"/>
                <a:ext cx="10371455" cy="6786880"/>
              </a:xfrm>
            </p:spPr>
            <p:txBody>
              <a:bodyPr/>
              <a:p>
                <a:pPr marL="457200" indent="-457200" algn="l">
                  <a:buFont typeface="Arial" panose="020B0604020202090204" pitchFamily="34" charset="0"/>
                  <a:buChar char="•"/>
                </a:pPr>
                <a:r>
                  <a:rPr lang="zh-CN" altLang="en-US" sz="2800" dirty="0">
                    <a:solidFill>
                      <a:schemeClr val="tx1"/>
                    </a:solidFill>
                    <a:latin typeface="华文楷体" panose="02010600040101010101" charset="-122"/>
                    <a:ea typeface="华文楷体" panose="02010600040101010101" charset="-122"/>
                    <a:cs typeface="华文楷体" panose="02010600040101010101" charset="-122"/>
                    <a:sym typeface="+mn-ea"/>
                  </a:rPr>
                  <a:t>基带信号的功率谱</a:t>
                </a:r>
                <a:br>
                  <a:rPr lang="zh-CN" altLang="en-US" sz="2800" dirty="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dirty="0">
                    <a:solidFill>
                      <a:schemeClr val="tx1"/>
                    </a:solidFill>
                    <a:latin typeface="华文楷体" panose="02010600040101010101" charset="-122"/>
                    <a:ea typeface="华文楷体" panose="02010600040101010101" charset="-122"/>
                    <a:cs typeface="华文楷体" panose="02010600040101010101" charset="-122"/>
                    <a:sym typeface="+mn-ea"/>
                  </a:rPr>
                </a:br>
                <a:r>
                  <a:rPr lang="zh-CN" altLang="en-US" sz="2800" dirty="0">
                    <a:solidFill>
                      <a:schemeClr val="tx1"/>
                    </a:solidFill>
                    <a:latin typeface="华文楷体" panose="02010600040101010101" charset="-122"/>
                    <a:ea typeface="华文楷体" panose="02010600040101010101" charset="-122"/>
                    <a:cs typeface="华文楷体" panose="02010600040101010101" charset="-122"/>
                    <a:sym typeface="+mn-ea"/>
                  </a:rPr>
                  <a:t>（</a:t>
                </a:r>
                <a:r>
                  <a:rPr lang="en-US" altLang="zh-CN" sz="2800" dirty="0">
                    <a:solidFill>
                      <a:schemeClr val="tx1"/>
                    </a:solidFill>
                    <a:latin typeface="华文楷体" panose="02010600040101010101" charset="-122"/>
                    <a:ea typeface="华文楷体" panose="02010600040101010101" charset="-122"/>
                    <a:cs typeface="华文楷体" panose="02010600040101010101" charset="-122"/>
                    <a:sym typeface="+mn-ea"/>
                  </a:rPr>
                  <a:t>1</a:t>
                </a:r>
                <a:r>
                  <a:rPr lang="zh-CN" altLang="en-US" sz="2800" dirty="0">
                    <a:solidFill>
                      <a:schemeClr val="tx1"/>
                    </a:solidFill>
                    <a:latin typeface="华文楷体" panose="02010600040101010101" charset="-122"/>
                    <a:ea typeface="华文楷体" panose="02010600040101010101" charset="-122"/>
                    <a:cs typeface="华文楷体" panose="02010600040101010101" charset="-122"/>
                    <a:sym typeface="+mn-ea"/>
                  </a:rPr>
                  <a:t>）单极性</a:t>
                </a:r>
                <a:r>
                  <a:rPr lang="zh-CN" altLang="en-US" sz="2800" dirty="0">
                    <a:solidFill>
                      <a:schemeClr val="tx1"/>
                    </a:solidFill>
                    <a:latin typeface="华文楷体" panose="02010600040101010101" charset="-122"/>
                    <a:ea typeface="华文楷体" panose="02010600040101010101" charset="-122"/>
                    <a:cs typeface="华文楷体" panose="02010600040101010101" charset="-122"/>
                    <a:sym typeface="+mn-ea"/>
                  </a:rPr>
                  <a:t>不归零信号、</a:t>
                </a:r>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等概率P=1/2、矩形脉冲波形：</a:t>
                </a: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a:t>
                </a:r>
                <a:r>
                  <a:rPr lang="en-US" altLang="zh-CN" sz="2800">
                    <a:solidFill>
                      <a:schemeClr val="tx1"/>
                    </a:solidFill>
                    <a:latin typeface="华文楷体" panose="02010600040101010101" charset="-122"/>
                    <a:ea typeface="华文楷体" panose="02010600040101010101" charset="-122"/>
                    <a:cs typeface="华文楷体" panose="02010600040101010101" charset="-122"/>
                    <a:sym typeface="+mn-ea"/>
                  </a:rPr>
                  <a:t>2</a:t>
                </a:r>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）占空比为1/2 </a:t>
                </a:r>
                <a:r>
                  <a:rPr lang="en-US" altLang="zh-CN" sz="2800">
                    <a:solidFill>
                      <a:schemeClr val="tx1"/>
                    </a:solidFill>
                    <a:latin typeface="华文楷体" panose="02010600040101010101" charset="-122"/>
                    <a:ea typeface="华文楷体" panose="02010600040101010101" charset="-122"/>
                    <a:cs typeface="华文楷体" panose="02010600040101010101" charset="-122"/>
                    <a:sym typeface="+mn-ea"/>
                  </a:rPr>
                  <a:t>(</a:t>
                </a:r>
                <a14:m>
                  <m:oMath xmlns:m="http://schemas.openxmlformats.org/officeDocument/2006/math">
                    <m:r>
                      <a:rPr lang="en-US" altLang="zh-CN" sz="2800" i="1">
                        <a:solidFill>
                          <a:schemeClr val="tx1"/>
                        </a:solidFill>
                        <a:latin typeface="DejaVu Math TeX Gyre" panose="02000503000000000000" charset="0"/>
                        <a:ea typeface="宋体" charset="0"/>
                        <a:cs typeface="DejaVu Math TeX Gyre" panose="02000503000000000000" charset="0"/>
                      </a:rPr>
                      <m:t>𝜏</m:t>
                    </m:r>
                    <m:r>
                      <a:rPr lang="en-US" altLang="zh-CN" sz="2800" i="1">
                        <a:solidFill>
                          <a:schemeClr val="tx1"/>
                        </a:solidFill>
                        <a:latin typeface="DejaVu Math TeX Gyre" panose="02000503000000000000" charset="0"/>
                        <a:ea typeface="宋体" charset="0"/>
                        <a:cs typeface="DejaVu Math TeX Gyre" panose="02000503000000000000" charset="0"/>
                      </a:rPr>
                      <m:t>=</m:t>
                    </m:r>
                    <m:sSub>
                      <m:sSubPr>
                        <m:ctrlPr>
                          <a:rPr lang="en-US" altLang="zh-CN" sz="2800" i="1">
                            <a:solidFill>
                              <a:schemeClr val="tx1"/>
                            </a:solidFill>
                            <a:latin typeface="DejaVu Math TeX Gyre" panose="02000503000000000000" charset="0"/>
                            <a:ea typeface="华文楷体" panose="02010600040101010101" charset="-122"/>
                            <a:cs typeface="DejaVu Math TeX Gyre" panose="02000503000000000000" charset="0"/>
                          </a:rPr>
                        </m:ctrlPr>
                      </m:sSubPr>
                      <m:e>
                        <m:r>
                          <a:rPr lang="en-US" altLang="zh-CN" sz="2800" i="1">
                            <a:solidFill>
                              <a:schemeClr val="tx1"/>
                            </a:solidFill>
                            <a:latin typeface="DejaVu Math TeX Gyre" panose="02000503000000000000" charset="0"/>
                            <a:ea typeface="华文楷体" panose="02010600040101010101" charset="-122"/>
                            <a:cs typeface="DejaVu Math TeX Gyre" panose="02000503000000000000" charset="0"/>
                          </a:rPr>
                          <m:t>𝑇</m:t>
                        </m:r>
                      </m:e>
                      <m:sub>
                        <m:r>
                          <a:rPr lang="en-US" altLang="zh-CN" sz="2800" i="1">
                            <a:solidFill>
                              <a:schemeClr val="tx1"/>
                            </a:solidFill>
                            <a:latin typeface="DejaVu Math TeX Gyre" panose="02000503000000000000" charset="0"/>
                            <a:ea typeface="华文楷体" panose="02010600040101010101" charset="-122"/>
                            <a:cs typeface="DejaVu Math TeX Gyre" panose="02000503000000000000" charset="0"/>
                          </a:rPr>
                          <m:t>𝑠</m:t>
                        </m:r>
                      </m:sub>
                    </m:sSub>
                    <m:r>
                      <a:rPr lang="en-US" altLang="zh-CN" sz="2800" i="1">
                        <a:solidFill>
                          <a:schemeClr val="tx1"/>
                        </a:solidFill>
                        <a:latin typeface="DejaVu Math TeX Gyre" panose="02000503000000000000" charset="0"/>
                        <a:ea typeface="宋体" charset="0"/>
                        <a:cs typeface="DejaVu Math TeX Gyre" panose="02000503000000000000" charset="0"/>
                      </a:rPr>
                      <m:t>/</m:t>
                    </m:r>
                    <m:r>
                      <a:rPr lang="en-US" altLang="zh-CN" sz="2800" i="1">
                        <a:solidFill>
                          <a:schemeClr val="tx1"/>
                        </a:solidFill>
                        <a:latin typeface="DejaVu Math TeX Gyre" panose="02000503000000000000" charset="0"/>
                        <a:ea typeface="宋体" charset="0"/>
                        <a:cs typeface="DejaVu Math TeX Gyre" panose="02000503000000000000" charset="0"/>
                      </a:rPr>
                      <m:t>2</m:t>
                    </m:r>
                  </m:oMath>
                </a14:m>
                <a:r>
                  <a:rPr lang="en-US" altLang="zh-CN" sz="2800">
                    <a:solidFill>
                      <a:schemeClr val="tx1"/>
                    </a:solidFill>
                    <a:latin typeface="华文楷体" panose="02010600040101010101" charset="-122"/>
                    <a:ea typeface="华文楷体" panose="02010600040101010101" charset="-122"/>
                    <a:cs typeface="华文楷体" panose="02010600040101010101" charset="-122"/>
                    <a:sym typeface="+mn-ea"/>
                  </a:rPr>
                  <a:t>)</a:t>
                </a:r>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的等概率单极性归零码</a:t>
                </a:r>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a:t>
                </a: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14:m>
                  <m:oMathPara xmlns:m="http://schemas.openxmlformats.org/officeDocument/2006/math">
                    <m:oMathParaPr>
                      <m:jc m:val="left"/>
                    </m:oMathParaPr>
                    <m:oMath xmlns:m="http://schemas.openxmlformats.org/officeDocument/2006/math">
                      <m:r>
                        <a:rPr lang="en-US" altLang="zh-CN" sz="2400" i="1">
                          <a:latin typeface="DejaVu Math TeX Gyre" panose="02000503000000000000" charset="0"/>
                          <a:ea typeface="华文楷体" panose="02010600040101010101" charset="-122"/>
                          <a:cs typeface="DejaVu Math TeX Gyre" panose="02000503000000000000" charset="0"/>
                        </a:rPr>
                        <m:t>𝐺</m:t>
                      </m:r>
                      <m:d>
                        <m:dPr>
                          <m:ctrlPr>
                            <a:rPr lang="en-US" altLang="zh-CN" sz="2400" i="1">
                              <a:latin typeface="DejaVu Math TeX Gyre" panose="02000503000000000000" charset="0"/>
                              <a:ea typeface="华文楷体" panose="02010600040101010101" charset="-122"/>
                              <a:cs typeface="DejaVu Math TeX Gyre" panose="02000503000000000000" charset="0"/>
                            </a:rPr>
                          </m:ctrlPr>
                        </m:dPr>
                        <m:e>
                          <m:r>
                            <a:rPr lang="en-US" altLang="zh-CN" sz="2400" i="1">
                              <a:latin typeface="DejaVu Math TeX Gyre" panose="02000503000000000000" charset="0"/>
                              <a:ea typeface="华文楷体" panose="02010600040101010101" charset="-122"/>
                              <a:cs typeface="DejaVu Math TeX Gyre" panose="02000503000000000000" charset="0"/>
                            </a:rPr>
                            <m:t>𝑚</m:t>
                          </m:r>
                          <m:sSub>
                            <m:sSubPr>
                              <m:ctrlPr>
                                <a:rPr lang="en-US" altLang="zh-CN" sz="2400" i="1">
                                  <a:latin typeface="DejaVu Math TeX Gyre" panose="02000503000000000000" charset="0"/>
                                  <a:ea typeface="华文楷体" panose="02010600040101010101" charset="-122"/>
                                  <a:cs typeface="DejaVu Math TeX Gyre" panose="02000503000000000000" charset="0"/>
                                </a:rPr>
                              </m:ctrlPr>
                            </m:sSubPr>
                            <m:e>
                              <m:r>
                                <a:rPr lang="en-US" altLang="zh-CN" sz="2400" i="1">
                                  <a:latin typeface="DejaVu Math TeX Gyre" panose="02000503000000000000" charset="0"/>
                                  <a:ea typeface="华文楷体" panose="02010600040101010101" charset="-122"/>
                                  <a:cs typeface="DejaVu Math TeX Gyre" panose="02000503000000000000" charset="0"/>
                                </a:rPr>
                                <m:t>𝑓</m:t>
                              </m:r>
                            </m:e>
                            <m:sub>
                              <m:r>
                                <a:rPr lang="en-US" altLang="zh-CN" sz="2400" i="1">
                                  <a:latin typeface="DejaVu Math TeX Gyre" panose="02000503000000000000" charset="0"/>
                                  <a:ea typeface="华文楷体" panose="02010600040101010101" charset="-122"/>
                                  <a:cs typeface="DejaVu Math TeX Gyre" panose="02000503000000000000" charset="0"/>
                                </a:rPr>
                                <m:t>𝑠</m:t>
                              </m:r>
                            </m:sub>
                          </m:sSub>
                        </m:e>
                      </m:d>
                      <m:r>
                        <a:rPr lang="en-US" altLang="zh-CN" sz="2400" i="1">
                          <a:latin typeface="DejaVu Math TeX Gyre" panose="02000503000000000000" charset="0"/>
                          <a:ea typeface="华文楷体" panose="02010600040101010101" charset="-122"/>
                          <a:cs typeface="DejaVu Math TeX Gyre" panose="02000503000000000000" charset="0"/>
                        </a:rPr>
                        <m:t>=</m:t>
                      </m:r>
                      <m:f>
                        <m:fPr>
                          <m:ctrlPr>
                            <a:rPr lang="en-US" altLang="zh-CN" sz="2400" i="1">
                              <a:latin typeface="DejaVu Math TeX Gyre" panose="02000503000000000000" charset="0"/>
                              <a:ea typeface="华文楷体" panose="02010600040101010101" charset="-122"/>
                              <a:cs typeface="DejaVu Math TeX Gyre" panose="02000503000000000000" charset="0"/>
                            </a:rPr>
                          </m:ctrlPr>
                        </m:fPr>
                        <m:num>
                          <m:sSub>
                            <m:sSubPr>
                              <m:ctrlPr>
                                <a:rPr lang="en-US" altLang="zh-CN" sz="2400" i="1">
                                  <a:latin typeface="DejaVu Math TeX Gyre" panose="02000503000000000000" charset="0"/>
                                  <a:cs typeface="DejaVu Math TeX Gyre" panose="02000503000000000000" charset="0"/>
                                </a:rPr>
                              </m:ctrlPr>
                            </m:sSubPr>
                            <m:e>
                              <m:r>
                                <a:rPr lang="en-US" altLang="zh-CN" sz="2400" i="1">
                                  <a:latin typeface="DejaVu Math TeX Gyre" panose="02000503000000000000" charset="0"/>
                                  <a:cs typeface="DejaVu Math TeX Gyre" panose="02000503000000000000" charset="0"/>
                                </a:rPr>
                                <m:t>𝑇</m:t>
                              </m:r>
                            </m:e>
                            <m:sub>
                              <m:r>
                                <a:rPr lang="en-US" altLang="zh-CN" sz="2400" i="1">
                                  <a:latin typeface="DejaVu Math TeX Gyre" panose="02000503000000000000" charset="0"/>
                                  <a:cs typeface="DejaVu Math TeX Gyre" panose="02000503000000000000" charset="0"/>
                                </a:rPr>
                                <m:t>𝑠</m:t>
                              </m:r>
                            </m:sub>
                          </m:sSub>
                        </m:num>
                        <m:den>
                          <m:r>
                            <a:rPr lang="en-US" altLang="zh-CN" sz="2400" i="1">
                              <a:latin typeface="DejaVu Math TeX Gyre" panose="02000503000000000000" charset="0"/>
                              <a:ea typeface="华文楷体" panose="02010600040101010101" charset="-122"/>
                              <a:cs typeface="DejaVu Math TeX Gyre" panose="02000503000000000000" charset="0"/>
                            </a:rPr>
                            <m:t>2</m:t>
                          </m:r>
                        </m:den>
                      </m:f>
                      <m:r>
                        <a:rPr lang="en-US" altLang="zh-CN" sz="2400" i="1">
                          <a:latin typeface="DejaVu Math TeX Gyre" panose="02000503000000000000" charset="0"/>
                          <a:ea typeface="华文楷体" panose="02010600040101010101" charset="-122"/>
                          <a:cs typeface="DejaVu Math TeX Gyre" panose="02000503000000000000" charset="0"/>
                        </a:rPr>
                        <m:t>𝑆𝑎</m:t>
                      </m:r>
                      <m:d>
                        <m:dPr>
                          <m:ctrlPr>
                            <a:rPr lang="en-US" altLang="zh-CN" sz="2400" i="1">
                              <a:latin typeface="DejaVu Math TeX Gyre" panose="02000503000000000000" charset="0"/>
                              <a:ea typeface="华文楷体" panose="02010600040101010101" charset="-122"/>
                              <a:cs typeface="DejaVu Math TeX Gyre" panose="02000503000000000000" charset="0"/>
                            </a:rPr>
                          </m:ctrlPr>
                        </m:dPr>
                        <m:e>
                          <m:f>
                            <m:fPr>
                              <m:ctrlPr>
                                <a:rPr lang="en-US" altLang="zh-CN" sz="2400" i="1">
                                  <a:latin typeface="DejaVu Math TeX Gyre" panose="02000503000000000000" charset="0"/>
                                  <a:ea typeface="华文楷体" panose="02010600040101010101" charset="-122"/>
                                  <a:cs typeface="DejaVu Math TeX Gyre" panose="02000503000000000000" charset="0"/>
                                </a:rPr>
                              </m:ctrlPr>
                            </m:fPr>
                            <m:num>
                              <m:r>
                                <a:rPr lang="en-US" altLang="zh-CN" sz="2400" i="1">
                                  <a:latin typeface="DejaVu Math TeX Gyre" panose="02000503000000000000" charset="0"/>
                                  <a:ea typeface="华文楷体" panose="02010600040101010101" charset="-122"/>
                                  <a:cs typeface="DejaVu Math TeX Gyre" panose="02000503000000000000" charset="0"/>
                                </a:rPr>
                                <m:t>𝑚</m:t>
                              </m:r>
                              <m:r>
                                <a:rPr lang="en-US" altLang="zh-CN" sz="2400" i="1">
                                  <a:latin typeface="DejaVu Math TeX Gyre" panose="02000503000000000000" charset="0"/>
                                  <a:ea typeface="华文楷体" panose="02010600040101010101" charset="-122"/>
                                  <a:cs typeface="DejaVu Math TeX Gyre" panose="02000503000000000000" charset="0"/>
                                </a:rPr>
                                <m:t>𝜋</m:t>
                              </m:r>
                            </m:num>
                            <m:den>
                              <m:r>
                                <a:rPr lang="en-US" altLang="zh-CN" sz="2400" i="1">
                                  <a:latin typeface="DejaVu Math TeX Gyre" panose="02000503000000000000" charset="0"/>
                                  <a:ea typeface="华文楷体" panose="02010600040101010101" charset="-122"/>
                                  <a:cs typeface="DejaVu Math TeX Gyre" panose="02000503000000000000" charset="0"/>
                                </a:rPr>
                                <m:t>2</m:t>
                              </m:r>
                            </m:den>
                          </m:f>
                        </m:e>
                      </m:d>
                      <m:r>
                        <a:rPr lang="en-US" altLang="zh-CN" sz="2400" i="1">
                          <a:latin typeface="DejaVu Math TeX Gyre" panose="02000503000000000000" charset="0"/>
                          <a:ea typeface="华文楷体" panose="02010600040101010101" charset="-122"/>
                          <a:cs typeface="DejaVu Math TeX Gyre" panose="02000503000000000000" charset="0"/>
                        </a:rPr>
                        <m:t>= </m:t>
                      </m:r>
                      <m:m>
                        <m:mPr>
                          <m:mcs>
                            <m:mc>
                              <m:mcPr>
                                <m:count m:val="1"/>
                                <m:mcJc m:val="center"/>
                              </m:mcPr>
                            </m:mc>
                          </m:mcs>
                          <m:ctrlPr>
                            <a:rPr lang="en-US" altLang="zh-CN" sz="2400" i="1">
                              <a:latin typeface="DejaVu Math TeX Gyre" panose="02000503000000000000" charset="0"/>
                              <a:ea typeface="华文楷体" panose="02010600040101010101" charset="-122"/>
                              <a:cs typeface="DejaVu Math TeX Gyre" panose="02000503000000000000" charset="0"/>
                            </a:rPr>
                          </m:ctrlPr>
                        </m:mPr>
                        <m:mr>
                          <m:e>
                            <m:f>
                              <m:fPr>
                                <m:ctrlPr>
                                  <a:rPr lang="en-US" altLang="zh-CN" sz="2400" i="1">
                                    <a:latin typeface="DejaVu Math TeX Gyre" panose="02000503000000000000" charset="0"/>
                                    <a:ea typeface="华文楷体" panose="02010600040101010101" charset="-122"/>
                                    <a:cs typeface="DejaVu Math TeX Gyre" panose="02000503000000000000" charset="0"/>
                                  </a:rPr>
                                </m:ctrlPr>
                              </m:fPr>
                              <m:num>
                                <m:sSub>
                                  <m:sSubPr>
                                    <m:ctrlPr>
                                      <a:rPr lang="en-US" altLang="zh-CN" sz="2400" i="1">
                                        <a:latin typeface="DejaVu Math TeX Gyre" panose="02000503000000000000" charset="0"/>
                                        <a:cs typeface="DejaVu Math TeX Gyre" panose="02000503000000000000" charset="0"/>
                                      </a:rPr>
                                    </m:ctrlPr>
                                  </m:sSubPr>
                                  <m:e>
                                    <m:r>
                                      <a:rPr lang="en-US" altLang="zh-CN" sz="2400" i="1">
                                        <a:latin typeface="DejaVu Math TeX Gyre" panose="02000503000000000000" charset="0"/>
                                        <a:cs typeface="DejaVu Math TeX Gyre" panose="02000503000000000000" charset="0"/>
                                      </a:rPr>
                                      <m:t>𝑇</m:t>
                                    </m:r>
                                  </m:e>
                                  <m:sub>
                                    <m:r>
                                      <a:rPr lang="en-US" altLang="zh-CN" sz="2400" i="1">
                                        <a:latin typeface="DejaVu Math TeX Gyre" panose="02000503000000000000" charset="0"/>
                                        <a:cs typeface="DejaVu Math TeX Gyre" panose="02000503000000000000" charset="0"/>
                                      </a:rPr>
                                      <m:t>𝑠</m:t>
                                    </m:r>
                                  </m:sub>
                                </m:sSub>
                              </m:num>
                              <m:den>
                                <m:r>
                                  <a:rPr lang="en-US" altLang="zh-CN" sz="2400" i="1">
                                    <a:latin typeface="DejaVu Math TeX Gyre" panose="02000503000000000000" charset="0"/>
                                    <a:ea typeface="华文楷体" panose="02010600040101010101" charset="-122"/>
                                    <a:cs typeface="DejaVu Math TeX Gyre" panose="02000503000000000000" charset="0"/>
                                  </a:rPr>
                                  <m:t>2</m:t>
                                </m:r>
                              </m:den>
                            </m:f>
                            <m:r>
                              <a:rPr lang="en-US" altLang="zh-CN" sz="2400" i="1">
                                <a:latin typeface="DejaVu Math TeX Gyre" panose="02000503000000000000" charset="0"/>
                                <a:ea typeface="华文楷体" panose="02010600040101010101" charset="-122"/>
                                <a:cs typeface="DejaVu Math TeX Gyre" panose="02000503000000000000" charset="0"/>
                              </a:rPr>
                              <m:t>,                   </m:t>
                            </m:r>
                            <m:r>
                              <a:rPr lang="en-US" altLang="zh-CN" sz="2400" i="1">
                                <a:latin typeface="DejaVu Math TeX Gyre" panose="02000503000000000000" charset="0"/>
                                <a:ea typeface="华文楷体" panose="02010600040101010101" charset="-122"/>
                                <a:cs typeface="DejaVu Math TeX Gyre" panose="02000503000000000000" charset="0"/>
                              </a:rPr>
                              <m:t>𝑚</m:t>
                            </m:r>
                            <m:r>
                              <a:rPr lang="en-US" altLang="zh-CN" sz="2400" i="1">
                                <a:latin typeface="DejaVu Math TeX Gyre" panose="02000503000000000000" charset="0"/>
                                <a:ea typeface="华文楷体" panose="02010600040101010101" charset="-122"/>
                                <a:cs typeface="DejaVu Math TeX Gyre" panose="02000503000000000000" charset="0"/>
                              </a:rPr>
                              <m:t>=</m:t>
                            </m:r>
                            <m:r>
                              <a:rPr lang="en-US" altLang="zh-CN" sz="2400" i="1">
                                <a:latin typeface="DejaVu Math TeX Gyre" panose="02000503000000000000" charset="0"/>
                                <a:ea typeface="华文楷体" panose="02010600040101010101" charset="-122"/>
                                <a:cs typeface="DejaVu Math TeX Gyre" panose="02000503000000000000" charset="0"/>
                              </a:rPr>
                              <m:t>0</m:t>
                            </m:r>
                            <m:r>
                              <a:rPr lang="en-US" altLang="zh-CN" sz="2400" i="1">
                                <a:latin typeface="DejaVu Math TeX Gyre" panose="02000503000000000000" charset="0"/>
                                <a:ea typeface="华文楷体" panose="02010600040101010101" charset="-122"/>
                                <a:cs typeface="DejaVu Math TeX Gyre" panose="02000503000000000000" charset="0"/>
                              </a:rPr>
                              <m:t> </m:t>
                            </m:r>
                          </m:e>
                        </m:mr>
                        <m:mr>
                          <m:e>
                            <m:f>
                              <m:fPr>
                                <m:ctrlPr>
                                  <a:rPr lang="en-US" altLang="zh-CN" sz="2400" i="1">
                                    <a:latin typeface="DejaVu Math TeX Gyre" panose="02000503000000000000" charset="0"/>
                                    <a:ea typeface="华文楷体" panose="02010600040101010101" charset="-122"/>
                                    <a:cs typeface="DejaVu Math TeX Gyre" panose="02000503000000000000" charset="0"/>
                                  </a:rPr>
                                </m:ctrlPr>
                              </m:fPr>
                              <m:num>
                                <m:sSub>
                                  <m:sSubPr>
                                    <m:ctrlPr>
                                      <a:rPr lang="en-US" altLang="zh-CN" sz="2400" i="1">
                                        <a:latin typeface="DejaVu Math TeX Gyre" panose="02000503000000000000" charset="0"/>
                                        <a:cs typeface="DejaVu Math TeX Gyre" panose="02000503000000000000" charset="0"/>
                                      </a:rPr>
                                    </m:ctrlPr>
                                  </m:sSubPr>
                                  <m:e>
                                    <m:r>
                                      <a:rPr lang="en-US" altLang="zh-CN" sz="2400" i="1">
                                        <a:latin typeface="DejaVu Math TeX Gyre" panose="02000503000000000000" charset="0"/>
                                        <a:cs typeface="DejaVu Math TeX Gyre" panose="02000503000000000000" charset="0"/>
                                      </a:rPr>
                                      <m:t>𝑇</m:t>
                                    </m:r>
                                  </m:e>
                                  <m:sub>
                                    <m:r>
                                      <a:rPr lang="en-US" altLang="zh-CN" sz="2400" i="1">
                                        <a:latin typeface="DejaVu Math TeX Gyre" panose="02000503000000000000" charset="0"/>
                                        <a:cs typeface="DejaVu Math TeX Gyre" panose="02000503000000000000" charset="0"/>
                                      </a:rPr>
                                      <m:t>𝑠</m:t>
                                    </m:r>
                                  </m:sub>
                                </m:sSub>
                              </m:num>
                              <m:den>
                                <m:r>
                                  <a:rPr lang="en-US" altLang="zh-CN" sz="2400" i="1">
                                    <a:latin typeface="DejaVu Math TeX Gyre" panose="02000503000000000000" charset="0"/>
                                    <a:ea typeface="华文楷体" panose="02010600040101010101" charset="-122"/>
                                    <a:cs typeface="DejaVu Math TeX Gyre" panose="02000503000000000000" charset="0"/>
                                  </a:rPr>
                                  <m:t>2</m:t>
                                </m:r>
                              </m:den>
                            </m:f>
                            <m:r>
                              <a:rPr lang="en-US" altLang="zh-CN" sz="2400" i="1">
                                <a:latin typeface="DejaVu Math TeX Gyre" panose="02000503000000000000" charset="0"/>
                                <a:ea typeface="华文楷体" panose="02010600040101010101" charset="-122"/>
                                <a:cs typeface="DejaVu Math TeX Gyre" panose="02000503000000000000" charset="0"/>
                              </a:rPr>
                              <m:t>𝑆𝑎</m:t>
                            </m:r>
                            <m:d>
                              <m:dPr>
                                <m:ctrlPr>
                                  <a:rPr lang="en-US" altLang="zh-CN" sz="2400" i="1">
                                    <a:latin typeface="DejaVu Math TeX Gyre" panose="02000503000000000000" charset="0"/>
                                    <a:ea typeface="华文楷体" panose="02010600040101010101" charset="-122"/>
                                    <a:cs typeface="DejaVu Math TeX Gyre" panose="02000503000000000000" charset="0"/>
                                  </a:rPr>
                                </m:ctrlPr>
                              </m:dPr>
                              <m:e>
                                <m:f>
                                  <m:fPr>
                                    <m:ctrlPr>
                                      <a:rPr lang="en-US" altLang="zh-CN" sz="2400" i="1">
                                        <a:latin typeface="DejaVu Math TeX Gyre" panose="02000503000000000000" charset="0"/>
                                        <a:ea typeface="华文楷体" panose="02010600040101010101" charset="-122"/>
                                        <a:cs typeface="DejaVu Math TeX Gyre" panose="02000503000000000000" charset="0"/>
                                      </a:rPr>
                                    </m:ctrlPr>
                                  </m:fPr>
                                  <m:num>
                                    <m:r>
                                      <a:rPr lang="en-US" altLang="zh-CN" sz="2400" i="1">
                                        <a:latin typeface="DejaVu Math TeX Gyre" panose="02000503000000000000" charset="0"/>
                                        <a:ea typeface="华文楷体" panose="02010600040101010101" charset="-122"/>
                                        <a:cs typeface="DejaVu Math TeX Gyre" panose="02000503000000000000" charset="0"/>
                                      </a:rPr>
                                      <m:t>𝑚</m:t>
                                    </m:r>
                                    <m:r>
                                      <a:rPr lang="en-US" altLang="zh-CN" sz="2400" i="1">
                                        <a:latin typeface="DejaVu Math TeX Gyre" panose="02000503000000000000" charset="0"/>
                                        <a:ea typeface="华文楷体" panose="02010600040101010101" charset="-122"/>
                                        <a:cs typeface="DejaVu Math TeX Gyre" panose="02000503000000000000" charset="0"/>
                                      </a:rPr>
                                      <m:t>𝜋</m:t>
                                    </m:r>
                                  </m:num>
                                  <m:den>
                                    <m:r>
                                      <a:rPr lang="en-US" altLang="zh-CN" sz="2400" i="1">
                                        <a:latin typeface="DejaVu Math TeX Gyre" panose="02000503000000000000" charset="0"/>
                                        <a:ea typeface="华文楷体" panose="02010600040101010101" charset="-122"/>
                                        <a:cs typeface="DejaVu Math TeX Gyre" panose="02000503000000000000" charset="0"/>
                                      </a:rPr>
                                      <m:t>2</m:t>
                                    </m:r>
                                  </m:den>
                                </m:f>
                              </m:e>
                            </m:d>
                            <m:r>
                              <a:rPr lang="en-US" altLang="zh-CN" sz="2400" i="1">
                                <a:latin typeface="DejaVu Math TeX Gyre" panose="02000503000000000000" charset="0"/>
                                <a:ea typeface="华文楷体" panose="02010600040101010101" charset="-122"/>
                                <a:cs typeface="DejaVu Math TeX Gyre" panose="02000503000000000000" charset="0"/>
                              </a:rPr>
                              <m:t>,       </m:t>
                            </m:r>
                            <m:r>
                              <a:rPr lang="en-US" altLang="zh-CN" sz="2400" i="1">
                                <a:latin typeface="DejaVu Math TeX Gyre" panose="02000503000000000000" charset="0"/>
                                <a:ea typeface="华文楷体" panose="02010600040101010101" charset="-122"/>
                                <a:cs typeface="DejaVu Math TeX Gyre" panose="02000503000000000000" charset="0"/>
                              </a:rPr>
                              <m:t>𝑚</m:t>
                            </m:r>
                            <m:r>
                              <a:rPr lang="zh-CN" altLang="en-US" sz="2400" i="1">
                                <a:latin typeface="DejaVu Math TeX Gyre" panose="02000503000000000000" charset="0"/>
                                <a:ea typeface="华文楷体" panose="02010600040101010101" charset="-122"/>
                                <a:cs typeface="DejaVu Math TeX Gyre" panose="02000503000000000000" charset="0"/>
                              </a:rPr>
                              <m:t>奇</m:t>
                            </m:r>
                          </m:e>
                        </m:mr>
                        <m:mr>
                          <m:e>
                            <m:r>
                              <a:rPr lang="en-US" altLang="zh-CN" sz="2400" i="1">
                                <a:latin typeface="DejaVu Math TeX Gyre" panose="02000503000000000000" charset="0"/>
                                <a:ea typeface="华文楷体" panose="02010600040101010101" charset="-122"/>
                                <a:cs typeface="DejaVu Math TeX Gyre" panose="02000503000000000000" charset="0"/>
                              </a:rPr>
                              <m:t>0</m:t>
                            </m:r>
                            <m:r>
                              <a:rPr lang="en-US" altLang="zh-CN" sz="2400" i="1">
                                <a:latin typeface="DejaVu Math TeX Gyre" panose="02000503000000000000" charset="0"/>
                                <a:ea typeface="宋体" pitchFamily="2" charset="-122"/>
                                <a:cs typeface="DejaVu Math TeX Gyre" panose="02000503000000000000" charset="0"/>
                              </a:rPr>
                              <m:t>，                     </m:t>
                            </m:r>
                            <m:r>
                              <a:rPr lang="en-US" altLang="zh-CN" sz="2400" i="1">
                                <a:latin typeface="DejaVu Math TeX Gyre" panose="02000503000000000000" charset="0"/>
                                <a:ea typeface="宋体" pitchFamily="2" charset="-122"/>
                                <a:cs typeface="DejaVu Math TeX Gyre" panose="02000503000000000000" charset="0"/>
                              </a:rPr>
                              <m:t>𝑚</m:t>
                            </m:r>
                            <m:r>
                              <a:rPr lang="zh-CN" altLang="en-US" sz="2400" i="1">
                                <a:latin typeface="DejaVu Math TeX Gyre" panose="02000503000000000000" charset="0"/>
                                <a:ea typeface="宋体" pitchFamily="2" charset="-122"/>
                                <a:cs typeface="DejaVu Math TeX Gyre" panose="02000503000000000000" charset="0"/>
                              </a:rPr>
                              <m:t>偶</m:t>
                            </m:r>
                          </m:e>
                        </m:mr>
                      </m:m>
                    </m:oMath>
                  </m:oMathPara>
                </a14:m>
                <a:endParaRPr lang="zh-CN" altLang="en-US" sz="2400" dirty="0">
                  <a:solidFill>
                    <a:schemeClr val="tx1"/>
                  </a:solidFill>
                  <a:latin typeface="华文楷体" panose="02010600040101010101" charset="-122"/>
                  <a:ea typeface="华文楷体" panose="02010600040101010101" charset="-122"/>
                  <a:cs typeface="华文楷体" panose="02010600040101010101" charset="-122"/>
                  <a:sym typeface="+mn-ea"/>
                </a:endParaRPr>
              </a:p>
            </p:txBody>
          </p:sp>
        </mc:Choice>
        <mc:Fallback>
          <p:sp>
            <p:nvSpPr>
              <p:cNvPr id="2" name="标题 1"/>
              <p:cNvSpPr>
                <a:spLocks noRot="1" noChangeAspect="1" noMove="1" noResize="1" noEditPoints="1" noAdjustHandles="1" noChangeArrowheads="1" noChangeShapeType="1" noTextEdit="1"/>
              </p:cNvSpPr>
              <p:nvPr>
                <p:ph type="title"/>
                <p:custDataLst>
                  <p:tags r:id="rId3"/>
                </p:custDataLst>
              </p:nvPr>
            </p:nvSpPr>
            <p:spPr>
              <a:xfrm>
                <a:off x="-454660" y="-45720"/>
                <a:ext cx="10371455" cy="6786880"/>
              </a:xfrm>
              <a:blipFill rotWithShape="1">
                <a:blip r:embed="rId4"/>
                <a:stretch>
                  <a:fillRect/>
                </a:stretch>
              </a:blipFill>
            </p:spPr>
            <p:txBody>
              <a:bodyPr/>
              <a:lstStyle/>
              <a:p>
                <a:r>
                  <a:rPr lang="zh-CN" altLang="en-US">
                    <a:noFill/>
                  </a:rPr>
                  <a:t> </a:t>
                </a:r>
              </a:p>
            </p:txBody>
          </p:sp>
        </mc:Fallback>
      </mc:AlternateContent>
      <p:graphicFrame>
        <p:nvGraphicFramePr>
          <p:cNvPr id="4" name="对象 -2147482111"/>
          <p:cNvGraphicFramePr>
            <a:graphicFrameLocks noChangeAspect="1"/>
          </p:cNvGraphicFramePr>
          <p:nvPr>
            <p:custDataLst>
              <p:tags r:id="rId5"/>
            </p:custDataLst>
          </p:nvPr>
        </p:nvGraphicFramePr>
        <p:xfrm>
          <a:off x="1991360" y="2205355"/>
          <a:ext cx="4980305" cy="1078230"/>
        </p:xfrm>
        <a:graphic>
          <a:graphicData uri="http://schemas.openxmlformats.org/presentationml/2006/ole">
            <mc:AlternateContent xmlns:mc="http://schemas.openxmlformats.org/markup-compatibility/2006">
              <mc:Choice xmlns:v="urn:schemas-microsoft-com:vml" Requires="v">
                <p:oleObj spid="_x0000_s13327" name="" r:id="rId6" imgW="1663700" imgH="368300" progId="Equation.3">
                  <p:embed/>
                </p:oleObj>
              </mc:Choice>
              <mc:Fallback>
                <p:oleObj name="" r:id="rId6" imgW="1663700" imgH="368300" progId="Equation.3">
                  <p:embed/>
                  <p:pic>
                    <p:nvPicPr>
                      <p:cNvPr id="0" name="图片 3075"/>
                      <p:cNvPicPr/>
                      <p:nvPr/>
                    </p:nvPicPr>
                    <p:blipFill>
                      <a:blip r:embed="rId7"/>
                      <a:stretch>
                        <a:fillRect/>
                      </a:stretch>
                    </p:blipFill>
                    <p:spPr>
                      <a:xfrm>
                        <a:off x="1991360" y="2205355"/>
                        <a:ext cx="4980305" cy="1078230"/>
                      </a:xfrm>
                      <a:prstGeom prst="rect">
                        <a:avLst/>
                      </a:prstGeom>
                      <a:noFill/>
                      <a:ln w="38100">
                        <a:noFill/>
                        <a:miter/>
                      </a:ln>
                    </p:spPr>
                  </p:pic>
                </p:oleObj>
              </mc:Fallback>
            </mc:AlternateContent>
          </a:graphicData>
        </a:graphic>
      </p:graphicFrame>
      <p:pic>
        <p:nvPicPr>
          <p:cNvPr id="6" name="图片 5"/>
          <p:cNvPicPr>
            <a:picLocks noChangeAspect="1"/>
          </p:cNvPicPr>
          <p:nvPr>
            <p:custDataLst>
              <p:tags r:id="rId8"/>
            </p:custDataLst>
          </p:nvPr>
        </p:nvPicPr>
        <p:blipFill>
          <a:blip r:embed="rId9"/>
          <a:stretch>
            <a:fillRect/>
          </a:stretch>
        </p:blipFill>
        <p:spPr>
          <a:xfrm>
            <a:off x="8509635" y="621030"/>
            <a:ext cx="3344545" cy="3104515"/>
          </a:xfrm>
          <a:prstGeom prst="rect">
            <a:avLst/>
          </a:prstGeom>
        </p:spPr>
      </p:pic>
      <p:sp>
        <p:nvSpPr>
          <p:cNvPr id="5" name="左大括号 4"/>
          <p:cNvSpPr/>
          <p:nvPr>
            <p:custDataLst>
              <p:tags r:id="rId10"/>
            </p:custDataLst>
          </p:nvPr>
        </p:nvSpPr>
        <p:spPr>
          <a:xfrm>
            <a:off x="4439920" y="5013325"/>
            <a:ext cx="215900" cy="1727835"/>
          </a:xfrm>
          <a:prstGeom prst="leftBrac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n>
                <a:solidFill>
                  <a:schemeClr val="tx1"/>
                </a:solidFill>
              </a:ln>
            </a:endParaRPr>
          </a:p>
        </p:txBody>
      </p:sp>
      <p:pic>
        <p:nvPicPr>
          <p:cNvPr id="7" name="图片 6"/>
          <p:cNvPicPr>
            <a:picLocks noChangeAspect="1"/>
          </p:cNvPicPr>
          <p:nvPr>
            <p:custDataLst>
              <p:tags r:id="rId11"/>
            </p:custDataLst>
          </p:nvPr>
        </p:nvPicPr>
        <p:blipFill>
          <a:blip r:embed="rId12"/>
          <a:stretch>
            <a:fillRect/>
          </a:stretch>
        </p:blipFill>
        <p:spPr>
          <a:xfrm>
            <a:off x="8759190" y="4074795"/>
            <a:ext cx="3013710" cy="2853055"/>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mc:AlternateContent xmlns:mc="http://schemas.openxmlformats.org/markup-compatibility/2006">
        <mc:Choice xmlns:a14="http://schemas.microsoft.com/office/drawing/2010/main" Requires="a14">
          <p:sp>
            <p:nvSpPr>
              <p:cNvPr id="2" name="标题 1"/>
              <p:cNvSpPr>
                <a:spLocks noGrp="1"/>
              </p:cNvSpPr>
              <p:nvPr>
                <p:ph type="title"/>
                <p:custDataLst>
                  <p:tags r:id="rId2"/>
                </p:custDataLst>
              </p:nvPr>
            </p:nvSpPr>
            <p:spPr>
              <a:xfrm>
                <a:off x="191135" y="-45720"/>
                <a:ext cx="9275445" cy="6786880"/>
              </a:xfrm>
            </p:spPr>
            <p:txBody>
              <a:bodyPr/>
              <a:p>
                <a:pPr marL="0" indent="0" algn="l">
                  <a:buFont typeface="Arial" panose="020B0604020202090204" pitchFamily="34" charset="0"/>
                  <a:buNone/>
                </a:pPr>
                <a:r>
                  <a:rPr lang="zh-CN" altLang="en-US" sz="2800" dirty="0">
                    <a:solidFill>
                      <a:schemeClr val="tx1"/>
                    </a:solidFill>
                    <a:latin typeface="华文楷体" panose="02010600040101010101" charset="-122"/>
                    <a:ea typeface="华文楷体" panose="02010600040101010101" charset="-122"/>
                    <a:cs typeface="华文楷体" panose="02010600040101010101" charset="-122"/>
                    <a:sym typeface="+mn-ea"/>
                  </a:rPr>
                  <a:t>（</a:t>
                </a:r>
                <a:r>
                  <a:rPr lang="en-US" altLang="zh-CN" sz="2800" dirty="0">
                    <a:solidFill>
                      <a:schemeClr val="tx1"/>
                    </a:solidFill>
                    <a:latin typeface="华文楷体" panose="02010600040101010101" charset="-122"/>
                    <a:ea typeface="华文楷体" panose="02010600040101010101" charset="-122"/>
                    <a:cs typeface="华文楷体" panose="02010600040101010101" charset="-122"/>
                    <a:sym typeface="+mn-ea"/>
                  </a:rPr>
                  <a:t>3</a:t>
                </a:r>
                <a:r>
                  <a:rPr lang="zh-CN" altLang="en-US" sz="2800" dirty="0">
                    <a:solidFill>
                      <a:schemeClr val="tx1"/>
                    </a:solidFill>
                    <a:latin typeface="华文楷体" panose="02010600040101010101" charset="-122"/>
                    <a:ea typeface="华文楷体" panose="02010600040101010101" charset="-122"/>
                    <a:cs typeface="华文楷体" panose="02010600040101010101" charset="-122"/>
                    <a:sym typeface="+mn-ea"/>
                  </a:rPr>
                  <a:t>）双极性不归零信号、</a:t>
                </a:r>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等概率P=1/2、矩形脉冲波形：</a:t>
                </a: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a:t>
                </a:r>
                <a:r>
                  <a:rPr lang="en-US" altLang="zh-CN" sz="2800">
                    <a:solidFill>
                      <a:schemeClr val="tx1"/>
                    </a:solidFill>
                    <a:latin typeface="华文楷体" panose="02010600040101010101" charset="-122"/>
                    <a:ea typeface="华文楷体" panose="02010600040101010101" charset="-122"/>
                    <a:cs typeface="华文楷体" panose="02010600040101010101" charset="-122"/>
                    <a:sym typeface="+mn-ea"/>
                  </a:rPr>
                  <a:t>4</a:t>
                </a:r>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）占空比为1/2 </a:t>
                </a:r>
                <a:r>
                  <a:rPr lang="en-US" altLang="zh-CN" sz="2800">
                    <a:solidFill>
                      <a:schemeClr val="tx1"/>
                    </a:solidFill>
                    <a:latin typeface="华文楷体" panose="02010600040101010101" charset="-122"/>
                    <a:ea typeface="华文楷体" panose="02010600040101010101" charset="-122"/>
                    <a:cs typeface="华文楷体" panose="02010600040101010101" charset="-122"/>
                    <a:sym typeface="+mn-ea"/>
                  </a:rPr>
                  <a:t>(</a:t>
                </a:r>
                <a14:m>
                  <m:oMath xmlns:m="http://schemas.openxmlformats.org/officeDocument/2006/math">
                    <m:r>
                      <a:rPr lang="en-US" altLang="zh-CN" sz="2800" i="1">
                        <a:solidFill>
                          <a:schemeClr val="tx1"/>
                        </a:solidFill>
                        <a:latin typeface="DejaVu Math TeX Gyre" panose="02000503000000000000" charset="0"/>
                        <a:ea typeface="宋体" charset="0"/>
                        <a:cs typeface="DejaVu Math TeX Gyre" panose="02000503000000000000" charset="0"/>
                      </a:rPr>
                      <m:t>𝜏</m:t>
                    </m:r>
                    <m:r>
                      <a:rPr lang="en-US" altLang="zh-CN" sz="2800" i="1">
                        <a:solidFill>
                          <a:schemeClr val="tx1"/>
                        </a:solidFill>
                        <a:latin typeface="DejaVu Math TeX Gyre" panose="02000503000000000000" charset="0"/>
                        <a:ea typeface="宋体" charset="0"/>
                        <a:cs typeface="DejaVu Math TeX Gyre" panose="02000503000000000000" charset="0"/>
                      </a:rPr>
                      <m:t>=</m:t>
                    </m:r>
                    <m:sSub>
                      <m:sSubPr>
                        <m:ctrlPr>
                          <a:rPr lang="en-US" altLang="zh-CN" sz="2800" i="1">
                            <a:solidFill>
                              <a:schemeClr val="tx1"/>
                            </a:solidFill>
                            <a:latin typeface="DejaVu Math TeX Gyre" panose="02000503000000000000" charset="0"/>
                            <a:ea typeface="华文楷体" panose="02010600040101010101" charset="-122"/>
                            <a:cs typeface="DejaVu Math TeX Gyre" panose="02000503000000000000" charset="0"/>
                          </a:rPr>
                        </m:ctrlPr>
                      </m:sSubPr>
                      <m:e>
                        <m:r>
                          <a:rPr lang="en-US" altLang="zh-CN" sz="2800" i="1">
                            <a:solidFill>
                              <a:schemeClr val="tx1"/>
                            </a:solidFill>
                            <a:latin typeface="DejaVu Math TeX Gyre" panose="02000503000000000000" charset="0"/>
                            <a:ea typeface="华文楷体" panose="02010600040101010101" charset="-122"/>
                            <a:cs typeface="DejaVu Math TeX Gyre" panose="02000503000000000000" charset="0"/>
                          </a:rPr>
                          <m:t>𝑇</m:t>
                        </m:r>
                      </m:e>
                      <m:sub>
                        <m:r>
                          <a:rPr lang="en-US" altLang="zh-CN" sz="2800" i="1">
                            <a:solidFill>
                              <a:schemeClr val="tx1"/>
                            </a:solidFill>
                            <a:latin typeface="DejaVu Math TeX Gyre" panose="02000503000000000000" charset="0"/>
                            <a:ea typeface="华文楷体" panose="02010600040101010101" charset="-122"/>
                            <a:cs typeface="DejaVu Math TeX Gyre" panose="02000503000000000000" charset="0"/>
                          </a:rPr>
                          <m:t>𝑠</m:t>
                        </m:r>
                      </m:sub>
                    </m:sSub>
                    <m:r>
                      <a:rPr lang="en-US" altLang="zh-CN" sz="2800" i="1">
                        <a:solidFill>
                          <a:schemeClr val="tx1"/>
                        </a:solidFill>
                        <a:latin typeface="DejaVu Math TeX Gyre" panose="02000503000000000000" charset="0"/>
                        <a:ea typeface="宋体" charset="0"/>
                        <a:cs typeface="DejaVu Math TeX Gyre" panose="02000503000000000000" charset="0"/>
                      </a:rPr>
                      <m:t>/</m:t>
                    </m:r>
                    <m:r>
                      <a:rPr lang="en-US" altLang="zh-CN" sz="2800" i="1">
                        <a:solidFill>
                          <a:schemeClr val="tx1"/>
                        </a:solidFill>
                        <a:latin typeface="DejaVu Math TeX Gyre" panose="02000503000000000000" charset="0"/>
                        <a:ea typeface="宋体" charset="0"/>
                        <a:cs typeface="DejaVu Math TeX Gyre" panose="02000503000000000000" charset="0"/>
                      </a:rPr>
                      <m:t>2</m:t>
                    </m:r>
                  </m:oMath>
                </a14:m>
                <a:r>
                  <a:rPr lang="en-US" altLang="zh-CN" sz="2800">
                    <a:solidFill>
                      <a:schemeClr val="tx1"/>
                    </a:solidFill>
                    <a:latin typeface="华文楷体" panose="02010600040101010101" charset="-122"/>
                    <a:ea typeface="华文楷体" panose="02010600040101010101" charset="-122"/>
                    <a:cs typeface="华文楷体" panose="02010600040101010101" charset="-122"/>
                    <a:sym typeface="+mn-ea"/>
                  </a:rPr>
                  <a:t>)</a:t>
                </a:r>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的等概率</a:t>
                </a:r>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双极性归零码：</a:t>
                </a: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b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br>
                <a:endParaRPr lang="zh-CN" altLang="en-US" sz="2800" dirty="0">
                  <a:solidFill>
                    <a:schemeClr val="tx1"/>
                  </a:solidFill>
                  <a:latin typeface="华文楷体" panose="02010600040101010101" charset="-122"/>
                  <a:ea typeface="华文楷体" panose="02010600040101010101" charset="-122"/>
                  <a:cs typeface="华文楷体" panose="02010600040101010101" charset="-122"/>
                  <a:sym typeface="+mn-ea"/>
                </a:endParaRPr>
              </a:p>
            </p:txBody>
          </p:sp>
        </mc:Choice>
        <mc:Fallback>
          <p:sp>
            <p:nvSpPr>
              <p:cNvPr id="2" name="标题 1"/>
              <p:cNvSpPr>
                <a:spLocks noRot="1" noChangeAspect="1" noMove="1" noResize="1" noEditPoints="1" noAdjustHandles="1" noChangeArrowheads="1" noChangeShapeType="1" noTextEdit="1"/>
              </p:cNvSpPr>
              <p:nvPr>
                <p:ph type="title"/>
                <p:custDataLst>
                  <p:tags r:id="rId3"/>
                </p:custDataLst>
              </p:nvPr>
            </p:nvSpPr>
            <p:spPr>
              <a:xfrm>
                <a:off x="191135" y="-45720"/>
                <a:ext cx="9275445" cy="6786880"/>
              </a:xfrm>
              <a:blipFill rotWithShape="1">
                <a:blip r:embed="rId4"/>
                <a:stretch>
                  <a:fillRect/>
                </a:stretch>
              </a:blipFill>
            </p:spPr>
            <p:txBody>
              <a:bodyPr/>
              <a:lstStyle/>
              <a:p>
                <a:r>
                  <a:rPr lang="zh-CN" altLang="en-US">
                    <a:noFill/>
                  </a:rPr>
                  <a:t> </a:t>
                </a:r>
              </a:p>
            </p:txBody>
          </p:sp>
        </mc:Fallback>
      </mc:AlternateContent>
      <p:graphicFrame>
        <p:nvGraphicFramePr>
          <p:cNvPr id="4" name="对象 -2147482108"/>
          <p:cNvGraphicFramePr>
            <a:graphicFrameLocks noChangeAspect="1"/>
          </p:cNvGraphicFramePr>
          <p:nvPr>
            <p:custDataLst>
              <p:tags r:id="rId5"/>
            </p:custDataLst>
          </p:nvPr>
        </p:nvGraphicFramePr>
        <p:xfrm>
          <a:off x="1487170" y="1485265"/>
          <a:ext cx="3206750" cy="641985"/>
        </p:xfrm>
        <a:graphic>
          <a:graphicData uri="http://schemas.openxmlformats.org/presentationml/2006/ole">
            <mc:AlternateContent xmlns:mc="http://schemas.openxmlformats.org/markup-compatibility/2006">
              <mc:Choice xmlns:v="urn:schemas-microsoft-com:vml" Requires="v">
                <p:oleObj spid="_x0000_s16400" name="" r:id="rId6" imgW="1117600" imgH="228600" progId="Equation.3">
                  <p:embed/>
                </p:oleObj>
              </mc:Choice>
              <mc:Fallback>
                <p:oleObj name="" r:id="rId6" imgW="1117600" imgH="228600" progId="Equation.3">
                  <p:embed/>
                  <p:pic>
                    <p:nvPicPr>
                      <p:cNvPr id="0" name="图片 8"/>
                      <p:cNvPicPr/>
                      <p:nvPr/>
                    </p:nvPicPr>
                    <p:blipFill>
                      <a:blip r:embed="rId7"/>
                      <a:stretch>
                        <a:fillRect/>
                      </a:stretch>
                    </p:blipFill>
                    <p:spPr>
                      <a:xfrm>
                        <a:off x="1487170" y="1485265"/>
                        <a:ext cx="3206750" cy="641985"/>
                      </a:xfrm>
                      <a:prstGeom prst="rect">
                        <a:avLst/>
                      </a:prstGeom>
                      <a:noFill/>
                      <a:ln w="38100">
                        <a:noFill/>
                        <a:miter/>
                      </a:ln>
                    </p:spPr>
                  </p:pic>
                </p:oleObj>
              </mc:Fallback>
            </mc:AlternateContent>
          </a:graphicData>
        </a:graphic>
      </p:graphicFrame>
      <p:pic>
        <p:nvPicPr>
          <p:cNvPr id="6" name="图片 5"/>
          <p:cNvPicPr>
            <a:picLocks noChangeAspect="1"/>
          </p:cNvPicPr>
          <p:nvPr>
            <p:custDataLst>
              <p:tags r:id="rId8"/>
            </p:custDataLst>
          </p:nvPr>
        </p:nvPicPr>
        <p:blipFill>
          <a:blip r:embed="rId9"/>
          <a:stretch>
            <a:fillRect/>
          </a:stretch>
        </p:blipFill>
        <p:spPr>
          <a:xfrm>
            <a:off x="6887845" y="1052830"/>
            <a:ext cx="3553460" cy="2766060"/>
          </a:xfrm>
          <a:prstGeom prst="rect">
            <a:avLst/>
          </a:prstGeom>
        </p:spPr>
      </p:pic>
      <p:graphicFrame>
        <p:nvGraphicFramePr>
          <p:cNvPr id="5" name="对象 -2147482107"/>
          <p:cNvGraphicFramePr>
            <a:graphicFrameLocks noChangeAspect="1"/>
          </p:cNvGraphicFramePr>
          <p:nvPr>
            <p:custDataLst>
              <p:tags r:id="rId10"/>
            </p:custDataLst>
          </p:nvPr>
        </p:nvGraphicFramePr>
        <p:xfrm>
          <a:off x="1847215" y="4509135"/>
          <a:ext cx="3270250" cy="985520"/>
        </p:xfrm>
        <a:graphic>
          <a:graphicData uri="http://schemas.openxmlformats.org/presentationml/2006/ole">
            <mc:AlternateContent xmlns:mc="http://schemas.openxmlformats.org/markup-compatibility/2006">
              <mc:Choice xmlns:v="urn:schemas-microsoft-com:vml" Requires="v">
                <p:oleObj spid="_x0000_s17416" name="" r:id="rId11" imgW="1193800" imgH="368300" progId="Equation.3">
                  <p:embed/>
                </p:oleObj>
              </mc:Choice>
              <mc:Fallback>
                <p:oleObj name="" r:id="rId11" imgW="1193800" imgH="368300" progId="Equation.3">
                  <p:embed/>
                  <p:pic>
                    <p:nvPicPr>
                      <p:cNvPr id="0" name="图片 3"/>
                      <p:cNvPicPr/>
                      <p:nvPr/>
                    </p:nvPicPr>
                    <p:blipFill>
                      <a:blip r:embed="rId12"/>
                      <a:stretch>
                        <a:fillRect/>
                      </a:stretch>
                    </p:blipFill>
                    <p:spPr>
                      <a:xfrm>
                        <a:off x="1847215" y="4509135"/>
                        <a:ext cx="3270250" cy="985520"/>
                      </a:xfrm>
                      <a:prstGeom prst="rect">
                        <a:avLst/>
                      </a:prstGeom>
                      <a:noFill/>
                      <a:ln w="38100">
                        <a:noFill/>
                        <a:miter/>
                      </a:ln>
                    </p:spPr>
                  </p:pic>
                </p:oleObj>
              </mc:Fallback>
            </mc:AlternateContent>
          </a:graphicData>
        </a:graphic>
      </p:graphicFrame>
      <p:pic>
        <p:nvPicPr>
          <p:cNvPr id="7" name="图片 6"/>
          <p:cNvPicPr>
            <a:picLocks noChangeAspect="1"/>
          </p:cNvPicPr>
          <p:nvPr>
            <p:custDataLst>
              <p:tags r:id="rId13"/>
            </p:custDataLst>
          </p:nvPr>
        </p:nvPicPr>
        <p:blipFill>
          <a:blip r:embed="rId14"/>
          <a:stretch>
            <a:fillRect/>
          </a:stretch>
        </p:blipFill>
        <p:spPr>
          <a:xfrm>
            <a:off x="7248525" y="4034155"/>
            <a:ext cx="3524250" cy="2752725"/>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graphicFrame>
        <p:nvGraphicFramePr>
          <p:cNvPr id="4" name="对象 -2147482106"/>
          <p:cNvGraphicFramePr>
            <a:graphicFrameLocks noChangeAspect="1"/>
          </p:cNvGraphicFramePr>
          <p:nvPr>
            <p:custDataLst>
              <p:tags r:id="rId2"/>
            </p:custDataLst>
          </p:nvPr>
        </p:nvGraphicFramePr>
        <p:xfrm>
          <a:off x="2711450" y="116840"/>
          <a:ext cx="8194040" cy="6624320"/>
        </p:xfrm>
        <a:graphic>
          <a:graphicData uri="http://schemas.openxmlformats.org/presentationml/2006/ole">
            <mc:AlternateContent xmlns:mc="http://schemas.openxmlformats.org/markup-compatibility/2006">
              <mc:Choice xmlns:v="urn:schemas-microsoft-com:vml" Requires="v">
                <p:oleObj spid="_x0000_s14344" name="" r:id="rId3" imgW="4679950" imgH="3780790" progId="Word.Picture.8">
                  <p:embed/>
                </p:oleObj>
              </mc:Choice>
              <mc:Fallback>
                <p:oleObj name="" r:id="rId3" imgW="4679950" imgH="3780790" progId="Word.Picture.8">
                  <p:embed/>
                  <p:pic>
                    <p:nvPicPr>
                      <p:cNvPr id="0" name="图片 3075"/>
                      <p:cNvPicPr/>
                      <p:nvPr/>
                    </p:nvPicPr>
                    <p:blipFill>
                      <a:blip r:embed="rId4"/>
                      <a:stretch>
                        <a:fillRect/>
                      </a:stretch>
                    </p:blipFill>
                    <p:spPr>
                      <a:xfrm>
                        <a:off x="2711450" y="116840"/>
                        <a:ext cx="8194040" cy="662432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graphicFrame>
        <p:nvGraphicFramePr>
          <p:cNvPr id="4" name="对象 -2147482105"/>
          <p:cNvGraphicFramePr>
            <a:graphicFrameLocks noChangeAspect="1"/>
          </p:cNvGraphicFramePr>
          <p:nvPr>
            <p:custDataLst>
              <p:tags r:id="rId2"/>
            </p:custDataLst>
          </p:nvPr>
        </p:nvGraphicFramePr>
        <p:xfrm>
          <a:off x="882015" y="1061720"/>
          <a:ext cx="10532745" cy="4881880"/>
        </p:xfrm>
        <a:graphic>
          <a:graphicData uri="http://schemas.openxmlformats.org/presentationml/2006/ole">
            <mc:AlternateContent xmlns:mc="http://schemas.openxmlformats.org/markup-compatibility/2006">
              <mc:Choice xmlns:v="urn:schemas-microsoft-com:vml" Requires="v">
                <p:oleObj spid="_x0000_s18440" name="" r:id="rId3" imgW="3604260" imgH="1988820" progId="Word.Document.8">
                  <p:embed/>
                </p:oleObj>
              </mc:Choice>
              <mc:Fallback>
                <p:oleObj name="" r:id="rId3" imgW="3604260" imgH="1988820" progId="Word.Document.8">
                  <p:embed/>
                  <p:pic>
                    <p:nvPicPr>
                      <p:cNvPr id="0" name="图片 3075"/>
                      <p:cNvPicPr/>
                      <p:nvPr/>
                    </p:nvPicPr>
                    <p:blipFill>
                      <a:blip r:embed="rId4"/>
                      <a:stretch>
                        <a:fillRect/>
                      </a:stretch>
                    </p:blipFill>
                    <p:spPr>
                      <a:xfrm>
                        <a:off x="882015" y="1061720"/>
                        <a:ext cx="10532745" cy="48818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695537" y="548641"/>
            <a:ext cx="10972800" cy="4525963"/>
          </a:xfrm>
        </p:spPr>
        <p:txBody>
          <a:bodyPr/>
          <a:p>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基带传输接收信号：</a:t>
            </a:r>
            <a:endPar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endParaRPr>
          </a:p>
          <a:p>
            <a:endPar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endParaRPr>
          </a:p>
          <a:p>
            <a:endPar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endParaRPr>
          </a:p>
          <a:p>
            <a:endPar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endParaRPr>
          </a:p>
          <a:p>
            <a:endPar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endParaRPr>
          </a:p>
          <a:p>
            <a:endPar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endParaRPr>
          </a:p>
          <a:p>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无码间串扰的基带传输系统冲激响应应满足的时域条件：</a:t>
            </a:r>
            <a:endPar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endParaRPr>
          </a:p>
          <a:p>
            <a:endPar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endParaRPr>
          </a:p>
          <a:p>
            <a:endPar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endParaRPr>
          </a:p>
          <a:p>
            <a:r>
              <a:rPr lang="zh-CN" altLang="en-US" sz="2800">
                <a:solidFill>
                  <a:schemeClr val="tx1"/>
                </a:solidFill>
                <a:latin typeface="华文楷体" panose="02010600040101010101" charset="-122"/>
                <a:ea typeface="华文楷体" panose="02010600040101010101" charset="-122"/>
                <a:cs typeface="华文楷体" panose="02010600040101010101" charset="-122"/>
                <a:sym typeface="+mn-ea"/>
              </a:rPr>
              <a:t>频域条件（奈奎斯特(Nyquist)准则）：</a:t>
            </a:r>
            <a:endParaRPr lang="zh-CN" altLang="en-US" sz="2800">
              <a:solidFill>
                <a:schemeClr val="tx1"/>
              </a:solidFill>
              <a:latin typeface="华文楷体" panose="02010600040101010101" charset="-122"/>
              <a:ea typeface="华文楷体" panose="02010600040101010101" charset="-122"/>
              <a:cs typeface="华文楷体" panose="02010600040101010101" charset="-122"/>
            </a:endParaRPr>
          </a:p>
          <a:p>
            <a:endParaRPr lang="zh-CN" altLang="en-US" sz="2800">
              <a:solidFill>
                <a:schemeClr val="tx1"/>
              </a:solidFill>
              <a:latin typeface="华文楷体" panose="02010600040101010101" charset="-122"/>
              <a:ea typeface="华文楷体" panose="02010600040101010101" charset="-122"/>
              <a:cs typeface="华文楷体" panose="02010600040101010101" charset="-122"/>
            </a:endParaRPr>
          </a:p>
        </p:txBody>
      </p:sp>
      <p:pic>
        <p:nvPicPr>
          <p:cNvPr id="30728" name="Picture 8"/>
          <p:cNvPicPr>
            <a:picLocks noChangeAspect="1"/>
          </p:cNvPicPr>
          <p:nvPr>
            <p:custDataLst>
              <p:tags r:id="rId3"/>
            </p:custDataLst>
          </p:nvPr>
        </p:nvPicPr>
        <p:blipFill>
          <a:blip r:embed="rId4"/>
          <a:srcRect l="26941" t="39272"/>
          <a:stretch>
            <a:fillRect/>
          </a:stretch>
        </p:blipFill>
        <p:spPr>
          <a:xfrm>
            <a:off x="4511675" y="4076700"/>
            <a:ext cx="4622800" cy="1179513"/>
          </a:xfrm>
          <a:prstGeom prst="rect">
            <a:avLst/>
          </a:prstGeom>
          <a:noFill/>
          <a:ln w="9525">
            <a:noFill/>
          </a:ln>
        </p:spPr>
      </p:pic>
      <p:graphicFrame>
        <p:nvGraphicFramePr>
          <p:cNvPr id="7" name="对象 -2147482074"/>
          <p:cNvGraphicFramePr>
            <a:graphicFrameLocks noChangeAspect="1"/>
          </p:cNvGraphicFramePr>
          <p:nvPr>
            <p:custDataLst>
              <p:tags r:id="rId5"/>
            </p:custDataLst>
          </p:nvPr>
        </p:nvGraphicFramePr>
        <p:xfrm>
          <a:off x="4871720" y="5661660"/>
          <a:ext cx="3983990" cy="963295"/>
        </p:xfrm>
        <a:graphic>
          <a:graphicData uri="http://schemas.openxmlformats.org/presentationml/2006/ole">
            <mc:AlternateContent xmlns:mc="http://schemas.openxmlformats.org/markup-compatibility/2006">
              <mc:Choice xmlns:v="urn:schemas-microsoft-com:vml" Requires="v">
                <p:oleObj spid="_x0000_s30744" name="" r:id="rId6" imgW="1777365" imgH="431800" progId="Equation.3">
                  <p:embed/>
                </p:oleObj>
              </mc:Choice>
              <mc:Fallback>
                <p:oleObj name="" r:id="rId6" imgW="1777365" imgH="431800" progId="Equation.3">
                  <p:embed/>
                  <p:pic>
                    <p:nvPicPr>
                      <p:cNvPr id="0" name="图片 4"/>
                      <p:cNvPicPr/>
                      <p:nvPr/>
                    </p:nvPicPr>
                    <p:blipFill>
                      <a:blip r:embed="rId7"/>
                      <a:stretch>
                        <a:fillRect/>
                      </a:stretch>
                    </p:blipFill>
                    <p:spPr>
                      <a:xfrm>
                        <a:off x="4871720" y="5661660"/>
                        <a:ext cx="3983990" cy="963295"/>
                      </a:xfrm>
                      <a:prstGeom prst="rect">
                        <a:avLst/>
                      </a:prstGeom>
                      <a:noFill/>
                      <a:ln w="38100">
                        <a:noFill/>
                        <a:miter/>
                      </a:ln>
                    </p:spPr>
                  </p:pic>
                </p:oleObj>
              </mc:Fallback>
            </mc:AlternateContent>
          </a:graphicData>
        </a:graphic>
      </p:graphicFrame>
      <p:graphicFrame>
        <p:nvGraphicFramePr>
          <p:cNvPr id="4" name="对象 -2147482096"/>
          <p:cNvGraphicFramePr>
            <a:graphicFrameLocks noChangeAspect="1"/>
          </p:cNvGraphicFramePr>
          <p:nvPr>
            <p:custDataLst>
              <p:tags r:id="rId8"/>
            </p:custDataLst>
          </p:nvPr>
        </p:nvGraphicFramePr>
        <p:xfrm>
          <a:off x="1704975" y="980440"/>
          <a:ext cx="9103995" cy="2261235"/>
        </p:xfrm>
        <a:graphic>
          <a:graphicData uri="http://schemas.openxmlformats.org/presentationml/2006/ole">
            <mc:AlternateContent xmlns:mc="http://schemas.openxmlformats.org/markup-compatibility/2006">
              <mc:Choice xmlns:v="urn:schemas-microsoft-com:vml" Requires="v">
                <p:oleObj spid="_x0000_s24592" name="" r:id="rId9" imgW="3606800" imgH="927100" progId="Equation.3">
                  <p:embed/>
                </p:oleObj>
              </mc:Choice>
              <mc:Fallback>
                <p:oleObj name="" r:id="rId9" imgW="3606800" imgH="927100" progId="Equation.3">
                  <p:embed/>
                  <p:pic>
                    <p:nvPicPr>
                      <p:cNvPr id="0" name="图片 3"/>
                      <p:cNvPicPr/>
                      <p:nvPr/>
                    </p:nvPicPr>
                    <p:blipFill>
                      <a:blip r:embed="rId10"/>
                      <a:stretch>
                        <a:fillRect/>
                      </a:stretch>
                    </p:blipFill>
                    <p:spPr>
                      <a:xfrm>
                        <a:off x="1704975" y="980440"/>
                        <a:ext cx="9103995" cy="2261235"/>
                      </a:xfrm>
                      <a:prstGeom prst="rect">
                        <a:avLst/>
                      </a:prstGeom>
                      <a:noFill/>
                      <a:ln w="38100">
                        <a:noFill/>
                        <a:miter/>
                      </a:ln>
                    </p:spPr>
                  </p:pic>
                </p:oleObj>
              </mc:Fallback>
            </mc:AlternateContent>
          </a:graphicData>
        </a:graphic>
      </p:graphicFrame>
      <p:sp>
        <p:nvSpPr>
          <p:cNvPr id="8" name="矩形 7"/>
          <p:cNvSpPr/>
          <p:nvPr>
            <p:custDataLst>
              <p:tags r:id="rId11"/>
            </p:custDataLst>
          </p:nvPr>
        </p:nvSpPr>
        <p:spPr>
          <a:xfrm>
            <a:off x="5233035" y="2250440"/>
            <a:ext cx="3456305" cy="110617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矩形 8"/>
          <p:cNvSpPr/>
          <p:nvPr>
            <p:custDataLst>
              <p:tags r:id="rId12"/>
            </p:custDataLst>
          </p:nvPr>
        </p:nvSpPr>
        <p:spPr>
          <a:xfrm>
            <a:off x="8833485" y="2393315"/>
            <a:ext cx="1923415" cy="649605"/>
          </a:xfrm>
          <a:prstGeom prst="rect">
            <a:avLst/>
          </a:prstGeom>
          <a:ln>
            <a:solidFill>
              <a:srgbClr val="7030A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文本框 9"/>
          <p:cNvSpPr txBox="1"/>
          <p:nvPr>
            <p:custDataLst>
              <p:tags r:id="rId13"/>
            </p:custDataLst>
          </p:nvPr>
        </p:nvSpPr>
        <p:spPr>
          <a:xfrm>
            <a:off x="6241415" y="1737995"/>
            <a:ext cx="783590" cy="583565"/>
          </a:xfrm>
          <a:prstGeom prst="rect">
            <a:avLst/>
          </a:prstGeom>
          <a:solidFill>
            <a:schemeClr val="bg1">
              <a:lumMod val="85000"/>
            </a:schemeClr>
          </a:solidFill>
        </p:spPr>
        <p:txBody>
          <a:bodyPr wrap="square" rtlCol="0" anchor="t">
            <a:spAutoFit/>
          </a:bodyPr>
          <a:p>
            <a:pPr algn="ctr"/>
            <a:r>
              <a:rPr lang="en-US" altLang="zh-CN" sz="3200">
                <a:solidFill>
                  <a:srgbClr val="FF0000"/>
                </a:solidFill>
                <a:latin typeface="华文楷体" panose="02010600040101010101" charset="-122"/>
                <a:ea typeface="华文楷体" panose="02010600040101010101" charset="-122"/>
                <a:sym typeface="+mn-ea"/>
              </a:rPr>
              <a:t>ISI</a:t>
            </a:r>
            <a:endParaRPr lang="en-US" altLang="zh-CN" sz="3200">
              <a:solidFill>
                <a:srgbClr val="FF0000"/>
              </a:solidFill>
              <a:latin typeface="华文楷体" panose="02010600040101010101" charset="-122"/>
              <a:ea typeface="华文楷体" panose="02010600040101010101" charset="-122"/>
              <a:sym typeface="+mn-ea"/>
            </a:endParaRPr>
          </a:p>
        </p:txBody>
      </p:sp>
      <p:sp>
        <p:nvSpPr>
          <p:cNvPr id="11" name="文本框 10"/>
          <p:cNvSpPr txBox="1"/>
          <p:nvPr>
            <p:custDataLst>
              <p:tags r:id="rId14"/>
            </p:custDataLst>
          </p:nvPr>
        </p:nvSpPr>
        <p:spPr>
          <a:xfrm>
            <a:off x="9049385" y="1844040"/>
            <a:ext cx="1172845" cy="583565"/>
          </a:xfrm>
          <a:prstGeom prst="rect">
            <a:avLst/>
          </a:prstGeom>
          <a:solidFill>
            <a:schemeClr val="bg1">
              <a:lumMod val="85000"/>
            </a:schemeClr>
          </a:solidFill>
        </p:spPr>
        <p:txBody>
          <a:bodyPr wrap="square" rtlCol="0" anchor="t">
            <a:spAutoFit/>
          </a:bodyPr>
          <a:p>
            <a:pPr algn="ctr"/>
            <a:r>
              <a:rPr lang="zh-CN" altLang="en-US" sz="3200">
                <a:solidFill>
                  <a:srgbClr val="7030A0"/>
                </a:solidFill>
                <a:latin typeface="华文楷体" panose="02010600040101010101" charset="-122"/>
                <a:ea typeface="华文楷体" panose="02010600040101010101" charset="-122"/>
                <a:sym typeface="+mn-ea"/>
              </a:rPr>
              <a:t>噪声</a:t>
            </a:r>
            <a:endParaRPr lang="zh-CN" altLang="en-US" sz="3200">
              <a:solidFill>
                <a:srgbClr val="7030A0"/>
              </a:solidFill>
              <a:latin typeface="华文楷体" panose="02010600040101010101" charset="-122"/>
              <a:ea typeface="华文楷体" panose="02010600040101010101" charset="-122"/>
              <a:sym typeface="+mn-ea"/>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15" name="Rectangle 2"/>
          <p:cNvSpPr>
            <a:spLocks noChangeArrowheads="1"/>
          </p:cNvSpPr>
          <p:nvPr>
            <p:custDataLst>
              <p:tags r:id="rId2"/>
            </p:custDataLst>
          </p:nvPr>
        </p:nvSpPr>
        <p:spPr bwMode="auto">
          <a:xfrm>
            <a:off x="695325" y="692785"/>
            <a:ext cx="2857500" cy="584200"/>
          </a:xfrm>
          <a:prstGeom prst="rect">
            <a:avLst/>
          </a:prstGeom>
          <a:solidFill>
            <a:schemeClr val="bg2">
              <a:lumMod val="10000"/>
              <a:lumOff val="90000"/>
            </a:schemeClr>
          </a:solidFill>
          <a:ln w="9525">
            <a:noFill/>
            <a:miter lim="800000"/>
          </a:ln>
          <a:effectLst>
            <a:outerShdw blurRad="50800" dist="38100" dir="2700000" algn="tl" rotWithShape="0">
              <a:prstClr val="black">
                <a:alpha val="40000"/>
              </a:prstClr>
            </a:outerShdw>
          </a:effectLst>
        </p:spPr>
        <p:txBody>
          <a:bodyPr>
            <a:spAutoFit/>
          </a:bodyPr>
          <a:p>
            <a:pPr marL="0" marR="0" lvl="0" indent="0" algn="l" defTabSz="914400" rtl="0" eaLnBrk="1" fontAlgn="base" latinLnBrk="0" hangingPunct="1">
              <a:lnSpc>
                <a:spcPct val="100000"/>
              </a:lnSpc>
              <a:spcBef>
                <a:spcPct val="0"/>
              </a:spcBef>
              <a:spcAft>
                <a:spcPct val="0"/>
              </a:spcAft>
              <a:buClr>
                <a:srgbClr val="FF0000"/>
              </a:buClr>
              <a:buSzPct val="70000"/>
              <a:buFontTx/>
              <a:buNone/>
              <a:defRPr/>
            </a:pPr>
            <a:r>
              <a:rPr kumimoji="1" lang="en-US" altLang="zh-CN" sz="3200" b="1" i="0" u="sng"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华文楷体" panose="02010600040101010101" charset="-122"/>
              </a:rPr>
              <a:t>1</a:t>
            </a:r>
            <a:r>
              <a:rPr kumimoji="1" lang="en-US" altLang="zh-CN" sz="32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rPr>
              <a:t>  </a:t>
            </a:r>
            <a:r>
              <a:rPr kumimoji="0" lang="zh-CN" altLang="en-US" sz="2800" b="1" i="0" u="none"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华文楷体" panose="02010600040101010101" charset="-122"/>
              </a:rPr>
              <a:t>理想低通特性</a:t>
            </a:r>
            <a:endParaRPr kumimoji="1" lang="en-US" altLang="zh-CN" sz="2800" b="1" i="0" u="none"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华文楷体" panose="02010600040101010101" charset="-122"/>
            </a:endParaRPr>
          </a:p>
        </p:txBody>
      </p:sp>
      <p:sp>
        <p:nvSpPr>
          <p:cNvPr id="16" name="矩形 15"/>
          <p:cNvSpPr>
            <a:spLocks noChangeArrowheads="1"/>
          </p:cNvSpPr>
          <p:nvPr>
            <p:custDataLst>
              <p:tags r:id="rId3"/>
            </p:custDataLst>
          </p:nvPr>
        </p:nvSpPr>
        <p:spPr bwMode="auto">
          <a:xfrm>
            <a:off x="9130030" y="2079625"/>
            <a:ext cx="1955800" cy="811213"/>
          </a:xfrm>
          <a:prstGeom prst="rect">
            <a:avLst/>
          </a:prstGeom>
          <a:solidFill>
            <a:schemeClr val="bg2">
              <a:lumMod val="10000"/>
              <a:lumOff val="90000"/>
            </a:schemeClr>
          </a:solidFill>
          <a:ln w="9525">
            <a:noFill/>
            <a:miter lim="800000"/>
          </a:ln>
          <a:effectLst>
            <a:outerShdw blurRad="50800" dist="38100" dir="5400000" algn="t" rotWithShape="0">
              <a:prstClr val="black">
                <a:alpha val="40000"/>
              </a:prstClr>
            </a:outerShdw>
          </a:effectLst>
        </p:spPr>
        <p:txBody>
          <a:bodyPr>
            <a:spAutoFit/>
          </a:bodyPr>
          <a:p>
            <a:pPr marL="0" marR="0" lvl="0" indent="0" algn="l" defTabSz="914400" rtl="0" eaLnBrk="1" fontAlgn="base" latinLnBrk="0" hangingPunct="1">
              <a:lnSpc>
                <a:spcPts val="28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 奈奎斯特带宽</a:t>
            </a:r>
            <a:endParaRPr kumimoji="0" lang="en-US" altLang="zh-CN"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a:p>
            <a:pPr marL="0" marR="0" lvl="0" indent="0" algn="l" defTabSz="914400" rtl="0" eaLnBrk="1" fontAlgn="base" latinLnBrk="0" hangingPunct="1">
              <a:lnSpc>
                <a:spcPts val="28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 （</a:t>
            </a:r>
            <a:r>
              <a:rPr kumimoji="0" lang="zh-CN" altLang="en-US" sz="2000" b="0"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华文楷体" panose="02010600040101010101" charset="-122"/>
              </a:rPr>
              <a:t>最窄</a:t>
            </a:r>
            <a:r>
              <a:rPr kumimoji="0" lang="zh-CN" altLang="en-US"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带宽）</a:t>
            </a:r>
            <a:endParaRPr kumimoji="0" lang="zh-CN" altLang="en-US"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p:txBody>
      </p:sp>
      <p:sp>
        <p:nvSpPr>
          <p:cNvPr id="17" name="矩形 16"/>
          <p:cNvSpPr>
            <a:spLocks noChangeArrowheads="1"/>
          </p:cNvSpPr>
          <p:nvPr>
            <p:custDataLst>
              <p:tags r:id="rId4"/>
            </p:custDataLst>
          </p:nvPr>
        </p:nvSpPr>
        <p:spPr bwMode="auto">
          <a:xfrm>
            <a:off x="9048115" y="3468370"/>
            <a:ext cx="2752725" cy="811213"/>
          </a:xfrm>
          <a:prstGeom prst="rect">
            <a:avLst/>
          </a:prstGeom>
          <a:solidFill>
            <a:schemeClr val="bg2">
              <a:lumMod val="10000"/>
              <a:lumOff val="90000"/>
            </a:schemeClr>
          </a:solidFill>
          <a:ln w="9525">
            <a:noFill/>
            <a:miter lim="800000"/>
          </a:ln>
          <a:effectLst>
            <a:outerShdw blurRad="50800" dist="38100" dir="5400000" algn="t" rotWithShape="0">
              <a:prstClr val="black">
                <a:alpha val="40000"/>
              </a:prstClr>
            </a:outerShdw>
          </a:effectLst>
        </p:spPr>
        <p:txBody>
          <a:bodyPr>
            <a:spAutoFit/>
          </a:bodyPr>
          <a:p>
            <a:pPr marL="0" marR="0" lvl="0" indent="0" algn="l" defTabSz="914400" rtl="0" eaLnBrk="1" fontAlgn="base" latinLnBrk="0" hangingPunct="1">
              <a:lnSpc>
                <a:spcPts val="28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     奈奎斯特速率</a:t>
            </a:r>
            <a:endParaRPr kumimoji="0" lang="en-US" altLang="zh-CN"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a:p>
            <a:pPr marL="0" marR="0" lvl="0" indent="0" algn="l" defTabSz="914400" rtl="0" eaLnBrk="1" fontAlgn="base" latinLnBrk="0" hangingPunct="1">
              <a:lnSpc>
                <a:spcPts val="28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（无</a:t>
            </a:r>
            <a:r>
              <a:rPr kumimoji="0" lang="en-US" altLang="zh-CN"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ISI</a:t>
            </a:r>
            <a:r>
              <a:rPr kumimoji="0" lang="zh-CN" altLang="en-US"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的</a:t>
            </a:r>
            <a:r>
              <a:rPr kumimoji="0" lang="zh-CN" altLang="en-US" sz="2000" b="0"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华文楷体" panose="02010600040101010101" charset="-122"/>
              </a:rPr>
              <a:t>最高</a:t>
            </a:r>
            <a:r>
              <a:rPr kumimoji="0" lang="zh-CN" altLang="en-US"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波特率）   </a:t>
            </a:r>
            <a:endParaRPr kumimoji="0" lang="zh-CN" altLang="en-US" sz="20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p:txBody>
      </p:sp>
      <p:pic>
        <p:nvPicPr>
          <p:cNvPr id="19" name="Picture 9"/>
          <p:cNvPicPr>
            <a:picLocks noChangeAspect="1"/>
          </p:cNvPicPr>
          <p:nvPr>
            <p:custDataLst>
              <p:tags r:id="rId5"/>
            </p:custDataLst>
          </p:nvPr>
        </p:nvPicPr>
        <p:blipFill>
          <a:blip r:embed="rId6"/>
          <a:srcRect t="52003"/>
          <a:stretch>
            <a:fillRect/>
          </a:stretch>
        </p:blipFill>
        <p:spPr>
          <a:xfrm>
            <a:off x="6939280" y="3315335"/>
            <a:ext cx="2019300" cy="1065213"/>
          </a:xfrm>
          <a:prstGeom prst="rect">
            <a:avLst/>
          </a:prstGeom>
          <a:noFill/>
          <a:ln w="9525">
            <a:noFill/>
          </a:ln>
        </p:spPr>
      </p:pic>
      <p:grpSp>
        <p:nvGrpSpPr>
          <p:cNvPr id="2" name="组合 1"/>
          <p:cNvGrpSpPr/>
          <p:nvPr/>
        </p:nvGrpSpPr>
        <p:grpSpPr>
          <a:xfrm>
            <a:off x="7620152" y="3904615"/>
            <a:ext cx="540289" cy="416257"/>
            <a:chOff x="12783" y="8901"/>
            <a:chExt cx="470" cy="410"/>
          </a:xfrm>
        </p:grpSpPr>
        <p:sp>
          <p:nvSpPr>
            <p:cNvPr id="4" name="文本框 3"/>
            <p:cNvSpPr txBox="1"/>
            <p:nvPr>
              <p:custDataLst>
                <p:tags r:id="rId7"/>
              </p:custDataLst>
            </p:nvPr>
          </p:nvSpPr>
          <p:spPr>
            <a:xfrm>
              <a:off x="12853" y="8901"/>
              <a:ext cx="275" cy="410"/>
            </a:xfrm>
            <a:prstGeom prst="rect">
              <a:avLst/>
            </a:prstGeom>
            <a:solidFill>
              <a:schemeClr val="bg1"/>
            </a:solidFill>
          </p:spPr>
          <p:txBody>
            <a:bodyPr wrap="square" rtlCol="0" anchor="t">
              <a:noAutofit/>
            </a:bodyPr>
            <a:p>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5" name="文本框 4"/>
            <p:cNvSpPr txBox="1"/>
            <p:nvPr>
              <p:custDataLst>
                <p:tags r:id="rId8"/>
              </p:custDataLst>
            </p:nvPr>
          </p:nvSpPr>
          <p:spPr>
            <a:xfrm>
              <a:off x="12783" y="8909"/>
              <a:ext cx="470" cy="402"/>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noAutofit/>
            </a:bodyPr>
            <a:p>
              <a:r>
                <a:rPr lang="en-US" altLang="zh-CN" sz="2400" b="1" i="1"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T</a:t>
              </a:r>
              <a:r>
                <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S</a:t>
              </a:r>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grpSp>
      <p:pic>
        <p:nvPicPr>
          <p:cNvPr id="6" name="Picture 9"/>
          <p:cNvPicPr>
            <a:picLocks noChangeAspect="1"/>
          </p:cNvPicPr>
          <p:nvPr>
            <p:custDataLst>
              <p:tags r:id="rId9"/>
            </p:custDataLst>
          </p:nvPr>
        </p:nvPicPr>
        <p:blipFill>
          <a:blip r:embed="rId6"/>
          <a:srcRect b="49928"/>
          <a:stretch>
            <a:fillRect/>
          </a:stretch>
        </p:blipFill>
        <p:spPr>
          <a:xfrm>
            <a:off x="6959918" y="1948815"/>
            <a:ext cx="2019300" cy="1111250"/>
          </a:xfrm>
          <a:prstGeom prst="rect">
            <a:avLst/>
          </a:prstGeom>
          <a:noFill/>
          <a:ln w="9525">
            <a:noFill/>
          </a:ln>
        </p:spPr>
      </p:pic>
      <p:grpSp>
        <p:nvGrpSpPr>
          <p:cNvPr id="41" name="组合 40"/>
          <p:cNvGrpSpPr/>
          <p:nvPr/>
        </p:nvGrpSpPr>
        <p:grpSpPr>
          <a:xfrm>
            <a:off x="7709687" y="2459355"/>
            <a:ext cx="540289" cy="416257"/>
            <a:chOff x="12783" y="8901"/>
            <a:chExt cx="470" cy="410"/>
          </a:xfrm>
        </p:grpSpPr>
        <p:sp>
          <p:nvSpPr>
            <p:cNvPr id="42" name="文本框 41"/>
            <p:cNvSpPr txBox="1"/>
            <p:nvPr>
              <p:custDataLst>
                <p:tags r:id="rId10"/>
              </p:custDataLst>
            </p:nvPr>
          </p:nvSpPr>
          <p:spPr>
            <a:xfrm>
              <a:off x="12853" y="8901"/>
              <a:ext cx="275" cy="410"/>
            </a:xfrm>
            <a:prstGeom prst="rect">
              <a:avLst/>
            </a:prstGeom>
            <a:solidFill>
              <a:schemeClr val="bg1"/>
            </a:solidFill>
          </p:spPr>
          <p:txBody>
            <a:bodyPr wrap="square" rtlCol="0" anchor="t">
              <a:noAutofit/>
            </a:bodyPr>
            <a:p>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43" name="文本框 42"/>
            <p:cNvSpPr txBox="1"/>
            <p:nvPr>
              <p:custDataLst>
                <p:tags r:id="rId11"/>
              </p:custDataLst>
            </p:nvPr>
          </p:nvSpPr>
          <p:spPr>
            <a:xfrm>
              <a:off x="12783" y="8909"/>
              <a:ext cx="470" cy="402"/>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noAutofit/>
            </a:bodyPr>
            <a:p>
              <a:r>
                <a:rPr lang="en-US" altLang="zh-CN" sz="2400" b="1" i="1"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T</a:t>
              </a:r>
              <a:r>
                <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S</a:t>
              </a:r>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grpSp>
      <p:sp>
        <p:nvSpPr>
          <p:cNvPr id="48" name="文本框 47"/>
          <p:cNvSpPr txBox="1"/>
          <p:nvPr>
            <p:custDataLst>
              <p:tags r:id="rId12"/>
            </p:custDataLst>
          </p:nvPr>
        </p:nvSpPr>
        <p:spPr>
          <a:xfrm>
            <a:off x="916305" y="3484880"/>
            <a:ext cx="4059555" cy="1619250"/>
          </a:xfrm>
          <a:prstGeom prst="rect">
            <a:avLst/>
          </a:prstGeom>
          <a:solidFill>
            <a:schemeClr val="bg1"/>
          </a:solidFill>
        </p:spPr>
        <p:txBody>
          <a:bodyPr wrap="square" rtlCol="0" anchor="t">
            <a:noAutofit/>
          </a:bodyPr>
          <a:p>
            <a:endParaRPr lang="zh-CN" altLang="en-US"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graphicFrame>
        <p:nvGraphicFramePr>
          <p:cNvPr id="7" name="Object 21"/>
          <p:cNvGraphicFramePr>
            <a:graphicFrameLocks noChangeAspect="1"/>
          </p:cNvGraphicFramePr>
          <p:nvPr>
            <p:custDataLst>
              <p:tags r:id="rId13"/>
            </p:custDataLst>
          </p:nvPr>
        </p:nvGraphicFramePr>
        <p:xfrm>
          <a:off x="881063" y="1847850"/>
          <a:ext cx="2952750" cy="1714500"/>
        </p:xfrm>
        <a:graphic>
          <a:graphicData uri="http://schemas.openxmlformats.org/presentationml/2006/ole">
            <mc:AlternateContent xmlns:mc="http://schemas.openxmlformats.org/markup-compatibility/2006">
              <mc:Choice xmlns:v="urn:schemas-microsoft-com:vml" Requires="v">
                <p:oleObj spid="_x0000_s8" name="" r:id="rId14" imgW="1574800" imgH="914400" progId="Equation.DSMT4">
                  <p:embed/>
                </p:oleObj>
              </mc:Choice>
              <mc:Fallback>
                <p:oleObj name="" r:id="rId14" imgW="1574800" imgH="914400" progId="Equation.DSMT4">
                  <p:embed/>
                  <p:pic>
                    <p:nvPicPr>
                      <p:cNvPr id="0" name="图片 3217"/>
                      <p:cNvPicPr/>
                      <p:nvPr/>
                    </p:nvPicPr>
                    <p:blipFill>
                      <a:blip r:embed="rId15"/>
                      <a:stretch>
                        <a:fillRect/>
                      </a:stretch>
                    </p:blipFill>
                    <p:spPr>
                      <a:xfrm>
                        <a:off x="881063" y="1847850"/>
                        <a:ext cx="2952750" cy="1714500"/>
                      </a:xfrm>
                      <a:prstGeom prst="rect">
                        <a:avLst/>
                      </a:prstGeom>
                      <a:noFill/>
                      <a:ln w="38100">
                        <a:noFill/>
                        <a:miter/>
                      </a:ln>
                    </p:spPr>
                  </p:pic>
                </p:oleObj>
              </mc:Fallback>
            </mc:AlternateContent>
          </a:graphicData>
        </a:graphic>
      </p:graphicFrame>
      <p:graphicFrame>
        <p:nvGraphicFramePr>
          <p:cNvPr id="9" name="Object 22"/>
          <p:cNvGraphicFramePr>
            <a:graphicFrameLocks noChangeAspect="1"/>
          </p:cNvGraphicFramePr>
          <p:nvPr>
            <p:custDataLst>
              <p:tags r:id="rId16"/>
            </p:custDataLst>
          </p:nvPr>
        </p:nvGraphicFramePr>
        <p:xfrm>
          <a:off x="915988" y="3806825"/>
          <a:ext cx="2052637" cy="1000125"/>
        </p:xfrm>
        <a:graphic>
          <a:graphicData uri="http://schemas.openxmlformats.org/presentationml/2006/ole">
            <mc:AlternateContent xmlns:mc="http://schemas.openxmlformats.org/markup-compatibility/2006">
              <mc:Choice xmlns:v="urn:schemas-microsoft-com:vml" Requires="v">
                <p:oleObj spid="_x0000_s10" name="" r:id="rId17" imgW="989965" imgH="482600" progId="Equation.DSMT4">
                  <p:embed/>
                </p:oleObj>
              </mc:Choice>
              <mc:Fallback>
                <p:oleObj name="" r:id="rId17" imgW="989965" imgH="482600" progId="Equation.DSMT4">
                  <p:embed/>
                  <p:pic>
                    <p:nvPicPr>
                      <p:cNvPr id="0" name="图片 3218"/>
                      <p:cNvPicPr/>
                      <p:nvPr/>
                    </p:nvPicPr>
                    <p:blipFill>
                      <a:blip r:embed="rId18"/>
                      <a:stretch>
                        <a:fillRect/>
                      </a:stretch>
                    </p:blipFill>
                    <p:spPr>
                      <a:xfrm>
                        <a:off x="915988" y="3806825"/>
                        <a:ext cx="2052637" cy="1000125"/>
                      </a:xfrm>
                      <a:prstGeom prst="rect">
                        <a:avLst/>
                      </a:prstGeom>
                      <a:noFill/>
                      <a:ln w="38100">
                        <a:noFill/>
                        <a:miter/>
                      </a:ln>
                    </p:spPr>
                  </p:pic>
                </p:oleObj>
              </mc:Fallback>
            </mc:AlternateContent>
          </a:graphicData>
        </a:graphic>
      </p:graphicFrame>
      <p:sp>
        <p:nvSpPr>
          <p:cNvPr id="11" name="Freeform 12"/>
          <p:cNvSpPr>
            <a:spLocks noEditPoints="1"/>
          </p:cNvSpPr>
          <p:nvPr>
            <p:custDataLst>
              <p:tags r:id="rId19"/>
            </p:custDataLst>
          </p:nvPr>
        </p:nvSpPr>
        <p:spPr>
          <a:xfrm rot="-3228193" flipH="1" flipV="1">
            <a:off x="493713" y="3327400"/>
            <a:ext cx="788987" cy="565150"/>
          </a:xfrm>
          <a:custGeom>
            <a:avLst/>
            <a:gdLst>
              <a:gd name="txL" fmla="*/ 0 w 728"/>
              <a:gd name="txT" fmla="*/ 0 h 604"/>
              <a:gd name="txR" fmla="*/ 728 w 728"/>
              <a:gd name="txB" fmla="*/ 604 h 604"/>
            </a:gdLst>
            <a:ahLst/>
            <a:cxnLst>
              <a:cxn ang="0">
                <a:pos x="0" y="2147483646"/>
              </a:cxn>
              <a:cxn ang="0">
                <a:pos x="2147483646" y="2147483646"/>
              </a:cxn>
              <a:cxn ang="0">
                <a:pos x="0"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728" h="604">
                <a:moveTo>
                  <a:pt x="0" y="590"/>
                </a:moveTo>
                <a:lnTo>
                  <a:pt x="0" y="590"/>
                </a:lnTo>
                <a:lnTo>
                  <a:pt x="12" y="574"/>
                </a:lnTo>
                <a:lnTo>
                  <a:pt x="6" y="582"/>
                </a:lnTo>
                <a:lnTo>
                  <a:pt x="0" y="590"/>
                </a:lnTo>
                <a:close/>
                <a:moveTo>
                  <a:pt x="718" y="0"/>
                </a:moveTo>
                <a:lnTo>
                  <a:pt x="606" y="240"/>
                </a:lnTo>
                <a:lnTo>
                  <a:pt x="656" y="216"/>
                </a:lnTo>
                <a:lnTo>
                  <a:pt x="642" y="272"/>
                </a:lnTo>
                <a:lnTo>
                  <a:pt x="626" y="324"/>
                </a:lnTo>
                <a:lnTo>
                  <a:pt x="608" y="374"/>
                </a:lnTo>
                <a:lnTo>
                  <a:pt x="588" y="418"/>
                </a:lnTo>
                <a:lnTo>
                  <a:pt x="566" y="460"/>
                </a:lnTo>
                <a:lnTo>
                  <a:pt x="542" y="494"/>
                </a:lnTo>
                <a:lnTo>
                  <a:pt x="518" y="524"/>
                </a:lnTo>
                <a:lnTo>
                  <a:pt x="504" y="536"/>
                </a:lnTo>
                <a:lnTo>
                  <a:pt x="492" y="548"/>
                </a:lnTo>
                <a:lnTo>
                  <a:pt x="470" y="562"/>
                </a:lnTo>
                <a:lnTo>
                  <a:pt x="446" y="576"/>
                </a:lnTo>
                <a:lnTo>
                  <a:pt x="420" y="586"/>
                </a:lnTo>
                <a:lnTo>
                  <a:pt x="392" y="594"/>
                </a:lnTo>
                <a:lnTo>
                  <a:pt x="364" y="598"/>
                </a:lnTo>
                <a:lnTo>
                  <a:pt x="336" y="598"/>
                </a:lnTo>
                <a:lnTo>
                  <a:pt x="306" y="592"/>
                </a:lnTo>
                <a:lnTo>
                  <a:pt x="292" y="588"/>
                </a:lnTo>
                <a:lnTo>
                  <a:pt x="278" y="582"/>
                </a:lnTo>
                <a:lnTo>
                  <a:pt x="238" y="566"/>
                </a:lnTo>
                <a:lnTo>
                  <a:pt x="198" y="554"/>
                </a:lnTo>
                <a:lnTo>
                  <a:pt x="160" y="544"/>
                </a:lnTo>
                <a:lnTo>
                  <a:pt x="124" y="540"/>
                </a:lnTo>
                <a:lnTo>
                  <a:pt x="108" y="540"/>
                </a:lnTo>
                <a:lnTo>
                  <a:pt x="92" y="540"/>
                </a:lnTo>
                <a:lnTo>
                  <a:pt x="76" y="542"/>
                </a:lnTo>
                <a:lnTo>
                  <a:pt x="62" y="546"/>
                </a:lnTo>
                <a:lnTo>
                  <a:pt x="48" y="550"/>
                </a:lnTo>
                <a:lnTo>
                  <a:pt x="36" y="556"/>
                </a:lnTo>
                <a:lnTo>
                  <a:pt x="24" y="564"/>
                </a:lnTo>
                <a:lnTo>
                  <a:pt x="12" y="574"/>
                </a:lnTo>
                <a:lnTo>
                  <a:pt x="28" y="562"/>
                </a:lnTo>
                <a:lnTo>
                  <a:pt x="46" y="552"/>
                </a:lnTo>
                <a:lnTo>
                  <a:pt x="58" y="548"/>
                </a:lnTo>
                <a:lnTo>
                  <a:pt x="70" y="544"/>
                </a:lnTo>
                <a:lnTo>
                  <a:pt x="84" y="542"/>
                </a:lnTo>
                <a:lnTo>
                  <a:pt x="100" y="542"/>
                </a:lnTo>
                <a:lnTo>
                  <a:pt x="116" y="542"/>
                </a:lnTo>
                <a:lnTo>
                  <a:pt x="134" y="544"/>
                </a:lnTo>
                <a:lnTo>
                  <a:pt x="154" y="546"/>
                </a:lnTo>
                <a:lnTo>
                  <a:pt x="174" y="550"/>
                </a:lnTo>
                <a:lnTo>
                  <a:pt x="198" y="556"/>
                </a:lnTo>
                <a:lnTo>
                  <a:pt x="222" y="564"/>
                </a:lnTo>
                <a:lnTo>
                  <a:pt x="248" y="574"/>
                </a:lnTo>
                <a:lnTo>
                  <a:pt x="276" y="586"/>
                </a:lnTo>
                <a:lnTo>
                  <a:pt x="298" y="594"/>
                </a:lnTo>
                <a:lnTo>
                  <a:pt x="322" y="600"/>
                </a:lnTo>
                <a:lnTo>
                  <a:pt x="348" y="604"/>
                </a:lnTo>
                <a:lnTo>
                  <a:pt x="376" y="604"/>
                </a:lnTo>
                <a:lnTo>
                  <a:pt x="404" y="600"/>
                </a:lnTo>
                <a:lnTo>
                  <a:pt x="434" y="592"/>
                </a:lnTo>
                <a:lnTo>
                  <a:pt x="466" y="578"/>
                </a:lnTo>
                <a:lnTo>
                  <a:pt x="498" y="560"/>
                </a:lnTo>
                <a:lnTo>
                  <a:pt x="512" y="550"/>
                </a:lnTo>
                <a:lnTo>
                  <a:pt x="526" y="538"/>
                </a:lnTo>
                <a:lnTo>
                  <a:pt x="540" y="524"/>
                </a:lnTo>
                <a:lnTo>
                  <a:pt x="554" y="508"/>
                </a:lnTo>
                <a:lnTo>
                  <a:pt x="580" y="472"/>
                </a:lnTo>
                <a:lnTo>
                  <a:pt x="606" y="430"/>
                </a:lnTo>
                <a:lnTo>
                  <a:pt x="630" y="384"/>
                </a:lnTo>
                <a:lnTo>
                  <a:pt x="650" y="332"/>
                </a:lnTo>
                <a:lnTo>
                  <a:pt x="668" y="278"/>
                </a:lnTo>
                <a:lnTo>
                  <a:pt x="684" y="220"/>
                </a:lnTo>
                <a:lnTo>
                  <a:pt x="728" y="326"/>
                </a:lnTo>
                <a:lnTo>
                  <a:pt x="718" y="0"/>
                </a:lnTo>
                <a:close/>
              </a:path>
            </a:pathLst>
          </a:custGeom>
          <a:solidFill>
            <a:srgbClr val="003399">
              <a:alpha val="100000"/>
            </a:srgbClr>
          </a:solidFill>
          <a:ln w="9525">
            <a:noFill/>
          </a:ln>
        </p:spPr>
        <p:txBody>
          <a:bodyPr/>
          <a:p>
            <a:endParaRPr lang="zh-CN" altLang="en-US">
              <a:latin typeface="华文楷体" panose="02010600040101010101" charset="-122"/>
              <a:ea typeface="华文楷体" panose="02010600040101010101" charset="-122"/>
            </a:endParaRPr>
          </a:p>
        </p:txBody>
      </p:sp>
      <p:sp>
        <p:nvSpPr>
          <p:cNvPr id="12" name="Freeform 12"/>
          <p:cNvSpPr>
            <a:spLocks noEditPoints="1"/>
          </p:cNvSpPr>
          <p:nvPr>
            <p:custDataLst>
              <p:tags r:id="rId20"/>
            </p:custDataLst>
          </p:nvPr>
        </p:nvSpPr>
        <p:spPr>
          <a:xfrm rot="4159046" flipH="1">
            <a:off x="442913" y="3133725"/>
            <a:ext cx="828675" cy="552450"/>
          </a:xfrm>
          <a:custGeom>
            <a:avLst/>
            <a:gdLst>
              <a:gd name="txL" fmla="*/ 0 w 728"/>
              <a:gd name="txT" fmla="*/ 0 h 604"/>
              <a:gd name="txR" fmla="*/ 728 w 728"/>
              <a:gd name="txB" fmla="*/ 604 h 604"/>
            </a:gdLst>
            <a:ahLst/>
            <a:cxnLst>
              <a:cxn ang="0">
                <a:pos x="0" y="2147483646"/>
              </a:cxn>
              <a:cxn ang="0">
                <a:pos x="2147483646" y="2147483646"/>
              </a:cxn>
              <a:cxn ang="0">
                <a:pos x="0"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728" h="604">
                <a:moveTo>
                  <a:pt x="0" y="590"/>
                </a:moveTo>
                <a:lnTo>
                  <a:pt x="0" y="590"/>
                </a:lnTo>
                <a:lnTo>
                  <a:pt x="12" y="574"/>
                </a:lnTo>
                <a:lnTo>
                  <a:pt x="6" y="582"/>
                </a:lnTo>
                <a:lnTo>
                  <a:pt x="0" y="590"/>
                </a:lnTo>
                <a:close/>
                <a:moveTo>
                  <a:pt x="718" y="0"/>
                </a:moveTo>
                <a:lnTo>
                  <a:pt x="606" y="240"/>
                </a:lnTo>
                <a:lnTo>
                  <a:pt x="656" y="216"/>
                </a:lnTo>
                <a:lnTo>
                  <a:pt x="642" y="272"/>
                </a:lnTo>
                <a:lnTo>
                  <a:pt x="626" y="324"/>
                </a:lnTo>
                <a:lnTo>
                  <a:pt x="608" y="374"/>
                </a:lnTo>
                <a:lnTo>
                  <a:pt x="588" y="418"/>
                </a:lnTo>
                <a:lnTo>
                  <a:pt x="566" y="460"/>
                </a:lnTo>
                <a:lnTo>
                  <a:pt x="542" y="494"/>
                </a:lnTo>
                <a:lnTo>
                  <a:pt x="518" y="524"/>
                </a:lnTo>
                <a:lnTo>
                  <a:pt x="504" y="536"/>
                </a:lnTo>
                <a:lnTo>
                  <a:pt x="492" y="548"/>
                </a:lnTo>
                <a:lnTo>
                  <a:pt x="470" y="562"/>
                </a:lnTo>
                <a:lnTo>
                  <a:pt x="446" y="576"/>
                </a:lnTo>
                <a:lnTo>
                  <a:pt x="420" y="586"/>
                </a:lnTo>
                <a:lnTo>
                  <a:pt x="392" y="594"/>
                </a:lnTo>
                <a:lnTo>
                  <a:pt x="364" y="598"/>
                </a:lnTo>
                <a:lnTo>
                  <a:pt x="336" y="598"/>
                </a:lnTo>
                <a:lnTo>
                  <a:pt x="306" y="592"/>
                </a:lnTo>
                <a:lnTo>
                  <a:pt x="292" y="588"/>
                </a:lnTo>
                <a:lnTo>
                  <a:pt x="278" y="582"/>
                </a:lnTo>
                <a:lnTo>
                  <a:pt x="238" y="566"/>
                </a:lnTo>
                <a:lnTo>
                  <a:pt x="198" y="554"/>
                </a:lnTo>
                <a:lnTo>
                  <a:pt x="160" y="544"/>
                </a:lnTo>
                <a:lnTo>
                  <a:pt x="124" y="540"/>
                </a:lnTo>
                <a:lnTo>
                  <a:pt x="108" y="540"/>
                </a:lnTo>
                <a:lnTo>
                  <a:pt x="92" y="540"/>
                </a:lnTo>
                <a:lnTo>
                  <a:pt x="76" y="542"/>
                </a:lnTo>
                <a:lnTo>
                  <a:pt x="62" y="546"/>
                </a:lnTo>
                <a:lnTo>
                  <a:pt x="48" y="550"/>
                </a:lnTo>
                <a:lnTo>
                  <a:pt x="36" y="556"/>
                </a:lnTo>
                <a:lnTo>
                  <a:pt x="24" y="564"/>
                </a:lnTo>
                <a:lnTo>
                  <a:pt x="12" y="574"/>
                </a:lnTo>
                <a:lnTo>
                  <a:pt x="28" y="562"/>
                </a:lnTo>
                <a:lnTo>
                  <a:pt x="46" y="552"/>
                </a:lnTo>
                <a:lnTo>
                  <a:pt x="58" y="548"/>
                </a:lnTo>
                <a:lnTo>
                  <a:pt x="70" y="544"/>
                </a:lnTo>
                <a:lnTo>
                  <a:pt x="84" y="542"/>
                </a:lnTo>
                <a:lnTo>
                  <a:pt x="100" y="542"/>
                </a:lnTo>
                <a:lnTo>
                  <a:pt x="116" y="542"/>
                </a:lnTo>
                <a:lnTo>
                  <a:pt x="134" y="544"/>
                </a:lnTo>
                <a:lnTo>
                  <a:pt x="154" y="546"/>
                </a:lnTo>
                <a:lnTo>
                  <a:pt x="174" y="550"/>
                </a:lnTo>
                <a:lnTo>
                  <a:pt x="198" y="556"/>
                </a:lnTo>
                <a:lnTo>
                  <a:pt x="222" y="564"/>
                </a:lnTo>
                <a:lnTo>
                  <a:pt x="248" y="574"/>
                </a:lnTo>
                <a:lnTo>
                  <a:pt x="276" y="586"/>
                </a:lnTo>
                <a:lnTo>
                  <a:pt x="298" y="594"/>
                </a:lnTo>
                <a:lnTo>
                  <a:pt x="322" y="600"/>
                </a:lnTo>
                <a:lnTo>
                  <a:pt x="348" y="604"/>
                </a:lnTo>
                <a:lnTo>
                  <a:pt x="376" y="604"/>
                </a:lnTo>
                <a:lnTo>
                  <a:pt x="404" y="600"/>
                </a:lnTo>
                <a:lnTo>
                  <a:pt x="434" y="592"/>
                </a:lnTo>
                <a:lnTo>
                  <a:pt x="466" y="578"/>
                </a:lnTo>
                <a:lnTo>
                  <a:pt x="498" y="560"/>
                </a:lnTo>
                <a:lnTo>
                  <a:pt x="512" y="550"/>
                </a:lnTo>
                <a:lnTo>
                  <a:pt x="526" y="538"/>
                </a:lnTo>
                <a:lnTo>
                  <a:pt x="540" y="524"/>
                </a:lnTo>
                <a:lnTo>
                  <a:pt x="554" y="508"/>
                </a:lnTo>
                <a:lnTo>
                  <a:pt x="580" y="472"/>
                </a:lnTo>
                <a:lnTo>
                  <a:pt x="606" y="430"/>
                </a:lnTo>
                <a:lnTo>
                  <a:pt x="630" y="384"/>
                </a:lnTo>
                <a:lnTo>
                  <a:pt x="650" y="332"/>
                </a:lnTo>
                <a:lnTo>
                  <a:pt x="668" y="278"/>
                </a:lnTo>
                <a:lnTo>
                  <a:pt x="684" y="220"/>
                </a:lnTo>
                <a:lnTo>
                  <a:pt x="728" y="326"/>
                </a:lnTo>
                <a:lnTo>
                  <a:pt x="718" y="0"/>
                </a:lnTo>
                <a:close/>
              </a:path>
            </a:pathLst>
          </a:custGeom>
          <a:solidFill>
            <a:srgbClr val="003399">
              <a:alpha val="100000"/>
            </a:srgbClr>
          </a:solidFill>
          <a:ln w="9525">
            <a:noFill/>
          </a:ln>
        </p:spPr>
        <p:txBody>
          <a:bodyPr/>
          <a:p>
            <a:endParaRPr lang="zh-CN" altLang="en-US">
              <a:latin typeface="华文楷体" panose="02010600040101010101" charset="-122"/>
              <a:ea typeface="华文楷体" panose="02010600040101010101" charset="-122"/>
            </a:endParaRPr>
          </a:p>
        </p:txBody>
      </p:sp>
      <p:grpSp>
        <p:nvGrpSpPr>
          <p:cNvPr id="13" name="组合 12"/>
          <p:cNvGrpSpPr/>
          <p:nvPr/>
        </p:nvGrpSpPr>
        <p:grpSpPr>
          <a:xfrm>
            <a:off x="1869592" y="1987550"/>
            <a:ext cx="540289" cy="523875"/>
            <a:chOff x="12783" y="8901"/>
            <a:chExt cx="470" cy="516"/>
          </a:xfrm>
        </p:grpSpPr>
        <p:sp>
          <p:nvSpPr>
            <p:cNvPr id="14" name="文本框 13"/>
            <p:cNvSpPr txBox="1"/>
            <p:nvPr>
              <p:custDataLst>
                <p:tags r:id="rId21"/>
              </p:custDataLst>
            </p:nvPr>
          </p:nvSpPr>
          <p:spPr>
            <a:xfrm>
              <a:off x="12853" y="8901"/>
              <a:ext cx="266" cy="508"/>
            </a:xfrm>
            <a:prstGeom prst="rect">
              <a:avLst/>
            </a:prstGeom>
            <a:solidFill>
              <a:schemeClr val="bg1"/>
            </a:solidFill>
          </p:spPr>
          <p:txBody>
            <a:bodyPr wrap="square" rtlCol="0" anchor="t">
              <a:noAutofit/>
            </a:bodyPr>
            <a:p>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22" name="文本框 21"/>
            <p:cNvSpPr txBox="1"/>
            <p:nvPr>
              <p:custDataLst>
                <p:tags r:id="rId22"/>
              </p:custDataLst>
            </p:nvPr>
          </p:nvSpPr>
          <p:spPr>
            <a:xfrm>
              <a:off x="12783" y="8909"/>
              <a:ext cx="470" cy="508"/>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noAutofit/>
            </a:bodyPr>
            <a:p>
              <a:r>
                <a:rPr lang="en-US" altLang="zh-CN" sz="2400" b="1" i="1"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T</a:t>
              </a:r>
              <a:r>
                <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S</a:t>
              </a:r>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grpSp>
      <p:grpSp>
        <p:nvGrpSpPr>
          <p:cNvPr id="23" name="组合 22"/>
          <p:cNvGrpSpPr/>
          <p:nvPr/>
        </p:nvGrpSpPr>
        <p:grpSpPr>
          <a:xfrm>
            <a:off x="3103397" y="2276475"/>
            <a:ext cx="540289" cy="523875"/>
            <a:chOff x="12783" y="8901"/>
            <a:chExt cx="470" cy="516"/>
          </a:xfrm>
        </p:grpSpPr>
        <p:sp>
          <p:nvSpPr>
            <p:cNvPr id="24" name="文本框 23"/>
            <p:cNvSpPr txBox="1"/>
            <p:nvPr>
              <p:custDataLst>
                <p:tags r:id="rId23"/>
              </p:custDataLst>
            </p:nvPr>
          </p:nvSpPr>
          <p:spPr>
            <a:xfrm>
              <a:off x="12853" y="8901"/>
              <a:ext cx="266" cy="508"/>
            </a:xfrm>
            <a:prstGeom prst="rect">
              <a:avLst/>
            </a:prstGeom>
            <a:solidFill>
              <a:schemeClr val="bg1"/>
            </a:solidFill>
          </p:spPr>
          <p:txBody>
            <a:bodyPr wrap="square" rtlCol="0" anchor="t">
              <a:noAutofit/>
            </a:bodyPr>
            <a:p>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26" name="文本框 25"/>
            <p:cNvSpPr txBox="1"/>
            <p:nvPr>
              <p:custDataLst>
                <p:tags r:id="rId24"/>
              </p:custDataLst>
            </p:nvPr>
          </p:nvSpPr>
          <p:spPr>
            <a:xfrm>
              <a:off x="12783" y="8909"/>
              <a:ext cx="470" cy="508"/>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noAutofit/>
            </a:bodyPr>
            <a:p>
              <a:r>
                <a:rPr lang="en-US" altLang="zh-CN" sz="2400" b="1" i="1"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T</a:t>
              </a:r>
              <a:r>
                <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S</a:t>
              </a:r>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grpSp>
      <p:grpSp>
        <p:nvGrpSpPr>
          <p:cNvPr id="27" name="组合 26"/>
          <p:cNvGrpSpPr/>
          <p:nvPr/>
        </p:nvGrpSpPr>
        <p:grpSpPr>
          <a:xfrm>
            <a:off x="3031642" y="3106420"/>
            <a:ext cx="540289" cy="523875"/>
            <a:chOff x="12783" y="8901"/>
            <a:chExt cx="470" cy="516"/>
          </a:xfrm>
        </p:grpSpPr>
        <p:sp>
          <p:nvSpPr>
            <p:cNvPr id="28" name="文本框 27"/>
            <p:cNvSpPr txBox="1"/>
            <p:nvPr>
              <p:custDataLst>
                <p:tags r:id="rId25"/>
              </p:custDataLst>
            </p:nvPr>
          </p:nvSpPr>
          <p:spPr>
            <a:xfrm>
              <a:off x="12853" y="8901"/>
              <a:ext cx="266" cy="508"/>
            </a:xfrm>
            <a:prstGeom prst="rect">
              <a:avLst/>
            </a:prstGeom>
            <a:solidFill>
              <a:schemeClr val="bg1"/>
            </a:solidFill>
          </p:spPr>
          <p:txBody>
            <a:bodyPr wrap="square" rtlCol="0" anchor="t">
              <a:noAutofit/>
            </a:bodyPr>
            <a:p>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29" name="文本框 28"/>
            <p:cNvSpPr txBox="1"/>
            <p:nvPr>
              <p:custDataLst>
                <p:tags r:id="rId26"/>
              </p:custDataLst>
            </p:nvPr>
          </p:nvSpPr>
          <p:spPr>
            <a:xfrm>
              <a:off x="12783" y="8909"/>
              <a:ext cx="470" cy="508"/>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noAutofit/>
            </a:bodyPr>
            <a:p>
              <a:r>
                <a:rPr lang="en-US" altLang="zh-CN" sz="2400" b="1" i="1"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T</a:t>
              </a:r>
              <a:r>
                <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S</a:t>
              </a:r>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grpSp>
      <p:grpSp>
        <p:nvGrpSpPr>
          <p:cNvPr id="39" name="组合 38"/>
          <p:cNvGrpSpPr/>
          <p:nvPr/>
        </p:nvGrpSpPr>
        <p:grpSpPr>
          <a:xfrm>
            <a:off x="2207412" y="4351655"/>
            <a:ext cx="540289" cy="523875"/>
            <a:chOff x="12783" y="8901"/>
            <a:chExt cx="470" cy="516"/>
          </a:xfrm>
        </p:grpSpPr>
        <p:sp>
          <p:nvSpPr>
            <p:cNvPr id="40" name="文本框 39"/>
            <p:cNvSpPr txBox="1"/>
            <p:nvPr>
              <p:custDataLst>
                <p:tags r:id="rId27"/>
              </p:custDataLst>
            </p:nvPr>
          </p:nvSpPr>
          <p:spPr>
            <a:xfrm>
              <a:off x="12853" y="8901"/>
              <a:ext cx="266" cy="508"/>
            </a:xfrm>
            <a:prstGeom prst="rect">
              <a:avLst/>
            </a:prstGeom>
            <a:solidFill>
              <a:schemeClr val="bg1"/>
            </a:solidFill>
          </p:spPr>
          <p:txBody>
            <a:bodyPr wrap="square" rtlCol="0" anchor="t">
              <a:noAutofit/>
            </a:bodyPr>
            <a:p>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47" name="文本框 46"/>
            <p:cNvSpPr txBox="1"/>
            <p:nvPr>
              <p:custDataLst>
                <p:tags r:id="rId28"/>
              </p:custDataLst>
            </p:nvPr>
          </p:nvSpPr>
          <p:spPr>
            <a:xfrm>
              <a:off x="12783" y="8909"/>
              <a:ext cx="470" cy="508"/>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noAutofit/>
            </a:bodyPr>
            <a:p>
              <a:r>
                <a:rPr lang="en-US" altLang="zh-CN" sz="2400" b="1" i="1"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T</a:t>
              </a:r>
              <a:r>
                <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S</a:t>
              </a:r>
              <a:endParaRPr lang="en-US" altLang="zh-CN" sz="24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grpSp>
      <p:graphicFrame>
        <p:nvGraphicFramePr>
          <p:cNvPr id="50" name="Object 4"/>
          <p:cNvGraphicFramePr>
            <a:graphicFrameLocks noChangeAspect="1"/>
          </p:cNvGraphicFramePr>
          <p:nvPr>
            <p:ph sz="half" idx="2"/>
            <p:custDataLst>
              <p:tags r:id="rId29"/>
            </p:custDataLst>
          </p:nvPr>
        </p:nvGraphicFramePr>
        <p:xfrm>
          <a:off x="3978910" y="1772920"/>
          <a:ext cx="2314575" cy="2952750"/>
        </p:xfrm>
        <a:graphic>
          <a:graphicData uri="http://schemas.openxmlformats.org/presentationml/2006/ole">
            <mc:AlternateContent xmlns:mc="http://schemas.openxmlformats.org/markup-compatibility/2006">
              <mc:Choice xmlns:v="urn:schemas-microsoft-com:vml" Requires="v">
                <p:oleObj spid="_x0000_s52" name="" r:id="rId30" imgW="1865630" imgH="2377440" progId="Visio.Drawing.11">
                  <p:embed/>
                </p:oleObj>
              </mc:Choice>
              <mc:Fallback>
                <p:oleObj name="" r:id="rId30" imgW="1865630" imgH="2377440" progId="Visio.Drawing.11">
                  <p:embed/>
                  <p:pic>
                    <p:nvPicPr>
                      <p:cNvPr id="0" name="图片 3219"/>
                      <p:cNvPicPr/>
                      <p:nvPr/>
                    </p:nvPicPr>
                    <p:blipFill>
                      <a:blip r:embed="rId31"/>
                      <a:stretch>
                        <a:fillRect/>
                      </a:stretch>
                    </p:blipFill>
                    <p:spPr>
                      <a:xfrm>
                        <a:off x="3978910" y="1772920"/>
                        <a:ext cx="2314575" cy="2952750"/>
                      </a:xfrm>
                      <a:prstGeom prst="rect">
                        <a:avLst/>
                      </a:prstGeom>
                      <a:noFill/>
                      <a:ln w="38100">
                        <a:noFill/>
                        <a:miter/>
                      </a:ln>
                    </p:spPr>
                  </p:pic>
                </p:oleObj>
              </mc:Fallback>
            </mc:AlternateContent>
          </a:graphicData>
        </a:graphic>
      </p:graphicFrame>
      <p:sp>
        <p:nvSpPr>
          <p:cNvPr id="53" name="椭圆 52"/>
          <p:cNvSpPr/>
          <p:nvPr>
            <p:custDataLst>
              <p:tags r:id="rId32"/>
            </p:custDataLst>
          </p:nvPr>
        </p:nvSpPr>
        <p:spPr>
          <a:xfrm>
            <a:off x="5477510" y="3479483"/>
            <a:ext cx="71438" cy="7143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华文楷体" panose="02010600040101010101" charset="-122"/>
              <a:ea typeface="华文楷体" panose="02010600040101010101" charset="-122"/>
              <a:cs typeface="+mn-cs"/>
            </a:endParaRPr>
          </a:p>
        </p:txBody>
      </p:sp>
      <p:grpSp>
        <p:nvGrpSpPr>
          <p:cNvPr id="54" name="组合 53"/>
          <p:cNvGrpSpPr/>
          <p:nvPr/>
        </p:nvGrpSpPr>
        <p:grpSpPr>
          <a:xfrm>
            <a:off x="5036185" y="2240280"/>
            <a:ext cx="441325" cy="372745"/>
            <a:chOff x="12729" y="8901"/>
            <a:chExt cx="523" cy="516"/>
          </a:xfrm>
        </p:grpSpPr>
        <p:sp>
          <p:nvSpPr>
            <p:cNvPr id="55" name="文本框 54"/>
            <p:cNvSpPr txBox="1"/>
            <p:nvPr>
              <p:custDataLst>
                <p:tags r:id="rId33"/>
              </p:custDataLst>
            </p:nvPr>
          </p:nvSpPr>
          <p:spPr>
            <a:xfrm>
              <a:off x="12773" y="8901"/>
              <a:ext cx="346" cy="508"/>
            </a:xfrm>
            <a:prstGeom prst="rect">
              <a:avLst/>
            </a:prstGeom>
            <a:solidFill>
              <a:schemeClr val="bg1"/>
            </a:solidFill>
          </p:spPr>
          <p:txBody>
            <a:bodyPr wrap="square" rtlCol="0" anchor="t">
              <a:noAutofit/>
            </a:bodyPr>
            <a:p>
              <a:endParaRPr lang="en-US" altLang="zh-CN" sz="20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56" name="文本框 55"/>
            <p:cNvSpPr txBox="1"/>
            <p:nvPr>
              <p:custDataLst>
                <p:tags r:id="rId34"/>
              </p:custDataLst>
            </p:nvPr>
          </p:nvSpPr>
          <p:spPr>
            <a:xfrm>
              <a:off x="12729" y="8909"/>
              <a:ext cx="523" cy="508"/>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noAutofit/>
            </a:bodyPr>
            <a:p>
              <a:r>
                <a:rPr lang="en-US" altLang="zh-CN" sz="2000" b="1" i="1"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T</a:t>
              </a:r>
              <a:r>
                <a:rPr lang="en-US" altLang="zh-CN" sz="20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S</a:t>
              </a:r>
              <a:endParaRPr lang="en-US" altLang="zh-CN" sz="20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grpSp>
      <p:grpSp>
        <p:nvGrpSpPr>
          <p:cNvPr id="57" name="组合 56"/>
          <p:cNvGrpSpPr/>
          <p:nvPr/>
        </p:nvGrpSpPr>
        <p:grpSpPr>
          <a:xfrm>
            <a:off x="5274945" y="3864610"/>
            <a:ext cx="441325" cy="372745"/>
            <a:chOff x="12729" y="8901"/>
            <a:chExt cx="523" cy="516"/>
          </a:xfrm>
        </p:grpSpPr>
        <p:sp>
          <p:nvSpPr>
            <p:cNvPr id="58" name="文本框 57"/>
            <p:cNvSpPr txBox="1"/>
            <p:nvPr>
              <p:custDataLst>
                <p:tags r:id="rId35"/>
              </p:custDataLst>
            </p:nvPr>
          </p:nvSpPr>
          <p:spPr>
            <a:xfrm>
              <a:off x="12773" y="8901"/>
              <a:ext cx="346" cy="508"/>
            </a:xfrm>
            <a:prstGeom prst="rect">
              <a:avLst/>
            </a:prstGeom>
            <a:solidFill>
              <a:schemeClr val="bg1"/>
            </a:solidFill>
          </p:spPr>
          <p:txBody>
            <a:bodyPr wrap="square" rtlCol="0" anchor="t">
              <a:noAutofit/>
            </a:bodyPr>
            <a:p>
              <a:endParaRPr lang="en-US" altLang="zh-CN" sz="20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59" name="文本框 58"/>
            <p:cNvSpPr txBox="1"/>
            <p:nvPr>
              <p:custDataLst>
                <p:tags r:id="rId36"/>
              </p:custDataLst>
            </p:nvPr>
          </p:nvSpPr>
          <p:spPr>
            <a:xfrm>
              <a:off x="12729" y="8909"/>
              <a:ext cx="523" cy="508"/>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noAutofit/>
            </a:bodyPr>
            <a:p>
              <a:r>
                <a:rPr lang="en-US" altLang="zh-CN" sz="2000" b="1" i="1"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T</a:t>
              </a:r>
              <a:r>
                <a:rPr lang="en-US" altLang="zh-CN" sz="20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S</a:t>
              </a:r>
              <a:endParaRPr lang="en-US" altLang="zh-CN" sz="20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grpSp>
      <p:grpSp>
        <p:nvGrpSpPr>
          <p:cNvPr id="60" name="组合 59"/>
          <p:cNvGrpSpPr/>
          <p:nvPr/>
        </p:nvGrpSpPr>
        <p:grpSpPr>
          <a:xfrm>
            <a:off x="4482465" y="3885565"/>
            <a:ext cx="441325" cy="372745"/>
            <a:chOff x="12729" y="8901"/>
            <a:chExt cx="523" cy="516"/>
          </a:xfrm>
        </p:grpSpPr>
        <p:sp>
          <p:nvSpPr>
            <p:cNvPr id="61" name="文本框 60"/>
            <p:cNvSpPr txBox="1"/>
            <p:nvPr>
              <p:custDataLst>
                <p:tags r:id="rId37"/>
              </p:custDataLst>
            </p:nvPr>
          </p:nvSpPr>
          <p:spPr>
            <a:xfrm>
              <a:off x="12773" y="8901"/>
              <a:ext cx="346" cy="508"/>
            </a:xfrm>
            <a:prstGeom prst="rect">
              <a:avLst/>
            </a:prstGeom>
            <a:solidFill>
              <a:schemeClr val="bg1"/>
            </a:solidFill>
          </p:spPr>
          <p:txBody>
            <a:bodyPr wrap="square" rtlCol="0" anchor="t">
              <a:noAutofit/>
            </a:bodyPr>
            <a:p>
              <a:endParaRPr lang="en-US" altLang="zh-CN" sz="20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62" name="文本框 61"/>
            <p:cNvSpPr txBox="1"/>
            <p:nvPr>
              <p:custDataLst>
                <p:tags r:id="rId38"/>
              </p:custDataLst>
            </p:nvPr>
          </p:nvSpPr>
          <p:spPr>
            <a:xfrm>
              <a:off x="12729" y="8909"/>
              <a:ext cx="523" cy="508"/>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noAutofit/>
            </a:bodyPr>
            <a:p>
              <a:r>
                <a:rPr lang="en-US" altLang="zh-CN" sz="2000" b="1" i="1"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T</a:t>
              </a:r>
              <a:r>
                <a:rPr lang="en-US" altLang="zh-CN" sz="20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S</a:t>
              </a:r>
              <a:endParaRPr lang="en-US" altLang="zh-CN" sz="20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grpSp>
      <p:pic>
        <p:nvPicPr>
          <p:cNvPr id="29707" name="Picture 11"/>
          <p:cNvPicPr>
            <a:picLocks noChangeAspect="1"/>
          </p:cNvPicPr>
          <p:nvPr>
            <p:custDataLst>
              <p:tags r:id="rId39"/>
            </p:custDataLst>
          </p:nvPr>
        </p:nvPicPr>
        <p:blipFill>
          <a:blip r:embed="rId40"/>
          <a:stretch>
            <a:fillRect/>
          </a:stretch>
        </p:blipFill>
        <p:spPr>
          <a:xfrm>
            <a:off x="8262620" y="5022850"/>
            <a:ext cx="3600450" cy="874713"/>
          </a:xfrm>
          <a:prstGeom prst="rect">
            <a:avLst/>
          </a:prstGeom>
          <a:noFill/>
          <a:ln w="9525">
            <a:noFill/>
          </a:ln>
        </p:spPr>
      </p:pic>
      <p:graphicFrame>
        <p:nvGraphicFramePr>
          <p:cNvPr id="53271" name="Object 23"/>
          <p:cNvGraphicFramePr>
            <a:graphicFrameLocks noChangeAspect="1"/>
          </p:cNvGraphicFramePr>
          <p:nvPr>
            <p:custDataLst>
              <p:tags r:id="rId41"/>
            </p:custDataLst>
          </p:nvPr>
        </p:nvGraphicFramePr>
        <p:xfrm>
          <a:off x="4439920" y="5073650"/>
          <a:ext cx="3873500" cy="571500"/>
        </p:xfrm>
        <a:graphic>
          <a:graphicData uri="http://schemas.openxmlformats.org/presentationml/2006/ole">
            <mc:AlternateContent xmlns:mc="http://schemas.openxmlformats.org/markup-compatibility/2006">
              <mc:Choice xmlns:v="urn:schemas-microsoft-com:vml" Requires="v">
                <p:oleObj spid="_x0000_s3223" name="" r:id="rId42" imgW="1549400" imgH="228600" progId="Equation.DSMT4">
                  <p:embed/>
                </p:oleObj>
              </mc:Choice>
              <mc:Fallback>
                <p:oleObj name="" r:id="rId42" imgW="1549400" imgH="228600" progId="Equation.DSMT4">
                  <p:embed/>
                  <p:pic>
                    <p:nvPicPr>
                      <p:cNvPr id="0" name="图片 3222"/>
                      <p:cNvPicPr/>
                      <p:nvPr/>
                    </p:nvPicPr>
                    <p:blipFill>
                      <a:blip r:embed="rId43"/>
                      <a:stretch>
                        <a:fillRect/>
                      </a:stretch>
                    </p:blipFill>
                    <p:spPr>
                      <a:xfrm>
                        <a:off x="4439920" y="5073650"/>
                        <a:ext cx="3873500" cy="571500"/>
                      </a:xfrm>
                      <a:prstGeom prst="rect">
                        <a:avLst/>
                      </a:prstGeom>
                      <a:solidFill>
                        <a:srgbClr val="FFFFFF"/>
                      </a:solidFill>
                      <a:ln w="38100" cap="flat" cmpd="dbl">
                        <a:solidFill>
                          <a:srgbClr val="800080"/>
                        </a:solidFill>
                        <a:prstDash val="solid"/>
                        <a:miter/>
                        <a:headEnd type="none" w="med" len="med"/>
                        <a:tailEnd type="none" w="med" len="med"/>
                      </a:ln>
                    </p:spPr>
                  </p:pic>
                </p:oleObj>
              </mc:Fallback>
            </mc:AlternateContent>
          </a:graphicData>
        </a:graphic>
      </p:graphicFrame>
      <p:graphicFrame>
        <p:nvGraphicFramePr>
          <p:cNvPr id="63" name="Object 10"/>
          <p:cNvGraphicFramePr>
            <a:graphicFrameLocks noChangeAspect="1"/>
          </p:cNvGraphicFramePr>
          <p:nvPr>
            <p:custDataLst>
              <p:tags r:id="rId44"/>
            </p:custDataLst>
          </p:nvPr>
        </p:nvGraphicFramePr>
        <p:xfrm>
          <a:off x="4395470" y="6024880"/>
          <a:ext cx="4794250" cy="571500"/>
        </p:xfrm>
        <a:graphic>
          <a:graphicData uri="http://schemas.openxmlformats.org/presentationml/2006/ole">
            <mc:AlternateContent xmlns:mc="http://schemas.openxmlformats.org/markup-compatibility/2006">
              <mc:Choice xmlns:v="urn:schemas-microsoft-com:vml" Requires="v">
                <p:oleObj spid="_x0000_s3222" name="" r:id="rId45" imgW="1917700" imgH="228600" progId="Equation.DSMT4">
                  <p:embed/>
                </p:oleObj>
              </mc:Choice>
              <mc:Fallback>
                <p:oleObj name="" r:id="rId45" imgW="1917700" imgH="228600" progId="Equation.DSMT4">
                  <p:embed/>
                  <p:pic>
                    <p:nvPicPr>
                      <p:cNvPr id="0" name="图片 3221"/>
                      <p:cNvPicPr/>
                      <p:nvPr/>
                    </p:nvPicPr>
                    <p:blipFill>
                      <a:blip r:embed="rId46"/>
                      <a:stretch>
                        <a:fillRect/>
                      </a:stretch>
                    </p:blipFill>
                    <p:spPr>
                      <a:xfrm>
                        <a:off x="4395470" y="6024880"/>
                        <a:ext cx="4794250" cy="571500"/>
                      </a:xfrm>
                      <a:prstGeom prst="rect">
                        <a:avLst/>
                      </a:prstGeom>
                      <a:solidFill>
                        <a:srgbClr val="FFFFFF"/>
                      </a:solidFill>
                      <a:ln w="38100" cap="flat" cmpd="dbl">
                        <a:solidFill>
                          <a:srgbClr val="9999FF"/>
                        </a:solidFill>
                        <a:prstDash val="solid"/>
                        <a:miter/>
                        <a:headEnd type="none" w="med" len="med"/>
                        <a:tailEnd type="none" w="med" len="med"/>
                      </a:ln>
                    </p:spPr>
                  </p:pic>
                </p:oleObj>
              </mc:Fallback>
            </mc:AlternateContent>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Rectangle 2"/>
          <p:cNvSpPr>
            <a:spLocks noChangeArrowheads="1"/>
          </p:cNvSpPr>
          <p:nvPr>
            <p:custDataLst>
              <p:tags r:id="rId2"/>
            </p:custDataLst>
          </p:nvPr>
        </p:nvSpPr>
        <p:spPr bwMode="auto">
          <a:xfrm>
            <a:off x="714375" y="568960"/>
            <a:ext cx="2857500" cy="583565"/>
          </a:xfrm>
          <a:prstGeom prst="rect">
            <a:avLst/>
          </a:prstGeom>
          <a:solidFill>
            <a:schemeClr val="bg2">
              <a:lumMod val="10000"/>
              <a:lumOff val="90000"/>
            </a:schemeClr>
          </a:solidFill>
          <a:ln w="9525">
            <a:noFill/>
            <a:miter lim="800000"/>
          </a:ln>
          <a:effectLst>
            <a:outerShdw blurRad="50800" dist="38100" dir="2700000" algn="tl" rotWithShape="0">
              <a:prstClr val="black">
                <a:alpha val="40000"/>
              </a:prstClr>
            </a:outerShdw>
          </a:effectLst>
        </p:spPr>
        <p:txBody>
          <a:bodyPr>
            <a:spAutoFit/>
          </a:bodyPr>
          <a:p>
            <a:pPr marL="0" marR="0" lvl="0" indent="0" algn="l" defTabSz="914400" rtl="0" eaLnBrk="1" fontAlgn="base" latinLnBrk="0" hangingPunct="1">
              <a:lnSpc>
                <a:spcPct val="100000"/>
              </a:lnSpc>
              <a:spcBef>
                <a:spcPct val="0"/>
              </a:spcBef>
              <a:spcAft>
                <a:spcPct val="0"/>
              </a:spcAft>
              <a:buClr>
                <a:srgbClr val="FF0000"/>
              </a:buClr>
              <a:buSzPct val="70000"/>
              <a:buFontTx/>
              <a:buNone/>
              <a:defRPr/>
            </a:pPr>
            <a:r>
              <a:rPr kumimoji="1" lang="en-US" altLang="zh-CN" sz="3200" b="1" i="0" u="sng"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华文楷体" panose="02010600040101010101" charset="-122"/>
              </a:rPr>
              <a:t>2</a:t>
            </a:r>
            <a:r>
              <a:rPr kumimoji="1" lang="en-US" altLang="zh-CN" sz="3200" b="1" i="0" u="none" strike="noStrike" kern="1200" cap="none" spc="0" normalizeH="0" baseline="0" noProof="0" dirty="0">
                <a:ln>
                  <a:noFill/>
                </a:ln>
                <a:solidFill>
                  <a:srgbClr val="990099"/>
                </a:solidFill>
                <a:effectLst/>
                <a:uLnTx/>
                <a:uFillTx/>
                <a:latin typeface="华文楷体" panose="02010600040101010101" charset="-122"/>
                <a:ea typeface="华文楷体" panose="02010600040101010101" charset="-122"/>
                <a:cs typeface="华文楷体" panose="02010600040101010101" charset="-122"/>
              </a:rPr>
              <a:t> </a:t>
            </a:r>
            <a:r>
              <a:rPr lang="zh-CN" altLang="en-US" sz="2800" b="1" noProof="0" dirty="0">
                <a:ln>
                  <a:noFill/>
                </a:ln>
                <a:solidFill>
                  <a:srgbClr val="0000CC"/>
                </a:solidFill>
                <a:effectLst/>
                <a:uLnTx/>
                <a:uFillTx/>
                <a:latin typeface="华文楷体" panose="02010600040101010101" charset="-122"/>
                <a:ea typeface="华文楷体" panose="02010600040101010101" charset="-122"/>
                <a:cs typeface="华文楷体" panose="02010600040101010101" charset="-122"/>
                <a:sym typeface="+mn-ea"/>
              </a:rPr>
              <a:t>余弦滚降</a:t>
            </a:r>
            <a:r>
              <a:rPr lang="zh-CN" altLang="en-US" sz="2800" b="1" noProof="0" dirty="0">
                <a:ln>
                  <a:noFill/>
                </a:ln>
                <a:solidFill>
                  <a:srgbClr val="0000CC"/>
                </a:solidFill>
                <a:effectLst/>
                <a:uLnTx/>
                <a:uFillTx/>
                <a:latin typeface="华文楷体" panose="02010600040101010101" charset="-122"/>
                <a:ea typeface="华文楷体" panose="02010600040101010101" charset="-122"/>
                <a:cs typeface="华文楷体" panose="02010600040101010101" charset="-122"/>
                <a:sym typeface="+mn-ea"/>
              </a:rPr>
              <a:t>特性</a:t>
            </a:r>
            <a:endParaRPr lang="zh-CN" altLang="en-US" sz="2800" b="1" i="0" u="none"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华文楷体" panose="02010600040101010101" charset="-122"/>
            </a:endParaRPr>
          </a:p>
        </p:txBody>
      </p:sp>
      <p:pic>
        <p:nvPicPr>
          <p:cNvPr id="11" name="Picture 13"/>
          <p:cNvPicPr>
            <a:picLocks noChangeAspect="1"/>
          </p:cNvPicPr>
          <p:nvPr>
            <p:custDataLst>
              <p:tags r:id="rId3"/>
            </p:custDataLst>
          </p:nvPr>
        </p:nvPicPr>
        <p:blipFill>
          <a:blip r:embed="rId4"/>
          <a:srcRect t="41135" b="685"/>
          <a:stretch>
            <a:fillRect/>
          </a:stretch>
        </p:blipFill>
        <p:spPr>
          <a:xfrm>
            <a:off x="1846898" y="1414780"/>
            <a:ext cx="9105900" cy="2058988"/>
          </a:xfrm>
          <a:prstGeom prst="rect">
            <a:avLst/>
          </a:prstGeom>
          <a:noFill/>
          <a:ln w="9525">
            <a:noFill/>
          </a:ln>
        </p:spPr>
      </p:pic>
      <p:sp>
        <p:nvSpPr>
          <p:cNvPr id="104478" name="AutoShape 30"/>
          <p:cNvSpPr/>
          <p:nvPr>
            <p:custDataLst>
              <p:tags r:id="rId5"/>
            </p:custDataLst>
          </p:nvPr>
        </p:nvSpPr>
        <p:spPr>
          <a:xfrm>
            <a:off x="2839085" y="3488055"/>
            <a:ext cx="2857500" cy="571500"/>
          </a:xfrm>
          <a:prstGeom prst="wedgeRoundRectCallout">
            <a:avLst>
              <a:gd name="adj1" fmla="val -7403"/>
              <a:gd name="adj2" fmla="val -79218"/>
              <a:gd name="adj3" fmla="val 16667"/>
            </a:avLst>
          </a:prstGeom>
          <a:noFill/>
          <a:ln w="3175" cap="flat" cmpd="sng">
            <a:solidFill>
              <a:srgbClr val="0033CC"/>
            </a:solidFill>
            <a:prstDash val="dash"/>
            <a:miter/>
            <a:headEnd type="none" w="med" len="med"/>
            <a:tailEnd type="none" w="med" len="med"/>
          </a:ln>
        </p:spPr>
        <p:txBody>
          <a:bodyPr/>
          <a:p>
            <a:pPr eaLnBrk="1" hangingPunct="1"/>
            <a:r>
              <a:rPr lang="en-US" altLang="zh-CN" sz="2800" b="1" i="1" dirty="0">
                <a:solidFill>
                  <a:srgbClr val="FF0000"/>
                </a:solidFill>
                <a:latin typeface="华文楷体" panose="02010600040101010101" charset="-122"/>
                <a:ea typeface="华文楷体" panose="02010600040101010101" charset="-122"/>
                <a:cs typeface="华文楷体" panose="02010600040101010101" charset="-122"/>
              </a:rPr>
              <a:t>f</a:t>
            </a:r>
            <a:r>
              <a:rPr lang="en-US" altLang="zh-CN" sz="2800" b="1" baseline="-25000" dirty="0">
                <a:solidFill>
                  <a:srgbClr val="FF0000"/>
                </a:solidFill>
                <a:latin typeface="华文楷体" panose="02010600040101010101" charset="-122"/>
                <a:ea typeface="华文楷体" panose="02010600040101010101" charset="-122"/>
                <a:cs typeface="华文楷体" panose="02010600040101010101" charset="-122"/>
              </a:rPr>
              <a:t>N </a:t>
            </a:r>
            <a:r>
              <a:rPr lang="en-US" altLang="zh-CN" sz="2400" b="1" i="1" dirty="0">
                <a:solidFill>
                  <a:srgbClr val="FF0000"/>
                </a:solidFill>
                <a:latin typeface="华文楷体" panose="02010600040101010101" charset="-122"/>
                <a:ea typeface="华文楷体" panose="02010600040101010101" charset="-122"/>
                <a:cs typeface="华文楷体" panose="02010600040101010101" charset="-122"/>
              </a:rPr>
              <a:t>—</a:t>
            </a:r>
            <a:r>
              <a:rPr lang="zh-CN" altLang="en-US" sz="2400" b="1" dirty="0">
                <a:latin typeface="华文楷体" panose="02010600040101010101" charset="-122"/>
                <a:ea typeface="华文楷体" panose="02010600040101010101" charset="-122"/>
                <a:cs typeface="华文楷体" panose="02010600040101010101" charset="-122"/>
              </a:rPr>
              <a:t>奈奎斯特带宽</a:t>
            </a:r>
            <a:endParaRPr lang="zh-CN" altLang="en-US" sz="2400" b="1" dirty="0">
              <a:latin typeface="华文楷体" panose="02010600040101010101" charset="-122"/>
              <a:ea typeface="华文楷体" panose="02010600040101010101" charset="-122"/>
              <a:cs typeface="华文楷体" panose="02010600040101010101" charset="-122"/>
            </a:endParaRPr>
          </a:p>
        </p:txBody>
      </p:sp>
      <p:sp>
        <p:nvSpPr>
          <p:cNvPr id="104480" name="AutoShape 32"/>
          <p:cNvSpPr/>
          <p:nvPr>
            <p:custDataLst>
              <p:tags r:id="rId6"/>
            </p:custDataLst>
          </p:nvPr>
        </p:nvSpPr>
        <p:spPr>
          <a:xfrm>
            <a:off x="4196398" y="911543"/>
            <a:ext cx="3214687" cy="504825"/>
          </a:xfrm>
          <a:prstGeom prst="wedgeRoundRectCallout">
            <a:avLst>
              <a:gd name="adj1" fmla="val -41097"/>
              <a:gd name="adj2" fmla="val 110713"/>
              <a:gd name="adj3" fmla="val 16667"/>
            </a:avLst>
          </a:prstGeom>
          <a:noFill/>
          <a:ln w="9525" cap="flat" cmpd="sng">
            <a:solidFill>
              <a:srgbClr val="0033CC"/>
            </a:solidFill>
            <a:prstDash val="dash"/>
            <a:miter/>
            <a:headEnd type="none" w="med" len="med"/>
            <a:tailEnd type="none" w="med" len="med"/>
          </a:ln>
        </p:spPr>
        <p:txBody>
          <a:bodyPr/>
          <a:p>
            <a:pPr eaLnBrk="1" hangingPunct="1"/>
            <a:r>
              <a:rPr lang="en-US" altLang="zh-CN" sz="2800" b="1" i="1" dirty="0">
                <a:solidFill>
                  <a:srgbClr val="0000CC"/>
                </a:solidFill>
                <a:latin typeface="华文楷体" panose="02010600040101010101" charset="-122"/>
                <a:ea typeface="华文楷体" panose="02010600040101010101" charset="-122"/>
                <a:cs typeface="华文楷体" panose="02010600040101010101" charset="-122"/>
              </a:rPr>
              <a:t>f</a:t>
            </a:r>
            <a:r>
              <a:rPr lang="en-US" altLang="zh-CN" sz="2800" b="1" baseline="-25000" dirty="0">
                <a:solidFill>
                  <a:srgbClr val="0000CC"/>
                </a:solidFill>
                <a:latin typeface="华文楷体" panose="02010600040101010101" charset="-122"/>
                <a:ea typeface="华文楷体" panose="02010600040101010101" charset="-122"/>
                <a:cs typeface="华文楷体" panose="02010600040101010101" charset="-122"/>
                <a:sym typeface="Symbol" panose="05050102010706020507" pitchFamily="18" charset="2"/>
              </a:rPr>
              <a:t> </a:t>
            </a:r>
            <a:r>
              <a:rPr lang="en-US" altLang="zh-CN" sz="2400" b="1" i="1" dirty="0">
                <a:solidFill>
                  <a:srgbClr val="0000CC"/>
                </a:solidFill>
                <a:latin typeface="华文楷体" panose="02010600040101010101" charset="-122"/>
                <a:ea typeface="华文楷体" panose="02010600040101010101" charset="-122"/>
                <a:cs typeface="华文楷体" panose="02010600040101010101" charset="-122"/>
              </a:rPr>
              <a:t>— </a:t>
            </a:r>
            <a:r>
              <a:rPr lang="zh-CN" altLang="en-US" sz="2400" b="1" dirty="0">
                <a:latin typeface="华文楷体" panose="02010600040101010101" charset="-122"/>
                <a:ea typeface="华文楷体" panose="02010600040101010101" charset="-122"/>
                <a:cs typeface="华文楷体" panose="02010600040101010101" charset="-122"/>
              </a:rPr>
              <a:t>超出 </a:t>
            </a:r>
            <a:r>
              <a:rPr lang="en-US" altLang="zh-CN" sz="2400" b="1" i="1" dirty="0">
                <a:solidFill>
                  <a:srgbClr val="FF0000"/>
                </a:solidFill>
                <a:latin typeface="华文楷体" panose="02010600040101010101" charset="-122"/>
                <a:ea typeface="华文楷体" panose="02010600040101010101" charset="-122"/>
                <a:cs typeface="华文楷体" panose="02010600040101010101" charset="-122"/>
              </a:rPr>
              <a:t>f</a:t>
            </a:r>
            <a:r>
              <a:rPr lang="en-US" altLang="zh-CN" sz="2400" b="1" baseline="-25000" dirty="0">
                <a:solidFill>
                  <a:srgbClr val="FF0000"/>
                </a:solidFill>
                <a:latin typeface="华文楷体" panose="02010600040101010101" charset="-122"/>
                <a:ea typeface="华文楷体" panose="02010600040101010101" charset="-122"/>
                <a:cs typeface="华文楷体" panose="02010600040101010101" charset="-122"/>
              </a:rPr>
              <a:t>N</a:t>
            </a:r>
            <a:r>
              <a:rPr lang="zh-CN" altLang="en-US" sz="2400" b="1" dirty="0">
                <a:latin typeface="华文楷体" panose="02010600040101010101" charset="-122"/>
                <a:ea typeface="华文楷体" panose="02010600040101010101" charset="-122"/>
                <a:cs typeface="华文楷体" panose="02010600040101010101" charset="-122"/>
              </a:rPr>
              <a:t>的扩展量</a:t>
            </a:r>
            <a:endParaRPr lang="zh-CN" altLang="en-US" sz="2400" b="1" dirty="0">
              <a:latin typeface="华文楷体" panose="02010600040101010101" charset="-122"/>
              <a:ea typeface="华文楷体" panose="02010600040101010101" charset="-122"/>
              <a:cs typeface="华文楷体" panose="02010600040101010101" charset="-122"/>
            </a:endParaRPr>
          </a:p>
          <a:p>
            <a:pPr eaLnBrk="1" hangingPunct="1"/>
            <a:endParaRPr lang="zh-CN" altLang="en-US" sz="2400" b="1" dirty="0">
              <a:solidFill>
                <a:srgbClr val="0000CC"/>
              </a:solidFill>
              <a:latin typeface="华文楷体" panose="02010600040101010101" charset="-122"/>
              <a:ea typeface="华文楷体" panose="02010600040101010101" charset="-122"/>
              <a:cs typeface="华文楷体" panose="02010600040101010101" charset="-122"/>
            </a:endParaRPr>
          </a:p>
        </p:txBody>
      </p:sp>
      <p:pic>
        <p:nvPicPr>
          <p:cNvPr id="16" name="Picture 14"/>
          <p:cNvPicPr>
            <a:picLocks noChangeAspect="1"/>
          </p:cNvPicPr>
          <p:nvPr>
            <p:custDataLst>
              <p:tags r:id="rId7"/>
            </p:custDataLst>
          </p:nvPr>
        </p:nvPicPr>
        <p:blipFill>
          <a:blip r:embed="rId8"/>
          <a:srcRect b="51111"/>
          <a:stretch>
            <a:fillRect/>
          </a:stretch>
        </p:blipFill>
        <p:spPr>
          <a:xfrm>
            <a:off x="5954395" y="4815840"/>
            <a:ext cx="4543425" cy="977900"/>
          </a:xfrm>
          <a:prstGeom prst="rect">
            <a:avLst/>
          </a:prstGeom>
          <a:noFill/>
          <a:ln w="9525">
            <a:noFill/>
          </a:ln>
        </p:spPr>
      </p:pic>
      <p:graphicFrame>
        <p:nvGraphicFramePr>
          <p:cNvPr id="197637" name="Object 14"/>
          <p:cNvGraphicFramePr>
            <a:graphicFrameLocks noChangeAspect="1"/>
          </p:cNvGraphicFramePr>
          <p:nvPr>
            <p:custDataLst>
              <p:tags r:id="rId9"/>
            </p:custDataLst>
          </p:nvPr>
        </p:nvGraphicFramePr>
        <p:xfrm>
          <a:off x="405765" y="4654868"/>
          <a:ext cx="2214563" cy="954087"/>
        </p:xfrm>
        <a:graphic>
          <a:graphicData uri="http://schemas.openxmlformats.org/presentationml/2006/ole">
            <mc:AlternateContent xmlns:mc="http://schemas.openxmlformats.org/markup-compatibility/2006">
              <mc:Choice xmlns:v="urn:schemas-microsoft-com:vml" Requires="v">
                <p:oleObj spid="_x0000_s3229" name="" r:id="rId10" imgW="1002665" imgH="431800" progId="Equation.3">
                  <p:embed/>
                </p:oleObj>
              </mc:Choice>
              <mc:Fallback>
                <p:oleObj name="" r:id="rId10" imgW="1002665" imgH="431800" progId="Equation.3">
                  <p:embed/>
                  <p:pic>
                    <p:nvPicPr>
                      <p:cNvPr id="0" name="图片 3228"/>
                      <p:cNvPicPr/>
                      <p:nvPr/>
                    </p:nvPicPr>
                    <p:blipFill>
                      <a:blip r:embed="rId11"/>
                      <a:stretch>
                        <a:fillRect/>
                      </a:stretch>
                    </p:blipFill>
                    <p:spPr>
                      <a:xfrm>
                        <a:off x="405765" y="4654868"/>
                        <a:ext cx="2214563" cy="954087"/>
                      </a:xfrm>
                      <a:prstGeom prst="rect">
                        <a:avLst/>
                      </a:prstGeom>
                      <a:noFill/>
                      <a:ln w="38100">
                        <a:noFill/>
                        <a:miter/>
                      </a:ln>
                    </p:spPr>
                  </p:pic>
                </p:oleObj>
              </mc:Fallback>
            </mc:AlternateContent>
          </a:graphicData>
        </a:graphic>
      </p:graphicFrame>
      <p:graphicFrame>
        <p:nvGraphicFramePr>
          <p:cNvPr id="59405" name="Object 13"/>
          <p:cNvGraphicFramePr>
            <a:graphicFrameLocks noChangeAspect="1"/>
          </p:cNvGraphicFramePr>
          <p:nvPr>
            <p:custDataLst>
              <p:tags r:id="rId12"/>
            </p:custDataLst>
          </p:nvPr>
        </p:nvGraphicFramePr>
        <p:xfrm>
          <a:off x="6057583" y="3998278"/>
          <a:ext cx="3357562" cy="525462"/>
        </p:xfrm>
        <a:graphic>
          <a:graphicData uri="http://schemas.openxmlformats.org/presentationml/2006/ole">
            <mc:AlternateContent xmlns:mc="http://schemas.openxmlformats.org/markup-compatibility/2006">
              <mc:Choice xmlns:v="urn:schemas-microsoft-com:vml" Requires="v">
                <p:oleObj spid="_x0000_s3230" name="" r:id="rId13" imgW="1460500" imgH="228600" progId="Equation.DSMT4">
                  <p:embed/>
                </p:oleObj>
              </mc:Choice>
              <mc:Fallback>
                <p:oleObj name="" r:id="rId13" imgW="1460500" imgH="228600" progId="Equation.DSMT4">
                  <p:embed/>
                  <p:pic>
                    <p:nvPicPr>
                      <p:cNvPr id="0" name="图片 3229"/>
                      <p:cNvPicPr/>
                      <p:nvPr/>
                    </p:nvPicPr>
                    <p:blipFill>
                      <a:blip r:embed="rId14"/>
                      <a:stretch>
                        <a:fillRect/>
                      </a:stretch>
                    </p:blipFill>
                    <p:spPr>
                      <a:xfrm>
                        <a:off x="6057583" y="3998278"/>
                        <a:ext cx="3357562" cy="525462"/>
                      </a:xfrm>
                      <a:prstGeom prst="rect">
                        <a:avLst/>
                      </a:prstGeom>
                      <a:noFill/>
                      <a:ln w="38100" cap="flat" cmpd="dbl">
                        <a:solidFill>
                          <a:srgbClr val="9999FF"/>
                        </a:solidFill>
                        <a:prstDash val="solid"/>
                        <a:miter/>
                        <a:headEnd type="none" w="med" len="med"/>
                        <a:tailEnd type="none" w="med" len="med"/>
                      </a:ln>
                    </p:spPr>
                  </p:pic>
                </p:oleObj>
              </mc:Fallback>
            </mc:AlternateContent>
          </a:graphicData>
        </a:graphic>
      </p:graphicFrame>
      <p:graphicFrame>
        <p:nvGraphicFramePr>
          <p:cNvPr id="59406" name="Object 7"/>
          <p:cNvGraphicFramePr>
            <a:graphicFrameLocks noChangeAspect="1"/>
          </p:cNvGraphicFramePr>
          <p:nvPr>
            <p:custDataLst>
              <p:tags r:id="rId15"/>
            </p:custDataLst>
          </p:nvPr>
        </p:nvGraphicFramePr>
        <p:xfrm>
          <a:off x="3101658" y="4710430"/>
          <a:ext cx="2197100" cy="1031875"/>
        </p:xfrm>
        <a:graphic>
          <a:graphicData uri="http://schemas.openxmlformats.org/presentationml/2006/ole">
            <mc:AlternateContent xmlns:mc="http://schemas.openxmlformats.org/markup-compatibility/2006">
              <mc:Choice xmlns:v="urn:schemas-microsoft-com:vml" Requires="v">
                <p:oleObj spid="_x0000_s3228" name="" r:id="rId16" imgW="1054100" imgH="495300" progId="Equation.DSMT4">
                  <p:embed/>
                </p:oleObj>
              </mc:Choice>
              <mc:Fallback>
                <p:oleObj name="" r:id="rId16" imgW="1054100" imgH="495300" progId="Equation.DSMT4">
                  <p:embed/>
                  <p:pic>
                    <p:nvPicPr>
                      <p:cNvPr id="0" name="图片 3227"/>
                      <p:cNvPicPr/>
                      <p:nvPr/>
                    </p:nvPicPr>
                    <p:blipFill>
                      <a:blip r:embed="rId17"/>
                      <a:stretch>
                        <a:fillRect/>
                      </a:stretch>
                    </p:blipFill>
                    <p:spPr>
                      <a:xfrm>
                        <a:off x="3101658" y="4710430"/>
                        <a:ext cx="2197100" cy="1031875"/>
                      </a:xfrm>
                      <a:prstGeom prst="rect">
                        <a:avLst/>
                      </a:prstGeom>
                      <a:noFill/>
                      <a:ln w="38100">
                        <a:noFill/>
                        <a:miter/>
                      </a:ln>
                    </p:spPr>
                  </p:pic>
                </p:oleObj>
              </mc:Fallback>
            </mc:AlternateContent>
          </a:graphicData>
        </a:graphic>
      </p:graphicFrame>
      <p:sp>
        <p:nvSpPr>
          <p:cNvPr id="62474" name="Freeform 12"/>
          <p:cNvSpPr>
            <a:spLocks noEditPoints="1"/>
          </p:cNvSpPr>
          <p:nvPr>
            <p:custDataLst>
              <p:tags r:id="rId18"/>
            </p:custDataLst>
          </p:nvPr>
        </p:nvSpPr>
        <p:spPr>
          <a:xfrm>
            <a:off x="9272270" y="3998278"/>
            <a:ext cx="496888" cy="428625"/>
          </a:xfrm>
          <a:custGeom>
            <a:avLst/>
            <a:gdLst>
              <a:gd name="txL" fmla="*/ 0 w 728"/>
              <a:gd name="txT" fmla="*/ 0 h 604"/>
              <a:gd name="txR" fmla="*/ 728 w 728"/>
              <a:gd name="txB" fmla="*/ 604 h 604"/>
            </a:gdLst>
            <a:ahLst/>
            <a:cxnLst>
              <a:cxn ang="0">
                <a:pos x="0" y="2147483646"/>
              </a:cxn>
              <a:cxn ang="0">
                <a:pos x="2147483646" y="2147483646"/>
              </a:cxn>
              <a:cxn ang="0">
                <a:pos x="0"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728" h="604">
                <a:moveTo>
                  <a:pt x="0" y="590"/>
                </a:moveTo>
                <a:lnTo>
                  <a:pt x="0" y="590"/>
                </a:lnTo>
                <a:lnTo>
                  <a:pt x="12" y="574"/>
                </a:lnTo>
                <a:lnTo>
                  <a:pt x="6" y="582"/>
                </a:lnTo>
                <a:lnTo>
                  <a:pt x="0" y="590"/>
                </a:lnTo>
                <a:close/>
                <a:moveTo>
                  <a:pt x="718" y="0"/>
                </a:moveTo>
                <a:lnTo>
                  <a:pt x="606" y="240"/>
                </a:lnTo>
                <a:lnTo>
                  <a:pt x="656" y="216"/>
                </a:lnTo>
                <a:lnTo>
                  <a:pt x="642" y="272"/>
                </a:lnTo>
                <a:lnTo>
                  <a:pt x="626" y="324"/>
                </a:lnTo>
                <a:lnTo>
                  <a:pt x="608" y="374"/>
                </a:lnTo>
                <a:lnTo>
                  <a:pt x="588" y="418"/>
                </a:lnTo>
                <a:lnTo>
                  <a:pt x="566" y="460"/>
                </a:lnTo>
                <a:lnTo>
                  <a:pt x="542" y="494"/>
                </a:lnTo>
                <a:lnTo>
                  <a:pt x="518" y="524"/>
                </a:lnTo>
                <a:lnTo>
                  <a:pt x="504" y="536"/>
                </a:lnTo>
                <a:lnTo>
                  <a:pt x="492" y="548"/>
                </a:lnTo>
                <a:lnTo>
                  <a:pt x="470" y="562"/>
                </a:lnTo>
                <a:lnTo>
                  <a:pt x="446" y="576"/>
                </a:lnTo>
                <a:lnTo>
                  <a:pt x="420" y="586"/>
                </a:lnTo>
                <a:lnTo>
                  <a:pt x="392" y="594"/>
                </a:lnTo>
                <a:lnTo>
                  <a:pt x="364" y="598"/>
                </a:lnTo>
                <a:lnTo>
                  <a:pt x="336" y="598"/>
                </a:lnTo>
                <a:lnTo>
                  <a:pt x="306" y="592"/>
                </a:lnTo>
                <a:lnTo>
                  <a:pt x="292" y="588"/>
                </a:lnTo>
                <a:lnTo>
                  <a:pt x="278" y="582"/>
                </a:lnTo>
                <a:lnTo>
                  <a:pt x="238" y="566"/>
                </a:lnTo>
                <a:lnTo>
                  <a:pt x="198" y="554"/>
                </a:lnTo>
                <a:lnTo>
                  <a:pt x="160" y="544"/>
                </a:lnTo>
                <a:lnTo>
                  <a:pt x="124" y="540"/>
                </a:lnTo>
                <a:lnTo>
                  <a:pt x="108" y="540"/>
                </a:lnTo>
                <a:lnTo>
                  <a:pt x="92" y="540"/>
                </a:lnTo>
                <a:lnTo>
                  <a:pt x="76" y="542"/>
                </a:lnTo>
                <a:lnTo>
                  <a:pt x="62" y="546"/>
                </a:lnTo>
                <a:lnTo>
                  <a:pt x="48" y="550"/>
                </a:lnTo>
                <a:lnTo>
                  <a:pt x="36" y="556"/>
                </a:lnTo>
                <a:lnTo>
                  <a:pt x="24" y="564"/>
                </a:lnTo>
                <a:lnTo>
                  <a:pt x="12" y="574"/>
                </a:lnTo>
                <a:lnTo>
                  <a:pt x="28" y="562"/>
                </a:lnTo>
                <a:lnTo>
                  <a:pt x="46" y="552"/>
                </a:lnTo>
                <a:lnTo>
                  <a:pt x="58" y="548"/>
                </a:lnTo>
                <a:lnTo>
                  <a:pt x="70" y="544"/>
                </a:lnTo>
                <a:lnTo>
                  <a:pt x="84" y="542"/>
                </a:lnTo>
                <a:lnTo>
                  <a:pt x="100" y="542"/>
                </a:lnTo>
                <a:lnTo>
                  <a:pt x="116" y="542"/>
                </a:lnTo>
                <a:lnTo>
                  <a:pt x="134" y="544"/>
                </a:lnTo>
                <a:lnTo>
                  <a:pt x="154" y="546"/>
                </a:lnTo>
                <a:lnTo>
                  <a:pt x="174" y="550"/>
                </a:lnTo>
                <a:lnTo>
                  <a:pt x="198" y="556"/>
                </a:lnTo>
                <a:lnTo>
                  <a:pt x="222" y="564"/>
                </a:lnTo>
                <a:lnTo>
                  <a:pt x="248" y="574"/>
                </a:lnTo>
                <a:lnTo>
                  <a:pt x="276" y="586"/>
                </a:lnTo>
                <a:lnTo>
                  <a:pt x="298" y="594"/>
                </a:lnTo>
                <a:lnTo>
                  <a:pt x="322" y="600"/>
                </a:lnTo>
                <a:lnTo>
                  <a:pt x="348" y="604"/>
                </a:lnTo>
                <a:lnTo>
                  <a:pt x="376" y="604"/>
                </a:lnTo>
                <a:lnTo>
                  <a:pt x="404" y="600"/>
                </a:lnTo>
                <a:lnTo>
                  <a:pt x="434" y="592"/>
                </a:lnTo>
                <a:lnTo>
                  <a:pt x="466" y="578"/>
                </a:lnTo>
                <a:lnTo>
                  <a:pt x="498" y="560"/>
                </a:lnTo>
                <a:lnTo>
                  <a:pt x="512" y="550"/>
                </a:lnTo>
                <a:lnTo>
                  <a:pt x="526" y="538"/>
                </a:lnTo>
                <a:lnTo>
                  <a:pt x="540" y="524"/>
                </a:lnTo>
                <a:lnTo>
                  <a:pt x="554" y="508"/>
                </a:lnTo>
                <a:lnTo>
                  <a:pt x="580" y="472"/>
                </a:lnTo>
                <a:lnTo>
                  <a:pt x="606" y="430"/>
                </a:lnTo>
                <a:lnTo>
                  <a:pt x="630" y="384"/>
                </a:lnTo>
                <a:lnTo>
                  <a:pt x="650" y="332"/>
                </a:lnTo>
                <a:lnTo>
                  <a:pt x="668" y="278"/>
                </a:lnTo>
                <a:lnTo>
                  <a:pt x="684" y="220"/>
                </a:lnTo>
                <a:lnTo>
                  <a:pt x="728" y="326"/>
                </a:lnTo>
                <a:lnTo>
                  <a:pt x="718" y="0"/>
                </a:lnTo>
                <a:close/>
              </a:path>
            </a:pathLst>
          </a:custGeom>
          <a:solidFill>
            <a:srgbClr val="FF0000">
              <a:alpha val="100000"/>
            </a:srgbClr>
          </a:solidFill>
          <a:ln w="9525">
            <a:noFill/>
          </a:ln>
        </p:spPr>
        <p:txBody>
          <a:bodyPr/>
          <a:p>
            <a:endParaRPr lang="zh-CN" altLang="en-US"/>
          </a:p>
        </p:txBody>
      </p:sp>
      <p:sp>
        <p:nvSpPr>
          <p:cNvPr id="62475" name="Freeform 12"/>
          <p:cNvSpPr>
            <a:spLocks noEditPoints="1"/>
          </p:cNvSpPr>
          <p:nvPr>
            <p:custDataLst>
              <p:tags r:id="rId19"/>
            </p:custDataLst>
          </p:nvPr>
        </p:nvSpPr>
        <p:spPr>
          <a:xfrm flipV="1">
            <a:off x="9775508" y="4998403"/>
            <a:ext cx="496887" cy="500062"/>
          </a:xfrm>
          <a:custGeom>
            <a:avLst/>
            <a:gdLst>
              <a:gd name="txL" fmla="*/ 0 w 728"/>
              <a:gd name="txT" fmla="*/ 0 h 604"/>
              <a:gd name="txR" fmla="*/ 728 w 728"/>
              <a:gd name="txB" fmla="*/ 604 h 604"/>
            </a:gdLst>
            <a:ahLst/>
            <a:cxnLst>
              <a:cxn ang="0">
                <a:pos x="0" y="2147483646"/>
              </a:cxn>
              <a:cxn ang="0">
                <a:pos x="2147483646" y="2147483646"/>
              </a:cxn>
              <a:cxn ang="0">
                <a:pos x="0"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728" h="604">
                <a:moveTo>
                  <a:pt x="0" y="590"/>
                </a:moveTo>
                <a:lnTo>
                  <a:pt x="0" y="590"/>
                </a:lnTo>
                <a:lnTo>
                  <a:pt x="12" y="574"/>
                </a:lnTo>
                <a:lnTo>
                  <a:pt x="6" y="582"/>
                </a:lnTo>
                <a:lnTo>
                  <a:pt x="0" y="590"/>
                </a:lnTo>
                <a:close/>
                <a:moveTo>
                  <a:pt x="718" y="0"/>
                </a:moveTo>
                <a:lnTo>
                  <a:pt x="606" y="240"/>
                </a:lnTo>
                <a:lnTo>
                  <a:pt x="656" y="216"/>
                </a:lnTo>
                <a:lnTo>
                  <a:pt x="642" y="272"/>
                </a:lnTo>
                <a:lnTo>
                  <a:pt x="626" y="324"/>
                </a:lnTo>
                <a:lnTo>
                  <a:pt x="608" y="374"/>
                </a:lnTo>
                <a:lnTo>
                  <a:pt x="588" y="418"/>
                </a:lnTo>
                <a:lnTo>
                  <a:pt x="566" y="460"/>
                </a:lnTo>
                <a:lnTo>
                  <a:pt x="542" y="494"/>
                </a:lnTo>
                <a:lnTo>
                  <a:pt x="518" y="524"/>
                </a:lnTo>
                <a:lnTo>
                  <a:pt x="504" y="536"/>
                </a:lnTo>
                <a:lnTo>
                  <a:pt x="492" y="548"/>
                </a:lnTo>
                <a:lnTo>
                  <a:pt x="470" y="562"/>
                </a:lnTo>
                <a:lnTo>
                  <a:pt x="446" y="576"/>
                </a:lnTo>
                <a:lnTo>
                  <a:pt x="420" y="586"/>
                </a:lnTo>
                <a:lnTo>
                  <a:pt x="392" y="594"/>
                </a:lnTo>
                <a:lnTo>
                  <a:pt x="364" y="598"/>
                </a:lnTo>
                <a:lnTo>
                  <a:pt x="336" y="598"/>
                </a:lnTo>
                <a:lnTo>
                  <a:pt x="306" y="592"/>
                </a:lnTo>
                <a:lnTo>
                  <a:pt x="292" y="588"/>
                </a:lnTo>
                <a:lnTo>
                  <a:pt x="278" y="582"/>
                </a:lnTo>
                <a:lnTo>
                  <a:pt x="238" y="566"/>
                </a:lnTo>
                <a:lnTo>
                  <a:pt x="198" y="554"/>
                </a:lnTo>
                <a:lnTo>
                  <a:pt x="160" y="544"/>
                </a:lnTo>
                <a:lnTo>
                  <a:pt x="124" y="540"/>
                </a:lnTo>
                <a:lnTo>
                  <a:pt x="108" y="540"/>
                </a:lnTo>
                <a:lnTo>
                  <a:pt x="92" y="540"/>
                </a:lnTo>
                <a:lnTo>
                  <a:pt x="76" y="542"/>
                </a:lnTo>
                <a:lnTo>
                  <a:pt x="62" y="546"/>
                </a:lnTo>
                <a:lnTo>
                  <a:pt x="48" y="550"/>
                </a:lnTo>
                <a:lnTo>
                  <a:pt x="36" y="556"/>
                </a:lnTo>
                <a:lnTo>
                  <a:pt x="24" y="564"/>
                </a:lnTo>
                <a:lnTo>
                  <a:pt x="12" y="574"/>
                </a:lnTo>
                <a:lnTo>
                  <a:pt x="28" y="562"/>
                </a:lnTo>
                <a:lnTo>
                  <a:pt x="46" y="552"/>
                </a:lnTo>
                <a:lnTo>
                  <a:pt x="58" y="548"/>
                </a:lnTo>
                <a:lnTo>
                  <a:pt x="70" y="544"/>
                </a:lnTo>
                <a:lnTo>
                  <a:pt x="84" y="542"/>
                </a:lnTo>
                <a:lnTo>
                  <a:pt x="100" y="542"/>
                </a:lnTo>
                <a:lnTo>
                  <a:pt x="116" y="542"/>
                </a:lnTo>
                <a:lnTo>
                  <a:pt x="134" y="544"/>
                </a:lnTo>
                <a:lnTo>
                  <a:pt x="154" y="546"/>
                </a:lnTo>
                <a:lnTo>
                  <a:pt x="174" y="550"/>
                </a:lnTo>
                <a:lnTo>
                  <a:pt x="198" y="556"/>
                </a:lnTo>
                <a:lnTo>
                  <a:pt x="222" y="564"/>
                </a:lnTo>
                <a:lnTo>
                  <a:pt x="248" y="574"/>
                </a:lnTo>
                <a:lnTo>
                  <a:pt x="276" y="586"/>
                </a:lnTo>
                <a:lnTo>
                  <a:pt x="298" y="594"/>
                </a:lnTo>
                <a:lnTo>
                  <a:pt x="322" y="600"/>
                </a:lnTo>
                <a:lnTo>
                  <a:pt x="348" y="604"/>
                </a:lnTo>
                <a:lnTo>
                  <a:pt x="376" y="604"/>
                </a:lnTo>
                <a:lnTo>
                  <a:pt x="404" y="600"/>
                </a:lnTo>
                <a:lnTo>
                  <a:pt x="434" y="592"/>
                </a:lnTo>
                <a:lnTo>
                  <a:pt x="466" y="578"/>
                </a:lnTo>
                <a:lnTo>
                  <a:pt x="498" y="560"/>
                </a:lnTo>
                <a:lnTo>
                  <a:pt x="512" y="550"/>
                </a:lnTo>
                <a:lnTo>
                  <a:pt x="526" y="538"/>
                </a:lnTo>
                <a:lnTo>
                  <a:pt x="540" y="524"/>
                </a:lnTo>
                <a:lnTo>
                  <a:pt x="554" y="508"/>
                </a:lnTo>
                <a:lnTo>
                  <a:pt x="580" y="472"/>
                </a:lnTo>
                <a:lnTo>
                  <a:pt x="606" y="430"/>
                </a:lnTo>
                <a:lnTo>
                  <a:pt x="630" y="384"/>
                </a:lnTo>
                <a:lnTo>
                  <a:pt x="650" y="332"/>
                </a:lnTo>
                <a:lnTo>
                  <a:pt x="668" y="278"/>
                </a:lnTo>
                <a:lnTo>
                  <a:pt x="684" y="220"/>
                </a:lnTo>
                <a:lnTo>
                  <a:pt x="728" y="326"/>
                </a:lnTo>
                <a:lnTo>
                  <a:pt x="718" y="0"/>
                </a:lnTo>
                <a:close/>
              </a:path>
            </a:pathLst>
          </a:custGeom>
          <a:solidFill>
            <a:srgbClr val="FF0000">
              <a:alpha val="100000"/>
            </a:srgbClr>
          </a:solidFill>
          <a:ln w="9525">
            <a:noFill/>
          </a:ln>
        </p:spPr>
        <p:txBody>
          <a:bodyPr/>
          <a:p>
            <a:endParaRPr lang="zh-CN" altLang="en-US"/>
          </a:p>
        </p:txBody>
      </p:sp>
      <p:sp>
        <p:nvSpPr>
          <p:cNvPr id="12" name="Freeform 12"/>
          <p:cNvSpPr>
            <a:spLocks noEditPoints="1"/>
          </p:cNvSpPr>
          <p:nvPr>
            <p:custDataLst>
              <p:tags r:id="rId20"/>
            </p:custDataLst>
          </p:nvPr>
        </p:nvSpPr>
        <p:spPr>
          <a:xfrm>
            <a:off x="405765" y="4726305"/>
            <a:ext cx="496888" cy="428625"/>
          </a:xfrm>
          <a:custGeom>
            <a:avLst/>
            <a:gdLst>
              <a:gd name="txL" fmla="*/ 0 w 728"/>
              <a:gd name="txT" fmla="*/ 0 h 604"/>
              <a:gd name="txR" fmla="*/ 728 w 728"/>
              <a:gd name="txB" fmla="*/ 604 h 604"/>
            </a:gdLst>
            <a:ahLst/>
            <a:cxnLst>
              <a:cxn ang="0">
                <a:pos x="0" y="2147483646"/>
              </a:cxn>
              <a:cxn ang="0">
                <a:pos x="2147483646" y="2147483646"/>
              </a:cxn>
              <a:cxn ang="0">
                <a:pos x="0"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728" h="604">
                <a:moveTo>
                  <a:pt x="0" y="590"/>
                </a:moveTo>
                <a:lnTo>
                  <a:pt x="0" y="590"/>
                </a:lnTo>
                <a:lnTo>
                  <a:pt x="12" y="574"/>
                </a:lnTo>
                <a:lnTo>
                  <a:pt x="6" y="582"/>
                </a:lnTo>
                <a:lnTo>
                  <a:pt x="0" y="590"/>
                </a:lnTo>
                <a:close/>
                <a:moveTo>
                  <a:pt x="718" y="0"/>
                </a:moveTo>
                <a:lnTo>
                  <a:pt x="606" y="240"/>
                </a:lnTo>
                <a:lnTo>
                  <a:pt x="656" y="216"/>
                </a:lnTo>
                <a:lnTo>
                  <a:pt x="642" y="272"/>
                </a:lnTo>
                <a:lnTo>
                  <a:pt x="626" y="324"/>
                </a:lnTo>
                <a:lnTo>
                  <a:pt x="608" y="374"/>
                </a:lnTo>
                <a:lnTo>
                  <a:pt x="588" y="418"/>
                </a:lnTo>
                <a:lnTo>
                  <a:pt x="566" y="460"/>
                </a:lnTo>
                <a:lnTo>
                  <a:pt x="542" y="494"/>
                </a:lnTo>
                <a:lnTo>
                  <a:pt x="518" y="524"/>
                </a:lnTo>
                <a:lnTo>
                  <a:pt x="504" y="536"/>
                </a:lnTo>
                <a:lnTo>
                  <a:pt x="492" y="548"/>
                </a:lnTo>
                <a:lnTo>
                  <a:pt x="470" y="562"/>
                </a:lnTo>
                <a:lnTo>
                  <a:pt x="446" y="576"/>
                </a:lnTo>
                <a:lnTo>
                  <a:pt x="420" y="586"/>
                </a:lnTo>
                <a:lnTo>
                  <a:pt x="392" y="594"/>
                </a:lnTo>
                <a:lnTo>
                  <a:pt x="364" y="598"/>
                </a:lnTo>
                <a:lnTo>
                  <a:pt x="336" y="598"/>
                </a:lnTo>
                <a:lnTo>
                  <a:pt x="306" y="592"/>
                </a:lnTo>
                <a:lnTo>
                  <a:pt x="292" y="588"/>
                </a:lnTo>
                <a:lnTo>
                  <a:pt x="278" y="582"/>
                </a:lnTo>
                <a:lnTo>
                  <a:pt x="238" y="566"/>
                </a:lnTo>
                <a:lnTo>
                  <a:pt x="198" y="554"/>
                </a:lnTo>
                <a:lnTo>
                  <a:pt x="160" y="544"/>
                </a:lnTo>
                <a:lnTo>
                  <a:pt x="124" y="540"/>
                </a:lnTo>
                <a:lnTo>
                  <a:pt x="108" y="540"/>
                </a:lnTo>
                <a:lnTo>
                  <a:pt x="92" y="540"/>
                </a:lnTo>
                <a:lnTo>
                  <a:pt x="76" y="542"/>
                </a:lnTo>
                <a:lnTo>
                  <a:pt x="62" y="546"/>
                </a:lnTo>
                <a:lnTo>
                  <a:pt x="48" y="550"/>
                </a:lnTo>
                <a:lnTo>
                  <a:pt x="36" y="556"/>
                </a:lnTo>
                <a:lnTo>
                  <a:pt x="24" y="564"/>
                </a:lnTo>
                <a:lnTo>
                  <a:pt x="12" y="574"/>
                </a:lnTo>
                <a:lnTo>
                  <a:pt x="28" y="562"/>
                </a:lnTo>
                <a:lnTo>
                  <a:pt x="46" y="552"/>
                </a:lnTo>
                <a:lnTo>
                  <a:pt x="58" y="548"/>
                </a:lnTo>
                <a:lnTo>
                  <a:pt x="70" y="544"/>
                </a:lnTo>
                <a:lnTo>
                  <a:pt x="84" y="542"/>
                </a:lnTo>
                <a:lnTo>
                  <a:pt x="100" y="542"/>
                </a:lnTo>
                <a:lnTo>
                  <a:pt x="116" y="542"/>
                </a:lnTo>
                <a:lnTo>
                  <a:pt x="134" y="544"/>
                </a:lnTo>
                <a:lnTo>
                  <a:pt x="154" y="546"/>
                </a:lnTo>
                <a:lnTo>
                  <a:pt x="174" y="550"/>
                </a:lnTo>
                <a:lnTo>
                  <a:pt x="198" y="556"/>
                </a:lnTo>
                <a:lnTo>
                  <a:pt x="222" y="564"/>
                </a:lnTo>
                <a:lnTo>
                  <a:pt x="248" y="574"/>
                </a:lnTo>
                <a:lnTo>
                  <a:pt x="276" y="586"/>
                </a:lnTo>
                <a:lnTo>
                  <a:pt x="298" y="594"/>
                </a:lnTo>
                <a:lnTo>
                  <a:pt x="322" y="600"/>
                </a:lnTo>
                <a:lnTo>
                  <a:pt x="348" y="604"/>
                </a:lnTo>
                <a:lnTo>
                  <a:pt x="376" y="604"/>
                </a:lnTo>
                <a:lnTo>
                  <a:pt x="404" y="600"/>
                </a:lnTo>
                <a:lnTo>
                  <a:pt x="434" y="592"/>
                </a:lnTo>
                <a:lnTo>
                  <a:pt x="466" y="578"/>
                </a:lnTo>
                <a:lnTo>
                  <a:pt x="498" y="560"/>
                </a:lnTo>
                <a:lnTo>
                  <a:pt x="512" y="550"/>
                </a:lnTo>
                <a:lnTo>
                  <a:pt x="526" y="538"/>
                </a:lnTo>
                <a:lnTo>
                  <a:pt x="540" y="524"/>
                </a:lnTo>
                <a:lnTo>
                  <a:pt x="554" y="508"/>
                </a:lnTo>
                <a:lnTo>
                  <a:pt x="580" y="472"/>
                </a:lnTo>
                <a:lnTo>
                  <a:pt x="606" y="430"/>
                </a:lnTo>
                <a:lnTo>
                  <a:pt x="630" y="384"/>
                </a:lnTo>
                <a:lnTo>
                  <a:pt x="650" y="332"/>
                </a:lnTo>
                <a:lnTo>
                  <a:pt x="668" y="278"/>
                </a:lnTo>
                <a:lnTo>
                  <a:pt x="684" y="220"/>
                </a:lnTo>
                <a:lnTo>
                  <a:pt x="728" y="326"/>
                </a:lnTo>
                <a:lnTo>
                  <a:pt x="718" y="0"/>
                </a:lnTo>
                <a:close/>
              </a:path>
            </a:pathLst>
          </a:custGeom>
          <a:solidFill>
            <a:srgbClr val="FF0000">
              <a:alpha val="100000"/>
            </a:srgbClr>
          </a:solidFill>
          <a:ln w="9525">
            <a:noFill/>
          </a:ln>
        </p:spPr>
        <p:txBody>
          <a:bodyPr/>
          <a:p>
            <a:endParaRPr lang="zh-CN" altLang="en-US"/>
          </a:p>
        </p:txBody>
      </p:sp>
      <p:pic>
        <p:nvPicPr>
          <p:cNvPr id="31758" name="Picture 14"/>
          <p:cNvPicPr>
            <a:picLocks noChangeAspect="1"/>
          </p:cNvPicPr>
          <p:nvPr>
            <p:custDataLst>
              <p:tags r:id="rId21"/>
            </p:custDataLst>
          </p:nvPr>
        </p:nvPicPr>
        <p:blipFill>
          <a:blip r:embed="rId8"/>
          <a:srcRect t="53017"/>
          <a:stretch>
            <a:fillRect/>
          </a:stretch>
        </p:blipFill>
        <p:spPr>
          <a:xfrm>
            <a:off x="6019483" y="5882640"/>
            <a:ext cx="4543425" cy="939800"/>
          </a:xfrm>
          <a:prstGeom prst="rect">
            <a:avLst/>
          </a:prstGeom>
          <a:noFill/>
          <a:ln w="9525">
            <a:noFill/>
          </a:ln>
        </p:spPr>
      </p:pic>
      <p:grpSp>
        <p:nvGrpSpPr>
          <p:cNvPr id="7" name="组合 6"/>
          <p:cNvGrpSpPr/>
          <p:nvPr/>
        </p:nvGrpSpPr>
        <p:grpSpPr>
          <a:xfrm>
            <a:off x="3793490" y="5218430"/>
            <a:ext cx="668655" cy="801370"/>
            <a:chOff x="12721" y="8886"/>
            <a:chExt cx="601" cy="1262"/>
          </a:xfrm>
        </p:grpSpPr>
        <p:sp>
          <p:nvSpPr>
            <p:cNvPr id="10" name="文本框 9"/>
            <p:cNvSpPr txBox="1"/>
            <p:nvPr>
              <p:custDataLst>
                <p:tags r:id="rId22"/>
              </p:custDataLst>
            </p:nvPr>
          </p:nvSpPr>
          <p:spPr>
            <a:xfrm>
              <a:off x="12826" y="8983"/>
              <a:ext cx="445" cy="647"/>
            </a:xfrm>
            <a:prstGeom prst="rect">
              <a:avLst/>
            </a:prstGeom>
            <a:solidFill>
              <a:schemeClr val="bg1"/>
            </a:solidFill>
          </p:spPr>
          <p:txBody>
            <a:bodyPr wrap="square" rtlCol="0" anchor="t">
              <a:spAutoFit/>
            </a:bodyPr>
            <a:p>
              <a:endParaRPr lang="en-US" altLang="zh-CN" sz="32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4" name="文本框 3"/>
            <p:cNvSpPr txBox="1"/>
            <p:nvPr>
              <p:custDataLst>
                <p:tags r:id="rId23"/>
              </p:custDataLst>
            </p:nvPr>
          </p:nvSpPr>
          <p:spPr>
            <a:xfrm>
              <a:off x="12721" y="8886"/>
              <a:ext cx="601" cy="1262"/>
            </a:xfrm>
            <a:prstGeom prst="rect">
              <a:avLst/>
            </a:prstGeom>
            <a:noFill/>
            <a:extLst>
              <a:ext uri="{909E8E84-426E-40DD-AFC4-6F175D3DCCD1}">
                <a14:hiddenFill xmlns:a14="http://schemas.microsoft.com/office/drawing/2010/main">
                  <a:solidFill>
                    <a:schemeClr val="bg1"/>
                  </a:solidFill>
                </a14:hiddenFill>
              </a:ext>
            </a:extLst>
          </p:spPr>
          <p:txBody>
            <a:bodyPr wrap="square" rtlCol="0" anchor="t">
              <a:spAutoFit/>
            </a:bodyPr>
            <a:p>
              <a:r>
                <a:rPr lang="en-US" altLang="zh-CN" sz="2800" b="1" i="1"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T</a:t>
              </a:r>
              <a:r>
                <a:rPr lang="en-US" altLang="zh-CN" sz="28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S</a:t>
              </a:r>
              <a:endParaRPr lang="en-US" altLang="zh-CN" sz="2800" b="1" baseline="-2500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gr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p:txBody>
          <a:bodyPr/>
          <a:p>
            <a:r>
              <a:rPr lang="zh-CN" altLang="en-US">
                <a:latin typeface="华文楷体" panose="02010600040101010101" charset="-122"/>
                <a:ea typeface="华文楷体" panose="02010600040101010101" charset="-122"/>
                <a:cs typeface="华文楷体" panose="02010600040101010101" charset="-122"/>
              </a:rPr>
              <a:t>讨论</a:t>
            </a:r>
            <a:r>
              <a:rPr lang="zh-CN" altLang="en-US">
                <a:solidFill>
                  <a:srgbClr val="FF0000"/>
                </a:solidFill>
                <a:latin typeface="华文楷体" panose="02010600040101010101" charset="-122"/>
                <a:ea typeface="华文楷体" panose="02010600040101010101" charset="-122"/>
                <a:cs typeface="华文楷体" panose="02010600040101010101" charset="-122"/>
              </a:rPr>
              <a:t>噪声</a:t>
            </a:r>
            <a:r>
              <a:rPr lang="zh-CN" altLang="en-US">
                <a:latin typeface="华文楷体" panose="02010600040101010101" charset="-122"/>
                <a:ea typeface="华文楷体" panose="02010600040101010101" charset="-122"/>
                <a:cs typeface="华文楷体" panose="02010600040101010101" charset="-122"/>
              </a:rPr>
              <a:t>引起的</a:t>
            </a:r>
            <a:r>
              <a:rPr lang="zh-CN" altLang="en-US">
                <a:solidFill>
                  <a:srgbClr val="FF0000"/>
                </a:solidFill>
                <a:latin typeface="华文楷体" panose="02010600040101010101" charset="-122"/>
                <a:ea typeface="华文楷体" panose="02010600040101010101" charset="-122"/>
                <a:cs typeface="华文楷体" panose="02010600040101010101" charset="-122"/>
              </a:rPr>
              <a:t>误码率</a:t>
            </a:r>
            <a:r>
              <a:rPr lang="zh-CN" altLang="en-US">
                <a:latin typeface="华文楷体" panose="02010600040101010101" charset="-122"/>
                <a:ea typeface="华文楷体" panose="02010600040101010101" charset="-122"/>
                <a:cs typeface="华文楷体" panose="02010600040101010101" charset="-122"/>
              </a:rPr>
              <a:t>的大小</a:t>
            </a:r>
            <a:endParaRPr lang="zh-CN" altLang="en-US">
              <a:latin typeface="华文楷体" panose="02010600040101010101" charset="-122"/>
              <a:ea typeface="华文楷体" panose="02010600040101010101" charset="-122"/>
              <a:cs typeface="华文楷体" panose="02010600040101010101" charset="-122"/>
            </a:endParaRPr>
          </a:p>
          <a:p>
            <a:pPr algn="just"/>
            <a:r>
              <a:rPr lang="zh-CN" altLang="en-US">
                <a:solidFill>
                  <a:srgbClr val="FF0000"/>
                </a:solidFill>
                <a:latin typeface="华文楷体" panose="02010600040101010101" charset="-122"/>
                <a:ea typeface="华文楷体" panose="02010600040101010101" charset="-122"/>
                <a:cs typeface="华文楷体" panose="02010600040101010101" charset="-122"/>
              </a:rPr>
              <a:t>信道加性噪声n</a:t>
            </a:r>
            <a:r>
              <a:rPr lang="zh-CN" altLang="en-US" baseline="-25000">
                <a:solidFill>
                  <a:srgbClr val="FF0000"/>
                </a:solidFill>
                <a:latin typeface="华文楷体" panose="02010600040101010101" charset="-122"/>
                <a:ea typeface="华文楷体" panose="02010600040101010101" charset="-122"/>
                <a:cs typeface="华文楷体" panose="02010600040101010101" charset="-122"/>
              </a:rPr>
              <a:t>R</a:t>
            </a:r>
            <a:r>
              <a:rPr lang="zh-CN" altLang="en-US">
                <a:solidFill>
                  <a:srgbClr val="FF0000"/>
                </a:solidFill>
                <a:latin typeface="华文楷体" panose="02010600040101010101" charset="-122"/>
                <a:ea typeface="华文楷体" panose="02010600040101010101" charset="-122"/>
                <a:cs typeface="华文楷体" panose="02010600040101010101" charset="-122"/>
              </a:rPr>
              <a:t>(t)是均值为0、方差为 σ</a:t>
            </a:r>
            <a:r>
              <a:rPr lang="zh-CN" altLang="en-US" baseline="-25000">
                <a:solidFill>
                  <a:srgbClr val="FF0000"/>
                </a:solidFill>
                <a:latin typeface="华文楷体" panose="02010600040101010101" charset="-122"/>
                <a:ea typeface="华文楷体" panose="02010600040101010101" charset="-122"/>
                <a:cs typeface="华文楷体" panose="02010600040101010101" charset="-122"/>
              </a:rPr>
              <a:t>n</a:t>
            </a:r>
            <a:r>
              <a:rPr lang="zh-CN" altLang="en-US" baseline="30000">
                <a:solidFill>
                  <a:srgbClr val="FF0000"/>
                </a:solidFill>
                <a:latin typeface="华文楷体" panose="02010600040101010101" charset="-122"/>
                <a:ea typeface="华文楷体" panose="02010600040101010101" charset="-122"/>
                <a:cs typeface="华文楷体" panose="02010600040101010101" charset="-122"/>
              </a:rPr>
              <a:t>2</a:t>
            </a:r>
            <a:r>
              <a:rPr lang="zh-CN" altLang="en-US">
                <a:solidFill>
                  <a:srgbClr val="FF0000"/>
                </a:solidFill>
                <a:latin typeface="华文楷体" panose="02010600040101010101" charset="-122"/>
                <a:ea typeface="华文楷体" panose="02010600040101010101" charset="-122"/>
                <a:cs typeface="华文楷体" panose="02010600040101010101" charset="-122"/>
              </a:rPr>
              <a:t>=n</a:t>
            </a:r>
            <a:r>
              <a:rPr lang="zh-CN" altLang="en-US" baseline="-25000">
                <a:solidFill>
                  <a:srgbClr val="FF0000"/>
                </a:solidFill>
                <a:latin typeface="华文楷体" panose="02010600040101010101" charset="-122"/>
                <a:ea typeface="华文楷体" panose="02010600040101010101" charset="-122"/>
                <a:cs typeface="华文楷体" panose="02010600040101010101" charset="-122"/>
              </a:rPr>
              <a:t>0</a:t>
            </a:r>
            <a:r>
              <a:rPr lang="zh-CN" altLang="en-US">
                <a:solidFill>
                  <a:srgbClr val="FF0000"/>
                </a:solidFill>
                <a:latin typeface="华文楷体" panose="02010600040101010101" charset="-122"/>
                <a:ea typeface="华文楷体" panose="02010600040101010101" charset="-122"/>
                <a:cs typeface="华文楷体" panose="02010600040101010101" charset="-122"/>
              </a:rPr>
              <a:t>B的高斯随机变量</a:t>
            </a:r>
            <a:r>
              <a:rPr lang="zh-CN" altLang="en-US">
                <a:latin typeface="华文楷体" panose="02010600040101010101" charset="-122"/>
                <a:ea typeface="华文楷体" panose="02010600040101010101" charset="-122"/>
                <a:cs typeface="华文楷体" panose="02010600040101010101" charset="-122"/>
              </a:rPr>
              <a:t>，其中B为接收滤波器带宽。因为y(t</a:t>
            </a:r>
            <a:r>
              <a:rPr lang="zh-CN" altLang="en-US" baseline="-25000">
                <a:latin typeface="华文楷体" panose="02010600040101010101" charset="-122"/>
                <a:ea typeface="华文楷体" panose="02010600040101010101" charset="-122"/>
                <a:cs typeface="华文楷体" panose="02010600040101010101" charset="-122"/>
              </a:rPr>
              <a:t>0</a:t>
            </a:r>
            <a:r>
              <a:rPr lang="zh-CN" altLang="en-US">
                <a:latin typeface="华文楷体" panose="02010600040101010101" charset="-122"/>
                <a:ea typeface="华文楷体" panose="02010600040101010101" charset="-122"/>
                <a:cs typeface="华文楷体" panose="02010600040101010101" charset="-122"/>
              </a:rPr>
              <a:t>＋kT</a:t>
            </a:r>
            <a:r>
              <a:rPr lang="zh-CN" altLang="en-US" baseline="-25000">
                <a:latin typeface="华文楷体" panose="02010600040101010101" charset="-122"/>
                <a:ea typeface="华文楷体" panose="02010600040101010101" charset="-122"/>
                <a:cs typeface="华文楷体" panose="02010600040101010101" charset="-122"/>
              </a:rPr>
              <a:t>S</a:t>
            </a:r>
            <a:r>
              <a:rPr lang="zh-CN" altLang="en-US">
                <a:latin typeface="华文楷体" panose="02010600040101010101" charset="-122"/>
                <a:ea typeface="华文楷体" panose="02010600040101010101" charset="-122"/>
                <a:cs typeface="华文楷体" panose="02010600040101010101" charset="-122"/>
              </a:rPr>
              <a:t>)=±A+nR(t</a:t>
            </a:r>
            <a:r>
              <a:rPr lang="zh-CN" altLang="en-US" baseline="-25000">
                <a:latin typeface="华文楷体" panose="02010600040101010101" charset="-122"/>
                <a:ea typeface="华文楷体" panose="02010600040101010101" charset="-122"/>
                <a:cs typeface="华文楷体" panose="02010600040101010101" charset="-122"/>
              </a:rPr>
              <a:t>0</a:t>
            </a:r>
            <a:r>
              <a:rPr lang="zh-CN" altLang="en-US">
                <a:latin typeface="华文楷体" panose="02010600040101010101" charset="-122"/>
                <a:ea typeface="华文楷体" panose="02010600040101010101" charset="-122"/>
                <a:cs typeface="华文楷体" panose="02010600040101010101" charset="-122"/>
              </a:rPr>
              <a:t>＋kT</a:t>
            </a:r>
            <a:r>
              <a:rPr lang="zh-CN" altLang="en-US" baseline="-25000">
                <a:latin typeface="华文楷体" panose="02010600040101010101" charset="-122"/>
                <a:ea typeface="华文楷体" panose="02010600040101010101" charset="-122"/>
                <a:cs typeface="华文楷体" panose="02010600040101010101" charset="-122"/>
              </a:rPr>
              <a:t>S</a:t>
            </a:r>
            <a:r>
              <a:rPr lang="zh-CN" altLang="en-US">
                <a:latin typeface="华文楷体" panose="02010600040101010101" charset="-122"/>
                <a:ea typeface="华文楷体" panose="02010600040101010101" charset="-122"/>
                <a:cs typeface="华文楷体" panose="02010600040101010101" charset="-122"/>
              </a:rPr>
              <a:t>)，所以y(t</a:t>
            </a:r>
            <a:r>
              <a:rPr lang="zh-CN" altLang="en-US" baseline="-25000">
                <a:latin typeface="华文楷体" panose="02010600040101010101" charset="-122"/>
                <a:ea typeface="华文楷体" panose="02010600040101010101" charset="-122"/>
                <a:cs typeface="华文楷体" panose="02010600040101010101" charset="-122"/>
              </a:rPr>
              <a:t>0</a:t>
            </a:r>
            <a:r>
              <a:rPr lang="zh-CN" altLang="en-US">
                <a:latin typeface="华文楷体" panose="02010600040101010101" charset="-122"/>
                <a:ea typeface="华文楷体" panose="02010600040101010101" charset="-122"/>
                <a:cs typeface="华文楷体" panose="02010600040101010101" charset="-122"/>
              </a:rPr>
              <a:t>＋kT</a:t>
            </a:r>
            <a:r>
              <a:rPr lang="zh-CN" altLang="en-US" baseline="-25000">
                <a:latin typeface="华文楷体" panose="02010600040101010101" charset="-122"/>
                <a:ea typeface="华文楷体" panose="02010600040101010101" charset="-122"/>
                <a:cs typeface="华文楷体" panose="02010600040101010101" charset="-122"/>
              </a:rPr>
              <a:t>S</a:t>
            </a:r>
            <a:r>
              <a:rPr lang="zh-CN" altLang="en-US">
                <a:latin typeface="华文楷体" panose="02010600040101010101" charset="-122"/>
                <a:ea typeface="华文楷体" panose="02010600040101010101" charset="-122"/>
                <a:cs typeface="华文楷体" panose="02010600040101010101" charset="-122"/>
              </a:rPr>
              <a:t>)的均值和方差为</a:t>
            </a:r>
            <a:endParaRPr lang="zh-CN" altLang="en-US">
              <a:latin typeface="华文楷体" panose="02010600040101010101" charset="-122"/>
              <a:ea typeface="华文楷体" panose="02010600040101010101" charset="-122"/>
              <a:cs typeface="华文楷体" panose="02010600040101010101" charset="-122"/>
            </a:endParaRPr>
          </a:p>
          <a:p>
            <a:endParaRPr lang="zh-CN" altLang="en-US">
              <a:latin typeface="华文楷体" panose="02010600040101010101" charset="-122"/>
              <a:ea typeface="华文楷体" panose="02010600040101010101" charset="-122"/>
              <a:cs typeface="华文楷体" panose="02010600040101010101" charset="-122"/>
            </a:endParaRPr>
          </a:p>
          <a:p>
            <a:endParaRPr lang="zh-CN" altLang="en-US">
              <a:latin typeface="华文楷体" panose="02010600040101010101" charset="-122"/>
              <a:ea typeface="华文楷体" panose="02010600040101010101" charset="-122"/>
              <a:cs typeface="华文楷体" panose="02010600040101010101" charset="-122"/>
            </a:endParaRPr>
          </a:p>
          <a:p>
            <a:endParaRPr lang="zh-CN" altLang="en-US">
              <a:latin typeface="华文楷体" panose="02010600040101010101" charset="-122"/>
              <a:ea typeface="华文楷体" panose="02010600040101010101" charset="-122"/>
              <a:cs typeface="华文楷体" panose="02010600040101010101" charset="-122"/>
            </a:endParaRPr>
          </a:p>
          <a:p>
            <a:r>
              <a:rPr lang="zh-CN" altLang="en-US">
                <a:latin typeface="华文楷体" panose="02010600040101010101" charset="-122"/>
                <a:ea typeface="华文楷体" panose="02010600040101010101" charset="-122"/>
                <a:cs typeface="华文楷体" panose="02010600040101010101" charset="-122"/>
                <a:sym typeface="+mn-ea"/>
              </a:rPr>
              <a:t>所以</a:t>
            </a:r>
            <a:r>
              <a:rPr lang="zh-CN" altLang="en-US" b="1">
                <a:solidFill>
                  <a:srgbClr val="7030A0"/>
                </a:solidFill>
                <a:latin typeface="华文楷体" panose="02010600040101010101" charset="-122"/>
                <a:ea typeface="华文楷体" panose="02010600040101010101" charset="-122"/>
                <a:cs typeface="华文楷体" panose="02010600040101010101" charset="-122"/>
                <a:sym typeface="+mn-ea"/>
              </a:rPr>
              <a:t>y(t</a:t>
            </a:r>
            <a:r>
              <a:rPr lang="zh-CN" altLang="en-US" b="1" baseline="-25000">
                <a:solidFill>
                  <a:srgbClr val="7030A0"/>
                </a:solidFill>
                <a:latin typeface="华文楷体" panose="02010600040101010101" charset="-122"/>
                <a:ea typeface="华文楷体" panose="02010600040101010101" charset="-122"/>
                <a:cs typeface="华文楷体" panose="02010600040101010101" charset="-122"/>
                <a:sym typeface="+mn-ea"/>
              </a:rPr>
              <a:t>0</a:t>
            </a:r>
            <a:r>
              <a:rPr lang="zh-CN" altLang="en-US" b="1">
                <a:solidFill>
                  <a:srgbClr val="7030A0"/>
                </a:solidFill>
                <a:latin typeface="华文楷体" panose="02010600040101010101" charset="-122"/>
                <a:ea typeface="华文楷体" panose="02010600040101010101" charset="-122"/>
                <a:cs typeface="华文楷体" panose="02010600040101010101" charset="-122"/>
                <a:sym typeface="+mn-ea"/>
              </a:rPr>
              <a:t>＋kT</a:t>
            </a:r>
            <a:r>
              <a:rPr lang="zh-CN" altLang="en-US" b="1" baseline="-25000">
                <a:solidFill>
                  <a:srgbClr val="7030A0"/>
                </a:solidFill>
                <a:latin typeface="华文楷体" panose="02010600040101010101" charset="-122"/>
                <a:ea typeface="华文楷体" panose="02010600040101010101" charset="-122"/>
                <a:cs typeface="华文楷体" panose="02010600040101010101" charset="-122"/>
                <a:sym typeface="+mn-ea"/>
              </a:rPr>
              <a:t>S</a:t>
            </a:r>
            <a:r>
              <a:rPr lang="zh-CN" altLang="en-US" b="1">
                <a:solidFill>
                  <a:srgbClr val="7030A0"/>
                </a:solidFill>
                <a:latin typeface="华文楷体" panose="02010600040101010101" charset="-122"/>
                <a:ea typeface="华文楷体" panose="02010600040101010101" charset="-122"/>
                <a:cs typeface="华文楷体" panose="02010600040101010101" charset="-122"/>
                <a:sym typeface="+mn-ea"/>
              </a:rPr>
              <a:t>)</a:t>
            </a:r>
            <a:r>
              <a:rPr lang="zh-CN" altLang="en-US">
                <a:latin typeface="华文楷体" panose="02010600040101010101" charset="-122"/>
                <a:ea typeface="华文楷体" panose="02010600040101010101" charset="-122"/>
                <a:cs typeface="华文楷体" panose="02010600040101010101" charset="-122"/>
                <a:sym typeface="+mn-ea"/>
              </a:rPr>
              <a:t>也是均值为</a:t>
            </a:r>
            <a:r>
              <a:rPr lang="zh-CN" altLang="en-US">
                <a:solidFill>
                  <a:srgbClr val="7030A0"/>
                </a:solidFill>
                <a:latin typeface="华文楷体" panose="02010600040101010101" charset="-122"/>
                <a:ea typeface="华文楷体" panose="02010600040101010101" charset="-122"/>
                <a:cs typeface="华文楷体" panose="02010600040101010101" charset="-122"/>
                <a:sym typeface="+mn-ea"/>
              </a:rPr>
              <a:t>0</a:t>
            </a:r>
            <a:r>
              <a:rPr lang="zh-CN" altLang="en-US">
                <a:latin typeface="华文楷体" panose="02010600040101010101" charset="-122"/>
                <a:ea typeface="华文楷体" panose="02010600040101010101" charset="-122"/>
                <a:cs typeface="华文楷体" panose="02010600040101010101" charset="-122"/>
                <a:sym typeface="+mn-ea"/>
              </a:rPr>
              <a:t>、方差为</a:t>
            </a:r>
            <a:r>
              <a:rPr lang="zh-CN" altLang="en-US">
                <a:solidFill>
                  <a:srgbClr val="7030A0"/>
                </a:solidFill>
                <a:latin typeface="华文楷体" panose="02010600040101010101" charset="-122"/>
                <a:ea typeface="华文楷体" panose="02010600040101010101" charset="-122"/>
                <a:cs typeface="华文楷体" panose="02010600040101010101" charset="-122"/>
                <a:sym typeface="+mn-ea"/>
              </a:rPr>
              <a:t>σ</a:t>
            </a:r>
            <a:r>
              <a:rPr lang="zh-CN" altLang="en-US" baseline="-25000">
                <a:solidFill>
                  <a:srgbClr val="7030A0"/>
                </a:solidFill>
                <a:latin typeface="华文楷体" panose="02010600040101010101" charset="-122"/>
                <a:ea typeface="华文楷体" panose="02010600040101010101" charset="-122"/>
                <a:cs typeface="华文楷体" panose="02010600040101010101" charset="-122"/>
                <a:sym typeface="+mn-ea"/>
              </a:rPr>
              <a:t>n</a:t>
            </a:r>
            <a:r>
              <a:rPr lang="zh-CN" altLang="en-US" baseline="30000">
                <a:solidFill>
                  <a:srgbClr val="7030A0"/>
                </a:solidFill>
                <a:latin typeface="华文楷体" panose="02010600040101010101" charset="-122"/>
                <a:ea typeface="华文楷体" panose="02010600040101010101" charset="-122"/>
                <a:cs typeface="华文楷体" panose="02010600040101010101" charset="-122"/>
                <a:sym typeface="+mn-ea"/>
              </a:rPr>
              <a:t>2</a:t>
            </a:r>
            <a:r>
              <a:rPr lang="zh-CN" altLang="en-US">
                <a:solidFill>
                  <a:srgbClr val="7030A0"/>
                </a:solidFill>
                <a:latin typeface="华文楷体" panose="02010600040101010101" charset="-122"/>
                <a:ea typeface="华文楷体" panose="02010600040101010101" charset="-122"/>
                <a:cs typeface="华文楷体" panose="02010600040101010101" charset="-122"/>
                <a:sym typeface="+mn-ea"/>
              </a:rPr>
              <a:t>=n</a:t>
            </a:r>
            <a:r>
              <a:rPr lang="zh-CN" altLang="en-US" baseline="-25000">
                <a:solidFill>
                  <a:srgbClr val="7030A0"/>
                </a:solidFill>
                <a:latin typeface="华文楷体" panose="02010600040101010101" charset="-122"/>
                <a:ea typeface="华文楷体" panose="02010600040101010101" charset="-122"/>
                <a:cs typeface="华文楷体" panose="02010600040101010101" charset="-122"/>
                <a:sym typeface="+mn-ea"/>
              </a:rPr>
              <a:t>0</a:t>
            </a:r>
            <a:r>
              <a:rPr lang="zh-CN" altLang="en-US">
                <a:solidFill>
                  <a:srgbClr val="7030A0"/>
                </a:solidFill>
                <a:latin typeface="华文楷体" panose="02010600040101010101" charset="-122"/>
                <a:ea typeface="华文楷体" panose="02010600040101010101" charset="-122"/>
                <a:cs typeface="华文楷体" panose="02010600040101010101" charset="-122"/>
                <a:sym typeface="+mn-ea"/>
              </a:rPr>
              <a:t>B</a:t>
            </a:r>
            <a:r>
              <a:rPr lang="zh-CN" altLang="en-US">
                <a:latin typeface="华文楷体" panose="02010600040101010101" charset="-122"/>
                <a:ea typeface="华文楷体" panose="02010600040101010101" charset="-122"/>
                <a:cs typeface="华文楷体" panose="02010600040101010101" charset="-122"/>
                <a:sym typeface="+mn-ea"/>
              </a:rPr>
              <a:t>的高斯随机变量。</a:t>
            </a:r>
            <a:endParaRPr lang="zh-CN" altLang="en-US">
              <a:latin typeface="华文楷体" panose="02010600040101010101" charset="-122"/>
              <a:ea typeface="华文楷体" panose="02010600040101010101" charset="-122"/>
              <a:cs typeface="华文楷体" panose="02010600040101010101" charset="-122"/>
            </a:endParaRPr>
          </a:p>
        </p:txBody>
      </p:sp>
      <p:graphicFrame>
        <p:nvGraphicFramePr>
          <p:cNvPr id="4" name="对象 -2147482060"/>
          <p:cNvGraphicFramePr>
            <a:graphicFrameLocks noChangeAspect="1"/>
          </p:cNvGraphicFramePr>
          <p:nvPr>
            <p:custDataLst>
              <p:tags r:id="rId3"/>
            </p:custDataLst>
          </p:nvPr>
        </p:nvGraphicFramePr>
        <p:xfrm>
          <a:off x="579755" y="3597275"/>
          <a:ext cx="11118215" cy="593725"/>
        </p:xfrm>
        <a:graphic>
          <a:graphicData uri="http://schemas.openxmlformats.org/presentationml/2006/ole">
            <mc:AlternateContent xmlns:mc="http://schemas.openxmlformats.org/markup-compatibility/2006">
              <mc:Choice xmlns:v="urn:schemas-microsoft-com:vml" Requires="v">
                <p:oleObj spid="_x0000_s38927" name="" r:id="rId4" imgW="3759200" imgH="228600" progId="Equation.3">
                  <p:embed/>
                </p:oleObj>
              </mc:Choice>
              <mc:Fallback>
                <p:oleObj name="" r:id="rId4" imgW="3759200" imgH="228600" progId="Equation.3">
                  <p:embed/>
                  <p:pic>
                    <p:nvPicPr>
                      <p:cNvPr id="0" name="图片 3075"/>
                      <p:cNvPicPr/>
                      <p:nvPr/>
                    </p:nvPicPr>
                    <p:blipFill>
                      <a:blip r:embed="rId5"/>
                      <a:stretch>
                        <a:fillRect/>
                      </a:stretch>
                    </p:blipFill>
                    <p:spPr>
                      <a:xfrm>
                        <a:off x="579755" y="3597275"/>
                        <a:ext cx="11118215" cy="593725"/>
                      </a:xfrm>
                      <a:prstGeom prst="rect">
                        <a:avLst/>
                      </a:prstGeom>
                      <a:noFill/>
                      <a:ln w="38100">
                        <a:noFill/>
                        <a:miter/>
                      </a:ln>
                    </p:spPr>
                  </p:pic>
                </p:oleObj>
              </mc:Fallback>
            </mc:AlternateContent>
          </a:graphicData>
        </a:graphic>
      </p:graphicFrame>
      <p:graphicFrame>
        <p:nvGraphicFramePr>
          <p:cNvPr id="5" name="对象 -2147481026"/>
          <p:cNvGraphicFramePr>
            <a:graphicFrameLocks noChangeAspect="1"/>
          </p:cNvGraphicFramePr>
          <p:nvPr>
            <p:custDataLst>
              <p:tags r:id="rId6"/>
            </p:custDataLst>
          </p:nvPr>
        </p:nvGraphicFramePr>
        <p:xfrm>
          <a:off x="551815" y="4221480"/>
          <a:ext cx="11114405" cy="716915"/>
        </p:xfrm>
        <a:graphic>
          <a:graphicData uri="http://schemas.openxmlformats.org/presentationml/2006/ole">
            <mc:AlternateContent xmlns:mc="http://schemas.openxmlformats.org/markup-compatibility/2006">
              <mc:Choice xmlns:v="urn:schemas-microsoft-com:vml" Requires="v">
                <p:oleObj spid="_x0000_s38928" name="" r:id="rId7" imgW="3502025" imgH="254000" progId="Equation.3">
                  <p:embed/>
                </p:oleObj>
              </mc:Choice>
              <mc:Fallback>
                <p:oleObj name="" r:id="rId7" imgW="3502025" imgH="254000" progId="Equation.3">
                  <p:embed/>
                  <p:pic>
                    <p:nvPicPr>
                      <p:cNvPr id="0" name="图片 3"/>
                      <p:cNvPicPr/>
                      <p:nvPr/>
                    </p:nvPicPr>
                    <p:blipFill>
                      <a:blip r:embed="rId8"/>
                      <a:stretch>
                        <a:fillRect/>
                      </a:stretch>
                    </p:blipFill>
                    <p:spPr>
                      <a:xfrm>
                        <a:off x="551815" y="4221480"/>
                        <a:ext cx="11114405" cy="716915"/>
                      </a:xfrm>
                      <a:prstGeom prst="rect">
                        <a:avLst/>
                      </a:prstGeom>
                      <a:noFill/>
                      <a:ln w="38100">
                        <a:noFill/>
                        <a:miter/>
                      </a:ln>
                    </p:spPr>
                  </p:pic>
                </p:oleObj>
              </mc:Fallback>
            </mc:AlternateContent>
          </a:graphicData>
        </a:graphic>
      </p:graphicFrame>
      <p:sp>
        <p:nvSpPr>
          <p:cNvPr id="10" name="Rectangle 10"/>
          <p:cNvSpPr/>
          <p:nvPr>
            <p:custDataLst>
              <p:tags r:id="rId9"/>
            </p:custDataLst>
          </p:nvPr>
        </p:nvSpPr>
        <p:spPr>
          <a:xfrm>
            <a:off x="342265" y="549910"/>
            <a:ext cx="6709410" cy="521970"/>
          </a:xfrm>
          <a:prstGeom prst="rect">
            <a:avLst/>
          </a:prstGeom>
          <a:solidFill>
            <a:schemeClr val="bg1"/>
          </a:solidFill>
          <a:ln w="9525">
            <a:noFill/>
          </a:ln>
          <a:effectLst>
            <a:prstShdw prst="shdw17" dist="17961" dir="2699999">
              <a:srgbClr val="999976"/>
            </a:prstShdw>
          </a:effectLst>
        </p:spPr>
        <p:txBody>
          <a:bodyPr wrap="square">
            <a:spAutoFit/>
          </a:bodyPr>
          <a:p>
            <a:pPr eaLnBrk="1" hangingPunct="1">
              <a:buClr>
                <a:srgbClr val="FF0000"/>
              </a:buClr>
              <a:buSzPct val="60000"/>
              <a:buFont typeface="Wingdings" panose="05000000000000000000" pitchFamily="2" charset="2"/>
              <a:buChar char="u"/>
            </a:pPr>
            <a:r>
              <a:rPr lang="zh-CN" altLang="en-US" sz="2800" b="1" dirty="0">
                <a:latin typeface="华文楷体" panose="02010600040101010101" charset="-122"/>
                <a:ea typeface="华文楷体" panose="02010600040101010101" charset="-122"/>
                <a:cs typeface="华文楷体" panose="02010600040101010101" charset="-122"/>
              </a:rPr>
              <a:t>基带系统的最佳判决门限和</a:t>
            </a:r>
            <a:r>
              <a:rPr lang="zh-CN" altLang="en-US" sz="2800" b="1" dirty="0">
                <a:solidFill>
                  <a:srgbClr val="FF0000"/>
                </a:solidFill>
                <a:latin typeface="华文楷体" panose="02010600040101010101" charset="-122"/>
                <a:ea typeface="华文楷体" panose="02010600040101010101" charset="-122"/>
                <a:cs typeface="华文楷体" panose="02010600040101010101" charset="-122"/>
              </a:rPr>
              <a:t>总误码率 </a:t>
            </a:r>
            <a:r>
              <a:rPr lang="en-US" altLang="zh-CN" sz="2800" b="1" dirty="0">
                <a:latin typeface="华文楷体" panose="02010600040101010101" charset="-122"/>
                <a:ea typeface="华文楷体" panose="02010600040101010101" charset="-122"/>
                <a:cs typeface="华文楷体" panose="02010600040101010101" charset="-122"/>
              </a:rPr>
              <a:t>:</a:t>
            </a:r>
            <a:endParaRPr lang="en-US" altLang="zh-CN" sz="2800" b="1" dirty="0">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39953" name="Picture 17"/>
          <p:cNvPicPr>
            <a:picLocks noChangeAspect="1"/>
          </p:cNvPicPr>
          <p:nvPr>
            <p:custDataLst>
              <p:tags r:id="rId2"/>
            </p:custDataLst>
          </p:nvPr>
        </p:nvPicPr>
        <p:blipFill>
          <a:blip r:embed="rId3"/>
          <a:srcRect b="2815"/>
          <a:stretch>
            <a:fillRect/>
          </a:stretch>
        </p:blipFill>
        <p:spPr>
          <a:xfrm>
            <a:off x="7017703" y="1562418"/>
            <a:ext cx="3822700" cy="5119687"/>
          </a:xfrm>
          <a:prstGeom prst="rect">
            <a:avLst/>
          </a:prstGeom>
          <a:noFill/>
          <a:ln w="9525">
            <a:noFill/>
          </a:ln>
        </p:spPr>
      </p:pic>
      <p:pic>
        <p:nvPicPr>
          <p:cNvPr id="39952" name="Picture 16"/>
          <p:cNvPicPr>
            <a:picLocks noChangeAspect="1"/>
          </p:cNvPicPr>
          <p:nvPr>
            <p:custDataLst>
              <p:tags r:id="rId4"/>
            </p:custDataLst>
          </p:nvPr>
        </p:nvPicPr>
        <p:blipFill>
          <a:blip r:embed="rId5"/>
          <a:srcRect b="2657"/>
          <a:stretch>
            <a:fillRect/>
          </a:stretch>
        </p:blipFill>
        <p:spPr>
          <a:xfrm>
            <a:off x="2780665" y="1556068"/>
            <a:ext cx="3821113" cy="5126037"/>
          </a:xfrm>
          <a:prstGeom prst="rect">
            <a:avLst/>
          </a:prstGeom>
          <a:noFill/>
          <a:ln w="9525">
            <a:noFill/>
          </a:ln>
        </p:spPr>
      </p:pic>
      <p:graphicFrame>
        <p:nvGraphicFramePr>
          <p:cNvPr id="19" name="Object 23"/>
          <p:cNvGraphicFramePr>
            <a:graphicFrameLocks noChangeAspect="1"/>
          </p:cNvGraphicFramePr>
          <p:nvPr>
            <p:custDataLst>
              <p:tags r:id="rId6"/>
            </p:custDataLst>
          </p:nvPr>
        </p:nvGraphicFramePr>
        <p:xfrm>
          <a:off x="8611553" y="4235768"/>
          <a:ext cx="1785937" cy="682625"/>
        </p:xfrm>
        <a:graphic>
          <a:graphicData uri="http://schemas.openxmlformats.org/presentationml/2006/ole">
            <mc:AlternateContent xmlns:mc="http://schemas.openxmlformats.org/markup-compatibility/2006">
              <mc:Choice xmlns:v="urn:schemas-microsoft-com:vml" Requires="v">
                <p:oleObj spid="_x0000_s3158" name="" r:id="rId7" imgW="635000" imgH="241300" progId="Equation.DSMT4">
                  <p:embed/>
                </p:oleObj>
              </mc:Choice>
              <mc:Fallback>
                <p:oleObj name="" r:id="rId7" imgW="635000" imgH="241300" progId="Equation.DSMT4">
                  <p:embed/>
                  <p:pic>
                    <p:nvPicPr>
                      <p:cNvPr id="0" name="图片 3157"/>
                      <p:cNvPicPr/>
                      <p:nvPr/>
                    </p:nvPicPr>
                    <p:blipFill>
                      <a:blip r:embed="rId8"/>
                      <a:stretch>
                        <a:fillRect/>
                      </a:stretch>
                    </p:blipFill>
                    <p:spPr>
                      <a:xfrm>
                        <a:off x="8611553" y="4235768"/>
                        <a:ext cx="1785937" cy="682625"/>
                      </a:xfrm>
                      <a:prstGeom prst="rect">
                        <a:avLst/>
                      </a:prstGeom>
                      <a:noFill/>
                      <a:ln w="38100" cap="flat" cmpd="dbl">
                        <a:solidFill>
                          <a:srgbClr val="C0C0C0"/>
                        </a:solidFill>
                        <a:prstDash val="solid"/>
                        <a:miter/>
                        <a:headEnd type="none" w="med" len="med"/>
                        <a:tailEnd type="none" w="med" len="med"/>
                      </a:ln>
                    </p:spPr>
                  </p:pic>
                </p:oleObj>
              </mc:Fallback>
            </mc:AlternateContent>
          </a:graphicData>
        </a:graphic>
      </p:graphicFrame>
      <p:graphicFrame>
        <p:nvGraphicFramePr>
          <p:cNvPr id="20" name="Object 24"/>
          <p:cNvGraphicFramePr>
            <a:graphicFrameLocks noChangeAspect="1"/>
          </p:cNvGraphicFramePr>
          <p:nvPr>
            <p:custDataLst>
              <p:tags r:id="rId9"/>
            </p:custDataLst>
          </p:nvPr>
        </p:nvGraphicFramePr>
        <p:xfrm>
          <a:off x="7266940" y="5205730"/>
          <a:ext cx="3198813" cy="1212850"/>
        </p:xfrm>
        <a:graphic>
          <a:graphicData uri="http://schemas.openxmlformats.org/presentationml/2006/ole">
            <mc:AlternateContent xmlns:mc="http://schemas.openxmlformats.org/markup-compatibility/2006">
              <mc:Choice xmlns:v="urn:schemas-microsoft-com:vml" Requires="v">
                <p:oleObj spid="_x0000_s3159" name="" r:id="rId10" imgW="1231265" imgH="444500" progId="Equation.DSMT4">
                  <p:embed/>
                </p:oleObj>
              </mc:Choice>
              <mc:Fallback>
                <p:oleObj name="" r:id="rId10" imgW="1231265" imgH="444500" progId="Equation.DSMT4">
                  <p:embed/>
                  <p:pic>
                    <p:nvPicPr>
                      <p:cNvPr id="0" name="图片 3158"/>
                      <p:cNvPicPr/>
                      <p:nvPr/>
                    </p:nvPicPr>
                    <p:blipFill>
                      <a:blip r:embed="rId11"/>
                      <a:stretch>
                        <a:fillRect/>
                      </a:stretch>
                    </p:blipFill>
                    <p:spPr>
                      <a:xfrm>
                        <a:off x="7266940" y="5205730"/>
                        <a:ext cx="3198813" cy="1212850"/>
                      </a:xfrm>
                      <a:prstGeom prst="rect">
                        <a:avLst/>
                      </a:prstGeom>
                      <a:noFill/>
                      <a:ln w="38100" cap="flat" cmpd="dbl">
                        <a:solidFill>
                          <a:srgbClr val="C0C0C0"/>
                        </a:solidFill>
                        <a:prstDash val="solid"/>
                        <a:miter/>
                        <a:headEnd type="none" w="med" len="med"/>
                        <a:tailEnd type="none" w="med" len="med"/>
                      </a:ln>
                    </p:spPr>
                  </p:pic>
                </p:oleObj>
              </mc:Fallback>
            </mc:AlternateContent>
          </a:graphicData>
        </a:graphic>
      </p:graphicFrame>
      <p:graphicFrame>
        <p:nvGraphicFramePr>
          <p:cNvPr id="21" name="Object 25"/>
          <p:cNvGraphicFramePr>
            <a:graphicFrameLocks noChangeAspect="1"/>
          </p:cNvGraphicFramePr>
          <p:nvPr>
            <p:custDataLst>
              <p:tags r:id="rId12"/>
            </p:custDataLst>
          </p:nvPr>
        </p:nvGraphicFramePr>
        <p:xfrm>
          <a:off x="7163753" y="2595880"/>
          <a:ext cx="3475037" cy="1179513"/>
        </p:xfrm>
        <a:graphic>
          <a:graphicData uri="http://schemas.openxmlformats.org/presentationml/2006/ole">
            <mc:AlternateContent xmlns:mc="http://schemas.openxmlformats.org/markup-compatibility/2006">
              <mc:Choice xmlns:v="urn:schemas-microsoft-com:vml" Requires="v">
                <p:oleObj spid="_x0000_s3157" name="" r:id="rId13" imgW="1282700" imgH="444500" progId="Equation.DSMT4">
                  <p:embed/>
                </p:oleObj>
              </mc:Choice>
              <mc:Fallback>
                <p:oleObj name="" r:id="rId13" imgW="1282700" imgH="444500" progId="Equation.DSMT4">
                  <p:embed/>
                  <p:pic>
                    <p:nvPicPr>
                      <p:cNvPr id="0" name="图片 3156"/>
                      <p:cNvPicPr/>
                      <p:nvPr/>
                    </p:nvPicPr>
                    <p:blipFill>
                      <a:blip r:embed="rId14"/>
                      <a:stretch>
                        <a:fillRect/>
                      </a:stretch>
                    </p:blipFill>
                    <p:spPr>
                      <a:xfrm>
                        <a:off x="7163753" y="2595880"/>
                        <a:ext cx="3475037" cy="1179513"/>
                      </a:xfrm>
                      <a:prstGeom prst="rect">
                        <a:avLst/>
                      </a:prstGeom>
                      <a:noFill/>
                      <a:ln w="38100" cap="flat" cmpd="dbl">
                        <a:solidFill>
                          <a:srgbClr val="C0C0C0"/>
                        </a:solidFill>
                        <a:prstDash val="solid"/>
                        <a:miter/>
                        <a:headEnd type="none" w="med" len="med"/>
                        <a:tailEnd type="none" w="med" len="med"/>
                      </a:ln>
                    </p:spPr>
                  </p:pic>
                </p:oleObj>
              </mc:Fallback>
            </mc:AlternateContent>
          </a:graphicData>
        </a:graphic>
      </p:graphicFrame>
      <p:sp>
        <p:nvSpPr>
          <p:cNvPr id="22" name="Rectangle 26"/>
          <p:cNvSpPr>
            <a:spLocks noChangeArrowheads="1"/>
          </p:cNvSpPr>
          <p:nvPr>
            <p:custDataLst>
              <p:tags r:id="rId15"/>
            </p:custDataLst>
          </p:nvPr>
        </p:nvSpPr>
        <p:spPr bwMode="auto">
          <a:xfrm>
            <a:off x="7282815" y="3918268"/>
            <a:ext cx="1368425" cy="504825"/>
          </a:xfrm>
          <a:prstGeom prst="rect">
            <a:avLst/>
          </a:prstGeom>
          <a:noFill/>
          <a:ln w="9525">
            <a:noFill/>
            <a:miter lim="800000"/>
          </a:ln>
          <a:effectLst>
            <a:outerShdw blurRad="50800" dist="38100" dir="2700000" algn="tl" rotWithShape="0">
              <a:prstClr val="black">
                <a:alpha val="40000"/>
              </a:prstClr>
            </a:outerShdw>
          </a:effectLst>
        </p:spPr>
        <p:txBody>
          <a:bodyPr/>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rPr>
              <a:t>等概时：</a:t>
            </a: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p:txBody>
      </p:sp>
      <p:graphicFrame>
        <p:nvGraphicFramePr>
          <p:cNvPr id="26" name="Object 8"/>
          <p:cNvGraphicFramePr>
            <a:graphicFrameLocks noChangeAspect="1"/>
          </p:cNvGraphicFramePr>
          <p:nvPr>
            <p:custDataLst>
              <p:tags r:id="rId16"/>
            </p:custDataLst>
          </p:nvPr>
        </p:nvGraphicFramePr>
        <p:xfrm>
          <a:off x="4539615" y="4237355"/>
          <a:ext cx="1214438" cy="681038"/>
        </p:xfrm>
        <a:graphic>
          <a:graphicData uri="http://schemas.openxmlformats.org/presentationml/2006/ole">
            <mc:AlternateContent xmlns:mc="http://schemas.openxmlformats.org/markup-compatibility/2006">
              <mc:Choice xmlns:v="urn:schemas-microsoft-com:vml" Requires="v">
                <p:oleObj spid="_x0000_s3162" name="" r:id="rId17" imgW="431800" imgH="241300" progId="Equation.DSMT4">
                  <p:embed/>
                </p:oleObj>
              </mc:Choice>
              <mc:Fallback>
                <p:oleObj name="" r:id="rId17" imgW="431800" imgH="241300" progId="Equation.DSMT4">
                  <p:embed/>
                  <p:pic>
                    <p:nvPicPr>
                      <p:cNvPr id="0" name="图片 3161"/>
                      <p:cNvPicPr/>
                      <p:nvPr/>
                    </p:nvPicPr>
                    <p:blipFill>
                      <a:blip r:embed="rId18"/>
                      <a:stretch>
                        <a:fillRect/>
                      </a:stretch>
                    </p:blipFill>
                    <p:spPr>
                      <a:xfrm>
                        <a:off x="4539615" y="4237355"/>
                        <a:ext cx="1214438" cy="681038"/>
                      </a:xfrm>
                      <a:prstGeom prst="rect">
                        <a:avLst/>
                      </a:prstGeom>
                      <a:noFill/>
                      <a:ln w="38100" cap="flat" cmpd="dbl">
                        <a:solidFill>
                          <a:srgbClr val="C0C0C0"/>
                        </a:solidFill>
                        <a:prstDash val="solid"/>
                        <a:miter/>
                        <a:headEnd type="none" w="med" len="med"/>
                        <a:tailEnd type="none" w="med" len="med"/>
                      </a:ln>
                    </p:spPr>
                  </p:pic>
                </p:oleObj>
              </mc:Fallback>
            </mc:AlternateContent>
          </a:graphicData>
        </a:graphic>
      </p:graphicFrame>
      <p:graphicFrame>
        <p:nvGraphicFramePr>
          <p:cNvPr id="27" name="Object 9"/>
          <p:cNvGraphicFramePr>
            <a:graphicFrameLocks noChangeAspect="1"/>
          </p:cNvGraphicFramePr>
          <p:nvPr>
            <p:custDataLst>
              <p:tags r:id="rId19"/>
            </p:custDataLst>
          </p:nvPr>
        </p:nvGraphicFramePr>
        <p:xfrm>
          <a:off x="3182303" y="5204143"/>
          <a:ext cx="3000375" cy="1212850"/>
        </p:xfrm>
        <a:graphic>
          <a:graphicData uri="http://schemas.openxmlformats.org/presentationml/2006/ole">
            <mc:AlternateContent xmlns:mc="http://schemas.openxmlformats.org/markup-compatibility/2006">
              <mc:Choice xmlns:v="urn:schemas-microsoft-com:vml" Requires="v">
                <p:oleObj spid="_x0000_s3156" name="" r:id="rId20" imgW="1155065" imgH="444500" progId="Equation.DSMT4">
                  <p:embed/>
                </p:oleObj>
              </mc:Choice>
              <mc:Fallback>
                <p:oleObj name="" r:id="rId20" imgW="1155065" imgH="444500" progId="Equation.DSMT4">
                  <p:embed/>
                  <p:pic>
                    <p:nvPicPr>
                      <p:cNvPr id="0" name="图片 3155"/>
                      <p:cNvPicPr/>
                      <p:nvPr/>
                    </p:nvPicPr>
                    <p:blipFill>
                      <a:blip r:embed="rId21"/>
                      <a:stretch>
                        <a:fillRect/>
                      </a:stretch>
                    </p:blipFill>
                    <p:spPr>
                      <a:xfrm>
                        <a:off x="3182303" y="5204143"/>
                        <a:ext cx="3000375" cy="1212850"/>
                      </a:xfrm>
                      <a:prstGeom prst="rect">
                        <a:avLst/>
                      </a:prstGeom>
                      <a:noFill/>
                      <a:ln w="38100" cap="flat" cmpd="dbl">
                        <a:solidFill>
                          <a:srgbClr val="C0C0C0"/>
                        </a:solidFill>
                        <a:prstDash val="solid"/>
                        <a:miter/>
                        <a:headEnd type="none" w="med" len="med"/>
                        <a:tailEnd type="none" w="med" len="med"/>
                      </a:ln>
                    </p:spPr>
                  </p:pic>
                </p:oleObj>
              </mc:Fallback>
            </mc:AlternateContent>
          </a:graphicData>
        </a:graphic>
      </p:graphicFrame>
      <p:graphicFrame>
        <p:nvGraphicFramePr>
          <p:cNvPr id="28" name="Object 10"/>
          <p:cNvGraphicFramePr>
            <a:graphicFrameLocks noChangeAspect="1"/>
          </p:cNvGraphicFramePr>
          <p:nvPr>
            <p:custDataLst>
              <p:tags r:id="rId22"/>
            </p:custDataLst>
          </p:nvPr>
        </p:nvGraphicFramePr>
        <p:xfrm>
          <a:off x="3325178" y="2595880"/>
          <a:ext cx="2786062" cy="1179513"/>
        </p:xfrm>
        <a:graphic>
          <a:graphicData uri="http://schemas.openxmlformats.org/presentationml/2006/ole">
            <mc:AlternateContent xmlns:mc="http://schemas.openxmlformats.org/markup-compatibility/2006">
              <mc:Choice xmlns:v="urn:schemas-microsoft-com:vml" Requires="v">
                <p:oleObj spid="_x0000_s3155" name="" r:id="rId23" imgW="1028065" imgH="444500" progId="Equation.DSMT4">
                  <p:embed/>
                </p:oleObj>
              </mc:Choice>
              <mc:Fallback>
                <p:oleObj name="" r:id="rId23" imgW="1028065" imgH="444500" progId="Equation.DSMT4">
                  <p:embed/>
                  <p:pic>
                    <p:nvPicPr>
                      <p:cNvPr id="0" name="图片 3154"/>
                      <p:cNvPicPr/>
                      <p:nvPr/>
                    </p:nvPicPr>
                    <p:blipFill>
                      <a:blip r:embed="rId24"/>
                      <a:stretch>
                        <a:fillRect/>
                      </a:stretch>
                    </p:blipFill>
                    <p:spPr>
                      <a:xfrm>
                        <a:off x="3325178" y="2595880"/>
                        <a:ext cx="2786062" cy="1179513"/>
                      </a:xfrm>
                      <a:prstGeom prst="rect">
                        <a:avLst/>
                      </a:prstGeom>
                      <a:noFill/>
                      <a:ln w="38100" cap="flat" cmpd="dbl">
                        <a:solidFill>
                          <a:srgbClr val="C0C0C0"/>
                        </a:solidFill>
                        <a:prstDash val="solid"/>
                        <a:miter/>
                        <a:headEnd type="none" w="med" len="med"/>
                        <a:tailEnd type="none" w="med" len="med"/>
                      </a:ln>
                    </p:spPr>
                  </p:pic>
                </p:oleObj>
              </mc:Fallback>
            </mc:AlternateContent>
          </a:graphicData>
        </a:graphic>
      </p:graphicFrame>
      <p:sp>
        <p:nvSpPr>
          <p:cNvPr id="29" name="Rectangle 26"/>
          <p:cNvSpPr>
            <a:spLocks noChangeArrowheads="1"/>
          </p:cNvSpPr>
          <p:nvPr>
            <p:custDataLst>
              <p:tags r:id="rId25"/>
            </p:custDataLst>
          </p:nvPr>
        </p:nvSpPr>
        <p:spPr bwMode="auto">
          <a:xfrm>
            <a:off x="3099753" y="3918268"/>
            <a:ext cx="1368425" cy="504825"/>
          </a:xfrm>
          <a:prstGeom prst="rect">
            <a:avLst/>
          </a:prstGeom>
          <a:noFill/>
          <a:ln w="9525">
            <a:noFill/>
            <a:miter lim="800000"/>
          </a:ln>
          <a:effectLst>
            <a:outerShdw blurRad="50800" dist="38100" dir="2700000" algn="tl" rotWithShape="0">
              <a:prstClr val="black">
                <a:alpha val="40000"/>
              </a:prstClr>
            </a:outerShdw>
          </a:effectLst>
        </p:spPr>
        <p:txBody>
          <a:bodyPr/>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rPr>
              <a:t>等概时：</a:t>
            </a: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en-US" altLang="zh-CN" sz="2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p:txBody>
      </p:sp>
      <p:sp>
        <p:nvSpPr>
          <p:cNvPr id="10" name="Rectangle 10"/>
          <p:cNvSpPr/>
          <p:nvPr>
            <p:custDataLst>
              <p:tags r:id="rId26"/>
            </p:custDataLst>
          </p:nvPr>
        </p:nvSpPr>
        <p:spPr>
          <a:xfrm>
            <a:off x="844550" y="836930"/>
            <a:ext cx="6709410" cy="521970"/>
          </a:xfrm>
          <a:prstGeom prst="rect">
            <a:avLst/>
          </a:prstGeom>
          <a:solidFill>
            <a:schemeClr val="bg1"/>
          </a:solidFill>
          <a:ln w="9525">
            <a:noFill/>
          </a:ln>
          <a:effectLst>
            <a:prstShdw prst="shdw17" dist="17961" dir="2699999">
              <a:srgbClr val="999976"/>
            </a:prstShdw>
          </a:effectLst>
        </p:spPr>
        <p:txBody>
          <a:bodyPr wrap="square">
            <a:spAutoFit/>
          </a:bodyPr>
          <a:p>
            <a:pPr eaLnBrk="1" hangingPunct="1">
              <a:buClr>
                <a:srgbClr val="FF0000"/>
              </a:buClr>
              <a:buSzPct val="60000"/>
              <a:buFont typeface="Wingdings" panose="05000000000000000000" pitchFamily="2" charset="2"/>
              <a:buChar char="u"/>
            </a:pPr>
            <a:r>
              <a:rPr lang="zh-CN" altLang="en-US" sz="2800" b="1" dirty="0">
                <a:latin typeface="华文楷体" panose="02010600040101010101" charset="-122"/>
                <a:ea typeface="华文楷体" panose="02010600040101010101" charset="-122"/>
                <a:cs typeface="华文楷体" panose="02010600040101010101" charset="-122"/>
              </a:rPr>
              <a:t>基带系统的最佳判决门限和</a:t>
            </a:r>
            <a:r>
              <a:rPr lang="zh-CN" altLang="en-US" sz="2800" b="1" dirty="0">
                <a:solidFill>
                  <a:srgbClr val="FF0000"/>
                </a:solidFill>
                <a:latin typeface="华文楷体" panose="02010600040101010101" charset="-122"/>
                <a:ea typeface="华文楷体" panose="02010600040101010101" charset="-122"/>
                <a:cs typeface="华文楷体" panose="02010600040101010101" charset="-122"/>
              </a:rPr>
              <a:t>总误码率 </a:t>
            </a:r>
            <a:r>
              <a:rPr lang="en-US" altLang="zh-CN" sz="2800" b="1" dirty="0">
                <a:latin typeface="华文楷体" panose="02010600040101010101" charset="-122"/>
                <a:ea typeface="华文楷体" panose="02010600040101010101" charset="-122"/>
                <a:cs typeface="华文楷体" panose="02010600040101010101" charset="-122"/>
              </a:rPr>
              <a:t>:</a:t>
            </a:r>
            <a:endParaRPr lang="en-US" altLang="zh-CN" sz="2800" b="1" dirty="0">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6" name="Rectangle 3"/>
          <p:cNvSpPr txBox="1">
            <a:spLocks noChangeArrowheads="1"/>
          </p:cNvSpPr>
          <p:nvPr>
            <p:custDataLst>
              <p:tags r:id="rId2"/>
            </p:custDataLst>
          </p:nvPr>
        </p:nvSpPr>
        <p:spPr bwMode="auto">
          <a:xfrm>
            <a:off x="479425" y="620395"/>
            <a:ext cx="1384935" cy="571500"/>
          </a:xfrm>
          <a:prstGeom prst="rect">
            <a:avLst/>
          </a:prstGeom>
          <a:solidFill>
            <a:schemeClr val="bg2">
              <a:lumMod val="10000"/>
              <a:lumOff val="90000"/>
            </a:schemeClr>
          </a:solidFill>
          <a:ln w="9525">
            <a:noFill/>
            <a:miter lim="800000"/>
          </a:ln>
          <a:effectLst>
            <a:outerShdw blurRad="50800" dist="38100" dir="5400000" algn="t" rotWithShape="0">
              <a:prstClr val="black">
                <a:alpha val="40000"/>
              </a:prstClr>
            </a:outerShdw>
          </a:effectLst>
        </p:spPr>
        <p:txBody>
          <a:bodyPr/>
          <a:p>
            <a:pPr marL="342900" marR="0" indent="-342900" defTabSz="914400" eaLnBrk="1" hangingPunct="1">
              <a:spcBef>
                <a:spcPct val="20000"/>
              </a:spcBef>
              <a:buClr>
                <a:srgbClr val="FF0000"/>
              </a:buClr>
              <a:buSzPct val="70000"/>
              <a:buFont typeface="Wingdings" panose="05000000000000000000" pitchFamily="2" charset="2"/>
              <a:buChar char="n"/>
              <a:defRPr/>
            </a:pPr>
            <a:r>
              <a:rPr kumimoji="0" lang="zh-CN" altLang="en-US" sz="2800" b="1" kern="1200" cap="none" spc="0" normalizeH="0" baseline="0" noProof="0" dirty="0">
                <a:latin typeface="华文楷体" panose="02010600040101010101" charset="-122"/>
                <a:ea typeface="华文楷体" panose="02010600040101010101" charset="-122"/>
                <a:cs typeface="+mn-cs"/>
              </a:rPr>
              <a:t>眼图</a:t>
            </a:r>
            <a:endParaRPr kumimoji="0" lang="zh-CN" altLang="en-US" sz="2800" b="1" kern="1200" cap="none" spc="0" normalizeH="0" baseline="0" noProof="0" dirty="0">
              <a:latin typeface="华文楷体" panose="02010600040101010101" charset="-122"/>
              <a:ea typeface="华文楷体" panose="02010600040101010101" charset="-122"/>
              <a:cs typeface="+mn-cs"/>
            </a:endParaRPr>
          </a:p>
        </p:txBody>
      </p:sp>
      <p:graphicFrame>
        <p:nvGraphicFramePr>
          <p:cNvPr id="4" name="对象 -2147482044"/>
          <p:cNvGraphicFramePr>
            <a:graphicFrameLocks noChangeAspect="1"/>
          </p:cNvGraphicFramePr>
          <p:nvPr>
            <p:custDataLst>
              <p:tags r:id="rId3"/>
            </p:custDataLst>
          </p:nvPr>
        </p:nvGraphicFramePr>
        <p:xfrm>
          <a:off x="1127125" y="3068955"/>
          <a:ext cx="10593705" cy="3536315"/>
        </p:xfrm>
        <a:graphic>
          <a:graphicData uri="http://schemas.openxmlformats.org/presentationml/2006/ole">
            <mc:AlternateContent xmlns:mc="http://schemas.openxmlformats.org/markup-compatibility/2006">
              <mc:Choice xmlns:v="urn:schemas-microsoft-com:vml" Requires="v">
                <p:oleObj spid="_x0000_s48136" name="" r:id="rId4" imgW="3528060" imgH="1223645" progId="Word.Picture.8">
                  <p:embed/>
                </p:oleObj>
              </mc:Choice>
              <mc:Fallback>
                <p:oleObj name="" r:id="rId4" imgW="3528060" imgH="1223645" progId="Word.Picture.8">
                  <p:embed/>
                  <p:pic>
                    <p:nvPicPr>
                      <p:cNvPr id="0" name="图片 3075"/>
                      <p:cNvPicPr/>
                      <p:nvPr/>
                    </p:nvPicPr>
                    <p:blipFill>
                      <a:blip r:embed="rId5"/>
                      <a:stretch>
                        <a:fillRect/>
                      </a:stretch>
                    </p:blipFill>
                    <p:spPr>
                      <a:xfrm>
                        <a:off x="1127125" y="3068955"/>
                        <a:ext cx="10593705" cy="3536315"/>
                      </a:xfrm>
                      <a:prstGeom prst="rect">
                        <a:avLst/>
                      </a:prstGeom>
                      <a:noFill/>
                      <a:ln w="38100">
                        <a:noFill/>
                        <a:miter/>
                      </a:ln>
                    </p:spPr>
                  </p:pic>
                </p:oleObj>
              </mc:Fallback>
            </mc:AlternateContent>
          </a:graphicData>
        </a:graphic>
      </p:graphicFrame>
      <p:graphicFrame>
        <p:nvGraphicFramePr>
          <p:cNvPr id="225284" name="Object 10"/>
          <p:cNvGraphicFramePr>
            <a:graphicFrameLocks noChangeAspect="1"/>
          </p:cNvGraphicFramePr>
          <p:nvPr>
            <p:custDataLst>
              <p:tags r:id="rId6"/>
            </p:custDataLst>
          </p:nvPr>
        </p:nvGraphicFramePr>
        <p:xfrm>
          <a:off x="2135505" y="1341120"/>
          <a:ext cx="7740650" cy="1500188"/>
        </p:xfrm>
        <a:graphic>
          <a:graphicData uri="http://schemas.openxmlformats.org/presentationml/2006/ole">
            <mc:AlternateContent xmlns:mc="http://schemas.openxmlformats.org/markup-compatibility/2006">
              <mc:Choice xmlns:v="urn:schemas-microsoft-com:vml" Requires="v">
                <p:oleObj spid="_x0000_s3153" name="" r:id="rId7" imgW="3657600" imgH="707390" progId="Visio.Drawing.11">
                  <p:embed/>
                </p:oleObj>
              </mc:Choice>
              <mc:Fallback>
                <p:oleObj name="" r:id="rId7" imgW="3657600" imgH="707390" progId="Visio.Drawing.11">
                  <p:embed/>
                  <p:pic>
                    <p:nvPicPr>
                      <p:cNvPr id="0" name="图片 3152"/>
                      <p:cNvPicPr/>
                      <p:nvPr/>
                    </p:nvPicPr>
                    <p:blipFill>
                      <a:blip r:embed="rId8"/>
                      <a:stretch>
                        <a:fillRect/>
                      </a:stretch>
                    </p:blipFill>
                    <p:spPr>
                      <a:xfrm>
                        <a:off x="2135505" y="1341120"/>
                        <a:ext cx="7740650" cy="1500188"/>
                      </a:xfrm>
                      <a:prstGeom prst="rect">
                        <a:avLst/>
                      </a:prstGeom>
                      <a:noFill/>
                      <a:ln w="38100">
                        <a:noFill/>
                        <a:miter/>
                      </a:ln>
                    </p:spPr>
                  </p:pic>
                </p:oleObj>
              </mc:Fallback>
            </mc:AlternateContent>
          </a:graphicData>
        </a:graphic>
      </p:graphicFrame>
      <p:graphicFrame>
        <p:nvGraphicFramePr>
          <p:cNvPr id="60419" name="Object 3"/>
          <p:cNvGraphicFramePr>
            <a:graphicFrameLocks noChangeAspect="1"/>
          </p:cNvGraphicFramePr>
          <p:nvPr>
            <p:custDataLst>
              <p:tags r:id="rId9"/>
            </p:custDataLst>
          </p:nvPr>
        </p:nvGraphicFramePr>
        <p:xfrm>
          <a:off x="6518593" y="1350645"/>
          <a:ext cx="1428750" cy="1490663"/>
        </p:xfrm>
        <a:graphic>
          <a:graphicData uri="http://schemas.openxmlformats.org/presentationml/2006/ole">
            <mc:AlternateContent xmlns:mc="http://schemas.openxmlformats.org/markup-compatibility/2006">
              <mc:Choice xmlns:v="urn:schemas-microsoft-com:vml" Requires="v">
                <p:oleObj spid="_x0000_s3154" name="" r:id="rId10" imgW="841375" imgH="877570" progId="Visio.Drawing.11">
                  <p:embed/>
                </p:oleObj>
              </mc:Choice>
              <mc:Fallback>
                <p:oleObj name="" r:id="rId10" imgW="841375" imgH="877570" progId="Visio.Drawing.11">
                  <p:embed/>
                  <p:pic>
                    <p:nvPicPr>
                      <p:cNvPr id="0" name="图片 3153"/>
                      <p:cNvPicPr/>
                      <p:nvPr/>
                    </p:nvPicPr>
                    <p:blipFill>
                      <a:blip r:embed="rId11"/>
                      <a:stretch>
                        <a:fillRect/>
                      </a:stretch>
                    </p:blipFill>
                    <p:spPr>
                      <a:xfrm>
                        <a:off x="6518593" y="1350645"/>
                        <a:ext cx="1428750" cy="1490663"/>
                      </a:xfrm>
                      <a:prstGeom prst="rect">
                        <a:avLst/>
                      </a:prstGeom>
                      <a:noFill/>
                      <a:ln w="38100">
                        <a:noFill/>
                        <a:miter/>
                      </a:ln>
                    </p:spPr>
                  </p:pic>
                </p:oleObj>
              </mc:Fallback>
            </mc:AlternateContent>
          </a:graphicData>
        </a:graphic>
      </p:graphicFrame>
      <p:sp>
        <p:nvSpPr>
          <p:cNvPr id="60422" name="矩形 16"/>
          <p:cNvSpPr/>
          <p:nvPr>
            <p:custDataLst>
              <p:tags r:id="rId12"/>
            </p:custDataLst>
          </p:nvPr>
        </p:nvSpPr>
        <p:spPr>
          <a:xfrm>
            <a:off x="8093076" y="2309495"/>
            <a:ext cx="943610" cy="460375"/>
          </a:xfrm>
          <a:prstGeom prst="rect">
            <a:avLst/>
          </a:prstGeom>
          <a:noFill/>
          <a:ln w="9525">
            <a:noFill/>
          </a:ln>
        </p:spPr>
        <p:txBody>
          <a:bodyPr wrap="none">
            <a:spAutoFit/>
          </a:bodyPr>
          <a:p>
            <a:pPr algn="ctr"/>
            <a:r>
              <a:rPr lang="en-US" altLang="zh-CN" sz="2400" b="1" i="1" dirty="0">
                <a:solidFill>
                  <a:srgbClr val="0000CC"/>
                </a:solidFill>
                <a:latin typeface="华文楷体" panose="02010600040101010101" charset="-122"/>
                <a:ea typeface="华文楷体" panose="02010600040101010101" charset="-122"/>
                <a:cs typeface="Arial" panose="020B0604020202090204" pitchFamily="34" charset="0"/>
              </a:rPr>
              <a:t>T</a:t>
            </a:r>
            <a:r>
              <a:rPr lang="en-US" altLang="zh-CN" sz="2400" b="1" baseline="-30000" dirty="0">
                <a:solidFill>
                  <a:srgbClr val="0000CC"/>
                </a:solidFill>
                <a:latin typeface="华文楷体" panose="02010600040101010101" charset="-122"/>
                <a:ea typeface="华文楷体" panose="02010600040101010101" charset="-122"/>
                <a:cs typeface="Arial" panose="020B0604020202090204" pitchFamily="34" charset="0"/>
              </a:rPr>
              <a:t>c</a:t>
            </a:r>
            <a:r>
              <a:rPr lang="en-US" altLang="zh-CN" sz="2400" b="1" dirty="0">
                <a:solidFill>
                  <a:srgbClr val="0000CC"/>
                </a:solidFill>
                <a:latin typeface="华文楷体" panose="02010600040101010101" charset="-122"/>
                <a:ea typeface="华文楷体" panose="02010600040101010101" charset="-122"/>
                <a:cs typeface="Arial" panose="020B0604020202090204" pitchFamily="34" charset="0"/>
              </a:rPr>
              <a:t>=</a:t>
            </a:r>
            <a:r>
              <a:rPr lang="en-US" altLang="zh-CN" sz="2400" b="1" i="1" dirty="0">
                <a:solidFill>
                  <a:srgbClr val="0000CC"/>
                </a:solidFill>
                <a:latin typeface="华文楷体" panose="02010600040101010101" charset="-122"/>
                <a:ea typeface="华文楷体" panose="02010600040101010101" charset="-122"/>
                <a:cs typeface="Arial" panose="020B0604020202090204" pitchFamily="34" charset="0"/>
              </a:rPr>
              <a:t>T</a:t>
            </a:r>
            <a:r>
              <a:rPr lang="en-US" altLang="zh-CN" sz="2400" b="1" baseline="-30000" dirty="0">
                <a:solidFill>
                  <a:srgbClr val="0000CC"/>
                </a:solidFill>
                <a:latin typeface="华文楷体" panose="02010600040101010101" charset="-122"/>
                <a:ea typeface="华文楷体" panose="02010600040101010101" charset="-122"/>
                <a:cs typeface="Arial" panose="020B0604020202090204" pitchFamily="34" charset="0"/>
              </a:rPr>
              <a:t>S</a:t>
            </a:r>
            <a:endParaRPr lang="en-US" altLang="zh-CN" sz="2400" b="1" baseline="-30000" dirty="0">
              <a:solidFill>
                <a:srgbClr val="0000CC"/>
              </a:solidFill>
              <a:latin typeface="华文楷体" panose="02010600040101010101" charset="-122"/>
              <a:ea typeface="华文楷体" panose="02010600040101010101" charset="-122"/>
              <a:cs typeface="Arial" panose="020B0604020202090204" pitchFamily="34"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342796"/>
            <a:ext cx="10972800" cy="1143000"/>
          </a:xfrm>
        </p:spPr>
        <p:txBody>
          <a:bodyPr/>
          <a:p>
            <a:pPr marL="571500" indent="-571500" algn="l">
              <a:buFont typeface="Arial" panose="020B0604020202090204" pitchFamily="34" charset="0"/>
              <a:buChar char="•"/>
            </a:pPr>
            <a:r>
              <a:rPr lang="zh-CN" altLang="en-US" sz="3600">
                <a:latin typeface="华文楷体" panose="02010600040101010101" charset="-122"/>
                <a:ea typeface="华文楷体" panose="02010600040101010101" charset="-122"/>
                <a:sym typeface="+mn-ea"/>
              </a:rPr>
              <a:t>均衡技术</a:t>
            </a:r>
            <a:endParaRPr lang="zh-CN" altLang="en-US" sz="3600">
              <a:latin typeface="华文楷体" panose="02010600040101010101" charset="-122"/>
              <a:ea typeface="华文楷体" panose="02010600040101010101" charset="-122"/>
              <a:sym typeface="+mn-ea"/>
            </a:endParaRPr>
          </a:p>
        </p:txBody>
      </p:sp>
      <p:graphicFrame>
        <p:nvGraphicFramePr>
          <p:cNvPr id="263183" name="Object 15"/>
          <p:cNvGraphicFramePr>
            <a:graphicFrameLocks noChangeAspect="1"/>
          </p:cNvGraphicFramePr>
          <p:nvPr>
            <p:custDataLst>
              <p:tags r:id="rId3"/>
            </p:custDataLst>
          </p:nvPr>
        </p:nvGraphicFramePr>
        <p:xfrm>
          <a:off x="6156960" y="4098290"/>
          <a:ext cx="984250" cy="612775"/>
        </p:xfrm>
        <a:graphic>
          <a:graphicData uri="http://schemas.openxmlformats.org/presentationml/2006/ole">
            <mc:AlternateContent xmlns:mc="http://schemas.openxmlformats.org/markup-compatibility/2006">
              <mc:Choice xmlns:v="urn:schemas-microsoft-com:vml" Requires="v">
                <p:oleObj spid="_x0000_s3284" name="" r:id="rId4" imgW="469900" imgH="292100" progId="Equation.DSMT4">
                  <p:embed/>
                </p:oleObj>
              </mc:Choice>
              <mc:Fallback>
                <p:oleObj name="" r:id="rId4" imgW="469900" imgH="292100" progId="Equation.DSMT4">
                  <p:embed/>
                  <p:pic>
                    <p:nvPicPr>
                      <p:cNvPr id="0" name="图片 3283"/>
                      <p:cNvPicPr/>
                      <p:nvPr/>
                    </p:nvPicPr>
                    <p:blipFill>
                      <a:blip r:embed="rId5"/>
                      <a:stretch>
                        <a:fillRect/>
                      </a:stretch>
                    </p:blipFill>
                    <p:spPr>
                      <a:xfrm>
                        <a:off x="6156960" y="4098290"/>
                        <a:ext cx="984250" cy="612775"/>
                      </a:xfrm>
                      <a:prstGeom prst="rect">
                        <a:avLst/>
                      </a:prstGeom>
                      <a:noFill/>
                      <a:ln w="38100">
                        <a:noFill/>
                        <a:miter/>
                      </a:ln>
                    </p:spPr>
                  </p:pic>
                </p:oleObj>
              </mc:Fallback>
            </mc:AlternateContent>
          </a:graphicData>
        </a:graphic>
      </p:graphicFrame>
      <p:sp>
        <p:nvSpPr>
          <p:cNvPr id="263186" name="AutoShape 18"/>
          <p:cNvSpPr>
            <a:spLocks noChangeArrowheads="1"/>
          </p:cNvSpPr>
          <p:nvPr>
            <p:custDataLst>
              <p:tags r:id="rId6"/>
            </p:custDataLst>
          </p:nvPr>
        </p:nvSpPr>
        <p:spPr bwMode="auto">
          <a:xfrm>
            <a:off x="6569710" y="2383790"/>
            <a:ext cx="1143000" cy="857250"/>
          </a:xfrm>
          <a:prstGeom prst="wedgeRoundRectCallout">
            <a:avLst>
              <a:gd name="adj1" fmla="val -44989"/>
              <a:gd name="adj2" fmla="val 99156"/>
              <a:gd name="adj3" fmla="val 16667"/>
            </a:avLst>
          </a:prstGeom>
          <a:solidFill>
            <a:schemeClr val="bg2">
              <a:lumMod val="10000"/>
              <a:lumOff val="90000"/>
            </a:schemeClr>
          </a:solidFill>
          <a:ln w="9525">
            <a:solidFill>
              <a:srgbClr val="003399"/>
            </a:solidFill>
            <a:prstDash val="dash"/>
            <a:miter lim="800000"/>
          </a:ln>
        </p:spPr>
        <p:txBody>
          <a:bodyPr/>
          <a:p>
            <a:pPr eaLnBrk="1" hangingPunct="1">
              <a:buNone/>
            </a:pPr>
            <a:r>
              <a:rPr lang="zh-CN" altLang="en-US" sz="2400" b="1" dirty="0">
                <a:solidFill>
                  <a:srgbClr val="0000CC"/>
                </a:solidFill>
                <a:latin typeface="华文楷体" panose="02010600040101010101" charset="-122"/>
                <a:ea typeface="华文楷体" panose="02010600040101010101" charset="-122"/>
                <a:cs typeface="华文楷体" panose="02010600040101010101" charset="-122"/>
              </a:rPr>
              <a:t>有 </a:t>
            </a:r>
            <a:r>
              <a:rPr lang="en-US" altLang="zh-CN" sz="2400" dirty="0">
                <a:latin typeface="华文楷体" panose="02010600040101010101" charset="-122"/>
                <a:ea typeface="华文楷体" panose="02010600040101010101" charset="-122"/>
                <a:cs typeface="华文楷体" panose="02010600040101010101" charset="-122"/>
              </a:rPr>
              <a:t>ISI</a:t>
            </a:r>
            <a:endParaRPr lang="en-US" altLang="zh-CN" sz="2400" dirty="0">
              <a:latin typeface="华文楷体" panose="02010600040101010101" charset="-122"/>
              <a:ea typeface="华文楷体" panose="02010600040101010101" charset="-122"/>
              <a:cs typeface="华文楷体" panose="02010600040101010101" charset="-122"/>
            </a:endParaRPr>
          </a:p>
          <a:p>
            <a:pPr eaLnBrk="1" hangingPunct="1">
              <a:buNone/>
            </a:pPr>
            <a:r>
              <a:rPr lang="en-US" altLang="zh-CN" sz="2400" b="1" dirty="0">
                <a:solidFill>
                  <a:srgbClr val="000099"/>
                </a:solidFill>
                <a:latin typeface="华文楷体" panose="02010600040101010101" charset="-122"/>
                <a:ea typeface="华文楷体" panose="02010600040101010101" charset="-122"/>
                <a:cs typeface="华文楷体" panose="02010600040101010101" charset="-122"/>
              </a:rPr>
              <a:t>    𝑥 </a:t>
            </a:r>
            <a:r>
              <a:rPr lang="en-US" altLang="zh-CN" sz="2400" dirty="0">
                <a:solidFill>
                  <a:srgbClr val="000099"/>
                </a:solidFill>
                <a:latin typeface="华文楷体" panose="02010600040101010101" charset="-122"/>
                <a:ea typeface="华文楷体" panose="02010600040101010101" charset="-122"/>
                <a:cs typeface="华文楷体" panose="02010600040101010101" charset="-122"/>
              </a:rPr>
              <a:t>(𝑡</a:t>
            </a:r>
            <a:r>
              <a:rPr lang="en-US" altLang="zh-CN" sz="2400" dirty="0">
                <a:solidFill>
                  <a:srgbClr val="000099"/>
                </a:solidFill>
                <a:latin typeface="华文楷体" panose="02010600040101010101" charset="-122"/>
                <a:ea typeface="华文楷体" panose="02010600040101010101" charset="-122"/>
                <a:cs typeface="华文楷体" panose="02010600040101010101" charset="-122"/>
              </a:rPr>
              <a:t>)</a:t>
            </a:r>
            <a:endParaRPr lang="en-US" altLang="zh-CN" sz="2400" dirty="0">
              <a:solidFill>
                <a:srgbClr val="000099"/>
              </a:solidFill>
              <a:latin typeface="华文楷体" panose="02010600040101010101" charset="-122"/>
              <a:ea typeface="华文楷体" panose="02010600040101010101" charset="-122"/>
              <a:cs typeface="华文楷体" panose="02010600040101010101" charset="-122"/>
            </a:endParaRPr>
          </a:p>
          <a:p>
            <a:pPr eaLnBrk="1" hangingPunct="1">
              <a:buNone/>
            </a:pPr>
            <a:endParaRPr lang="en-US" altLang="zh-CN" sz="2000" b="1" dirty="0">
              <a:latin typeface="华文楷体" panose="02010600040101010101" charset="-122"/>
              <a:ea typeface="华文楷体" panose="02010600040101010101" charset="-122"/>
              <a:cs typeface="华文楷体" panose="02010600040101010101" charset="-122"/>
            </a:endParaRPr>
          </a:p>
        </p:txBody>
      </p:sp>
      <p:sp>
        <p:nvSpPr>
          <p:cNvPr id="263194" name="Rectangle 26"/>
          <p:cNvSpPr/>
          <p:nvPr>
            <p:custDataLst>
              <p:tags r:id="rId7"/>
            </p:custDataLst>
          </p:nvPr>
        </p:nvSpPr>
        <p:spPr>
          <a:xfrm>
            <a:off x="5355273" y="3491865"/>
            <a:ext cx="2786062" cy="1106488"/>
          </a:xfrm>
          <a:prstGeom prst="rect">
            <a:avLst/>
          </a:prstGeom>
          <a:noFill/>
          <a:ln w="12700" cap="flat" cmpd="sng">
            <a:solidFill>
              <a:srgbClr val="800080"/>
            </a:solidFill>
            <a:prstDash val="dash"/>
            <a:miter/>
            <a:headEnd type="none" w="med" len="med"/>
            <a:tailEnd type="none" w="med" len="med"/>
          </a:ln>
        </p:spPr>
        <p:txBody>
          <a:bodyPr wrap="none" anchor="ctr" anchorCtr="0"/>
          <a:p>
            <a:pPr eaLnBrk="1" hangingPunct="1"/>
            <a:endParaRPr lang="zh-CN" altLang="en-US" dirty="0">
              <a:latin typeface="华文楷体" panose="02010600040101010101" charset="-122"/>
              <a:ea typeface="华文楷体" panose="02010600040101010101" charset="-122"/>
            </a:endParaRPr>
          </a:p>
        </p:txBody>
      </p:sp>
      <p:sp>
        <p:nvSpPr>
          <p:cNvPr id="25" name="矩形 6"/>
          <p:cNvSpPr/>
          <p:nvPr>
            <p:custDataLst>
              <p:tags r:id="rId8"/>
            </p:custDataLst>
          </p:nvPr>
        </p:nvSpPr>
        <p:spPr>
          <a:xfrm>
            <a:off x="2202498" y="1097915"/>
            <a:ext cx="1500187" cy="523875"/>
          </a:xfrm>
          <a:prstGeom prst="rect">
            <a:avLst/>
          </a:prstGeom>
          <a:noFill/>
          <a:ln w="9525">
            <a:noFill/>
          </a:ln>
        </p:spPr>
        <p:txBody>
          <a:bodyPr>
            <a:spAutoFit/>
          </a:bodyPr>
          <a:p>
            <a:pPr marL="342900" indent="-342900" eaLnBrk="1" hangingPunct="1">
              <a:spcBef>
                <a:spcPct val="20000"/>
              </a:spcBef>
              <a:buClr>
                <a:srgbClr val="FF0000"/>
              </a:buClr>
              <a:buSzPct val="70000"/>
              <a:buFont typeface="Wingdings" panose="05000000000000000000" pitchFamily="2" charset="2"/>
              <a:buChar char="n"/>
            </a:pPr>
            <a:r>
              <a:rPr lang="zh-CN" altLang="en-US" sz="2800" b="1" dirty="0">
                <a:latin typeface="华文楷体" panose="02010600040101010101" charset="-122"/>
                <a:ea typeface="华文楷体" panose="02010600040101010101" charset="-122"/>
              </a:rPr>
              <a:t>目的：</a:t>
            </a:r>
            <a:endParaRPr lang="zh-CN" altLang="en-US" sz="2800" b="1" dirty="0">
              <a:latin typeface="华文楷体" panose="02010600040101010101" charset="-122"/>
              <a:ea typeface="华文楷体" panose="02010600040101010101" charset="-122"/>
            </a:endParaRPr>
          </a:p>
        </p:txBody>
      </p:sp>
      <p:sp>
        <p:nvSpPr>
          <p:cNvPr id="69644" name="矩形 25"/>
          <p:cNvSpPr/>
          <p:nvPr>
            <p:custDataLst>
              <p:tags r:id="rId9"/>
            </p:custDataLst>
          </p:nvPr>
        </p:nvSpPr>
        <p:spPr>
          <a:xfrm>
            <a:off x="3774123" y="1169353"/>
            <a:ext cx="4000500" cy="461962"/>
          </a:xfrm>
          <a:prstGeom prst="rect">
            <a:avLst/>
          </a:prstGeom>
          <a:noFill/>
          <a:ln w="9525">
            <a:noFill/>
          </a:ln>
        </p:spPr>
        <p:txBody>
          <a:bodyPr>
            <a:spAutoFit/>
          </a:bodyPr>
          <a:p>
            <a:pPr eaLnBrk="1" hangingPunct="1"/>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rPr>
              <a:t>消除或减小码间串扰（</a:t>
            </a:r>
            <a:r>
              <a:rPr lang="en-US" altLang="zh-CN" sz="2400" b="1" dirty="0">
                <a:solidFill>
                  <a:srgbClr val="000000"/>
                </a:solidFill>
                <a:latin typeface="华文楷体" panose="02010600040101010101" charset="-122"/>
                <a:ea typeface="华文楷体" panose="02010600040101010101" charset="-122"/>
                <a:cs typeface="华文楷体" panose="02010600040101010101" charset="-122"/>
              </a:rPr>
              <a:t>ISI</a:t>
            </a:r>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rPr>
              <a:t>）</a:t>
            </a:r>
            <a:endParaRPr lang="zh-CN" altLang="en-US" dirty="0">
              <a:latin typeface="华文楷体" panose="02010600040101010101" charset="-122"/>
              <a:ea typeface="华文楷体" panose="02010600040101010101" charset="-122"/>
              <a:cs typeface="华文楷体" panose="02010600040101010101" charset="-122"/>
            </a:endParaRPr>
          </a:p>
        </p:txBody>
      </p:sp>
      <p:sp>
        <p:nvSpPr>
          <p:cNvPr id="27" name="矩形 6"/>
          <p:cNvSpPr/>
          <p:nvPr>
            <p:custDataLst>
              <p:tags r:id="rId10"/>
            </p:custDataLst>
          </p:nvPr>
        </p:nvSpPr>
        <p:spPr>
          <a:xfrm>
            <a:off x="2202498" y="1812290"/>
            <a:ext cx="1500187" cy="523875"/>
          </a:xfrm>
          <a:prstGeom prst="rect">
            <a:avLst/>
          </a:prstGeom>
          <a:noFill/>
          <a:ln w="9525">
            <a:noFill/>
          </a:ln>
        </p:spPr>
        <p:txBody>
          <a:bodyPr>
            <a:spAutoFit/>
          </a:bodyPr>
          <a:p>
            <a:pPr marL="342900" indent="-342900" eaLnBrk="1" hangingPunct="1">
              <a:spcBef>
                <a:spcPct val="20000"/>
              </a:spcBef>
              <a:buClr>
                <a:srgbClr val="FF0000"/>
              </a:buClr>
              <a:buSzPct val="70000"/>
              <a:buFont typeface="Wingdings" panose="05000000000000000000" pitchFamily="2" charset="2"/>
              <a:buChar char="n"/>
            </a:pPr>
            <a:r>
              <a:rPr lang="zh-CN" altLang="en-US" sz="2800" b="1" dirty="0">
                <a:latin typeface="华文楷体" panose="02010600040101010101" charset="-122"/>
                <a:ea typeface="华文楷体" panose="02010600040101010101" charset="-122"/>
              </a:rPr>
              <a:t>方法：</a:t>
            </a:r>
            <a:endParaRPr lang="zh-CN" altLang="en-US" sz="2800" b="1" dirty="0">
              <a:latin typeface="华文楷体" panose="02010600040101010101" charset="-122"/>
              <a:ea typeface="华文楷体" panose="02010600040101010101" charset="-122"/>
            </a:endParaRPr>
          </a:p>
        </p:txBody>
      </p:sp>
      <p:sp>
        <p:nvSpPr>
          <p:cNvPr id="69646" name="矩形 27"/>
          <p:cNvSpPr/>
          <p:nvPr>
            <p:custDataLst>
              <p:tags r:id="rId11"/>
            </p:custDataLst>
          </p:nvPr>
        </p:nvSpPr>
        <p:spPr>
          <a:xfrm>
            <a:off x="3774123" y="1883728"/>
            <a:ext cx="3571875" cy="492125"/>
          </a:xfrm>
          <a:prstGeom prst="rect">
            <a:avLst/>
          </a:prstGeom>
          <a:noFill/>
          <a:ln w="9525">
            <a:noFill/>
          </a:ln>
        </p:spPr>
        <p:txBody>
          <a:bodyPr>
            <a:spAutoFit/>
          </a:bodyPr>
          <a:p>
            <a:pPr marL="285750" indent="-285750" eaLnBrk="1" hangingPunct="1">
              <a:lnSpc>
                <a:spcPct val="120000"/>
              </a:lnSpc>
              <a:buClr>
                <a:srgbClr val="0033CC"/>
              </a:buClr>
              <a:buSzPct val="55000"/>
            </a:pPr>
            <a:r>
              <a:rPr lang="zh-CN" altLang="en-US" sz="2400" b="1" dirty="0">
                <a:solidFill>
                  <a:srgbClr val="000000"/>
                </a:solidFill>
                <a:latin typeface="华文楷体" panose="02010600040101010101" charset="-122"/>
                <a:ea typeface="华文楷体" panose="02010600040101010101" charset="-122"/>
                <a:cs typeface="华文楷体" panose="02010600040101010101" charset="-122"/>
              </a:rPr>
              <a:t>频域均衡 </a:t>
            </a:r>
            <a:r>
              <a:rPr lang="zh-CN" altLang="en-US" sz="2400" dirty="0">
                <a:solidFill>
                  <a:srgbClr val="000000"/>
                </a:solidFill>
                <a:latin typeface="华文楷体" panose="02010600040101010101" charset="-122"/>
                <a:ea typeface="华文楷体" panose="02010600040101010101" charset="-122"/>
                <a:cs typeface="华文楷体" panose="02010600040101010101" charset="-122"/>
              </a:rPr>
              <a:t>和 </a:t>
            </a:r>
            <a:r>
              <a:rPr lang="zh-CN" altLang="en-US" sz="2400" b="1" dirty="0">
                <a:latin typeface="华文楷体" panose="02010600040101010101" charset="-122"/>
                <a:ea typeface="华文楷体" panose="02010600040101010101" charset="-122"/>
                <a:cs typeface="华文楷体" panose="02010600040101010101" charset="-122"/>
              </a:rPr>
              <a:t>时域均衡</a:t>
            </a:r>
            <a:endParaRPr lang="zh-CN" altLang="en-US" sz="2400" dirty="0">
              <a:latin typeface="华文楷体" panose="02010600040101010101" charset="-122"/>
              <a:ea typeface="华文楷体" panose="02010600040101010101" charset="-122"/>
              <a:cs typeface="华文楷体" panose="02010600040101010101" charset="-122"/>
            </a:endParaRPr>
          </a:p>
        </p:txBody>
      </p:sp>
      <p:sp>
        <p:nvSpPr>
          <p:cNvPr id="30" name="矩形 6"/>
          <p:cNvSpPr/>
          <p:nvPr>
            <p:custDataLst>
              <p:tags r:id="rId12"/>
            </p:custDataLst>
          </p:nvPr>
        </p:nvSpPr>
        <p:spPr>
          <a:xfrm>
            <a:off x="2202498" y="2574290"/>
            <a:ext cx="2000250" cy="521970"/>
          </a:xfrm>
          <a:prstGeom prst="rect">
            <a:avLst/>
          </a:prstGeom>
          <a:noFill/>
          <a:ln w="9525">
            <a:noFill/>
          </a:ln>
        </p:spPr>
        <p:txBody>
          <a:bodyPr>
            <a:spAutoFit/>
          </a:bodyPr>
          <a:p>
            <a:pPr marL="342900" indent="-342900" eaLnBrk="1" hangingPunct="1">
              <a:spcBef>
                <a:spcPct val="20000"/>
              </a:spcBef>
              <a:buClr>
                <a:srgbClr val="FF0000"/>
              </a:buClr>
              <a:buSzPct val="70000"/>
              <a:buFont typeface="Wingdings" panose="05000000000000000000" pitchFamily="2" charset="2"/>
              <a:buChar char="n"/>
            </a:pPr>
            <a:r>
              <a:rPr lang="zh-CN" altLang="en-US" sz="2800" b="1" dirty="0">
                <a:latin typeface="华文楷体" panose="02010600040101010101" charset="-122"/>
                <a:ea typeface="华文楷体" panose="02010600040101010101" charset="-122"/>
              </a:rPr>
              <a:t>均衡原理：</a:t>
            </a:r>
            <a:endParaRPr lang="zh-CN" altLang="en-US" sz="2800" b="1" dirty="0">
              <a:latin typeface="华文楷体" panose="02010600040101010101" charset="-122"/>
              <a:ea typeface="华文楷体" panose="02010600040101010101" charset="-122"/>
            </a:endParaRPr>
          </a:p>
        </p:txBody>
      </p:sp>
      <p:graphicFrame>
        <p:nvGraphicFramePr>
          <p:cNvPr id="69635" name="Object 23"/>
          <p:cNvGraphicFramePr>
            <a:graphicFrameLocks noChangeAspect="1"/>
          </p:cNvGraphicFramePr>
          <p:nvPr>
            <p:custDataLst>
              <p:tags r:id="rId13"/>
            </p:custDataLst>
          </p:nvPr>
        </p:nvGraphicFramePr>
        <p:xfrm>
          <a:off x="4783773" y="3026728"/>
          <a:ext cx="5276850" cy="1143000"/>
        </p:xfrm>
        <a:graphic>
          <a:graphicData uri="http://schemas.openxmlformats.org/presentationml/2006/ole">
            <mc:AlternateContent xmlns:mc="http://schemas.openxmlformats.org/markup-compatibility/2006">
              <mc:Choice xmlns:v="urn:schemas-microsoft-com:vml" Requires="v">
                <p:oleObj spid="_x0000_s3285" name="" r:id="rId14" imgW="2645410" imgH="572770" progId="Visio.Drawing.11">
                  <p:embed/>
                </p:oleObj>
              </mc:Choice>
              <mc:Fallback>
                <p:oleObj name="" r:id="rId14" imgW="2645410" imgH="572770" progId="Visio.Drawing.11">
                  <p:embed/>
                  <p:pic>
                    <p:nvPicPr>
                      <p:cNvPr id="0" name="图片 3284"/>
                      <p:cNvPicPr/>
                      <p:nvPr/>
                    </p:nvPicPr>
                    <p:blipFill>
                      <a:blip r:embed="rId15"/>
                      <a:stretch>
                        <a:fillRect/>
                      </a:stretch>
                    </p:blipFill>
                    <p:spPr>
                      <a:xfrm>
                        <a:off x="4783773" y="3026728"/>
                        <a:ext cx="5276850" cy="1143000"/>
                      </a:xfrm>
                      <a:prstGeom prst="rect">
                        <a:avLst/>
                      </a:prstGeom>
                      <a:noFill/>
                      <a:ln w="38100">
                        <a:noFill/>
                        <a:miter/>
                      </a:ln>
                    </p:spPr>
                  </p:pic>
                </p:oleObj>
              </mc:Fallback>
            </mc:AlternateContent>
          </a:graphicData>
        </a:graphic>
      </p:graphicFrame>
      <p:sp>
        <p:nvSpPr>
          <p:cNvPr id="33" name="AutoShape 18"/>
          <p:cNvSpPr>
            <a:spLocks noChangeArrowheads="1"/>
          </p:cNvSpPr>
          <p:nvPr>
            <p:custDataLst>
              <p:tags r:id="rId16"/>
            </p:custDataLst>
          </p:nvPr>
        </p:nvSpPr>
        <p:spPr bwMode="auto">
          <a:xfrm>
            <a:off x="8069898" y="2383790"/>
            <a:ext cx="1143000" cy="857250"/>
          </a:xfrm>
          <a:prstGeom prst="wedgeRoundRectCallout">
            <a:avLst>
              <a:gd name="adj1" fmla="val -46219"/>
              <a:gd name="adj2" fmla="val 101176"/>
              <a:gd name="adj3" fmla="val 16667"/>
            </a:avLst>
          </a:prstGeom>
          <a:solidFill>
            <a:schemeClr val="bg2">
              <a:lumMod val="10000"/>
              <a:lumOff val="90000"/>
            </a:schemeClr>
          </a:solidFill>
          <a:ln w="9525">
            <a:solidFill>
              <a:srgbClr val="003399"/>
            </a:solidFill>
            <a:prstDash val="dash"/>
            <a:miter lim="800000"/>
          </a:ln>
        </p:spPr>
        <p:txBody>
          <a:bodyPr/>
          <a:p>
            <a:pPr eaLnBrk="1" hangingPunct="1">
              <a:buNone/>
            </a:pPr>
            <a:r>
              <a:rPr lang="zh-CN" altLang="en-US" sz="2400" b="1" dirty="0">
                <a:solidFill>
                  <a:srgbClr val="FF0000"/>
                </a:solidFill>
                <a:latin typeface="华文楷体" panose="02010600040101010101" charset="-122"/>
                <a:ea typeface="华文楷体" panose="02010600040101010101" charset="-122"/>
                <a:cs typeface="华文楷体" panose="02010600040101010101" charset="-122"/>
              </a:rPr>
              <a:t>无 </a:t>
            </a:r>
            <a:r>
              <a:rPr lang="en-US" altLang="zh-CN" sz="2400" dirty="0">
                <a:latin typeface="华文楷体" panose="02010600040101010101" charset="-122"/>
                <a:ea typeface="华文楷体" panose="02010600040101010101" charset="-122"/>
                <a:cs typeface="华文楷体" panose="02010600040101010101" charset="-122"/>
              </a:rPr>
              <a:t>ISI</a:t>
            </a:r>
            <a:r>
              <a:rPr lang="en-US" altLang="zh-CN" sz="2400" b="1" dirty="0">
                <a:latin typeface="华文楷体" panose="02010600040101010101" charset="-122"/>
                <a:ea typeface="华文楷体" panose="02010600040101010101" charset="-122"/>
                <a:cs typeface="华文楷体" panose="02010600040101010101" charset="-122"/>
              </a:rPr>
              <a:t>   </a:t>
            </a:r>
            <a:endParaRPr lang="en-US" altLang="zh-CN" sz="2400" b="1" dirty="0">
              <a:latin typeface="华文楷体" panose="02010600040101010101" charset="-122"/>
              <a:ea typeface="华文楷体" panose="02010600040101010101" charset="-122"/>
              <a:cs typeface="华文楷体" panose="02010600040101010101" charset="-122"/>
            </a:endParaRPr>
          </a:p>
          <a:p>
            <a:pPr eaLnBrk="1" hangingPunct="1">
              <a:buNone/>
            </a:pPr>
            <a:r>
              <a:rPr lang="en-US" altLang="zh-CN" sz="2000" b="1" dirty="0">
                <a:solidFill>
                  <a:srgbClr val="FF0000"/>
                </a:solidFill>
                <a:latin typeface="华文楷体" panose="02010600040101010101" charset="-122"/>
                <a:ea typeface="华文楷体" panose="02010600040101010101" charset="-122"/>
                <a:cs typeface="华文楷体" panose="02010600040101010101" charset="-122"/>
              </a:rPr>
              <a:t>    </a:t>
            </a:r>
            <a:r>
              <a:rPr lang="en-US" altLang="zh-CN" sz="2400" b="1" dirty="0">
                <a:solidFill>
                  <a:srgbClr val="FF0000"/>
                </a:solidFill>
                <a:latin typeface="华文楷体" panose="02010600040101010101" charset="-122"/>
                <a:ea typeface="华文楷体" panose="02010600040101010101" charset="-122"/>
                <a:cs typeface="华文楷体" panose="02010600040101010101" charset="-122"/>
              </a:rPr>
              <a:t>𝑦  </a:t>
            </a:r>
            <a:r>
              <a:rPr lang="en-US" altLang="zh-CN" sz="2400" dirty="0">
                <a:solidFill>
                  <a:srgbClr val="FF0000"/>
                </a:solidFill>
                <a:latin typeface="华文楷体" panose="02010600040101010101" charset="-122"/>
                <a:ea typeface="华文楷体" panose="02010600040101010101" charset="-122"/>
                <a:cs typeface="华文楷体" panose="02010600040101010101" charset="-122"/>
              </a:rPr>
              <a:t>(𝑡</a:t>
            </a:r>
            <a:r>
              <a:rPr lang="en-US" altLang="zh-CN" sz="2400" dirty="0">
                <a:solidFill>
                  <a:srgbClr val="FF0000"/>
                </a:solidFill>
                <a:latin typeface="华文楷体" panose="02010600040101010101" charset="-122"/>
                <a:ea typeface="华文楷体" panose="02010600040101010101" charset="-122"/>
                <a:cs typeface="华文楷体" panose="02010600040101010101" charset="-122"/>
              </a:rPr>
              <a:t>)</a:t>
            </a:r>
            <a:endParaRPr lang="en-US" altLang="zh-CN" sz="2400" dirty="0">
              <a:solidFill>
                <a:srgbClr val="FF0000"/>
              </a:solidFill>
              <a:latin typeface="华文楷体" panose="02010600040101010101" charset="-122"/>
              <a:ea typeface="华文楷体" panose="02010600040101010101" charset="-122"/>
              <a:cs typeface="华文楷体" panose="02010600040101010101" charset="-122"/>
            </a:endParaRPr>
          </a:p>
        </p:txBody>
      </p:sp>
      <p:sp>
        <p:nvSpPr>
          <p:cNvPr id="36" name="AutoShape 18"/>
          <p:cNvSpPr>
            <a:spLocks noChangeArrowheads="1"/>
          </p:cNvSpPr>
          <p:nvPr>
            <p:custDataLst>
              <p:tags r:id="rId17"/>
            </p:custDataLst>
          </p:nvPr>
        </p:nvSpPr>
        <p:spPr bwMode="auto">
          <a:xfrm>
            <a:off x="4702810" y="2740978"/>
            <a:ext cx="1214438" cy="500063"/>
          </a:xfrm>
          <a:prstGeom prst="wedgeRoundRectCallout">
            <a:avLst>
              <a:gd name="adj1" fmla="val 31463"/>
              <a:gd name="adj2" fmla="val 118848"/>
              <a:gd name="adj3" fmla="val 16667"/>
            </a:avLst>
          </a:prstGeom>
          <a:solidFill>
            <a:schemeClr val="bg2">
              <a:lumMod val="10000"/>
              <a:lumOff val="90000"/>
            </a:schemeClr>
          </a:solidFill>
          <a:ln w="9525">
            <a:solidFill>
              <a:srgbClr val="003399"/>
            </a:solidFill>
            <a:prstDash val="dash"/>
            <a:miter lim="800000"/>
          </a:ln>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CC"/>
                </a:solidFill>
                <a:effectLst/>
                <a:uLnTx/>
                <a:uFillTx/>
                <a:latin typeface="华文楷体" panose="02010600040101010101" charset="-122"/>
                <a:ea typeface="华文楷体" panose="02010600040101010101" charset="-122"/>
                <a:cs typeface="+mn-cs"/>
              </a:rPr>
              <a:t>有</a:t>
            </a:r>
            <a:r>
              <a:rPr kumimoji="0" lang="zh-CN" altLang="en-US" sz="24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rPr>
              <a:t>误差</a:t>
            </a:r>
            <a:endParaRPr kumimoji="0" lang="en-US" altLang="zh-CN" sz="24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mn-cs"/>
            </a:endParaRPr>
          </a:p>
        </p:txBody>
      </p:sp>
      <p:sp>
        <p:nvSpPr>
          <p:cNvPr id="4" name="矩形 6"/>
          <p:cNvSpPr/>
          <p:nvPr>
            <p:custDataLst>
              <p:tags r:id="rId18"/>
            </p:custDataLst>
          </p:nvPr>
        </p:nvSpPr>
        <p:spPr>
          <a:xfrm>
            <a:off x="2279333" y="4798695"/>
            <a:ext cx="2000250" cy="521970"/>
          </a:xfrm>
          <a:prstGeom prst="rect">
            <a:avLst/>
          </a:prstGeom>
          <a:noFill/>
          <a:ln w="9525">
            <a:noFill/>
          </a:ln>
        </p:spPr>
        <p:txBody>
          <a:bodyPr>
            <a:spAutoFit/>
          </a:bodyPr>
          <a:p>
            <a:pPr marL="342900" indent="-342900" eaLnBrk="1" hangingPunct="1">
              <a:spcBef>
                <a:spcPct val="20000"/>
              </a:spcBef>
              <a:buClr>
                <a:srgbClr val="FF0000"/>
              </a:buClr>
              <a:buSzPct val="70000"/>
              <a:buFont typeface="Wingdings" panose="05000000000000000000" pitchFamily="2" charset="2"/>
              <a:buChar char="n"/>
            </a:pPr>
            <a:r>
              <a:rPr lang="zh-CN" altLang="en-US" sz="2800" b="1" dirty="0">
                <a:latin typeface="华文楷体" panose="02010600040101010101" charset="-122"/>
                <a:ea typeface="华文楷体" panose="02010600040101010101" charset="-122"/>
              </a:rPr>
              <a:t>关键</a:t>
            </a:r>
            <a:r>
              <a:rPr lang="zh-CN" altLang="en-US" sz="2800" b="1" dirty="0">
                <a:latin typeface="华文楷体" panose="02010600040101010101" charset="-122"/>
                <a:ea typeface="华文楷体" panose="02010600040101010101" charset="-122"/>
              </a:rPr>
              <a:t>技术：</a:t>
            </a:r>
            <a:endParaRPr lang="zh-CN" altLang="en-US" sz="2800" b="1" dirty="0">
              <a:latin typeface="华文楷体" panose="02010600040101010101" charset="-122"/>
              <a:ea typeface="华文楷体" panose="02010600040101010101" charset="-122"/>
            </a:endParaRPr>
          </a:p>
        </p:txBody>
      </p:sp>
      <p:sp>
        <p:nvSpPr>
          <p:cNvPr id="5" name="文本框 4"/>
          <p:cNvSpPr txBox="1"/>
          <p:nvPr/>
        </p:nvSpPr>
        <p:spPr>
          <a:xfrm>
            <a:off x="4439920" y="4798060"/>
            <a:ext cx="2523490" cy="521970"/>
          </a:xfrm>
          <a:prstGeom prst="rect">
            <a:avLst/>
          </a:prstGeom>
          <a:noFill/>
        </p:spPr>
        <p:txBody>
          <a:bodyPr wrap="square" rtlCol="0" anchor="t">
            <a:spAutoFit/>
          </a:bodyPr>
          <a:p>
            <a:pPr indent="0" eaLnBrk="1" hangingPunct="1">
              <a:buClr>
                <a:srgbClr val="3333CC"/>
              </a:buClr>
              <a:buSzPct val="60000"/>
              <a:buFont typeface="Wingdings" panose="05000000000000000000" pitchFamily="2" charset="2"/>
              <a:buNone/>
            </a:pPr>
            <a:r>
              <a:rPr lang="zh-CN" altLang="en-US" sz="2800" dirty="0">
                <a:solidFill>
                  <a:srgbClr val="FF0000"/>
                </a:solidFill>
                <a:latin typeface="华文楷体" panose="02010600040101010101" charset="-122"/>
                <a:ea typeface="华文楷体" panose="02010600040101010101" charset="-122"/>
                <a:cs typeface="华文楷体" panose="02010600040101010101" charset="-122"/>
                <a:sym typeface="+mn-ea"/>
              </a:rPr>
              <a:t>横向滤波器</a:t>
            </a:r>
            <a:endParaRPr lang="zh-CN" altLang="en-US" sz="2800" dirty="0">
              <a:solidFill>
                <a:srgbClr val="FF0000"/>
              </a:solidFill>
              <a:latin typeface="华文楷体" panose="02010600040101010101" charset="-122"/>
              <a:ea typeface="华文楷体" panose="02010600040101010101" charset="-122"/>
              <a:cs typeface="华文楷体" panose="02010600040101010101" charset="-122"/>
              <a:sym typeface="+mn-ea"/>
            </a:endParaRPr>
          </a:p>
        </p:txBody>
      </p:sp>
      <p:pic>
        <p:nvPicPr>
          <p:cNvPr id="49171" name="Picture 19"/>
          <p:cNvPicPr>
            <a:picLocks noChangeAspect="1"/>
          </p:cNvPicPr>
          <p:nvPr>
            <p:custDataLst>
              <p:tags r:id="rId19"/>
            </p:custDataLst>
          </p:nvPr>
        </p:nvPicPr>
        <p:blipFill>
          <a:blip r:embed="rId20"/>
          <a:stretch>
            <a:fillRect/>
          </a:stretch>
        </p:blipFill>
        <p:spPr>
          <a:xfrm>
            <a:off x="3287395" y="5373370"/>
            <a:ext cx="7689850" cy="1419225"/>
          </a:xfrm>
          <a:prstGeom prst="rect">
            <a:avLst/>
          </a:prstGeom>
          <a:noFill/>
          <a:ln w="9525">
            <a:noFill/>
          </a:ln>
        </p:spPr>
      </p:pic>
      <p:graphicFrame>
        <p:nvGraphicFramePr>
          <p:cNvPr id="6" name="Object 26"/>
          <p:cNvGraphicFramePr>
            <a:graphicFrameLocks noChangeAspect="1"/>
          </p:cNvGraphicFramePr>
          <p:nvPr>
            <p:custDataLst>
              <p:tags r:id="rId21"/>
            </p:custDataLst>
          </p:nvPr>
        </p:nvGraphicFramePr>
        <p:xfrm>
          <a:off x="7013258" y="5487670"/>
          <a:ext cx="2749550" cy="612775"/>
        </p:xfrm>
        <a:graphic>
          <a:graphicData uri="http://schemas.openxmlformats.org/presentationml/2006/ole">
            <mc:AlternateContent xmlns:mc="http://schemas.openxmlformats.org/markup-compatibility/2006">
              <mc:Choice xmlns:v="urn:schemas-microsoft-com:vml" Requires="v">
                <p:oleObj spid="_x0000_s3286" name="" r:id="rId22" imgW="1346200" imgH="292100" progId="Equation.DSMT4">
                  <p:embed/>
                </p:oleObj>
              </mc:Choice>
              <mc:Fallback>
                <p:oleObj name="" r:id="rId22" imgW="1346200" imgH="292100" progId="Equation.DSMT4">
                  <p:embed/>
                  <p:pic>
                    <p:nvPicPr>
                      <p:cNvPr id="0" name="图片 3285"/>
                      <p:cNvPicPr/>
                      <p:nvPr/>
                    </p:nvPicPr>
                    <p:blipFill>
                      <a:blip r:embed="rId23"/>
                      <a:stretch>
                        <a:fillRect/>
                      </a:stretch>
                    </p:blipFill>
                    <p:spPr>
                      <a:xfrm>
                        <a:off x="7013258" y="5487670"/>
                        <a:ext cx="2749550" cy="612775"/>
                      </a:xfrm>
                      <a:prstGeom prst="rect">
                        <a:avLst/>
                      </a:prstGeom>
                      <a:noFill/>
                      <a:ln w="38100" cap="flat" cmpd="dbl">
                        <a:solidFill>
                          <a:srgbClr val="969696"/>
                        </a:solidFill>
                        <a:prstDash val="solid"/>
                        <a:miter/>
                        <a:headEnd type="none" w="med" len="med"/>
                        <a:tailEnd type="none" w="med" len="med"/>
                      </a:ln>
                    </p:spPr>
                  </p:pic>
                </p:oleObj>
              </mc:Fallback>
            </mc:AlternateContent>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199286"/>
            <a:ext cx="10972800" cy="1143000"/>
          </a:xfrm>
        </p:spPr>
        <p:txBody>
          <a:bodyPr/>
          <a:p>
            <a:r>
              <a:rPr lang="zh-CN" altLang="en-US">
                <a:latin typeface="华文楷体" panose="02010600040101010101" charset="-122"/>
                <a:ea typeface="华文楷体" panose="02010600040101010101" charset="-122"/>
              </a:rPr>
              <a:t>第五章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数字信号的频带</a:t>
            </a:r>
            <a:r>
              <a:rPr lang="zh-CN" altLang="en-US">
                <a:latin typeface="华文楷体" panose="02010600040101010101" charset="-122"/>
                <a:ea typeface="华文楷体" panose="02010600040101010101" charset="-122"/>
              </a:rPr>
              <a:t>传输</a:t>
            </a:r>
            <a:endParaRPr lang="zh-CN" altLang="en-US">
              <a:latin typeface="华文楷体" panose="02010600040101010101" charset="-122"/>
              <a:ea typeface="华文楷体" panose="02010600040101010101" charset="-122"/>
            </a:endParaRPr>
          </a:p>
        </p:txBody>
      </p:sp>
      <p:sp>
        <p:nvSpPr>
          <p:cNvPr id="4" name="内容占位符 3"/>
          <p:cNvSpPr>
            <a:spLocks noGrp="1"/>
          </p:cNvSpPr>
          <p:nvPr>
            <p:ph idx="1"/>
            <p:custDataLst>
              <p:tags r:id="rId3"/>
            </p:custDataLst>
          </p:nvPr>
        </p:nvSpPr>
        <p:spPr>
          <a:xfrm>
            <a:off x="624205" y="1196975"/>
            <a:ext cx="10972800" cy="4526280"/>
          </a:xfrm>
        </p:spPr>
        <p:txBody>
          <a:bodyPr/>
          <a:p>
            <a:r>
              <a:rPr lang="zh-CN" altLang="en-US" sz="2800">
                <a:latin typeface="华文楷体" panose="02010600040101010101" charset="-122"/>
                <a:ea typeface="华文楷体" panose="02010600040101010101" charset="-122"/>
              </a:rPr>
              <a:t>识记——重要基本概念（数字调制、直接法、键控法、2ASK、2FSK、2PSK、2DPSK、相干解调、非相干解调、同步检测、包络检测、过零点检测、相位模糊。倒π现象、差分编码、差分译码、极性比较-码变换法、相位比较-差分检测法、多进制数字系统、MASK、MFSK、MPSK、MDPSK）。</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理解——二进制ASK、FSK、PSK和DPSK多种调制与解调方式的频谱变换，识记已调信号功率谱密度函数带宽。</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画图——二进制ASK、FSK、PSK和DPSK调制与解调过程中的信号波形，含载波周期与码元宽度不是整数倍关系。</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了解——以2ASK为例，导出二进制数字调制系统的误码率。</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掌握——二进制数字调制系统的误码率公式（表5.2）和3个结论。</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了解——多进制数字系统的调制解调原理。</a:t>
            </a:r>
            <a:endParaRPr lang="zh-CN" altLang="en-US" sz="2800">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09600" y="199286"/>
            <a:ext cx="10972800" cy="1143000"/>
          </a:xfrm>
        </p:spPr>
        <p:txBody>
          <a:bodyPr/>
          <a:p>
            <a:r>
              <a:rPr lang="zh-CN" altLang="en-US">
                <a:latin typeface="华文楷体" panose="02010600040101010101" charset="-122"/>
                <a:ea typeface="华文楷体" panose="02010600040101010101" charset="-122"/>
              </a:rPr>
              <a:t>第五章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数字信号的频带</a:t>
            </a:r>
            <a:r>
              <a:rPr lang="zh-CN" altLang="en-US">
                <a:latin typeface="华文楷体" panose="02010600040101010101" charset="-122"/>
                <a:ea typeface="华文楷体" panose="02010600040101010101" charset="-122"/>
              </a:rPr>
              <a:t>传输</a:t>
            </a:r>
            <a:endParaRPr lang="zh-CN" altLang="en-US">
              <a:latin typeface="华文楷体" panose="02010600040101010101" charset="-122"/>
              <a:ea typeface="华文楷体" panose="02010600040101010101" charset="-122"/>
            </a:endParaRPr>
          </a:p>
        </p:txBody>
      </p:sp>
      <p:sp>
        <p:nvSpPr>
          <p:cNvPr id="5" name="矩形 4"/>
          <p:cNvSpPr/>
          <p:nvPr>
            <p:custDataLst>
              <p:tags r:id="rId3"/>
            </p:custDataLst>
          </p:nvPr>
        </p:nvSpPr>
        <p:spPr>
          <a:xfrm>
            <a:off x="839470" y="1340485"/>
            <a:ext cx="2239645" cy="44704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数字频带传输系统</a:t>
            </a:r>
            <a:endParaRPr lang="zh-CN" altLang="en-US">
              <a:latin typeface="华文楷体" panose="02010600040101010101" charset="-122"/>
              <a:ea typeface="华文楷体" panose="02010600040101010101" charset="-122"/>
            </a:endParaRPr>
          </a:p>
        </p:txBody>
      </p:sp>
      <p:sp>
        <p:nvSpPr>
          <p:cNvPr id="6" name="矩形 5"/>
          <p:cNvSpPr/>
          <p:nvPr>
            <p:custDataLst>
              <p:tags r:id="rId4"/>
            </p:custDataLst>
          </p:nvPr>
        </p:nvSpPr>
        <p:spPr>
          <a:xfrm>
            <a:off x="2279650" y="2562860"/>
            <a:ext cx="1129030" cy="44704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二进制</a:t>
            </a:r>
            <a:endParaRPr lang="zh-CN" altLang="en-US">
              <a:latin typeface="华文楷体" panose="02010600040101010101" charset="-122"/>
              <a:ea typeface="华文楷体" panose="02010600040101010101" charset="-122"/>
            </a:endParaRPr>
          </a:p>
        </p:txBody>
      </p:sp>
      <p:sp>
        <p:nvSpPr>
          <p:cNvPr id="7" name="矩形 6"/>
          <p:cNvSpPr/>
          <p:nvPr>
            <p:custDataLst>
              <p:tags r:id="rId5"/>
            </p:custDataLst>
          </p:nvPr>
        </p:nvSpPr>
        <p:spPr>
          <a:xfrm>
            <a:off x="2063750" y="2061210"/>
            <a:ext cx="1778000" cy="44704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调制</a:t>
            </a:r>
            <a:r>
              <a:rPr lang="en-US" altLang="zh-CN">
                <a:latin typeface="华文楷体" panose="02010600040101010101" charset="-122"/>
                <a:ea typeface="华文楷体" panose="02010600040101010101" charset="-122"/>
              </a:rPr>
              <a:t>/</a:t>
            </a:r>
            <a:r>
              <a:rPr lang="zh-CN" altLang="en-US">
                <a:latin typeface="华文楷体" panose="02010600040101010101" charset="-122"/>
                <a:ea typeface="华文楷体" panose="02010600040101010101" charset="-122"/>
              </a:rPr>
              <a:t>解调方法</a:t>
            </a:r>
            <a:endParaRPr lang="zh-CN" altLang="en-US">
              <a:latin typeface="华文楷体" panose="02010600040101010101" charset="-122"/>
              <a:ea typeface="华文楷体" panose="02010600040101010101" charset="-122"/>
            </a:endParaRPr>
          </a:p>
        </p:txBody>
      </p:sp>
      <p:sp>
        <p:nvSpPr>
          <p:cNvPr id="8" name="矩形 7"/>
          <p:cNvSpPr/>
          <p:nvPr>
            <p:custDataLst>
              <p:tags r:id="rId6"/>
            </p:custDataLst>
          </p:nvPr>
        </p:nvSpPr>
        <p:spPr>
          <a:xfrm>
            <a:off x="2279650" y="3355340"/>
            <a:ext cx="1129030" cy="44704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多</a:t>
            </a:r>
            <a:r>
              <a:rPr lang="zh-CN" altLang="en-US">
                <a:latin typeface="华文楷体" panose="02010600040101010101" charset="-122"/>
                <a:ea typeface="华文楷体" panose="02010600040101010101" charset="-122"/>
              </a:rPr>
              <a:t>进制</a:t>
            </a:r>
            <a:endParaRPr lang="zh-CN" altLang="en-US">
              <a:latin typeface="华文楷体" panose="02010600040101010101" charset="-122"/>
              <a:ea typeface="华文楷体" panose="02010600040101010101" charset="-122"/>
            </a:endParaRPr>
          </a:p>
        </p:txBody>
      </p:sp>
      <p:cxnSp>
        <p:nvCxnSpPr>
          <p:cNvPr id="9" name="肘形连接符 8"/>
          <p:cNvCxnSpPr>
            <a:stCxn id="5" idx="2"/>
            <a:endCxn id="6" idx="1"/>
          </p:cNvCxnSpPr>
          <p:nvPr>
            <p:custDataLst>
              <p:tags r:id="rId7"/>
            </p:custDataLst>
          </p:nvPr>
        </p:nvCxnSpPr>
        <p:spPr>
          <a:xfrm rot="5400000" flipV="1">
            <a:off x="1620203" y="2126933"/>
            <a:ext cx="998855" cy="32004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肘形连接符 9"/>
          <p:cNvCxnSpPr>
            <a:stCxn id="5" idx="2"/>
            <a:endCxn id="8" idx="1"/>
          </p:cNvCxnSpPr>
          <p:nvPr>
            <p:custDataLst>
              <p:tags r:id="rId8"/>
            </p:custDataLst>
          </p:nvPr>
        </p:nvCxnSpPr>
        <p:spPr>
          <a:xfrm rot="5400000" flipV="1">
            <a:off x="1223963" y="2523173"/>
            <a:ext cx="1791335" cy="32004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1" name="矩形 10"/>
          <p:cNvSpPr/>
          <p:nvPr>
            <p:custDataLst>
              <p:tags r:id="rId9"/>
            </p:custDataLst>
          </p:nvPr>
        </p:nvSpPr>
        <p:spPr>
          <a:xfrm>
            <a:off x="3481705" y="2562860"/>
            <a:ext cx="3823335" cy="447040"/>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en-US" altLang="zh-CN">
                <a:latin typeface="华文楷体" panose="02010600040101010101" charset="-122"/>
                <a:ea typeface="华文楷体" panose="02010600040101010101" charset="-122"/>
              </a:rPr>
              <a:t>2ASK/OOK</a:t>
            </a:r>
            <a:r>
              <a:rPr lang="zh-CN" altLang="en-US">
                <a:latin typeface="华文楷体" panose="02010600040101010101" charset="-122"/>
                <a:ea typeface="华文楷体" panose="02010600040101010101" charset="-122"/>
              </a:rPr>
              <a:t>、</a:t>
            </a:r>
            <a:r>
              <a:rPr lang="en-US" altLang="zh-CN">
                <a:latin typeface="华文楷体" panose="02010600040101010101" charset="-122"/>
                <a:ea typeface="华文楷体" panose="02010600040101010101" charset="-122"/>
              </a:rPr>
              <a:t>2FSK</a:t>
            </a:r>
            <a:r>
              <a:rPr lang="zh-CN" altLang="en-US">
                <a:latin typeface="华文楷体" panose="02010600040101010101" charset="-122"/>
                <a:ea typeface="华文楷体" panose="02010600040101010101" charset="-122"/>
              </a:rPr>
              <a:t>、</a:t>
            </a:r>
            <a:r>
              <a:rPr lang="en-US" altLang="zh-CN">
                <a:latin typeface="华文楷体" panose="02010600040101010101" charset="-122"/>
                <a:ea typeface="华文楷体" panose="02010600040101010101" charset="-122"/>
              </a:rPr>
              <a:t>2PSK</a:t>
            </a:r>
            <a:r>
              <a:rPr lang="zh-CN" altLang="en-US">
                <a:latin typeface="华文楷体" panose="02010600040101010101" charset="-122"/>
                <a:ea typeface="华文楷体" panose="02010600040101010101" charset="-122"/>
              </a:rPr>
              <a:t>、</a:t>
            </a:r>
            <a:r>
              <a:rPr lang="en-US" altLang="zh-CN">
                <a:latin typeface="华文楷体" panose="02010600040101010101" charset="-122"/>
                <a:ea typeface="华文楷体" panose="02010600040101010101" charset="-122"/>
              </a:rPr>
              <a:t>2</a:t>
            </a:r>
            <a:r>
              <a:rPr lang="en-US" altLang="zh-CN">
                <a:latin typeface="华文楷体" panose="02010600040101010101" charset="-122"/>
                <a:ea typeface="华文楷体" panose="02010600040101010101" charset="-122"/>
              </a:rPr>
              <a:t>DPSK</a:t>
            </a:r>
            <a:endParaRPr lang="en-US" altLang="zh-CN">
              <a:latin typeface="华文楷体" panose="02010600040101010101" charset="-122"/>
              <a:ea typeface="华文楷体" panose="02010600040101010101" charset="-122"/>
            </a:endParaRPr>
          </a:p>
        </p:txBody>
      </p:sp>
      <p:sp>
        <p:nvSpPr>
          <p:cNvPr id="12" name="矩形 11"/>
          <p:cNvSpPr/>
          <p:nvPr>
            <p:custDataLst>
              <p:tags r:id="rId10"/>
            </p:custDataLst>
          </p:nvPr>
        </p:nvSpPr>
        <p:spPr>
          <a:xfrm>
            <a:off x="7176135" y="2419350"/>
            <a:ext cx="4947285" cy="72072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（原理、</a:t>
            </a:r>
            <a:r>
              <a:rPr lang="zh-CN" altLang="en-US">
                <a:solidFill>
                  <a:srgbClr val="C00000"/>
                </a:solidFill>
                <a:latin typeface="华文楷体" panose="02010600040101010101" charset="-122"/>
                <a:ea typeface="华文楷体" panose="02010600040101010101" charset="-122"/>
              </a:rPr>
              <a:t>波形</a:t>
            </a: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表达式</a:t>
            </a: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调制方法、解调方法</a:t>
            </a: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带宽</a:t>
            </a: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功率谱密度</a:t>
            </a: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误码率（抗噪声</a:t>
            </a:r>
            <a:r>
              <a:rPr lang="zh-CN" altLang="en-US">
                <a:solidFill>
                  <a:srgbClr val="C00000"/>
                </a:solidFill>
                <a:latin typeface="华文楷体" panose="02010600040101010101" charset="-122"/>
                <a:ea typeface="华文楷体" panose="02010600040101010101" charset="-122"/>
              </a:rPr>
              <a:t>性能）</a:t>
            </a:r>
            <a:r>
              <a:rPr lang="zh-CN" altLang="en-US">
                <a:latin typeface="华文楷体" panose="02010600040101010101" charset="-122"/>
                <a:ea typeface="华文楷体" panose="02010600040101010101" charset="-122"/>
              </a:rPr>
              <a:t>、最佳</a:t>
            </a:r>
            <a:r>
              <a:rPr lang="zh-CN" altLang="en-US">
                <a:latin typeface="华文楷体" panose="02010600040101010101" charset="-122"/>
                <a:ea typeface="华文楷体" panose="02010600040101010101" charset="-122"/>
              </a:rPr>
              <a:t>判决门限）</a:t>
            </a:r>
            <a:endParaRPr lang="zh-CN" altLang="en-US">
              <a:latin typeface="华文楷体" panose="02010600040101010101" charset="-122"/>
              <a:ea typeface="华文楷体" panose="02010600040101010101" charset="-122"/>
            </a:endParaRPr>
          </a:p>
        </p:txBody>
      </p:sp>
      <p:sp>
        <p:nvSpPr>
          <p:cNvPr id="13" name="矩形 12"/>
          <p:cNvSpPr/>
          <p:nvPr>
            <p:custDataLst>
              <p:tags r:id="rId11"/>
            </p:custDataLst>
          </p:nvPr>
        </p:nvSpPr>
        <p:spPr>
          <a:xfrm>
            <a:off x="3648075" y="3283585"/>
            <a:ext cx="3711575" cy="765810"/>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en-US" altLang="zh-CN">
                <a:latin typeface="华文楷体" panose="02010600040101010101" charset="-122"/>
                <a:ea typeface="华文楷体" panose="02010600040101010101" charset="-122"/>
              </a:rPr>
              <a:t>MASK</a:t>
            </a:r>
            <a:r>
              <a:rPr lang="zh-CN" altLang="en-US">
                <a:latin typeface="华文楷体" panose="02010600040101010101" charset="-122"/>
                <a:ea typeface="华文楷体" panose="02010600040101010101" charset="-122"/>
              </a:rPr>
              <a:t>、</a:t>
            </a:r>
            <a:r>
              <a:rPr lang="en-US" altLang="zh-CN">
                <a:latin typeface="华文楷体" panose="02010600040101010101" charset="-122"/>
                <a:ea typeface="华文楷体" panose="02010600040101010101" charset="-122"/>
              </a:rPr>
              <a:t>MFSK</a:t>
            </a:r>
            <a:r>
              <a:rPr lang="zh-CN" altLang="en-US">
                <a:latin typeface="华文楷体" panose="02010600040101010101" charset="-122"/>
                <a:ea typeface="华文楷体" panose="02010600040101010101" charset="-122"/>
              </a:rPr>
              <a:t>、</a:t>
            </a:r>
            <a:r>
              <a:rPr lang="en-US" altLang="zh-CN">
                <a:latin typeface="华文楷体" panose="02010600040101010101" charset="-122"/>
                <a:ea typeface="华文楷体" panose="02010600040101010101" charset="-122"/>
              </a:rPr>
              <a:t>MPSK</a:t>
            </a:r>
            <a:r>
              <a:rPr lang="zh-CN" altLang="en-US">
                <a:latin typeface="华文楷体" panose="02010600040101010101" charset="-122"/>
                <a:ea typeface="华文楷体" panose="02010600040101010101" charset="-122"/>
              </a:rPr>
              <a:t>（</a:t>
            </a:r>
            <a:r>
              <a:rPr lang="en-US" altLang="zh-CN">
                <a:latin typeface="华文楷体" panose="02010600040101010101" charset="-122"/>
                <a:ea typeface="华文楷体" panose="02010600040101010101" charset="-122"/>
              </a:rPr>
              <a:t>QPSK</a:t>
            </a:r>
            <a:r>
              <a:rPr lang="zh-CN" altLang="en-US">
                <a:latin typeface="华文楷体" panose="02010600040101010101" charset="-122"/>
                <a:ea typeface="华文楷体" panose="02010600040101010101" charset="-122"/>
              </a:rPr>
              <a:t>）、</a:t>
            </a:r>
            <a:r>
              <a:rPr lang="en-US" altLang="zh-CN">
                <a:latin typeface="华文楷体" panose="02010600040101010101" charset="-122"/>
                <a:ea typeface="华文楷体" panose="02010600040101010101" charset="-122"/>
              </a:rPr>
              <a:t>MDPSK</a:t>
            </a:r>
            <a:r>
              <a:rPr lang="zh-CN" altLang="en-US">
                <a:latin typeface="华文楷体" panose="02010600040101010101" charset="-122"/>
                <a:ea typeface="华文楷体" panose="02010600040101010101" charset="-122"/>
              </a:rPr>
              <a:t>（</a:t>
            </a:r>
            <a:r>
              <a:rPr lang="en-US" altLang="zh-CN">
                <a:latin typeface="华文楷体" panose="02010600040101010101" charset="-122"/>
                <a:ea typeface="华文楷体" panose="02010600040101010101" charset="-122"/>
              </a:rPr>
              <a:t>QDPSK</a:t>
            </a:r>
            <a:r>
              <a:rPr lang="zh-CN" altLang="en-US">
                <a:latin typeface="华文楷体" panose="02010600040101010101" charset="-122"/>
                <a:ea typeface="华文楷体" panose="02010600040101010101" charset="-122"/>
              </a:rPr>
              <a:t>）、</a:t>
            </a:r>
            <a:r>
              <a:rPr lang="en-US" altLang="zh-CN">
                <a:latin typeface="华文楷体" panose="02010600040101010101" charset="-122"/>
                <a:ea typeface="华文楷体" panose="02010600040101010101" charset="-122"/>
              </a:rPr>
              <a:t>QAM</a:t>
            </a:r>
            <a:endParaRPr lang="en-US" altLang="zh-CN">
              <a:latin typeface="华文楷体" panose="02010600040101010101" charset="-122"/>
              <a:ea typeface="华文楷体" panose="02010600040101010101" charset="-122"/>
            </a:endParaRPr>
          </a:p>
        </p:txBody>
      </p:sp>
      <p:sp>
        <p:nvSpPr>
          <p:cNvPr id="14" name="矩形 13"/>
          <p:cNvSpPr/>
          <p:nvPr>
            <p:custDataLst>
              <p:tags r:id="rId12"/>
            </p:custDataLst>
          </p:nvPr>
        </p:nvSpPr>
        <p:spPr>
          <a:xfrm>
            <a:off x="7431405" y="3499485"/>
            <a:ext cx="4279900" cy="51879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（原理、</a:t>
            </a:r>
            <a:r>
              <a:rPr lang="zh-CN" altLang="en-US">
                <a:solidFill>
                  <a:srgbClr val="C00000"/>
                </a:solidFill>
                <a:latin typeface="华文楷体" panose="02010600040101010101" charset="-122"/>
                <a:ea typeface="华文楷体" panose="02010600040101010101" charset="-122"/>
              </a:rPr>
              <a:t>波形</a:t>
            </a:r>
            <a:r>
              <a:rPr lang="zh-CN" altLang="en-US">
                <a:latin typeface="华文楷体" panose="02010600040101010101" charset="-122"/>
                <a:ea typeface="华文楷体" panose="02010600040101010101" charset="-122"/>
              </a:rPr>
              <a:t>、表达式、</a:t>
            </a:r>
            <a:r>
              <a:rPr lang="zh-CN" altLang="en-US">
                <a:latin typeface="华文楷体" panose="02010600040101010101" charset="-122"/>
                <a:ea typeface="华文楷体" panose="02010600040101010101" charset="-122"/>
              </a:rPr>
              <a:t>带宽、误码率）</a:t>
            </a:r>
            <a:endParaRPr lang="zh-CN" altLang="en-US">
              <a:latin typeface="华文楷体" panose="02010600040101010101" charset="-122"/>
              <a:ea typeface="华文楷体" panose="02010600040101010101" charset="-122"/>
            </a:endParaRPr>
          </a:p>
        </p:txBody>
      </p:sp>
      <p:sp>
        <p:nvSpPr>
          <p:cNvPr id="15" name="矩形 14"/>
          <p:cNvSpPr/>
          <p:nvPr>
            <p:custDataLst>
              <p:tags r:id="rId13"/>
            </p:custDataLst>
          </p:nvPr>
        </p:nvSpPr>
        <p:spPr>
          <a:xfrm>
            <a:off x="1631950" y="4401820"/>
            <a:ext cx="1600200" cy="44704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匹配滤波器</a:t>
            </a:r>
            <a:r>
              <a:rPr lang="en-US" altLang="zh-CN">
                <a:latin typeface="华文楷体" panose="02010600040101010101" charset="-122"/>
                <a:ea typeface="华文楷体" panose="02010600040101010101" charset="-122"/>
              </a:rPr>
              <a:t> </a:t>
            </a:r>
            <a:endParaRPr lang="en-US" altLang="zh-CN">
              <a:latin typeface="华文楷体" panose="02010600040101010101" charset="-122"/>
              <a:ea typeface="华文楷体" panose="02010600040101010101" charset="-122"/>
            </a:endParaRPr>
          </a:p>
        </p:txBody>
      </p:sp>
      <p:sp>
        <p:nvSpPr>
          <p:cNvPr id="16" name="矩形 15"/>
          <p:cNvSpPr/>
          <p:nvPr>
            <p:custDataLst>
              <p:tags r:id="rId14"/>
            </p:custDataLst>
          </p:nvPr>
        </p:nvSpPr>
        <p:spPr>
          <a:xfrm>
            <a:off x="1631950" y="5372100"/>
            <a:ext cx="1599565" cy="44704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最佳接收机</a:t>
            </a:r>
            <a:endParaRPr lang="zh-CN" altLang="en-US">
              <a:latin typeface="华文楷体" panose="02010600040101010101" charset="-122"/>
              <a:ea typeface="华文楷体" panose="02010600040101010101" charset="-122"/>
            </a:endParaRPr>
          </a:p>
        </p:txBody>
      </p:sp>
      <p:cxnSp>
        <p:nvCxnSpPr>
          <p:cNvPr id="17" name="肘形连接符 16"/>
          <p:cNvCxnSpPr>
            <a:endCxn id="15" idx="1"/>
          </p:cNvCxnSpPr>
          <p:nvPr>
            <p:custDataLst>
              <p:tags r:id="rId15"/>
            </p:custDataLst>
          </p:nvPr>
        </p:nvCxnSpPr>
        <p:spPr>
          <a:xfrm rot="5400000" flipV="1">
            <a:off x="97155" y="3090545"/>
            <a:ext cx="2852420" cy="21653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8" name="肘形连接符 17"/>
          <p:cNvCxnSpPr>
            <a:endCxn id="16" idx="1"/>
          </p:cNvCxnSpPr>
          <p:nvPr>
            <p:custDataLst>
              <p:tags r:id="rId16"/>
            </p:custDataLst>
          </p:nvPr>
        </p:nvCxnSpPr>
        <p:spPr>
          <a:xfrm rot="5400000" flipV="1">
            <a:off x="-387985" y="3575685"/>
            <a:ext cx="3822700" cy="21653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9" name="矩形 18"/>
          <p:cNvSpPr/>
          <p:nvPr>
            <p:custDataLst>
              <p:tags r:id="rId17"/>
            </p:custDataLst>
          </p:nvPr>
        </p:nvSpPr>
        <p:spPr>
          <a:xfrm>
            <a:off x="479425" y="3954780"/>
            <a:ext cx="1026160" cy="447040"/>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接受</a:t>
            </a:r>
            <a:r>
              <a:rPr lang="zh-CN" altLang="en-US">
                <a:latin typeface="华文楷体" panose="02010600040101010101" charset="-122"/>
                <a:ea typeface="华文楷体" panose="02010600040101010101" charset="-122"/>
              </a:rPr>
              <a:t>端</a:t>
            </a:r>
            <a:endParaRPr lang="zh-CN" altLang="en-US">
              <a:latin typeface="华文楷体" panose="02010600040101010101" charset="-122"/>
              <a:ea typeface="华文楷体" panose="02010600040101010101" charset="-122"/>
            </a:endParaRPr>
          </a:p>
        </p:txBody>
      </p:sp>
      <p:sp>
        <p:nvSpPr>
          <p:cNvPr id="20" name="矩形 19"/>
          <p:cNvSpPr/>
          <p:nvPr>
            <p:custDataLst>
              <p:tags r:id="rId18"/>
            </p:custDataLst>
          </p:nvPr>
        </p:nvSpPr>
        <p:spPr>
          <a:xfrm>
            <a:off x="3575685" y="4364990"/>
            <a:ext cx="2743200" cy="51879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（传输特性、</a:t>
            </a:r>
            <a:r>
              <a:rPr lang="zh-CN" altLang="en-US">
                <a:latin typeface="华文楷体" panose="02010600040101010101" charset="-122"/>
                <a:ea typeface="华文楷体" panose="02010600040101010101" charset="-122"/>
              </a:rPr>
              <a:t>冲激响应）</a:t>
            </a:r>
            <a:endParaRPr lang="zh-CN" altLang="en-US">
              <a:latin typeface="华文楷体" panose="02010600040101010101" charset="-122"/>
              <a:ea typeface="华文楷体" panose="02010600040101010101" charset="-122"/>
            </a:endParaRPr>
          </a:p>
        </p:txBody>
      </p:sp>
      <p:sp>
        <p:nvSpPr>
          <p:cNvPr id="21" name="矩形 20"/>
          <p:cNvSpPr/>
          <p:nvPr>
            <p:custDataLst>
              <p:tags r:id="rId19"/>
            </p:custDataLst>
          </p:nvPr>
        </p:nvSpPr>
        <p:spPr>
          <a:xfrm>
            <a:off x="3215640" y="5373370"/>
            <a:ext cx="4175125" cy="51879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（最佳接受准则、最佳接收机</a:t>
            </a:r>
            <a:r>
              <a:rPr lang="zh-CN" altLang="en-US">
                <a:latin typeface="华文楷体" panose="02010600040101010101" charset="-122"/>
                <a:ea typeface="华文楷体" panose="02010600040101010101" charset="-122"/>
              </a:rPr>
              <a:t>结构）</a:t>
            </a:r>
            <a:endParaRPr lang="zh-CN" altLang="en-US">
              <a:latin typeface="华文楷体" panose="02010600040101010101" charset="-122"/>
              <a:ea typeface="华文楷体" panose="02010600040101010101" charset="-122"/>
            </a:endParaRPr>
          </a:p>
        </p:txBody>
      </p:sp>
      <p:sp>
        <p:nvSpPr>
          <p:cNvPr id="22" name="矩形 21"/>
          <p:cNvSpPr/>
          <p:nvPr>
            <p:custDataLst>
              <p:tags r:id="rId20"/>
            </p:custDataLst>
          </p:nvPr>
        </p:nvSpPr>
        <p:spPr>
          <a:xfrm>
            <a:off x="5087620" y="2094865"/>
            <a:ext cx="1437640" cy="51879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a:t>
            </a:r>
            <a:r>
              <a:rPr lang="zh-CN" altLang="en-US">
                <a:solidFill>
                  <a:srgbClr val="C00000"/>
                </a:solidFill>
                <a:latin typeface="华文楷体" panose="02010600040101010101" charset="-122"/>
                <a:ea typeface="华文楷体" panose="02010600040101010101" charset="-122"/>
              </a:rPr>
              <a:t>相位模糊</a:t>
            </a:r>
            <a:r>
              <a:rPr lang="zh-CN" altLang="en-US">
                <a:latin typeface="华文楷体" panose="02010600040101010101" charset="-122"/>
                <a:ea typeface="华文楷体" panose="02010600040101010101" charset="-122"/>
              </a:rPr>
              <a:t>）</a:t>
            </a:r>
            <a:endParaRPr lang="zh-CN" altLang="en-US">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4295775" y="189230"/>
            <a:ext cx="3429635" cy="675640"/>
          </a:xfrm>
        </p:spPr>
        <p:txBody>
          <a:bodyPr/>
          <a:p>
            <a:pPr marL="571500" indent="-571500" algn="just">
              <a:buFont typeface="Arial" panose="020B0604020202090204" pitchFamily="34" charset="0"/>
              <a:buChar char="•"/>
            </a:pPr>
            <a:r>
              <a:rPr sz="2800" b="1" dirty="0">
                <a:latin typeface="华文楷体" panose="02010600040101010101" charset="-122"/>
                <a:ea typeface="华文楷体" panose="02010600040101010101" charset="-122"/>
                <a:cs typeface="Times New Roman" panose="02020603050405020304" pitchFamily="18" charset="0"/>
                <a:sym typeface="+mn-ea"/>
              </a:rPr>
              <a:t>二进制数字调制</a:t>
            </a:r>
            <a:endParaRPr lang="zh-CN" altLang="en-US" sz="2800" b="1" dirty="0">
              <a:latin typeface="华文楷体" panose="02010600040101010101" charset="-122"/>
              <a:ea typeface="华文楷体" panose="02010600040101010101" charset="-122"/>
              <a:cs typeface="Times New Roman" panose="02020603050405020304" pitchFamily="18" charset="0"/>
              <a:sym typeface="+mn-ea"/>
            </a:endParaRPr>
          </a:p>
        </p:txBody>
      </p:sp>
      <p:sp>
        <p:nvSpPr>
          <p:cNvPr id="4" name="文本框 3"/>
          <p:cNvSpPr txBox="1"/>
          <p:nvPr>
            <p:custDataLst>
              <p:tags r:id="rId3"/>
            </p:custDataLst>
          </p:nvPr>
        </p:nvSpPr>
        <p:spPr>
          <a:xfrm>
            <a:off x="227330" y="2465070"/>
            <a:ext cx="1159510" cy="3692525"/>
          </a:xfrm>
          <a:prstGeom prst="rect">
            <a:avLst/>
          </a:prstGeom>
          <a:noFill/>
        </p:spPr>
        <p:txBody>
          <a:bodyPr wrap="square" rtlCol="0">
            <a:spAutoFit/>
          </a:bodyPr>
          <a:p>
            <a:r>
              <a:rPr lang="en-US" altLang="zh-CN"/>
              <a:t>2</a:t>
            </a:r>
            <a:r>
              <a:rPr lang="en-US" altLang="zh-CN"/>
              <a:t>ASK</a:t>
            </a:r>
            <a:endParaRPr lang="en-US" altLang="zh-CN"/>
          </a:p>
          <a:p>
            <a:endParaRPr lang="en-US" altLang="zh-CN"/>
          </a:p>
          <a:p>
            <a:endParaRPr lang="en-US" altLang="zh-CN"/>
          </a:p>
          <a:p>
            <a:endParaRPr lang="en-US" altLang="zh-CN"/>
          </a:p>
          <a:p>
            <a:r>
              <a:rPr lang="en-US" altLang="zh-CN"/>
              <a:t>2</a:t>
            </a:r>
            <a:r>
              <a:rPr lang="en-US" altLang="zh-CN"/>
              <a:t>FSK</a:t>
            </a:r>
            <a:endParaRPr lang="en-US" altLang="zh-CN"/>
          </a:p>
          <a:p>
            <a:endParaRPr lang="en-US" altLang="zh-CN"/>
          </a:p>
          <a:p>
            <a:endParaRPr lang="en-US" altLang="zh-CN"/>
          </a:p>
          <a:p>
            <a:endParaRPr lang="en-US" altLang="zh-CN"/>
          </a:p>
          <a:p>
            <a:r>
              <a:rPr lang="en-US" altLang="zh-CN"/>
              <a:t>2</a:t>
            </a:r>
            <a:r>
              <a:rPr lang="en-US" altLang="zh-CN"/>
              <a:t>PSK</a:t>
            </a:r>
            <a:endParaRPr lang="en-US" altLang="zh-CN"/>
          </a:p>
          <a:p>
            <a:endParaRPr lang="en-US" altLang="zh-CN"/>
          </a:p>
          <a:p>
            <a:endParaRPr lang="en-US" altLang="zh-CN"/>
          </a:p>
          <a:p>
            <a:endParaRPr lang="en-US" altLang="zh-CN"/>
          </a:p>
          <a:p>
            <a:r>
              <a:rPr lang="en-US" altLang="zh-CN"/>
              <a:t>2</a:t>
            </a:r>
            <a:r>
              <a:rPr lang="en-US" altLang="zh-CN"/>
              <a:t>DPSK</a:t>
            </a:r>
            <a:endParaRPr lang="en-US" altLang="zh-CN"/>
          </a:p>
        </p:txBody>
      </p:sp>
      <p:sp>
        <p:nvSpPr>
          <p:cNvPr id="5" name="文本框 4"/>
          <p:cNvSpPr txBox="1"/>
          <p:nvPr>
            <p:custDataLst>
              <p:tags r:id="rId4"/>
            </p:custDataLst>
          </p:nvPr>
        </p:nvSpPr>
        <p:spPr>
          <a:xfrm>
            <a:off x="2506345" y="1747520"/>
            <a:ext cx="8756650" cy="392430"/>
          </a:xfrm>
          <a:prstGeom prst="rect">
            <a:avLst/>
          </a:prstGeom>
          <a:noFill/>
        </p:spPr>
        <p:txBody>
          <a:bodyPr wrap="square" rtlCol="0">
            <a:noAutofit/>
          </a:bodyPr>
          <a:p>
            <a:r>
              <a:rPr lang="zh-CN" altLang="en-US"/>
              <a:t>波形</a:t>
            </a:r>
            <a:r>
              <a:rPr lang="en-US" altLang="zh-CN"/>
              <a:t>                </a:t>
            </a:r>
            <a:r>
              <a:rPr lang="zh-CN" altLang="en-US"/>
              <a:t>表达式</a:t>
            </a:r>
            <a:r>
              <a:rPr lang="en-US" altLang="zh-CN"/>
              <a:t>                                               </a:t>
            </a:r>
            <a:r>
              <a:rPr lang="zh-CN" altLang="en-US"/>
              <a:t>调制</a:t>
            </a:r>
            <a:r>
              <a:rPr lang="en-US" altLang="zh-CN"/>
              <a:t>                             </a:t>
            </a:r>
            <a:r>
              <a:rPr lang="zh-CN" altLang="en-US"/>
              <a:t>解调</a:t>
            </a:r>
            <a:endParaRPr lang="zh-CN" altLang="en-US"/>
          </a:p>
        </p:txBody>
      </p:sp>
      <p:graphicFrame>
        <p:nvGraphicFramePr>
          <p:cNvPr id="258090" name="Object 42"/>
          <p:cNvGraphicFramePr>
            <a:graphicFrameLocks noChangeAspect="1"/>
          </p:cNvGraphicFramePr>
          <p:nvPr>
            <p:custDataLst>
              <p:tags r:id="rId5"/>
            </p:custDataLst>
          </p:nvPr>
        </p:nvGraphicFramePr>
        <p:xfrm>
          <a:off x="3503295" y="2419350"/>
          <a:ext cx="2319655" cy="438150"/>
        </p:xfrm>
        <a:graphic>
          <a:graphicData uri="http://schemas.openxmlformats.org/presentationml/2006/ole">
            <mc:AlternateContent xmlns:mc="http://schemas.openxmlformats.org/markup-compatibility/2006">
              <mc:Choice xmlns:v="urn:schemas-microsoft-com:vml" Requires="v">
                <p:oleObj spid="_x0000_s3092" name="" r:id="rId6" imgW="1308100" imgH="228600" progId="Equation.DSMT4">
                  <p:embed/>
                </p:oleObj>
              </mc:Choice>
              <mc:Fallback>
                <p:oleObj name="" r:id="rId6" imgW="1308100" imgH="228600" progId="Equation.DSMT4">
                  <p:embed/>
                  <p:pic>
                    <p:nvPicPr>
                      <p:cNvPr id="0" name="图片 3091"/>
                      <p:cNvPicPr/>
                      <p:nvPr/>
                    </p:nvPicPr>
                    <p:blipFill>
                      <a:blip r:embed="rId7"/>
                      <a:stretch>
                        <a:fillRect/>
                      </a:stretch>
                    </p:blipFill>
                    <p:spPr>
                      <a:xfrm>
                        <a:off x="3503295" y="2419350"/>
                        <a:ext cx="2319655" cy="438150"/>
                      </a:xfrm>
                      <a:prstGeom prst="rect">
                        <a:avLst/>
                      </a:prstGeom>
                      <a:solidFill>
                        <a:schemeClr val="bg1">
                          <a:alpha val="83920"/>
                        </a:schemeClr>
                      </a:solidFill>
                      <a:ln w="38100" cap="flat" cmpd="dbl">
                        <a:solidFill>
                          <a:srgbClr val="9999FF"/>
                        </a:solidFill>
                        <a:prstDash val="solid"/>
                        <a:miter/>
                        <a:headEnd type="none" w="med" len="med"/>
                        <a:tailEnd type="none" w="med" len="med"/>
                      </a:ln>
                      <a:effectLst>
                        <a:prstShdw prst="shdw17" dist="17961" dir="2699999">
                          <a:srgbClr val="5C5C99"/>
                        </a:prstShdw>
                      </a:effectLst>
                    </p:spPr>
                  </p:pic>
                </p:oleObj>
              </mc:Fallback>
            </mc:AlternateContent>
          </a:graphicData>
        </a:graphic>
      </p:graphicFrame>
      <p:graphicFrame>
        <p:nvGraphicFramePr>
          <p:cNvPr id="43019" name="Object 11"/>
          <p:cNvGraphicFramePr>
            <a:graphicFrameLocks noChangeAspect="1"/>
          </p:cNvGraphicFramePr>
          <p:nvPr>
            <p:custDataLst>
              <p:tags r:id="rId8"/>
            </p:custDataLst>
          </p:nvPr>
        </p:nvGraphicFramePr>
        <p:xfrm>
          <a:off x="3359150" y="3601720"/>
          <a:ext cx="3545840" cy="372745"/>
        </p:xfrm>
        <a:graphic>
          <a:graphicData uri="http://schemas.openxmlformats.org/presentationml/2006/ole">
            <mc:AlternateContent xmlns:mc="http://schemas.openxmlformats.org/markup-compatibility/2006">
              <mc:Choice xmlns:v="urn:schemas-microsoft-com:vml" Requires="v">
                <p:oleObj spid="_x0000_s3095" name="" r:id="rId9" imgW="2171700" imgH="228600" progId="Equation.DSMT4">
                  <p:embed/>
                </p:oleObj>
              </mc:Choice>
              <mc:Fallback>
                <p:oleObj name="" r:id="rId9" imgW="2171700" imgH="228600" progId="Equation.DSMT4">
                  <p:embed/>
                  <p:pic>
                    <p:nvPicPr>
                      <p:cNvPr id="0" name="图片 3094"/>
                      <p:cNvPicPr/>
                      <p:nvPr/>
                    </p:nvPicPr>
                    <p:blipFill>
                      <a:blip r:embed="rId10"/>
                      <a:stretch>
                        <a:fillRect/>
                      </a:stretch>
                    </p:blipFill>
                    <p:spPr>
                      <a:xfrm>
                        <a:off x="3359150" y="3601720"/>
                        <a:ext cx="3545840" cy="372745"/>
                      </a:xfrm>
                      <a:prstGeom prst="rect">
                        <a:avLst/>
                      </a:prstGeom>
                      <a:noFill/>
                      <a:ln w="38100" cmpd="dbl">
                        <a:solidFill>
                          <a:srgbClr val="9999FF"/>
                        </a:solidFill>
                        <a:miter/>
                      </a:ln>
                      <a:effectLst>
                        <a:prstShdw prst="shdw17" dist="17961" dir="2699999">
                          <a:srgbClr val="5C5C99"/>
                        </a:prstShdw>
                      </a:effectLst>
                    </p:spPr>
                  </p:pic>
                </p:oleObj>
              </mc:Fallback>
            </mc:AlternateContent>
          </a:graphicData>
        </a:graphic>
      </p:graphicFrame>
      <p:graphicFrame>
        <p:nvGraphicFramePr>
          <p:cNvPr id="240645" name="Object 5"/>
          <p:cNvGraphicFramePr>
            <a:graphicFrameLocks noChangeAspect="1"/>
          </p:cNvGraphicFramePr>
          <p:nvPr>
            <p:custDataLst>
              <p:tags r:id="rId11"/>
            </p:custDataLst>
          </p:nvPr>
        </p:nvGraphicFramePr>
        <p:xfrm>
          <a:off x="3359150" y="4579620"/>
          <a:ext cx="2735580" cy="480695"/>
        </p:xfrm>
        <a:graphic>
          <a:graphicData uri="http://schemas.openxmlformats.org/presentationml/2006/ole">
            <mc:AlternateContent xmlns:mc="http://schemas.openxmlformats.org/markup-compatibility/2006">
              <mc:Choice xmlns:v="urn:schemas-microsoft-com:vml" Requires="v">
                <p:oleObj spid="_x0000_s3264" name="" r:id="rId12" imgW="1295400" imgH="228600" progId="Equation.DSMT4">
                  <p:embed/>
                </p:oleObj>
              </mc:Choice>
              <mc:Fallback>
                <p:oleObj name="" r:id="rId12" imgW="1295400" imgH="228600" progId="Equation.DSMT4">
                  <p:embed/>
                  <p:pic>
                    <p:nvPicPr>
                      <p:cNvPr id="0" name="图片 3263"/>
                      <p:cNvPicPr/>
                      <p:nvPr/>
                    </p:nvPicPr>
                    <p:blipFill>
                      <a:blip r:embed="rId13"/>
                      <a:stretch>
                        <a:fillRect/>
                      </a:stretch>
                    </p:blipFill>
                    <p:spPr>
                      <a:xfrm>
                        <a:off x="3359150" y="4579620"/>
                        <a:ext cx="2735580" cy="480695"/>
                      </a:xfrm>
                      <a:prstGeom prst="rect">
                        <a:avLst/>
                      </a:prstGeom>
                      <a:noFill/>
                      <a:ln w="38100" cap="flat" cmpd="dbl">
                        <a:solidFill>
                          <a:srgbClr val="6666FF"/>
                        </a:solidFill>
                        <a:prstDash val="solid"/>
                        <a:miter/>
                        <a:headEnd type="none" w="med" len="med"/>
                        <a:tailEnd type="none" w="med" len="med"/>
                      </a:ln>
                    </p:spPr>
                  </p:pic>
                </p:oleObj>
              </mc:Fallback>
            </mc:AlternateContent>
          </a:graphicData>
        </a:graphic>
      </p:graphicFrame>
      <p:graphicFrame>
        <p:nvGraphicFramePr>
          <p:cNvPr id="53252" name="Object 4"/>
          <p:cNvGraphicFramePr>
            <a:graphicFrameLocks noChangeAspect="1"/>
          </p:cNvGraphicFramePr>
          <p:nvPr>
            <p:custDataLst>
              <p:tags r:id="rId14"/>
            </p:custDataLst>
          </p:nvPr>
        </p:nvGraphicFramePr>
        <p:xfrm>
          <a:off x="3286760" y="5803900"/>
          <a:ext cx="3194685" cy="466090"/>
        </p:xfrm>
        <a:graphic>
          <a:graphicData uri="http://schemas.openxmlformats.org/presentationml/2006/ole">
            <mc:AlternateContent xmlns:mc="http://schemas.openxmlformats.org/markup-compatibility/2006">
              <mc:Choice xmlns:v="urn:schemas-microsoft-com:vml" Requires="v">
                <p:oleObj spid="_x0000_s24648" name="" r:id="rId15" imgW="1562100" imgH="228600" progId="Equation.3">
                  <p:embed/>
                </p:oleObj>
              </mc:Choice>
              <mc:Fallback>
                <p:oleObj name="" r:id="rId15" imgW="1562100" imgH="228600" progId="Equation.3">
                  <p:embed/>
                  <p:pic>
                    <p:nvPicPr>
                      <p:cNvPr id="0" name="图片 3113"/>
                      <p:cNvPicPr/>
                      <p:nvPr/>
                    </p:nvPicPr>
                    <p:blipFill>
                      <a:blip r:embed="rId16"/>
                      <a:stretch>
                        <a:fillRect/>
                      </a:stretch>
                    </p:blipFill>
                    <p:spPr>
                      <a:xfrm>
                        <a:off x="3286760" y="5803900"/>
                        <a:ext cx="3194685" cy="466090"/>
                      </a:xfrm>
                      <a:prstGeom prst="rect">
                        <a:avLst/>
                      </a:prstGeom>
                      <a:noFill/>
                      <a:ln w="38100">
                        <a:solidFill>
                          <a:srgbClr val="7030A0"/>
                        </a:solidFill>
                        <a:miter/>
                      </a:ln>
                    </p:spPr>
                  </p:pic>
                </p:oleObj>
              </mc:Fallback>
            </mc:AlternateContent>
          </a:graphicData>
        </a:graphic>
      </p:graphicFrame>
      <p:sp>
        <p:nvSpPr>
          <p:cNvPr id="262161" name="Rectangle 17"/>
          <p:cNvSpPr>
            <a:spLocks noChangeArrowheads="1"/>
          </p:cNvSpPr>
          <p:nvPr>
            <p:custDataLst>
              <p:tags r:id="rId17"/>
            </p:custDataLst>
          </p:nvPr>
        </p:nvSpPr>
        <p:spPr bwMode="auto">
          <a:xfrm>
            <a:off x="7105650" y="2306320"/>
            <a:ext cx="2030730" cy="392430"/>
          </a:xfrm>
          <a:prstGeom prst="rect">
            <a:avLst/>
          </a:prstGeom>
          <a:solidFill>
            <a:schemeClr val="bg2">
              <a:lumMod val="10000"/>
              <a:lumOff val="90000"/>
            </a:schemeClr>
          </a:solidFill>
          <a:ln w="9525">
            <a:noFill/>
            <a:miter lim="800000"/>
          </a:ln>
          <a:effectLst>
            <a:outerShdw blurRad="50800" dist="38100" dir="5400000" algn="t" rotWithShape="0">
              <a:prstClr val="black">
                <a:alpha val="40000"/>
              </a:prstClr>
            </a:outerShdw>
          </a:effectLst>
        </p:spPr>
        <p:txBody>
          <a:bodyPr/>
          <a:p>
            <a:pPr marL="342900" marR="0" lvl="0" indent="-342900" algn="l" defTabSz="914400" rtl="0" eaLnBrk="1" fontAlgn="base" latinLnBrk="0" hangingPunct="1">
              <a:lnSpc>
                <a:spcPct val="100000"/>
              </a:lnSpc>
              <a:spcBef>
                <a:spcPct val="20000"/>
              </a:spcBef>
              <a:spcAft>
                <a:spcPct val="0"/>
              </a:spcAft>
              <a:buClr>
                <a:schemeClr val="bg1">
                  <a:lumMod val="50000"/>
                </a:schemeClr>
              </a:buClr>
              <a:buSzPct val="55000"/>
              <a:buFont typeface="Wingdings" panose="05000000000000000000" pitchFamily="2" charset="2"/>
              <a:buChar char="u"/>
              <a:defRPr/>
            </a:pPr>
            <a:r>
              <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华文楷体" panose="02010600040101010101" charset="-122"/>
              </a:rPr>
              <a:t>模拟调制法 </a:t>
            </a:r>
            <a:endPar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华文楷体" panose="02010600040101010101" charset="-122"/>
            </a:endParaRPr>
          </a:p>
        </p:txBody>
      </p:sp>
      <p:sp>
        <p:nvSpPr>
          <p:cNvPr id="262162" name="Rectangle 18"/>
          <p:cNvSpPr>
            <a:spLocks noChangeArrowheads="1"/>
          </p:cNvSpPr>
          <p:nvPr>
            <p:custDataLst>
              <p:tags r:id="rId18"/>
            </p:custDataLst>
          </p:nvPr>
        </p:nvSpPr>
        <p:spPr bwMode="auto">
          <a:xfrm>
            <a:off x="7105015" y="2713990"/>
            <a:ext cx="1522730" cy="392430"/>
          </a:xfrm>
          <a:prstGeom prst="rect">
            <a:avLst/>
          </a:prstGeom>
          <a:solidFill>
            <a:schemeClr val="bg2">
              <a:lumMod val="10000"/>
              <a:lumOff val="90000"/>
            </a:schemeClr>
          </a:solidFill>
          <a:ln w="9525">
            <a:noFill/>
            <a:miter lim="800000"/>
          </a:ln>
          <a:effectLst>
            <a:outerShdw blurRad="50800" dist="38100" dir="5400000" algn="t" rotWithShape="0">
              <a:prstClr val="black">
                <a:alpha val="40000"/>
              </a:prstClr>
            </a:outerShdw>
          </a:effectLst>
        </p:spPr>
        <p:txBody>
          <a:bodyPr/>
          <a:p>
            <a:pPr marL="342900" marR="0" lvl="0" indent="-342900" algn="l" defTabSz="914400" rtl="0" eaLnBrk="1" fontAlgn="base" latinLnBrk="0" hangingPunct="1">
              <a:lnSpc>
                <a:spcPct val="100000"/>
              </a:lnSpc>
              <a:spcBef>
                <a:spcPct val="20000"/>
              </a:spcBef>
              <a:spcAft>
                <a:spcPct val="0"/>
              </a:spcAft>
              <a:buClr>
                <a:schemeClr val="bg1">
                  <a:lumMod val="50000"/>
                </a:schemeClr>
              </a:buClr>
              <a:buSzPct val="55000"/>
              <a:buFont typeface="Wingdings" panose="05000000000000000000" pitchFamily="2" charset="2"/>
              <a:buChar char="u"/>
              <a:defRPr/>
            </a:pPr>
            <a:r>
              <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mn-cs"/>
              </a:rPr>
              <a:t>键控法</a:t>
            </a:r>
            <a:endPar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mn-cs"/>
            </a:endParaRPr>
          </a:p>
        </p:txBody>
      </p:sp>
      <p:sp>
        <p:nvSpPr>
          <p:cNvPr id="29710" name="Rectangle 14"/>
          <p:cNvSpPr>
            <a:spLocks noChangeArrowheads="1"/>
          </p:cNvSpPr>
          <p:nvPr>
            <p:custDataLst>
              <p:tags r:id="rId19"/>
            </p:custDataLst>
          </p:nvPr>
        </p:nvSpPr>
        <p:spPr bwMode="auto">
          <a:xfrm>
            <a:off x="9696450" y="2306320"/>
            <a:ext cx="1976755" cy="922020"/>
          </a:xfrm>
          <a:prstGeom prst="rect">
            <a:avLst/>
          </a:prstGeom>
          <a:solidFill>
            <a:schemeClr val="bg2">
              <a:lumMod val="10000"/>
              <a:lumOff val="90000"/>
            </a:schemeClr>
          </a:solidFill>
          <a:ln w="9525">
            <a:noFill/>
            <a:miter lim="800000"/>
          </a:ln>
          <a:effectLst>
            <a:outerShdw blurRad="50800" dist="38100" dir="5400000" algn="t" rotWithShape="0">
              <a:prstClr val="black">
                <a:alpha val="40000"/>
              </a:prstClr>
            </a:outerShdw>
          </a:effectLst>
        </p:spPr>
        <p:txBody>
          <a:bodyPr wrap="square">
            <a:spAutoFit/>
          </a:bodyPr>
          <a:p>
            <a:pPr marL="0" marR="0" lvl="0" indent="0" algn="l" defTabSz="914400" rtl="0" eaLnBrk="1" fontAlgn="base" latinLnBrk="0" hangingPunct="1">
              <a:lnSpc>
                <a:spcPct val="100000"/>
              </a:lnSpc>
              <a:spcBef>
                <a:spcPct val="0"/>
              </a:spcBef>
              <a:spcAft>
                <a:spcPct val="0"/>
              </a:spcAft>
              <a:buClr>
                <a:schemeClr val="bg1">
                  <a:lumMod val="50000"/>
                </a:schemeClr>
              </a:buClr>
              <a:buSzPct val="60000"/>
              <a:buFont typeface="Wingdings" panose="05000000000000000000" pitchFamily="2" charset="2"/>
              <a:buChar char="u"/>
              <a:defRPr/>
            </a:pPr>
            <a:r>
              <a:rPr kumimoji="0" lang="en-US" altLang="zh-CN" sz="1800" b="1" i="0" u="none" strike="noStrike" kern="1200" cap="none" spc="0" normalizeH="0" baseline="0" noProof="0" dirty="0">
                <a:ln>
                  <a:noFill/>
                </a:ln>
                <a:solidFill>
                  <a:srgbClr val="000099"/>
                </a:solidFill>
                <a:effectLst/>
                <a:uLnTx/>
                <a:uFillTx/>
                <a:latin typeface="华文楷体" panose="02010600040101010101" charset="-122"/>
                <a:ea typeface="华文楷体" panose="02010600040101010101" charset="-122"/>
                <a:cs typeface="华文楷体" panose="02010600040101010101" charset="-122"/>
              </a:rPr>
              <a:t> </a:t>
            </a:r>
            <a:r>
              <a:rPr lang="zh-CN" altLang="en-US" sz="1800" b="1" noProof="0" dirty="0">
                <a:ln>
                  <a:noFill/>
                </a:ln>
                <a:solidFill>
                  <a:srgbClr val="003399"/>
                </a:solidFill>
                <a:effectLst/>
                <a:uLnTx/>
                <a:uFillTx/>
                <a:latin typeface="华文楷体" panose="02010600040101010101" charset="-122"/>
                <a:ea typeface="华文楷体" panose="02010600040101010101" charset="-122"/>
                <a:cs typeface="华文楷体" panose="02010600040101010101" charset="-122"/>
                <a:sym typeface="+mn-ea"/>
              </a:rPr>
              <a:t>非相干解调（包络检波法）</a:t>
            </a:r>
            <a:endParaRPr lang="zh-CN" altLang="en-US" sz="1800" b="1" noProof="0" dirty="0">
              <a:ln>
                <a:noFill/>
              </a:ln>
              <a:solidFill>
                <a:srgbClr val="003399"/>
              </a:solidFill>
              <a:effectLst/>
              <a:uLnTx/>
              <a:uFillTx/>
              <a:latin typeface="华文楷体" panose="02010600040101010101" charset="-122"/>
              <a:ea typeface="华文楷体" panose="02010600040101010101" charset="-122"/>
              <a:cs typeface="华文楷体" panose="02010600040101010101" charset="-122"/>
              <a:sym typeface="+mn-ea"/>
            </a:endParaRPr>
          </a:p>
          <a:p>
            <a:pPr marL="0" marR="0" lvl="0" indent="0" algn="l" defTabSz="914400" rtl="0" eaLnBrk="1" fontAlgn="base" latinLnBrk="0" hangingPunct="1">
              <a:lnSpc>
                <a:spcPct val="100000"/>
              </a:lnSpc>
              <a:spcBef>
                <a:spcPct val="0"/>
              </a:spcBef>
              <a:spcAft>
                <a:spcPct val="0"/>
              </a:spcAft>
              <a:buClr>
                <a:schemeClr val="bg1">
                  <a:lumMod val="50000"/>
                </a:schemeClr>
              </a:buClr>
              <a:buSzPct val="60000"/>
              <a:buFont typeface="Wingdings" panose="05000000000000000000" pitchFamily="2" charset="2"/>
              <a:buChar char="u"/>
              <a:defRPr/>
            </a:pPr>
            <a:r>
              <a:rPr lang="en-US" altLang="zh-CN" sz="1800" b="1" noProof="0" dirty="0">
                <a:ln>
                  <a:noFill/>
                </a:ln>
                <a:solidFill>
                  <a:srgbClr val="000099"/>
                </a:solidFill>
                <a:effectLst/>
                <a:uLnTx/>
                <a:uFillTx/>
                <a:latin typeface="华文楷体" panose="02010600040101010101" charset="-122"/>
                <a:ea typeface="华文楷体" panose="02010600040101010101" charset="-122"/>
                <a:cs typeface="华文楷体" panose="02010600040101010101" charset="-122"/>
                <a:sym typeface="+mn-ea"/>
              </a:rPr>
              <a:t> </a:t>
            </a:r>
            <a:r>
              <a:rPr lang="zh-CN" altLang="en-US" sz="1800" b="1" noProof="0" dirty="0">
                <a:ln>
                  <a:noFill/>
                </a:ln>
                <a:solidFill>
                  <a:srgbClr val="003399"/>
                </a:solidFill>
                <a:effectLst/>
                <a:uLnTx/>
                <a:uFillTx/>
                <a:latin typeface="华文楷体" panose="02010600040101010101" charset="-122"/>
                <a:ea typeface="华文楷体" panose="02010600040101010101" charset="-122"/>
                <a:cs typeface="华文楷体" panose="02010600040101010101" charset="-122"/>
                <a:sym typeface="+mn-ea"/>
              </a:rPr>
              <a:t>相干解调法</a:t>
            </a:r>
            <a:endParaRPr lang="zh-CN" altLang="en-US" sz="1800" b="1" noProof="0" dirty="0">
              <a:ln>
                <a:noFill/>
              </a:ln>
              <a:solidFill>
                <a:srgbClr val="003399"/>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10" name="Rectangle 17"/>
          <p:cNvSpPr>
            <a:spLocks noChangeArrowheads="1"/>
          </p:cNvSpPr>
          <p:nvPr>
            <p:custDataLst>
              <p:tags r:id="rId20"/>
            </p:custDataLst>
          </p:nvPr>
        </p:nvSpPr>
        <p:spPr bwMode="auto">
          <a:xfrm>
            <a:off x="7106285" y="3358515"/>
            <a:ext cx="2030730" cy="392430"/>
          </a:xfrm>
          <a:prstGeom prst="rect">
            <a:avLst/>
          </a:prstGeom>
          <a:solidFill>
            <a:schemeClr val="bg2">
              <a:lumMod val="10000"/>
              <a:lumOff val="90000"/>
            </a:schemeClr>
          </a:solidFill>
          <a:ln w="9525">
            <a:noFill/>
            <a:miter lim="800000"/>
          </a:ln>
          <a:effectLst>
            <a:outerShdw blurRad="50800" dist="38100" dir="5400000" algn="t" rotWithShape="0">
              <a:prstClr val="black">
                <a:alpha val="40000"/>
              </a:prstClr>
            </a:outerShdw>
          </a:effectLst>
        </p:spPr>
        <p:txBody>
          <a:bodyPr/>
          <a:p>
            <a:pPr marL="342900" marR="0" lvl="0" indent="-342900" algn="l" defTabSz="914400" rtl="0" eaLnBrk="1" fontAlgn="base" latinLnBrk="0" hangingPunct="1">
              <a:lnSpc>
                <a:spcPct val="100000"/>
              </a:lnSpc>
              <a:spcBef>
                <a:spcPct val="20000"/>
              </a:spcBef>
              <a:spcAft>
                <a:spcPct val="0"/>
              </a:spcAft>
              <a:buClr>
                <a:schemeClr val="bg1">
                  <a:lumMod val="50000"/>
                </a:schemeClr>
              </a:buClr>
              <a:buSzPct val="55000"/>
              <a:buFont typeface="Wingdings" panose="05000000000000000000" pitchFamily="2" charset="2"/>
              <a:buChar char="u"/>
              <a:defRPr/>
            </a:pPr>
            <a:r>
              <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华文楷体" panose="02010600040101010101" charset="-122"/>
              </a:rPr>
              <a:t>模拟调制法 </a:t>
            </a:r>
            <a:endPar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华文楷体" panose="02010600040101010101" charset="-122"/>
            </a:endParaRPr>
          </a:p>
        </p:txBody>
      </p:sp>
      <p:sp>
        <p:nvSpPr>
          <p:cNvPr id="11" name="Rectangle 18"/>
          <p:cNvSpPr>
            <a:spLocks noChangeArrowheads="1"/>
          </p:cNvSpPr>
          <p:nvPr>
            <p:custDataLst>
              <p:tags r:id="rId21"/>
            </p:custDataLst>
          </p:nvPr>
        </p:nvSpPr>
        <p:spPr bwMode="auto">
          <a:xfrm>
            <a:off x="7105650" y="3766185"/>
            <a:ext cx="1522730" cy="392430"/>
          </a:xfrm>
          <a:prstGeom prst="rect">
            <a:avLst/>
          </a:prstGeom>
          <a:solidFill>
            <a:schemeClr val="bg2">
              <a:lumMod val="10000"/>
              <a:lumOff val="90000"/>
            </a:schemeClr>
          </a:solidFill>
          <a:ln w="9525">
            <a:noFill/>
            <a:miter lim="800000"/>
          </a:ln>
          <a:effectLst>
            <a:outerShdw blurRad="50800" dist="38100" dir="5400000" algn="t" rotWithShape="0">
              <a:prstClr val="black">
                <a:alpha val="40000"/>
              </a:prstClr>
            </a:outerShdw>
          </a:effectLst>
        </p:spPr>
        <p:txBody>
          <a:bodyPr/>
          <a:p>
            <a:pPr marL="342900" marR="0" lvl="0" indent="-342900" algn="l" defTabSz="914400" rtl="0" eaLnBrk="1" fontAlgn="base" latinLnBrk="0" hangingPunct="1">
              <a:lnSpc>
                <a:spcPct val="100000"/>
              </a:lnSpc>
              <a:spcBef>
                <a:spcPct val="20000"/>
              </a:spcBef>
              <a:spcAft>
                <a:spcPct val="0"/>
              </a:spcAft>
              <a:buClr>
                <a:schemeClr val="bg1">
                  <a:lumMod val="50000"/>
                </a:schemeClr>
              </a:buClr>
              <a:buSzPct val="55000"/>
              <a:buFont typeface="Wingdings" panose="05000000000000000000" pitchFamily="2" charset="2"/>
              <a:buChar char="u"/>
              <a:defRPr/>
            </a:pPr>
            <a:r>
              <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mn-cs"/>
              </a:rPr>
              <a:t>键控法</a:t>
            </a:r>
            <a:endPar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mn-cs"/>
            </a:endParaRPr>
          </a:p>
        </p:txBody>
      </p:sp>
      <p:sp>
        <p:nvSpPr>
          <p:cNvPr id="56344" name="Rectangle 24"/>
          <p:cNvSpPr>
            <a:spLocks noChangeArrowheads="1"/>
          </p:cNvSpPr>
          <p:nvPr>
            <p:custDataLst>
              <p:tags r:id="rId22"/>
            </p:custDataLst>
          </p:nvPr>
        </p:nvSpPr>
        <p:spPr bwMode="auto">
          <a:xfrm>
            <a:off x="9624695" y="4609783"/>
            <a:ext cx="1331595" cy="368300"/>
          </a:xfrm>
          <a:prstGeom prst="rect">
            <a:avLst/>
          </a:prstGeom>
          <a:noFill/>
          <a:ln w="9525">
            <a:noFill/>
            <a:miter lim="800000"/>
          </a:ln>
          <a:effectLst>
            <a:prstShdw prst="shdw17" dist="17961" dir="2700000">
              <a:schemeClr val="bg1">
                <a:gamma/>
                <a:shade val="60000"/>
                <a:invGamma/>
              </a:schemeClr>
            </a:prstShdw>
          </a:effectLst>
        </p:spPr>
        <p:txBody>
          <a:bodyPr wrap="none">
            <a:spAutoFit/>
          </a:bodyPr>
          <a:p>
            <a:pPr marL="0" marR="0" lvl="0" indent="0" algn="l" defTabSz="914400" rtl="0" eaLnBrk="1" fontAlgn="base" latinLnBrk="0" hangingPunct="1">
              <a:lnSpc>
                <a:spcPct val="100000"/>
              </a:lnSpc>
              <a:spcBef>
                <a:spcPct val="20000"/>
              </a:spcBef>
              <a:spcAft>
                <a:spcPct val="0"/>
              </a:spcAft>
              <a:buClr>
                <a:srgbClr val="FF0000"/>
              </a:buClr>
              <a:buSzPct val="70000"/>
              <a:buFont typeface="Wingdings" panose="05000000000000000000" pitchFamily="2" charset="2"/>
              <a:buChar char="n"/>
              <a:defRPr/>
            </a:pPr>
            <a:r>
              <a:rPr kumimoji="0" lang="en-US" altLang="zh-CN" sz="18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 </a:t>
            </a:r>
            <a:r>
              <a:rPr kumimoji="0" lang="zh-CN" altLang="en-US" sz="1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相干解调 </a:t>
            </a:r>
            <a:endParaRPr kumimoji="0" lang="zh-CN" altLang="en-US" sz="1800" b="0"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p:txBody>
      </p:sp>
      <p:sp>
        <p:nvSpPr>
          <p:cNvPr id="17414" name="Rectangle 10"/>
          <p:cNvSpPr/>
          <p:nvPr>
            <p:custDataLst>
              <p:tags r:id="rId23"/>
            </p:custDataLst>
          </p:nvPr>
        </p:nvSpPr>
        <p:spPr>
          <a:xfrm>
            <a:off x="9696450" y="5600700"/>
            <a:ext cx="2292350" cy="1219835"/>
          </a:xfrm>
          <a:prstGeom prst="rect">
            <a:avLst/>
          </a:prstGeom>
          <a:noFill/>
          <a:ln w="9525">
            <a:noFill/>
          </a:ln>
        </p:spPr>
        <p:txBody>
          <a:bodyPr wrap="square">
            <a:noAutofit/>
          </a:bodyPr>
          <a:p>
            <a:pPr marL="285750" indent="-285750" eaLnBrk="1" hangingPunct="1">
              <a:buClr>
                <a:srgbClr val="FF0000"/>
              </a:buClr>
              <a:buSzPct val="70000"/>
              <a:buFont typeface="Arial" panose="020B0604020202090204" pitchFamily="34" charset="0"/>
              <a:buChar char="•"/>
            </a:pPr>
            <a:r>
              <a:rPr lang="zh-CN" altLang="en-US" sz="1800" dirty="0">
                <a:solidFill>
                  <a:srgbClr val="7030A0"/>
                </a:solidFill>
                <a:latin typeface="华文楷体" panose="02010600040101010101" charset="-122"/>
                <a:ea typeface="华文楷体" panose="02010600040101010101" charset="-122"/>
                <a:cs typeface="华文楷体" panose="02010600040101010101" charset="-122"/>
                <a:sym typeface="+mn-ea"/>
              </a:rPr>
              <a:t>差分相干解调</a:t>
            </a:r>
            <a:r>
              <a:rPr lang="zh-CN" altLang="en-US" sz="1800" dirty="0">
                <a:solidFill>
                  <a:srgbClr val="003399"/>
                </a:solidFill>
                <a:latin typeface="华文楷体" panose="02010600040101010101" charset="-122"/>
                <a:ea typeface="华文楷体" panose="02010600040101010101" charset="-122"/>
                <a:cs typeface="华文楷体" panose="02010600040101010101" charset="-122"/>
                <a:sym typeface="+mn-ea"/>
              </a:rPr>
              <a:t> </a:t>
            </a:r>
            <a:r>
              <a:rPr lang="en-US" altLang="zh-CN" sz="1800" dirty="0">
                <a:solidFill>
                  <a:srgbClr val="003399"/>
                </a:solidFill>
                <a:latin typeface="华文楷体" panose="02010600040101010101" charset="-122"/>
                <a:ea typeface="华文楷体" panose="02010600040101010101" charset="-122"/>
                <a:cs typeface="华文楷体" panose="02010600040101010101" charset="-122"/>
                <a:sym typeface="+mn-ea"/>
              </a:rPr>
              <a:t>(</a:t>
            </a:r>
            <a:r>
              <a:rPr lang="zh-CN" altLang="en-US" sz="1800" dirty="0">
                <a:solidFill>
                  <a:srgbClr val="003399"/>
                </a:solidFill>
                <a:latin typeface="华文楷体" panose="02010600040101010101" charset="-122"/>
                <a:ea typeface="华文楷体" panose="02010600040101010101" charset="-122"/>
                <a:cs typeface="华文楷体" panose="02010600040101010101" charset="-122"/>
                <a:sym typeface="+mn-ea"/>
              </a:rPr>
              <a:t>相位比较</a:t>
            </a:r>
            <a:r>
              <a:rPr lang="en-US" altLang="zh-CN" sz="1800" dirty="0">
                <a:solidFill>
                  <a:srgbClr val="003399"/>
                </a:solidFill>
                <a:latin typeface="华文楷体" panose="02010600040101010101" charset="-122"/>
                <a:ea typeface="华文楷体" panose="02010600040101010101" charset="-122"/>
                <a:cs typeface="华文楷体" panose="02010600040101010101" charset="-122"/>
                <a:sym typeface="+mn-ea"/>
              </a:rPr>
              <a:t>)</a:t>
            </a:r>
            <a:r>
              <a:rPr lang="zh-CN" altLang="en-US" sz="1800" dirty="0">
                <a:solidFill>
                  <a:srgbClr val="003399"/>
                </a:solidFill>
                <a:latin typeface="华文楷体" panose="02010600040101010101" charset="-122"/>
                <a:ea typeface="华文楷体" panose="02010600040101010101" charset="-122"/>
                <a:cs typeface="华文楷体" panose="02010600040101010101" charset="-122"/>
                <a:sym typeface="+mn-ea"/>
              </a:rPr>
              <a:t>法</a:t>
            </a:r>
            <a:endParaRPr lang="zh-CN" altLang="en-US" sz="1800" dirty="0">
              <a:solidFill>
                <a:srgbClr val="003399"/>
              </a:solidFill>
              <a:latin typeface="华文楷体" panose="02010600040101010101" charset="-122"/>
              <a:ea typeface="华文楷体" panose="02010600040101010101" charset="-122"/>
              <a:cs typeface="华文楷体" panose="02010600040101010101" charset="-122"/>
              <a:sym typeface="+mn-ea"/>
            </a:endParaRPr>
          </a:p>
          <a:p>
            <a:pPr marL="285750" indent="-285750" eaLnBrk="1" hangingPunct="1">
              <a:buClr>
                <a:srgbClr val="FF0000"/>
              </a:buClr>
              <a:buSzPct val="70000"/>
              <a:buFont typeface="Arial" panose="020B0604020202090204" pitchFamily="34" charset="0"/>
              <a:buChar char="•"/>
            </a:pPr>
            <a:r>
              <a:rPr lang="zh-CN" altLang="en-US" sz="1800" dirty="0">
                <a:solidFill>
                  <a:srgbClr val="003399"/>
                </a:solidFill>
                <a:latin typeface="华文楷体" panose="02010600040101010101" charset="-122"/>
                <a:ea typeface="华文楷体" panose="02010600040101010101" charset="-122"/>
                <a:cs typeface="华文楷体" panose="02010600040101010101" charset="-122"/>
                <a:sym typeface="+mn-ea"/>
              </a:rPr>
              <a:t>相干解调</a:t>
            </a:r>
            <a:r>
              <a:rPr lang="en-US" altLang="zh-CN" sz="1800" dirty="0">
                <a:solidFill>
                  <a:srgbClr val="FF0000"/>
                </a:solidFill>
                <a:latin typeface="华文楷体" panose="02010600040101010101" charset="-122"/>
                <a:ea typeface="华文楷体" panose="02010600040101010101" charset="-122"/>
                <a:cs typeface="华文楷体" panose="02010600040101010101" charset="-122"/>
                <a:sym typeface="+mn-ea"/>
              </a:rPr>
              <a:t> + </a:t>
            </a:r>
            <a:r>
              <a:rPr lang="zh-CN" altLang="en-US" sz="1800" dirty="0">
                <a:solidFill>
                  <a:srgbClr val="003399"/>
                </a:solidFill>
                <a:latin typeface="华文楷体" panose="02010600040101010101" charset="-122"/>
                <a:ea typeface="华文楷体" panose="02010600040101010101" charset="-122"/>
                <a:cs typeface="华文楷体" panose="02010600040101010101" charset="-122"/>
                <a:sym typeface="+mn-ea"/>
              </a:rPr>
              <a:t>码反变换法</a:t>
            </a:r>
            <a:endParaRPr lang="zh-CN" altLang="en-US" sz="1800" dirty="0">
              <a:solidFill>
                <a:srgbClr val="003399"/>
              </a:solidFill>
              <a:latin typeface="华文楷体" panose="02010600040101010101" charset="-122"/>
              <a:ea typeface="华文楷体" panose="02010600040101010101" charset="-122"/>
              <a:cs typeface="华文楷体" panose="02010600040101010101" charset="-122"/>
              <a:sym typeface="+mn-ea"/>
            </a:endParaRPr>
          </a:p>
          <a:p>
            <a:pPr eaLnBrk="1" hangingPunct="1">
              <a:buClr>
                <a:srgbClr val="FF0000"/>
              </a:buClr>
              <a:buSzPct val="70000"/>
              <a:buFont typeface="Wingdings" panose="05000000000000000000" pitchFamily="2" charset="2"/>
              <a:buChar char="n"/>
            </a:pPr>
            <a:endParaRPr lang="zh-CN" altLang="en-US" sz="1800" dirty="0">
              <a:solidFill>
                <a:srgbClr val="003399"/>
              </a:solidFill>
              <a:latin typeface="华文楷体" panose="02010600040101010101" charset="-122"/>
              <a:ea typeface="华文楷体" panose="02010600040101010101" charset="-122"/>
              <a:cs typeface="华文楷体" panose="02010600040101010101" charset="-122"/>
              <a:sym typeface="+mn-ea"/>
            </a:endParaRPr>
          </a:p>
        </p:txBody>
      </p:sp>
      <p:sp>
        <p:nvSpPr>
          <p:cNvPr id="13" name="Rectangle 17"/>
          <p:cNvSpPr>
            <a:spLocks noChangeArrowheads="1"/>
          </p:cNvSpPr>
          <p:nvPr>
            <p:custDataLst>
              <p:tags r:id="rId24"/>
            </p:custDataLst>
          </p:nvPr>
        </p:nvSpPr>
        <p:spPr bwMode="auto">
          <a:xfrm>
            <a:off x="7193915" y="4507865"/>
            <a:ext cx="2030730" cy="392430"/>
          </a:xfrm>
          <a:prstGeom prst="rect">
            <a:avLst/>
          </a:prstGeom>
          <a:solidFill>
            <a:schemeClr val="bg2">
              <a:lumMod val="10000"/>
              <a:lumOff val="90000"/>
            </a:schemeClr>
          </a:solidFill>
          <a:ln w="9525">
            <a:noFill/>
            <a:miter lim="800000"/>
          </a:ln>
          <a:effectLst>
            <a:outerShdw blurRad="50800" dist="38100" dir="5400000" algn="t" rotWithShape="0">
              <a:prstClr val="black">
                <a:alpha val="40000"/>
              </a:prstClr>
            </a:outerShdw>
          </a:effectLst>
        </p:spPr>
        <p:txBody>
          <a:bodyPr/>
          <a:p>
            <a:pPr marL="342900" marR="0" lvl="0" indent="-342900" algn="l" defTabSz="914400" rtl="0" eaLnBrk="1" fontAlgn="base" latinLnBrk="0" hangingPunct="1">
              <a:lnSpc>
                <a:spcPct val="100000"/>
              </a:lnSpc>
              <a:spcBef>
                <a:spcPct val="20000"/>
              </a:spcBef>
              <a:spcAft>
                <a:spcPct val="0"/>
              </a:spcAft>
              <a:buClr>
                <a:schemeClr val="bg1">
                  <a:lumMod val="50000"/>
                </a:schemeClr>
              </a:buClr>
              <a:buSzPct val="55000"/>
              <a:buFont typeface="Wingdings" panose="05000000000000000000" pitchFamily="2" charset="2"/>
              <a:buChar char="u"/>
              <a:defRPr/>
            </a:pPr>
            <a:r>
              <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华文楷体" panose="02010600040101010101" charset="-122"/>
              </a:rPr>
              <a:t>模拟调制法 </a:t>
            </a:r>
            <a:endPar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华文楷体" panose="02010600040101010101" charset="-122"/>
            </a:endParaRPr>
          </a:p>
        </p:txBody>
      </p:sp>
      <p:sp>
        <p:nvSpPr>
          <p:cNvPr id="14" name="Rectangle 18"/>
          <p:cNvSpPr>
            <a:spLocks noChangeArrowheads="1"/>
          </p:cNvSpPr>
          <p:nvPr>
            <p:custDataLst>
              <p:tags r:id="rId25"/>
            </p:custDataLst>
          </p:nvPr>
        </p:nvSpPr>
        <p:spPr bwMode="auto">
          <a:xfrm>
            <a:off x="7193280" y="4915535"/>
            <a:ext cx="1522730" cy="392430"/>
          </a:xfrm>
          <a:prstGeom prst="rect">
            <a:avLst/>
          </a:prstGeom>
          <a:solidFill>
            <a:schemeClr val="bg2">
              <a:lumMod val="10000"/>
              <a:lumOff val="90000"/>
            </a:schemeClr>
          </a:solidFill>
          <a:ln w="9525">
            <a:noFill/>
            <a:miter lim="800000"/>
          </a:ln>
          <a:effectLst>
            <a:outerShdw blurRad="50800" dist="38100" dir="5400000" algn="t" rotWithShape="0">
              <a:prstClr val="black">
                <a:alpha val="40000"/>
              </a:prstClr>
            </a:outerShdw>
          </a:effectLst>
        </p:spPr>
        <p:txBody>
          <a:bodyPr/>
          <a:p>
            <a:pPr marL="342900" marR="0" lvl="0" indent="-342900" algn="l" defTabSz="914400" rtl="0" eaLnBrk="1" fontAlgn="base" latinLnBrk="0" hangingPunct="1">
              <a:lnSpc>
                <a:spcPct val="100000"/>
              </a:lnSpc>
              <a:spcBef>
                <a:spcPct val="20000"/>
              </a:spcBef>
              <a:spcAft>
                <a:spcPct val="0"/>
              </a:spcAft>
              <a:buClr>
                <a:schemeClr val="bg1">
                  <a:lumMod val="50000"/>
                </a:schemeClr>
              </a:buClr>
              <a:buSzPct val="55000"/>
              <a:buFont typeface="Wingdings" panose="05000000000000000000" pitchFamily="2" charset="2"/>
              <a:buChar char="u"/>
              <a:defRPr/>
            </a:pPr>
            <a:r>
              <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mn-cs"/>
              </a:rPr>
              <a:t>键控法</a:t>
            </a:r>
            <a:endPar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mn-cs"/>
            </a:endParaRPr>
          </a:p>
        </p:txBody>
      </p:sp>
      <p:sp>
        <p:nvSpPr>
          <p:cNvPr id="15" name="Rectangle 18"/>
          <p:cNvSpPr>
            <a:spLocks noChangeArrowheads="1"/>
          </p:cNvSpPr>
          <p:nvPr>
            <p:custDataLst>
              <p:tags r:id="rId26"/>
            </p:custDataLst>
          </p:nvPr>
        </p:nvSpPr>
        <p:spPr bwMode="auto">
          <a:xfrm>
            <a:off x="7031990" y="5876290"/>
            <a:ext cx="2319655" cy="392430"/>
          </a:xfrm>
          <a:prstGeom prst="rect">
            <a:avLst/>
          </a:prstGeom>
          <a:solidFill>
            <a:schemeClr val="bg2">
              <a:lumMod val="10000"/>
              <a:lumOff val="90000"/>
            </a:schemeClr>
          </a:solidFill>
          <a:ln w="9525">
            <a:noFill/>
            <a:miter lim="800000"/>
          </a:ln>
          <a:effectLst>
            <a:outerShdw blurRad="50800" dist="38100" dir="5400000" algn="t" rotWithShape="0">
              <a:prstClr val="black">
                <a:alpha val="40000"/>
              </a:prstClr>
            </a:outerShdw>
          </a:effectLst>
        </p:spPr>
        <p:txBody>
          <a:bodyPr/>
          <a:p>
            <a:pPr marL="342900" marR="0" lvl="0" indent="-342900" algn="l" defTabSz="914400" rtl="0" eaLnBrk="1" fontAlgn="base" latinLnBrk="0" hangingPunct="1">
              <a:lnSpc>
                <a:spcPct val="100000"/>
              </a:lnSpc>
              <a:spcBef>
                <a:spcPct val="20000"/>
              </a:spcBef>
              <a:spcAft>
                <a:spcPct val="0"/>
              </a:spcAft>
              <a:buClr>
                <a:schemeClr val="bg1">
                  <a:lumMod val="50000"/>
                </a:schemeClr>
              </a:buClr>
              <a:buSzPct val="55000"/>
              <a:buFont typeface="Wingdings" panose="05000000000000000000" pitchFamily="2" charset="2"/>
              <a:buChar char="u"/>
              <a:defRPr/>
            </a:pPr>
            <a:r>
              <a:rPr kumimoji="0" lang="zh-CN" altLang="en-US"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mn-cs"/>
              </a:rPr>
              <a:t>差分编码</a:t>
            </a:r>
            <a:r>
              <a:rPr kumimoji="0" lang="en-US" altLang="zh-CN"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mn-cs"/>
              </a:rPr>
              <a:t>+</a:t>
            </a:r>
            <a:r>
              <a:rPr kumimoji="0" lang="en-US" altLang="zh-CN"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mn-cs"/>
              </a:rPr>
              <a:t>S2PSK</a:t>
            </a:r>
            <a:endParaRPr kumimoji="0" lang="en-US" altLang="zh-CN" sz="1800" b="1" i="0" u="none" strike="noStrike" kern="1200" cap="none" spc="0" normalizeH="0" baseline="0" noProof="0" dirty="0">
              <a:ln>
                <a:noFill/>
              </a:ln>
              <a:solidFill>
                <a:srgbClr val="003399"/>
              </a:solidFill>
              <a:effectLst/>
              <a:uLnTx/>
              <a:uFillTx/>
              <a:latin typeface="华文楷体" panose="02010600040101010101" charset="-122"/>
              <a:ea typeface="华文楷体" panose="02010600040101010101" charset="-122"/>
              <a:cs typeface="+mn-cs"/>
            </a:endParaRPr>
          </a:p>
        </p:txBody>
      </p:sp>
      <p:sp>
        <p:nvSpPr>
          <p:cNvPr id="6" name="Line 5"/>
          <p:cNvSpPr/>
          <p:nvPr>
            <p:custDataLst>
              <p:tags r:id="rId27"/>
            </p:custDataLst>
          </p:nvPr>
        </p:nvSpPr>
        <p:spPr>
          <a:xfrm>
            <a:off x="1553210" y="2186305"/>
            <a:ext cx="1313180" cy="635"/>
          </a:xfrm>
          <a:prstGeom prst="line">
            <a:avLst/>
          </a:prstGeom>
          <a:ln w="9525" cap="flat" cmpd="sng">
            <a:solidFill>
              <a:schemeClr val="tx1"/>
            </a:solidFill>
            <a:prstDash val="solid"/>
            <a:headEnd type="none" w="med" len="med"/>
            <a:tailEnd type="triangle" w="med" len="med"/>
          </a:ln>
        </p:spPr>
      </p:sp>
      <p:sp>
        <p:nvSpPr>
          <p:cNvPr id="7" name="Line 6"/>
          <p:cNvSpPr/>
          <p:nvPr>
            <p:custDataLst>
              <p:tags r:id="rId28"/>
            </p:custDataLst>
          </p:nvPr>
        </p:nvSpPr>
        <p:spPr>
          <a:xfrm flipV="1">
            <a:off x="1553210" y="1289050"/>
            <a:ext cx="1240155" cy="635"/>
          </a:xfrm>
          <a:prstGeom prst="line">
            <a:avLst/>
          </a:prstGeom>
          <a:ln w="9525" cap="flat" cmpd="sng">
            <a:solidFill>
              <a:schemeClr val="tx1"/>
            </a:solidFill>
            <a:prstDash val="solid"/>
            <a:headEnd type="none" w="med" len="med"/>
            <a:tailEnd type="triangle" w="med" len="med"/>
          </a:ln>
        </p:spPr>
      </p:sp>
      <p:sp>
        <p:nvSpPr>
          <p:cNvPr id="8" name="Line 7"/>
          <p:cNvSpPr/>
          <p:nvPr>
            <p:custDataLst>
              <p:tags r:id="rId29"/>
            </p:custDataLst>
          </p:nvPr>
        </p:nvSpPr>
        <p:spPr>
          <a:xfrm flipV="1">
            <a:off x="1553210" y="3308350"/>
            <a:ext cx="1443355" cy="635"/>
          </a:xfrm>
          <a:prstGeom prst="line">
            <a:avLst/>
          </a:prstGeom>
          <a:ln w="9525" cap="flat" cmpd="sng">
            <a:solidFill>
              <a:schemeClr val="tx1"/>
            </a:solidFill>
            <a:prstDash val="solid"/>
            <a:headEnd type="none" w="med" len="med"/>
            <a:tailEnd type="triangle" w="med" len="med"/>
          </a:ln>
        </p:spPr>
      </p:sp>
      <p:graphicFrame>
        <p:nvGraphicFramePr>
          <p:cNvPr id="9" name="Object 8"/>
          <p:cNvGraphicFramePr>
            <a:graphicFrameLocks noChangeAspect="1"/>
          </p:cNvGraphicFramePr>
          <p:nvPr>
            <p:custDataLst>
              <p:tags r:id="rId30"/>
            </p:custDataLst>
          </p:nvPr>
        </p:nvGraphicFramePr>
        <p:xfrm>
          <a:off x="2076768" y="1804988"/>
          <a:ext cx="547687" cy="766762"/>
        </p:xfrm>
        <a:graphic>
          <a:graphicData uri="http://schemas.openxmlformats.org/presentationml/2006/ole">
            <mc:AlternateContent xmlns:mc="http://schemas.openxmlformats.org/markup-compatibility/2006">
              <mc:Choice xmlns:v="urn:schemas-microsoft-com:vml" Requires="v">
                <p:oleObj spid="_x0000_s12" name="" r:id="rId31" imgW="1476375" imgH="762000" progId="Visio.Drawing.11">
                  <p:embed/>
                </p:oleObj>
              </mc:Choice>
              <mc:Fallback>
                <p:oleObj name="" r:id="rId31" imgW="1476375" imgH="762000" progId="Visio.Drawing.11">
                  <p:embed/>
                  <p:pic>
                    <p:nvPicPr>
                      <p:cNvPr id="0" name="图片 3075"/>
                      <p:cNvPicPr/>
                      <p:nvPr/>
                    </p:nvPicPr>
                    <p:blipFill>
                      <a:blip r:embed="rId32"/>
                      <a:stretch>
                        <a:fillRect/>
                      </a:stretch>
                    </p:blipFill>
                    <p:spPr>
                      <a:xfrm>
                        <a:off x="2076768" y="1804988"/>
                        <a:ext cx="547687" cy="766762"/>
                      </a:xfrm>
                      <a:prstGeom prst="rect">
                        <a:avLst/>
                      </a:prstGeom>
                      <a:noFill/>
                      <a:ln w="38100">
                        <a:noFill/>
                        <a:miter/>
                      </a:ln>
                    </p:spPr>
                  </p:pic>
                </p:oleObj>
              </mc:Fallback>
            </mc:AlternateContent>
          </a:graphicData>
        </a:graphic>
      </p:graphicFrame>
      <p:sp>
        <p:nvSpPr>
          <p:cNvPr id="20" name="Line 16"/>
          <p:cNvSpPr/>
          <p:nvPr>
            <p:custDataLst>
              <p:tags r:id="rId33"/>
            </p:custDataLst>
          </p:nvPr>
        </p:nvSpPr>
        <p:spPr>
          <a:xfrm>
            <a:off x="1553210" y="967105"/>
            <a:ext cx="635" cy="5772150"/>
          </a:xfrm>
          <a:prstGeom prst="line">
            <a:avLst/>
          </a:prstGeom>
          <a:ln w="9525" cap="flat" cmpd="sng">
            <a:solidFill>
              <a:schemeClr val="tx1"/>
            </a:solidFill>
            <a:prstDash val="dash"/>
            <a:headEnd type="none" w="med" len="med"/>
            <a:tailEnd type="none" w="med" len="med"/>
          </a:ln>
        </p:spPr>
      </p:sp>
      <p:sp>
        <p:nvSpPr>
          <p:cNvPr id="21" name="Line 17"/>
          <p:cNvSpPr/>
          <p:nvPr>
            <p:custDataLst>
              <p:tags r:id="rId34"/>
            </p:custDataLst>
          </p:nvPr>
        </p:nvSpPr>
        <p:spPr>
          <a:xfrm flipH="1">
            <a:off x="2070100" y="967105"/>
            <a:ext cx="31750" cy="5768975"/>
          </a:xfrm>
          <a:prstGeom prst="line">
            <a:avLst/>
          </a:prstGeom>
          <a:ln w="9525" cap="flat" cmpd="sng">
            <a:solidFill>
              <a:schemeClr val="tx1"/>
            </a:solidFill>
            <a:prstDash val="dash"/>
            <a:headEnd type="none" w="med" len="med"/>
            <a:tailEnd type="none" w="med" len="med"/>
          </a:ln>
        </p:spPr>
      </p:sp>
      <p:sp>
        <p:nvSpPr>
          <p:cNvPr id="22" name="Line 18"/>
          <p:cNvSpPr/>
          <p:nvPr>
            <p:custDataLst>
              <p:tags r:id="rId35"/>
            </p:custDataLst>
          </p:nvPr>
        </p:nvSpPr>
        <p:spPr>
          <a:xfrm>
            <a:off x="2634615" y="967105"/>
            <a:ext cx="60960" cy="5780405"/>
          </a:xfrm>
          <a:prstGeom prst="line">
            <a:avLst/>
          </a:prstGeom>
          <a:ln w="9525" cap="flat" cmpd="sng">
            <a:solidFill>
              <a:schemeClr val="tx1"/>
            </a:solidFill>
            <a:prstDash val="dash"/>
            <a:headEnd type="none" w="med" len="med"/>
            <a:tailEnd type="none" w="med" len="med"/>
          </a:ln>
        </p:spPr>
      </p:sp>
      <p:graphicFrame>
        <p:nvGraphicFramePr>
          <p:cNvPr id="26" name="Object 24"/>
          <p:cNvGraphicFramePr>
            <a:graphicFrameLocks noChangeAspect="1"/>
          </p:cNvGraphicFramePr>
          <p:nvPr>
            <p:custDataLst>
              <p:tags r:id="rId36"/>
            </p:custDataLst>
          </p:nvPr>
        </p:nvGraphicFramePr>
        <p:xfrm>
          <a:off x="1538605" y="1804988"/>
          <a:ext cx="547688" cy="766762"/>
        </p:xfrm>
        <a:graphic>
          <a:graphicData uri="http://schemas.openxmlformats.org/presentationml/2006/ole">
            <mc:AlternateContent xmlns:mc="http://schemas.openxmlformats.org/markup-compatibility/2006">
              <mc:Choice xmlns:v="urn:schemas-microsoft-com:vml" Requires="v">
                <p:oleObj spid="_x0000_s27" name="" r:id="rId37" imgW="1476375" imgH="762000" progId="Visio.Drawing.11">
                  <p:embed/>
                </p:oleObj>
              </mc:Choice>
              <mc:Fallback>
                <p:oleObj name="" r:id="rId37" imgW="1476375" imgH="762000" progId="Visio.Drawing.11">
                  <p:embed/>
                  <p:pic>
                    <p:nvPicPr>
                      <p:cNvPr id="0" name="图片 3088"/>
                      <p:cNvPicPr/>
                      <p:nvPr/>
                    </p:nvPicPr>
                    <p:blipFill>
                      <a:blip r:embed="rId32"/>
                      <a:stretch>
                        <a:fillRect/>
                      </a:stretch>
                    </p:blipFill>
                    <p:spPr>
                      <a:xfrm>
                        <a:off x="1538605" y="1804988"/>
                        <a:ext cx="547688" cy="766762"/>
                      </a:xfrm>
                      <a:prstGeom prst="rect">
                        <a:avLst/>
                      </a:prstGeom>
                      <a:noFill/>
                      <a:ln w="38100">
                        <a:noFill/>
                        <a:miter/>
                      </a:ln>
                    </p:spPr>
                  </p:pic>
                </p:oleObj>
              </mc:Fallback>
            </mc:AlternateContent>
          </a:graphicData>
        </a:graphic>
      </p:graphicFrame>
      <p:graphicFrame>
        <p:nvGraphicFramePr>
          <p:cNvPr id="28" name="Object 25"/>
          <p:cNvGraphicFramePr>
            <a:graphicFrameLocks noChangeAspect="1"/>
          </p:cNvGraphicFramePr>
          <p:nvPr>
            <p:custDataLst>
              <p:tags r:id="rId38"/>
            </p:custDataLst>
          </p:nvPr>
        </p:nvGraphicFramePr>
        <p:xfrm>
          <a:off x="1538605" y="2933700"/>
          <a:ext cx="547688" cy="766763"/>
        </p:xfrm>
        <a:graphic>
          <a:graphicData uri="http://schemas.openxmlformats.org/presentationml/2006/ole">
            <mc:AlternateContent xmlns:mc="http://schemas.openxmlformats.org/markup-compatibility/2006">
              <mc:Choice xmlns:v="urn:schemas-microsoft-com:vml" Requires="v">
                <p:oleObj spid="_x0000_s29" name="" r:id="rId39" imgW="1476375" imgH="762000" progId="Visio.Drawing.11">
                  <p:embed/>
                </p:oleObj>
              </mc:Choice>
              <mc:Fallback>
                <p:oleObj name="" r:id="rId39" imgW="1476375" imgH="762000" progId="Visio.Drawing.11">
                  <p:embed/>
                  <p:pic>
                    <p:nvPicPr>
                      <p:cNvPr id="0" name="图片 3089"/>
                      <p:cNvPicPr/>
                      <p:nvPr/>
                    </p:nvPicPr>
                    <p:blipFill>
                      <a:blip r:embed="rId32"/>
                      <a:stretch>
                        <a:fillRect/>
                      </a:stretch>
                    </p:blipFill>
                    <p:spPr>
                      <a:xfrm>
                        <a:off x="1538605" y="2933700"/>
                        <a:ext cx="547688" cy="766763"/>
                      </a:xfrm>
                      <a:prstGeom prst="rect">
                        <a:avLst/>
                      </a:prstGeom>
                      <a:noFill/>
                      <a:ln w="38100">
                        <a:noFill/>
                        <a:miter/>
                      </a:ln>
                    </p:spPr>
                  </p:pic>
                </p:oleObj>
              </mc:Fallback>
            </mc:AlternateContent>
          </a:graphicData>
        </a:graphic>
      </p:graphicFrame>
      <p:sp>
        <p:nvSpPr>
          <p:cNvPr id="30" name="Rectangle 26"/>
          <p:cNvSpPr/>
          <p:nvPr>
            <p:custDataLst>
              <p:tags r:id="rId40"/>
            </p:custDataLst>
          </p:nvPr>
        </p:nvSpPr>
        <p:spPr>
          <a:xfrm>
            <a:off x="1552893" y="1050925"/>
            <a:ext cx="533400" cy="228600"/>
          </a:xfrm>
          <a:prstGeom prst="rect">
            <a:avLst/>
          </a:prstGeom>
          <a:solidFill>
            <a:srgbClr val="E5E5FF"/>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华文楷体" panose="02010600040101010101" charset="-122"/>
              <a:ea typeface="华文楷体" panose="02010600040101010101" charset="-122"/>
            </a:endParaRPr>
          </a:p>
        </p:txBody>
      </p:sp>
      <p:sp>
        <p:nvSpPr>
          <p:cNvPr id="34" name="Text Box 30"/>
          <p:cNvSpPr txBox="1"/>
          <p:nvPr>
            <p:custDataLst>
              <p:tags r:id="rId41"/>
            </p:custDataLst>
          </p:nvPr>
        </p:nvSpPr>
        <p:spPr>
          <a:xfrm>
            <a:off x="1552893" y="700088"/>
            <a:ext cx="457200" cy="366712"/>
          </a:xfrm>
          <a:prstGeom prst="rect">
            <a:avLst/>
          </a:prstGeom>
          <a:noFill/>
          <a:ln w="9525">
            <a:noFill/>
          </a:ln>
        </p:spPr>
        <p:txBody>
          <a:bodyPr>
            <a:spAutoFit/>
          </a:bodyPr>
          <a:p>
            <a:pPr eaLnBrk="1" hangingPunct="1">
              <a:spcBef>
                <a:spcPct val="50000"/>
              </a:spcBef>
            </a:pPr>
            <a:r>
              <a:rPr lang="en-US" altLang="zh-CN" dirty="0">
                <a:latin typeface="华文楷体" panose="02010600040101010101" charset="-122"/>
                <a:ea typeface="华文楷体" panose="02010600040101010101" charset="-122"/>
              </a:rPr>
              <a:t> 1</a:t>
            </a:r>
            <a:endParaRPr lang="en-US" altLang="zh-CN" dirty="0">
              <a:latin typeface="华文楷体" panose="02010600040101010101" charset="-122"/>
              <a:ea typeface="华文楷体" panose="02010600040101010101" charset="-122"/>
            </a:endParaRPr>
          </a:p>
        </p:txBody>
      </p:sp>
      <p:sp>
        <p:nvSpPr>
          <p:cNvPr id="35" name="Text Box 31"/>
          <p:cNvSpPr txBox="1"/>
          <p:nvPr>
            <p:custDataLst>
              <p:tags r:id="rId42"/>
            </p:custDataLst>
          </p:nvPr>
        </p:nvSpPr>
        <p:spPr>
          <a:xfrm>
            <a:off x="2086293" y="700088"/>
            <a:ext cx="533400" cy="366712"/>
          </a:xfrm>
          <a:prstGeom prst="rect">
            <a:avLst/>
          </a:prstGeom>
          <a:noFill/>
          <a:ln w="9525">
            <a:noFill/>
          </a:ln>
        </p:spPr>
        <p:txBody>
          <a:bodyPr>
            <a:spAutoFit/>
          </a:bodyPr>
          <a:p>
            <a:pPr eaLnBrk="1" hangingPunct="1">
              <a:spcBef>
                <a:spcPct val="50000"/>
              </a:spcBef>
            </a:pPr>
            <a:r>
              <a:rPr lang="en-US" altLang="zh-CN" dirty="0">
                <a:latin typeface="华文楷体" panose="02010600040101010101" charset="-122"/>
                <a:ea typeface="华文楷体" panose="02010600040101010101" charset="-122"/>
              </a:rPr>
              <a:t>  0</a:t>
            </a:r>
            <a:endParaRPr lang="en-US" altLang="zh-CN" dirty="0">
              <a:latin typeface="华文楷体" panose="02010600040101010101" charset="-122"/>
              <a:ea typeface="华文楷体" panose="02010600040101010101" charset="-122"/>
            </a:endParaRPr>
          </a:p>
        </p:txBody>
      </p:sp>
      <p:sp>
        <p:nvSpPr>
          <p:cNvPr id="42" name="Text Box 38"/>
          <p:cNvSpPr txBox="1"/>
          <p:nvPr>
            <p:custDataLst>
              <p:tags r:id="rId43"/>
            </p:custDataLst>
          </p:nvPr>
        </p:nvSpPr>
        <p:spPr>
          <a:xfrm>
            <a:off x="335598" y="980440"/>
            <a:ext cx="727075" cy="460375"/>
          </a:xfrm>
          <a:prstGeom prst="rect">
            <a:avLst/>
          </a:prstGeom>
          <a:noFill/>
          <a:ln w="9525">
            <a:noFill/>
          </a:ln>
        </p:spPr>
        <p:txBody>
          <a:bodyPr>
            <a:spAutoFit/>
          </a:bodyPr>
          <a:p>
            <a:pPr eaLnBrk="1" hangingPunct="1">
              <a:spcBef>
                <a:spcPct val="50000"/>
              </a:spcBef>
            </a:pPr>
            <a:r>
              <a:rPr lang="en-US" altLang="zh-CN" sz="2400" dirty="0">
                <a:latin typeface="华文楷体" panose="02010600040101010101" charset="-122"/>
                <a:ea typeface="华文楷体" panose="02010600040101010101" charset="-122"/>
              </a:rPr>
              <a:t>s(t)</a:t>
            </a:r>
            <a:endParaRPr lang="en-US" altLang="zh-CN" sz="2400" dirty="0">
              <a:latin typeface="华文楷体" panose="02010600040101010101" charset="-122"/>
              <a:ea typeface="华文楷体" panose="02010600040101010101" charset="-122"/>
            </a:endParaRPr>
          </a:p>
        </p:txBody>
      </p:sp>
      <p:sp>
        <p:nvSpPr>
          <p:cNvPr id="43" name="Text Box 39"/>
          <p:cNvSpPr txBox="1"/>
          <p:nvPr>
            <p:custDataLst>
              <p:tags r:id="rId44"/>
            </p:custDataLst>
          </p:nvPr>
        </p:nvSpPr>
        <p:spPr>
          <a:xfrm>
            <a:off x="208280" y="1744663"/>
            <a:ext cx="898525" cy="460375"/>
          </a:xfrm>
          <a:prstGeom prst="rect">
            <a:avLst/>
          </a:prstGeom>
          <a:noFill/>
          <a:ln w="9525">
            <a:noFill/>
          </a:ln>
        </p:spPr>
        <p:txBody>
          <a:bodyPr>
            <a:spAutoFit/>
          </a:bodyPr>
          <a:p>
            <a:pPr eaLnBrk="1" hangingPunct="1">
              <a:spcBef>
                <a:spcPct val="50000"/>
              </a:spcBef>
            </a:pPr>
            <a:r>
              <a:rPr lang="zh-CN" altLang="en-US" sz="2400" dirty="0">
                <a:latin typeface="华文楷体" panose="02010600040101010101" charset="-122"/>
                <a:ea typeface="华文楷体" panose="02010600040101010101" charset="-122"/>
              </a:rPr>
              <a:t>载波</a:t>
            </a:r>
            <a:endParaRPr lang="zh-CN" altLang="en-US" sz="2400" dirty="0">
              <a:latin typeface="华文楷体" panose="02010600040101010101" charset="-122"/>
              <a:ea typeface="华文楷体" panose="02010600040101010101" charset="-122"/>
            </a:endParaRPr>
          </a:p>
        </p:txBody>
      </p:sp>
      <p:sp>
        <p:nvSpPr>
          <p:cNvPr id="45" name="Text Box 41"/>
          <p:cNvSpPr txBox="1"/>
          <p:nvPr>
            <p:custDataLst>
              <p:tags r:id="rId45"/>
            </p:custDataLst>
          </p:nvPr>
        </p:nvSpPr>
        <p:spPr>
          <a:xfrm>
            <a:off x="2726373" y="1157605"/>
            <a:ext cx="304800" cy="366713"/>
          </a:xfrm>
          <a:prstGeom prst="rect">
            <a:avLst/>
          </a:prstGeom>
          <a:noFill/>
          <a:ln w="9525">
            <a:noFill/>
          </a:ln>
        </p:spPr>
        <p:txBody>
          <a:bodyPr>
            <a:spAutoFit/>
          </a:bodyPr>
          <a:p>
            <a:pPr eaLnBrk="1" hangingPunct="1">
              <a:spcBef>
                <a:spcPct val="50000"/>
              </a:spcBef>
            </a:pPr>
            <a:r>
              <a:rPr lang="en-US" altLang="zh-CN" i="1" dirty="0">
                <a:latin typeface="华文楷体" panose="02010600040101010101" charset="-122"/>
                <a:ea typeface="华文楷体" panose="02010600040101010101" charset="-122"/>
              </a:rPr>
              <a:t>t</a:t>
            </a:r>
            <a:endParaRPr lang="en-US" altLang="zh-CN" i="1" dirty="0">
              <a:latin typeface="华文楷体" panose="02010600040101010101" charset="-122"/>
              <a:ea typeface="华文楷体" panose="02010600040101010101" charset="-122"/>
            </a:endParaRPr>
          </a:p>
        </p:txBody>
      </p:sp>
      <p:sp>
        <p:nvSpPr>
          <p:cNvPr id="46" name="Text Box 49"/>
          <p:cNvSpPr txBox="1"/>
          <p:nvPr>
            <p:custDataLst>
              <p:tags r:id="rId46"/>
            </p:custDataLst>
          </p:nvPr>
        </p:nvSpPr>
        <p:spPr>
          <a:xfrm>
            <a:off x="3080703" y="2060258"/>
            <a:ext cx="304800" cy="366712"/>
          </a:xfrm>
          <a:prstGeom prst="rect">
            <a:avLst/>
          </a:prstGeom>
          <a:noFill/>
          <a:ln w="9525">
            <a:noFill/>
          </a:ln>
        </p:spPr>
        <p:txBody>
          <a:bodyPr>
            <a:spAutoFit/>
          </a:bodyPr>
          <a:p>
            <a:pPr eaLnBrk="1" hangingPunct="1">
              <a:spcBef>
                <a:spcPct val="50000"/>
              </a:spcBef>
            </a:pPr>
            <a:r>
              <a:rPr lang="en-US" altLang="zh-CN" i="1" dirty="0">
                <a:latin typeface="华文楷体" panose="02010600040101010101" charset="-122"/>
                <a:ea typeface="华文楷体" panose="02010600040101010101" charset="-122"/>
              </a:rPr>
              <a:t>t</a:t>
            </a:r>
            <a:endParaRPr lang="en-US" altLang="zh-CN" i="1" dirty="0">
              <a:latin typeface="华文楷体" panose="02010600040101010101" charset="-122"/>
              <a:ea typeface="华文楷体" panose="02010600040101010101" charset="-122"/>
            </a:endParaRPr>
          </a:p>
        </p:txBody>
      </p:sp>
      <p:sp>
        <p:nvSpPr>
          <p:cNvPr id="47" name="Text Box 50"/>
          <p:cNvSpPr txBox="1"/>
          <p:nvPr>
            <p:custDataLst>
              <p:tags r:id="rId47"/>
            </p:custDataLst>
          </p:nvPr>
        </p:nvSpPr>
        <p:spPr>
          <a:xfrm>
            <a:off x="3031490" y="3122295"/>
            <a:ext cx="304800" cy="366713"/>
          </a:xfrm>
          <a:prstGeom prst="rect">
            <a:avLst/>
          </a:prstGeom>
          <a:noFill/>
          <a:ln w="9525">
            <a:noFill/>
          </a:ln>
        </p:spPr>
        <p:txBody>
          <a:bodyPr>
            <a:spAutoFit/>
          </a:bodyPr>
          <a:p>
            <a:pPr eaLnBrk="1" hangingPunct="1">
              <a:spcBef>
                <a:spcPct val="50000"/>
              </a:spcBef>
            </a:pPr>
            <a:r>
              <a:rPr lang="en-US" altLang="zh-CN" i="1" dirty="0">
                <a:latin typeface="华文楷体" panose="02010600040101010101" charset="-122"/>
                <a:ea typeface="华文楷体" panose="02010600040101010101" charset="-122"/>
              </a:rPr>
              <a:t>t</a:t>
            </a:r>
            <a:endParaRPr lang="en-US" altLang="zh-CN" i="1" dirty="0">
              <a:latin typeface="华文楷体" panose="02010600040101010101" charset="-122"/>
              <a:ea typeface="华文楷体" panose="02010600040101010101" charset="-122"/>
            </a:endParaRPr>
          </a:p>
        </p:txBody>
      </p:sp>
      <p:sp>
        <p:nvSpPr>
          <p:cNvPr id="48" name="Text Box 64"/>
          <p:cNvSpPr txBox="1"/>
          <p:nvPr>
            <p:custDataLst>
              <p:tags r:id="rId48"/>
            </p:custDataLst>
          </p:nvPr>
        </p:nvSpPr>
        <p:spPr>
          <a:xfrm>
            <a:off x="2097405" y="1276350"/>
            <a:ext cx="585788" cy="396875"/>
          </a:xfrm>
          <a:prstGeom prst="rect">
            <a:avLst/>
          </a:prstGeom>
          <a:noFill/>
          <a:ln w="9525">
            <a:noFill/>
          </a:ln>
        </p:spPr>
        <p:txBody>
          <a:bodyPr>
            <a:spAutoFit/>
          </a:bodyPr>
          <a:p>
            <a:pPr eaLnBrk="1" hangingPunct="1">
              <a:spcBef>
                <a:spcPct val="50000"/>
              </a:spcBef>
            </a:pPr>
            <a:r>
              <a:rPr lang="en-US" altLang="zh-CN" sz="2000" b="1" i="1" dirty="0">
                <a:latin typeface="华文楷体" panose="02010600040101010101" charset="-122"/>
                <a:ea typeface="华文楷体" panose="02010600040101010101" charset="-122"/>
              </a:rPr>
              <a:t>T</a:t>
            </a:r>
            <a:r>
              <a:rPr lang="en-US" altLang="zh-CN" sz="2000" b="1" baseline="-25000" dirty="0">
                <a:latin typeface="华文楷体" panose="02010600040101010101" charset="-122"/>
                <a:ea typeface="华文楷体" panose="02010600040101010101" charset="-122"/>
              </a:rPr>
              <a:t>s</a:t>
            </a:r>
            <a:endParaRPr lang="en-US" altLang="zh-CN" sz="2000" b="1" dirty="0">
              <a:latin typeface="华文楷体" panose="02010600040101010101" charset="-122"/>
              <a:ea typeface="华文楷体" panose="02010600040101010101" charset="-122"/>
            </a:endParaRPr>
          </a:p>
        </p:txBody>
      </p:sp>
      <p:sp>
        <p:nvSpPr>
          <p:cNvPr id="49" name="Line 7"/>
          <p:cNvSpPr/>
          <p:nvPr>
            <p:custDataLst>
              <p:tags r:id="rId49"/>
            </p:custDataLst>
          </p:nvPr>
        </p:nvSpPr>
        <p:spPr>
          <a:xfrm flipV="1">
            <a:off x="1536700" y="4224655"/>
            <a:ext cx="1551305" cy="635"/>
          </a:xfrm>
          <a:prstGeom prst="line">
            <a:avLst/>
          </a:prstGeom>
          <a:ln w="9525" cap="flat" cmpd="sng">
            <a:solidFill>
              <a:schemeClr val="tx1"/>
            </a:solidFill>
            <a:prstDash val="solid"/>
            <a:headEnd type="none" w="med" len="med"/>
            <a:tailEnd type="triangle" w="med" len="med"/>
          </a:ln>
        </p:spPr>
      </p:sp>
      <p:graphicFrame>
        <p:nvGraphicFramePr>
          <p:cNvPr id="50" name="Object 13"/>
          <p:cNvGraphicFramePr>
            <a:graphicFrameLocks noChangeAspect="1"/>
          </p:cNvGraphicFramePr>
          <p:nvPr>
            <p:custDataLst>
              <p:tags r:id="rId50"/>
            </p:custDataLst>
          </p:nvPr>
        </p:nvGraphicFramePr>
        <p:xfrm>
          <a:off x="2411730" y="3836035"/>
          <a:ext cx="283845" cy="766445"/>
        </p:xfrm>
        <a:graphic>
          <a:graphicData uri="http://schemas.openxmlformats.org/presentationml/2006/ole">
            <mc:AlternateContent xmlns:mc="http://schemas.openxmlformats.org/markup-compatibility/2006">
              <mc:Choice xmlns:v="urn:schemas-microsoft-com:vml" Requires="v">
                <p:oleObj spid="_x0000_s51" name="" r:id="rId51" imgW="1476375" imgH="762000" progId="Visio.Drawing.11">
                  <p:embed/>
                </p:oleObj>
              </mc:Choice>
              <mc:Fallback>
                <p:oleObj name="" r:id="rId51" imgW="1476375" imgH="762000" progId="Visio.Drawing.11">
                  <p:embed/>
                  <p:pic>
                    <p:nvPicPr>
                      <p:cNvPr id="0" name="图片 3080"/>
                      <p:cNvPicPr/>
                      <p:nvPr/>
                    </p:nvPicPr>
                    <p:blipFill>
                      <a:blip r:embed="rId32"/>
                      <a:stretch>
                        <a:fillRect/>
                      </a:stretch>
                    </p:blipFill>
                    <p:spPr>
                      <a:xfrm>
                        <a:off x="2411730" y="3836035"/>
                        <a:ext cx="283845" cy="766445"/>
                      </a:xfrm>
                      <a:prstGeom prst="rect">
                        <a:avLst/>
                      </a:prstGeom>
                      <a:noFill/>
                      <a:ln w="38100">
                        <a:noFill/>
                        <a:miter/>
                      </a:ln>
                    </p:spPr>
                  </p:pic>
                </p:oleObj>
              </mc:Fallback>
            </mc:AlternateContent>
          </a:graphicData>
        </a:graphic>
      </p:graphicFrame>
      <p:graphicFrame>
        <p:nvGraphicFramePr>
          <p:cNvPr id="54" name="Object 25"/>
          <p:cNvGraphicFramePr>
            <a:graphicFrameLocks noChangeAspect="1"/>
          </p:cNvGraphicFramePr>
          <p:nvPr>
            <p:custDataLst>
              <p:tags r:id="rId52"/>
            </p:custDataLst>
          </p:nvPr>
        </p:nvGraphicFramePr>
        <p:xfrm>
          <a:off x="1553845" y="3850005"/>
          <a:ext cx="523875" cy="767080"/>
        </p:xfrm>
        <a:graphic>
          <a:graphicData uri="http://schemas.openxmlformats.org/presentationml/2006/ole">
            <mc:AlternateContent xmlns:mc="http://schemas.openxmlformats.org/markup-compatibility/2006">
              <mc:Choice xmlns:v="urn:schemas-microsoft-com:vml" Requires="v">
                <p:oleObj spid="_x0000_s55" name="" r:id="rId53" imgW="1476375" imgH="762000" progId="Visio.Drawing.11">
                  <p:embed/>
                </p:oleObj>
              </mc:Choice>
              <mc:Fallback>
                <p:oleObj name="" r:id="rId53" imgW="1476375" imgH="762000" progId="Visio.Drawing.11">
                  <p:embed/>
                  <p:pic>
                    <p:nvPicPr>
                      <p:cNvPr id="0" name="图片 3089"/>
                      <p:cNvPicPr/>
                      <p:nvPr/>
                    </p:nvPicPr>
                    <p:blipFill>
                      <a:blip r:embed="rId32"/>
                      <a:stretch>
                        <a:fillRect/>
                      </a:stretch>
                    </p:blipFill>
                    <p:spPr>
                      <a:xfrm>
                        <a:off x="1553845" y="3850005"/>
                        <a:ext cx="523875" cy="767080"/>
                      </a:xfrm>
                      <a:prstGeom prst="rect">
                        <a:avLst/>
                      </a:prstGeom>
                      <a:noFill/>
                      <a:ln w="38100">
                        <a:noFill/>
                        <a:miter/>
                      </a:ln>
                    </p:spPr>
                  </p:pic>
                </p:oleObj>
              </mc:Fallback>
            </mc:AlternateContent>
          </a:graphicData>
        </a:graphic>
      </p:graphicFrame>
      <p:graphicFrame>
        <p:nvGraphicFramePr>
          <p:cNvPr id="56" name="Object 37"/>
          <p:cNvGraphicFramePr>
            <a:graphicFrameLocks noChangeAspect="1"/>
          </p:cNvGraphicFramePr>
          <p:nvPr>
            <p:custDataLst>
              <p:tags r:id="rId54"/>
            </p:custDataLst>
          </p:nvPr>
        </p:nvGraphicFramePr>
        <p:xfrm>
          <a:off x="2077085" y="3836035"/>
          <a:ext cx="334645" cy="766445"/>
        </p:xfrm>
        <a:graphic>
          <a:graphicData uri="http://schemas.openxmlformats.org/presentationml/2006/ole">
            <mc:AlternateContent xmlns:mc="http://schemas.openxmlformats.org/markup-compatibility/2006">
              <mc:Choice xmlns:v="urn:schemas-microsoft-com:vml" Requires="v">
                <p:oleObj spid="_x0000_s57" name="" r:id="rId55" imgW="1485900" imgH="771525" progId="Visio.Drawing.11">
                  <p:embed/>
                </p:oleObj>
              </mc:Choice>
              <mc:Fallback>
                <p:oleObj name="" r:id="rId55" imgW="1485900" imgH="771525" progId="Visio.Drawing.11">
                  <p:embed/>
                  <p:pic>
                    <p:nvPicPr>
                      <p:cNvPr id="0" name="图片 3090"/>
                      <p:cNvPicPr/>
                      <p:nvPr/>
                    </p:nvPicPr>
                    <p:blipFill>
                      <a:blip r:embed="rId56"/>
                      <a:stretch>
                        <a:fillRect/>
                      </a:stretch>
                    </p:blipFill>
                    <p:spPr>
                      <a:xfrm>
                        <a:off x="2077085" y="3836035"/>
                        <a:ext cx="334645" cy="766445"/>
                      </a:xfrm>
                      <a:prstGeom prst="rect">
                        <a:avLst/>
                      </a:prstGeom>
                      <a:noFill/>
                      <a:ln w="38100">
                        <a:noFill/>
                        <a:miter/>
                      </a:ln>
                    </p:spPr>
                  </p:pic>
                </p:oleObj>
              </mc:Fallback>
            </mc:AlternateContent>
          </a:graphicData>
        </a:graphic>
      </p:graphicFrame>
      <p:sp>
        <p:nvSpPr>
          <p:cNvPr id="59" name="Text Box 50"/>
          <p:cNvSpPr txBox="1"/>
          <p:nvPr>
            <p:custDataLst>
              <p:tags r:id="rId57"/>
            </p:custDataLst>
          </p:nvPr>
        </p:nvSpPr>
        <p:spPr>
          <a:xfrm>
            <a:off x="3091815" y="4051935"/>
            <a:ext cx="304800" cy="366713"/>
          </a:xfrm>
          <a:prstGeom prst="rect">
            <a:avLst/>
          </a:prstGeom>
          <a:noFill/>
          <a:ln w="9525">
            <a:noFill/>
          </a:ln>
        </p:spPr>
        <p:txBody>
          <a:bodyPr>
            <a:spAutoFit/>
          </a:bodyPr>
          <a:p>
            <a:pPr eaLnBrk="1" hangingPunct="1">
              <a:spcBef>
                <a:spcPct val="50000"/>
              </a:spcBef>
            </a:pPr>
            <a:r>
              <a:rPr lang="en-US" altLang="zh-CN" i="1" dirty="0">
                <a:latin typeface="华文楷体" panose="02010600040101010101" charset="-122"/>
                <a:ea typeface="华文楷体" panose="02010600040101010101" charset="-122"/>
              </a:rPr>
              <a:t>t</a:t>
            </a:r>
            <a:endParaRPr lang="en-US" altLang="zh-CN" i="1" dirty="0">
              <a:latin typeface="华文楷体" panose="02010600040101010101" charset="-122"/>
              <a:ea typeface="华文楷体" panose="02010600040101010101" charset="-122"/>
            </a:endParaRPr>
          </a:p>
        </p:txBody>
      </p:sp>
      <p:sp>
        <p:nvSpPr>
          <p:cNvPr id="62" name="Line 7"/>
          <p:cNvSpPr/>
          <p:nvPr>
            <p:custDataLst>
              <p:tags r:id="rId58"/>
            </p:custDataLst>
          </p:nvPr>
        </p:nvSpPr>
        <p:spPr>
          <a:xfrm flipV="1">
            <a:off x="1520190" y="5140960"/>
            <a:ext cx="1551305" cy="635"/>
          </a:xfrm>
          <a:prstGeom prst="line">
            <a:avLst/>
          </a:prstGeom>
          <a:ln w="9525" cap="flat" cmpd="sng">
            <a:solidFill>
              <a:schemeClr val="tx1"/>
            </a:solidFill>
            <a:prstDash val="solid"/>
            <a:headEnd type="none" w="med" len="med"/>
            <a:tailEnd type="triangle" w="med" len="med"/>
          </a:ln>
        </p:spPr>
      </p:sp>
      <p:graphicFrame>
        <p:nvGraphicFramePr>
          <p:cNvPr id="65" name="Object 25"/>
          <p:cNvGraphicFramePr>
            <a:graphicFrameLocks noChangeAspect="1"/>
          </p:cNvGraphicFramePr>
          <p:nvPr>
            <p:custDataLst>
              <p:tags r:id="rId59"/>
            </p:custDataLst>
          </p:nvPr>
        </p:nvGraphicFramePr>
        <p:xfrm>
          <a:off x="2061210" y="4766310"/>
          <a:ext cx="586105" cy="767080"/>
        </p:xfrm>
        <a:graphic>
          <a:graphicData uri="http://schemas.openxmlformats.org/presentationml/2006/ole">
            <mc:AlternateContent xmlns:mc="http://schemas.openxmlformats.org/markup-compatibility/2006">
              <mc:Choice xmlns:v="urn:schemas-microsoft-com:vml" Requires="v">
                <p:oleObj spid="_x0000_s66" name="" r:id="rId60" imgW="1476375" imgH="762000" progId="Visio.Drawing.11">
                  <p:embed/>
                </p:oleObj>
              </mc:Choice>
              <mc:Fallback>
                <p:oleObj name="" r:id="rId60" imgW="1476375" imgH="762000" progId="Visio.Drawing.11">
                  <p:embed/>
                  <p:pic>
                    <p:nvPicPr>
                      <p:cNvPr id="0" name="图片 3089"/>
                      <p:cNvPicPr/>
                      <p:nvPr/>
                    </p:nvPicPr>
                    <p:blipFill>
                      <a:blip r:embed="rId32"/>
                      <a:stretch>
                        <a:fillRect/>
                      </a:stretch>
                    </p:blipFill>
                    <p:spPr>
                      <a:xfrm>
                        <a:off x="2061210" y="4766310"/>
                        <a:ext cx="586105" cy="767080"/>
                      </a:xfrm>
                      <a:prstGeom prst="rect">
                        <a:avLst/>
                      </a:prstGeom>
                      <a:noFill/>
                      <a:ln w="38100">
                        <a:noFill/>
                        <a:miter/>
                      </a:ln>
                    </p:spPr>
                  </p:pic>
                </p:oleObj>
              </mc:Fallback>
            </mc:AlternateContent>
          </a:graphicData>
        </a:graphic>
      </p:graphicFrame>
      <p:sp>
        <p:nvSpPr>
          <p:cNvPr id="69" name="Text Box 50"/>
          <p:cNvSpPr txBox="1"/>
          <p:nvPr>
            <p:custDataLst>
              <p:tags r:id="rId61"/>
            </p:custDataLst>
          </p:nvPr>
        </p:nvSpPr>
        <p:spPr>
          <a:xfrm>
            <a:off x="3075305" y="4968240"/>
            <a:ext cx="304800" cy="366713"/>
          </a:xfrm>
          <a:prstGeom prst="rect">
            <a:avLst/>
          </a:prstGeom>
          <a:noFill/>
          <a:ln w="9525">
            <a:noFill/>
          </a:ln>
        </p:spPr>
        <p:txBody>
          <a:bodyPr>
            <a:spAutoFit/>
          </a:bodyPr>
          <a:p>
            <a:pPr eaLnBrk="1" hangingPunct="1">
              <a:spcBef>
                <a:spcPct val="50000"/>
              </a:spcBef>
            </a:pPr>
            <a:r>
              <a:rPr lang="en-US" altLang="zh-CN" i="1" dirty="0">
                <a:latin typeface="华文楷体" panose="02010600040101010101" charset="-122"/>
                <a:ea typeface="华文楷体" panose="02010600040101010101" charset="-122"/>
              </a:rPr>
              <a:t>t</a:t>
            </a:r>
            <a:endParaRPr lang="en-US" altLang="zh-CN" i="1" dirty="0">
              <a:latin typeface="华文楷体" panose="02010600040101010101" charset="-122"/>
              <a:ea typeface="华文楷体" panose="02010600040101010101" charset="-122"/>
            </a:endParaRPr>
          </a:p>
        </p:txBody>
      </p:sp>
      <p:pic>
        <p:nvPicPr>
          <p:cNvPr id="72" name="图片 71"/>
          <p:cNvPicPr>
            <a:picLocks noChangeAspect="1"/>
          </p:cNvPicPr>
          <p:nvPr>
            <p:custDataLst>
              <p:tags r:id="rId62"/>
            </p:custDataLst>
          </p:nvPr>
        </p:nvPicPr>
        <p:blipFill>
          <a:blip r:embed="rId63"/>
          <a:stretch>
            <a:fillRect/>
          </a:stretch>
        </p:blipFill>
        <p:spPr>
          <a:xfrm>
            <a:off x="1538605" y="4795520"/>
            <a:ext cx="548005" cy="711200"/>
          </a:xfrm>
          <a:prstGeom prst="rect">
            <a:avLst/>
          </a:prstGeom>
        </p:spPr>
      </p:pic>
      <p:sp>
        <p:nvSpPr>
          <p:cNvPr id="73" name="Line 7"/>
          <p:cNvSpPr/>
          <p:nvPr>
            <p:custDataLst>
              <p:tags r:id="rId64"/>
            </p:custDataLst>
          </p:nvPr>
        </p:nvSpPr>
        <p:spPr>
          <a:xfrm flipV="1">
            <a:off x="1503680" y="6057265"/>
            <a:ext cx="1551305" cy="635"/>
          </a:xfrm>
          <a:prstGeom prst="line">
            <a:avLst/>
          </a:prstGeom>
          <a:ln w="9525" cap="flat" cmpd="sng">
            <a:solidFill>
              <a:schemeClr val="tx1"/>
            </a:solidFill>
            <a:prstDash val="solid"/>
            <a:headEnd type="none" w="med" len="med"/>
            <a:tailEnd type="triangle" w="med" len="med"/>
          </a:ln>
        </p:spPr>
      </p:sp>
      <p:sp>
        <p:nvSpPr>
          <p:cNvPr id="76" name="Text Box 50"/>
          <p:cNvSpPr txBox="1"/>
          <p:nvPr>
            <p:custDataLst>
              <p:tags r:id="rId65"/>
            </p:custDataLst>
          </p:nvPr>
        </p:nvSpPr>
        <p:spPr>
          <a:xfrm>
            <a:off x="3058795" y="5884545"/>
            <a:ext cx="304800" cy="366713"/>
          </a:xfrm>
          <a:prstGeom prst="rect">
            <a:avLst/>
          </a:prstGeom>
          <a:noFill/>
          <a:ln w="9525">
            <a:noFill/>
          </a:ln>
        </p:spPr>
        <p:txBody>
          <a:bodyPr>
            <a:spAutoFit/>
          </a:bodyPr>
          <a:p>
            <a:pPr eaLnBrk="1" hangingPunct="1">
              <a:spcBef>
                <a:spcPct val="50000"/>
              </a:spcBef>
            </a:pPr>
            <a:r>
              <a:rPr lang="en-US" altLang="zh-CN" i="1" dirty="0">
                <a:latin typeface="华文楷体" panose="02010600040101010101" charset="-122"/>
                <a:ea typeface="华文楷体" panose="02010600040101010101" charset="-122"/>
              </a:rPr>
              <a:t>t</a:t>
            </a:r>
            <a:endParaRPr lang="en-US" altLang="zh-CN" i="1" dirty="0">
              <a:latin typeface="华文楷体" panose="02010600040101010101" charset="-122"/>
              <a:ea typeface="华文楷体" panose="02010600040101010101" charset="-122"/>
            </a:endParaRPr>
          </a:p>
        </p:txBody>
      </p:sp>
      <p:graphicFrame>
        <p:nvGraphicFramePr>
          <p:cNvPr id="77" name="Object 25"/>
          <p:cNvGraphicFramePr>
            <a:graphicFrameLocks noChangeAspect="1"/>
          </p:cNvGraphicFramePr>
          <p:nvPr>
            <p:custDataLst>
              <p:tags r:id="rId66"/>
            </p:custDataLst>
          </p:nvPr>
        </p:nvGraphicFramePr>
        <p:xfrm>
          <a:off x="952500" y="5659120"/>
          <a:ext cx="600075" cy="767080"/>
        </p:xfrm>
        <a:graphic>
          <a:graphicData uri="http://schemas.openxmlformats.org/presentationml/2006/ole">
            <mc:AlternateContent xmlns:mc="http://schemas.openxmlformats.org/markup-compatibility/2006">
              <mc:Choice xmlns:v="urn:schemas-microsoft-com:vml" Requires="v">
                <p:oleObj spid="_x0000_s78" name="" r:id="rId67" imgW="1476375" imgH="762000" progId="Visio.Drawing.11">
                  <p:embed/>
                </p:oleObj>
              </mc:Choice>
              <mc:Fallback>
                <p:oleObj name="" r:id="rId67" imgW="1476375" imgH="762000" progId="Visio.Drawing.11">
                  <p:embed/>
                  <p:pic>
                    <p:nvPicPr>
                      <p:cNvPr id="0" name="图片 3089"/>
                      <p:cNvPicPr/>
                      <p:nvPr/>
                    </p:nvPicPr>
                    <p:blipFill>
                      <a:blip r:embed="rId32"/>
                      <a:stretch>
                        <a:fillRect/>
                      </a:stretch>
                    </p:blipFill>
                    <p:spPr>
                      <a:xfrm>
                        <a:off x="952500" y="5659120"/>
                        <a:ext cx="600075" cy="767080"/>
                      </a:xfrm>
                      <a:prstGeom prst="rect">
                        <a:avLst/>
                      </a:prstGeom>
                      <a:noFill/>
                      <a:ln w="38100">
                        <a:noFill/>
                        <a:miter/>
                      </a:ln>
                    </p:spPr>
                  </p:pic>
                </p:oleObj>
              </mc:Fallback>
            </mc:AlternateContent>
          </a:graphicData>
        </a:graphic>
      </p:graphicFrame>
      <p:pic>
        <p:nvPicPr>
          <p:cNvPr id="79" name="图片 78"/>
          <p:cNvPicPr>
            <a:picLocks noChangeAspect="1"/>
          </p:cNvPicPr>
          <p:nvPr>
            <p:custDataLst>
              <p:tags r:id="rId68"/>
            </p:custDataLst>
          </p:nvPr>
        </p:nvPicPr>
        <p:blipFill>
          <a:blip r:embed="rId63"/>
          <a:stretch>
            <a:fillRect/>
          </a:stretch>
        </p:blipFill>
        <p:spPr>
          <a:xfrm>
            <a:off x="1538605" y="5710555"/>
            <a:ext cx="548640" cy="731520"/>
          </a:xfrm>
          <a:prstGeom prst="rect">
            <a:avLst/>
          </a:prstGeom>
        </p:spPr>
      </p:pic>
      <p:pic>
        <p:nvPicPr>
          <p:cNvPr id="80" name="图片 79"/>
          <p:cNvPicPr>
            <a:picLocks noChangeAspect="1"/>
          </p:cNvPicPr>
          <p:nvPr>
            <p:custDataLst>
              <p:tags r:id="rId69"/>
            </p:custDataLst>
          </p:nvPr>
        </p:nvPicPr>
        <p:blipFill>
          <a:blip r:embed="rId63"/>
          <a:stretch>
            <a:fillRect/>
          </a:stretch>
        </p:blipFill>
        <p:spPr>
          <a:xfrm>
            <a:off x="2061210" y="5718175"/>
            <a:ext cx="586105" cy="723900"/>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5" name="文本框 4"/>
          <p:cNvSpPr txBox="1"/>
          <p:nvPr>
            <p:custDataLst>
              <p:tags r:id="rId2"/>
            </p:custDataLst>
          </p:nvPr>
        </p:nvSpPr>
        <p:spPr>
          <a:xfrm>
            <a:off x="2477135" y="548640"/>
            <a:ext cx="8756650" cy="392430"/>
          </a:xfrm>
          <a:prstGeom prst="rect">
            <a:avLst/>
          </a:prstGeom>
          <a:noFill/>
        </p:spPr>
        <p:txBody>
          <a:bodyPr wrap="square" rtlCol="0">
            <a:noAutofit/>
          </a:bodyPr>
          <a:p>
            <a:r>
              <a:rPr lang="zh-CN" altLang="en-US" sz="2000">
                <a:solidFill>
                  <a:schemeClr val="tx1"/>
                </a:solidFill>
                <a:latin typeface="华文楷体" panose="02010600040101010101" charset="-122"/>
                <a:ea typeface="华文楷体" panose="02010600040101010101" charset="-122"/>
                <a:cs typeface="华文楷体" panose="02010600040101010101" charset="-122"/>
              </a:rPr>
              <a:t>带宽</a:t>
            </a:r>
            <a:r>
              <a:rPr lang="en-US" altLang="zh-CN" sz="2000">
                <a:solidFill>
                  <a:schemeClr val="tx1"/>
                </a:solidFill>
                <a:latin typeface="华文楷体" panose="02010600040101010101" charset="-122"/>
                <a:ea typeface="华文楷体" panose="02010600040101010101" charset="-122"/>
                <a:cs typeface="华文楷体" panose="02010600040101010101" charset="-122"/>
              </a:rPr>
              <a:t>                                   </a:t>
            </a:r>
            <a:r>
              <a:rPr lang="zh-CN" altLang="en-US" sz="2000">
                <a:solidFill>
                  <a:schemeClr val="tx1"/>
                </a:solidFill>
                <a:latin typeface="华文楷体" panose="02010600040101010101" charset="-122"/>
                <a:ea typeface="华文楷体" panose="02010600040101010101" charset="-122"/>
                <a:cs typeface="华文楷体" panose="02010600040101010101" charset="-122"/>
              </a:rPr>
              <a:t>功率谱密度（等</a:t>
            </a: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概率</a:t>
            </a:r>
            <a:r>
              <a:rPr lang="zh-CN" altLang="zh-CN" sz="2000">
                <a:solidFill>
                  <a:schemeClr val="tx1"/>
                </a:solidFill>
                <a:latin typeface="华文楷体" panose="02010600040101010101" charset="-122"/>
                <a:ea typeface="华文楷体" panose="02010600040101010101" charset="-122"/>
                <a:cs typeface="华文楷体" panose="02010600040101010101" charset="-122"/>
                <a:sym typeface="+mn-ea"/>
              </a:rPr>
              <a:t>单极性不归零矩形脉冲序列）</a:t>
            </a:r>
            <a:endParaRPr lang="zh-CN" altLang="zh-CN" sz="2000">
              <a:solidFill>
                <a:schemeClr val="tx1"/>
              </a:solidFill>
              <a:latin typeface="华文楷体" panose="02010600040101010101" charset="-122"/>
              <a:ea typeface="华文楷体" panose="02010600040101010101" charset="-122"/>
              <a:cs typeface="华文楷体" panose="02010600040101010101" charset="-122"/>
              <a:sym typeface="+mn-ea"/>
            </a:endParaRPr>
          </a:p>
        </p:txBody>
      </p:sp>
      <p:sp>
        <p:nvSpPr>
          <p:cNvPr id="4" name="文本框 3"/>
          <p:cNvSpPr txBox="1"/>
          <p:nvPr>
            <p:custDataLst>
              <p:tags r:id="rId3"/>
            </p:custDataLst>
          </p:nvPr>
        </p:nvSpPr>
        <p:spPr>
          <a:xfrm>
            <a:off x="227330" y="1205230"/>
            <a:ext cx="1159510" cy="5167630"/>
          </a:xfrm>
          <a:prstGeom prst="rect">
            <a:avLst/>
          </a:prstGeom>
          <a:noFill/>
        </p:spPr>
        <p:txBody>
          <a:bodyPr wrap="square" rtlCol="0">
            <a:noAutofit/>
          </a:bodyPr>
          <a:p>
            <a:r>
              <a:rPr lang="en-US" altLang="zh-CN"/>
              <a:t>2</a:t>
            </a:r>
            <a:r>
              <a:rPr lang="en-US" altLang="zh-CN"/>
              <a:t>ASK</a:t>
            </a:r>
            <a:endParaRPr lang="en-US" altLang="zh-CN"/>
          </a:p>
          <a:p>
            <a:endParaRPr lang="en-US" altLang="zh-CN"/>
          </a:p>
          <a:p>
            <a:endParaRPr lang="en-US" altLang="zh-CN"/>
          </a:p>
          <a:p>
            <a:endParaRPr lang="en-US" altLang="zh-CN"/>
          </a:p>
          <a:p>
            <a:endParaRPr lang="en-US" altLang="zh-CN"/>
          </a:p>
          <a:p>
            <a:r>
              <a:rPr lang="en-US" altLang="zh-CN"/>
              <a:t>2</a:t>
            </a:r>
            <a:r>
              <a:rPr lang="en-US" altLang="zh-CN"/>
              <a:t>FSK</a:t>
            </a:r>
            <a:endParaRPr lang="en-US" altLang="zh-CN"/>
          </a:p>
          <a:p>
            <a:endParaRPr lang="en-US" altLang="zh-CN"/>
          </a:p>
          <a:p>
            <a:endParaRPr lang="en-US" altLang="zh-CN"/>
          </a:p>
          <a:p>
            <a:endParaRPr lang="en-US" altLang="zh-CN"/>
          </a:p>
          <a:p>
            <a:endParaRPr lang="en-US" altLang="zh-CN"/>
          </a:p>
          <a:p>
            <a:r>
              <a:rPr lang="en-US" altLang="zh-CN"/>
              <a:t>2</a:t>
            </a:r>
            <a:r>
              <a:rPr lang="en-US" altLang="zh-CN"/>
              <a:t>PSK</a:t>
            </a:r>
            <a:endParaRPr lang="en-US" altLang="zh-CN"/>
          </a:p>
          <a:p>
            <a:endParaRPr lang="en-US" altLang="zh-CN"/>
          </a:p>
          <a:p>
            <a:endParaRPr lang="en-US" altLang="zh-CN"/>
          </a:p>
          <a:p>
            <a:endParaRPr lang="en-US" altLang="zh-CN"/>
          </a:p>
          <a:p>
            <a:endParaRPr lang="en-US" altLang="zh-CN"/>
          </a:p>
          <a:p>
            <a:r>
              <a:rPr lang="en-US" altLang="zh-CN"/>
              <a:t>2</a:t>
            </a:r>
            <a:r>
              <a:rPr lang="en-US" altLang="zh-CN"/>
              <a:t>DPSK</a:t>
            </a:r>
            <a:endParaRPr lang="en-US" altLang="zh-CN"/>
          </a:p>
        </p:txBody>
      </p:sp>
      <p:graphicFrame>
        <p:nvGraphicFramePr>
          <p:cNvPr id="18" name="对象 17"/>
          <p:cNvGraphicFramePr/>
          <p:nvPr>
            <p:custDataLst>
              <p:tags r:id="rId4"/>
            </p:custDataLst>
          </p:nvPr>
        </p:nvGraphicFramePr>
        <p:xfrm>
          <a:off x="1631315" y="1125220"/>
          <a:ext cx="1947545" cy="489585"/>
        </p:xfrm>
        <a:graphic>
          <a:graphicData uri="http://schemas.openxmlformats.org/presentationml/2006/ole">
            <mc:AlternateContent xmlns:mc="http://schemas.openxmlformats.org/markup-compatibility/2006">
              <mc:Choice xmlns:v="urn:schemas-microsoft-com:vml" Requires="v">
                <p:oleObj spid="_x0000_s6214" name="" r:id="rId5" imgW="647700" imgH="211455" progId="">
                  <p:embed/>
                </p:oleObj>
              </mc:Choice>
              <mc:Fallback>
                <p:oleObj name="" r:id="rId5" imgW="647700" imgH="211455" progId="">
                  <p:embed/>
                  <p:pic>
                    <p:nvPicPr>
                      <p:cNvPr id="0" name="图片 7"/>
                      <p:cNvPicPr/>
                      <p:nvPr/>
                    </p:nvPicPr>
                    <p:blipFill>
                      <a:blip r:embed="rId6"/>
                      <a:stretch>
                        <a:fillRect/>
                      </a:stretch>
                    </p:blipFill>
                    <p:spPr>
                      <a:xfrm>
                        <a:off x="1631315" y="1125220"/>
                        <a:ext cx="1947545" cy="489585"/>
                      </a:xfrm>
                      <a:prstGeom prst="rect">
                        <a:avLst/>
                      </a:prstGeom>
                    </p:spPr>
                  </p:pic>
                </p:oleObj>
              </mc:Fallback>
            </mc:AlternateContent>
          </a:graphicData>
        </a:graphic>
      </p:graphicFrame>
      <p:pic>
        <p:nvPicPr>
          <p:cNvPr id="7" name="图片 6"/>
          <p:cNvPicPr>
            <a:picLocks noChangeAspect="1"/>
          </p:cNvPicPr>
          <p:nvPr>
            <p:custDataLst>
              <p:tags r:id="rId7"/>
            </p:custDataLst>
          </p:nvPr>
        </p:nvPicPr>
        <p:blipFill>
          <a:blip r:embed="rId8"/>
          <a:stretch>
            <a:fillRect/>
          </a:stretch>
        </p:blipFill>
        <p:spPr>
          <a:xfrm>
            <a:off x="4725035" y="981075"/>
            <a:ext cx="6116955" cy="1186815"/>
          </a:xfrm>
          <a:prstGeom prst="rect">
            <a:avLst/>
          </a:prstGeom>
        </p:spPr>
      </p:pic>
      <p:graphicFrame>
        <p:nvGraphicFramePr>
          <p:cNvPr id="8" name="对象 7"/>
          <p:cNvGraphicFramePr/>
          <p:nvPr>
            <p:custDataLst>
              <p:tags r:id="rId9"/>
            </p:custDataLst>
          </p:nvPr>
        </p:nvGraphicFramePr>
        <p:xfrm>
          <a:off x="4815840" y="2205990"/>
          <a:ext cx="5920105" cy="1903095"/>
        </p:xfrm>
        <a:graphic>
          <a:graphicData uri="http://schemas.openxmlformats.org/presentationml/2006/ole">
            <mc:AlternateContent xmlns:mc="http://schemas.openxmlformats.org/markup-compatibility/2006">
              <mc:Choice xmlns:v="urn:schemas-microsoft-com:vml" Requires="v">
                <p:oleObj spid="_x0000_s15384" name="" r:id="rId10" imgW="4926965" imgH="1982470" progId="Word.Document.8">
                  <p:embed/>
                </p:oleObj>
              </mc:Choice>
              <mc:Fallback>
                <p:oleObj name="" r:id="rId10" imgW="4926965" imgH="1982470" progId="Word.Document.8">
                  <p:embed/>
                  <p:pic>
                    <p:nvPicPr>
                      <p:cNvPr id="0" name="图片 2"/>
                      <p:cNvPicPr/>
                      <p:nvPr/>
                    </p:nvPicPr>
                    <p:blipFill>
                      <a:blip r:embed="rId11"/>
                      <a:stretch>
                        <a:fillRect/>
                      </a:stretch>
                    </p:blipFill>
                    <p:spPr>
                      <a:xfrm>
                        <a:off x="4815840" y="2205990"/>
                        <a:ext cx="5920105" cy="1903095"/>
                      </a:xfrm>
                      <a:prstGeom prst="rect">
                        <a:avLst/>
                      </a:prstGeom>
                    </p:spPr>
                  </p:pic>
                </p:oleObj>
              </mc:Fallback>
            </mc:AlternateContent>
          </a:graphicData>
        </a:graphic>
      </p:graphicFrame>
      <p:graphicFrame>
        <p:nvGraphicFramePr>
          <p:cNvPr id="12" name="对象 11"/>
          <p:cNvGraphicFramePr/>
          <p:nvPr>
            <p:custDataLst>
              <p:tags r:id="rId12"/>
            </p:custDataLst>
          </p:nvPr>
        </p:nvGraphicFramePr>
        <p:xfrm>
          <a:off x="1559560" y="2493010"/>
          <a:ext cx="2249170" cy="462280"/>
        </p:xfrm>
        <a:graphic>
          <a:graphicData uri="http://schemas.openxmlformats.org/presentationml/2006/ole">
            <mc:AlternateContent xmlns:mc="http://schemas.openxmlformats.org/markup-compatibility/2006">
              <mc:Choice xmlns:v="urn:schemas-microsoft-com:vml" Requires="v">
                <p:oleObj spid="_x0000_s16572" name="" r:id="rId13" imgW="1276985" imgH="217805" progId="">
                  <p:embed/>
                </p:oleObj>
              </mc:Choice>
              <mc:Fallback>
                <p:oleObj name="" r:id="rId13" imgW="1276985" imgH="217805" progId="">
                  <p:embed/>
                  <p:pic>
                    <p:nvPicPr>
                      <p:cNvPr id="0" name="图片 25"/>
                      <p:cNvPicPr/>
                      <p:nvPr/>
                    </p:nvPicPr>
                    <p:blipFill>
                      <a:blip r:embed="rId14"/>
                      <a:stretch>
                        <a:fillRect/>
                      </a:stretch>
                    </p:blipFill>
                    <p:spPr>
                      <a:xfrm>
                        <a:off x="1559560" y="2493010"/>
                        <a:ext cx="2249170" cy="462280"/>
                      </a:xfrm>
                      <a:prstGeom prst="rect">
                        <a:avLst/>
                      </a:prstGeom>
                    </p:spPr>
                  </p:pic>
                </p:oleObj>
              </mc:Fallback>
            </mc:AlternateContent>
          </a:graphicData>
        </a:graphic>
      </p:graphicFrame>
      <p:graphicFrame>
        <p:nvGraphicFramePr>
          <p:cNvPr id="9" name="对象 8"/>
          <p:cNvGraphicFramePr/>
          <p:nvPr>
            <p:custDataLst>
              <p:tags r:id="rId15"/>
            </p:custDataLst>
          </p:nvPr>
        </p:nvGraphicFramePr>
        <p:xfrm>
          <a:off x="4164330" y="4011295"/>
          <a:ext cx="7913370" cy="2080260"/>
        </p:xfrm>
        <a:graphic>
          <a:graphicData uri="http://schemas.openxmlformats.org/presentationml/2006/ole">
            <mc:AlternateContent xmlns:mc="http://schemas.openxmlformats.org/markup-compatibility/2006">
              <mc:Choice xmlns:v="urn:schemas-microsoft-com:vml" Requires="v">
                <p:oleObj spid="_x0000_s10" name="" r:id="rId16" imgW="4422775" imgH="934085" progId="Word.Document.8">
                  <p:embed/>
                </p:oleObj>
              </mc:Choice>
              <mc:Fallback>
                <p:oleObj name="" r:id="rId16" imgW="4422775" imgH="934085" progId="Word.Document.8">
                  <p:embed/>
                  <p:pic>
                    <p:nvPicPr>
                      <p:cNvPr id="0" name="图片 27"/>
                      <p:cNvPicPr/>
                      <p:nvPr/>
                    </p:nvPicPr>
                    <p:blipFill>
                      <a:blip r:embed="rId17"/>
                      <a:stretch>
                        <a:fillRect/>
                      </a:stretch>
                    </p:blipFill>
                    <p:spPr>
                      <a:xfrm>
                        <a:off x="4164330" y="4011295"/>
                        <a:ext cx="7913370" cy="2080260"/>
                      </a:xfrm>
                      <a:prstGeom prst="rect">
                        <a:avLst/>
                      </a:prstGeom>
                    </p:spPr>
                  </p:pic>
                </p:oleObj>
              </mc:Fallback>
            </mc:AlternateContent>
          </a:graphicData>
        </a:graphic>
      </p:graphicFrame>
      <p:graphicFrame>
        <p:nvGraphicFramePr>
          <p:cNvPr id="11" name="对象 10"/>
          <p:cNvGraphicFramePr/>
          <p:nvPr>
            <p:custDataLst>
              <p:tags r:id="rId18"/>
            </p:custDataLst>
          </p:nvPr>
        </p:nvGraphicFramePr>
        <p:xfrm>
          <a:off x="1616075" y="4293235"/>
          <a:ext cx="2385695" cy="465455"/>
        </p:xfrm>
        <a:graphic>
          <a:graphicData uri="http://schemas.openxmlformats.org/presentationml/2006/ole">
            <mc:AlternateContent xmlns:mc="http://schemas.openxmlformats.org/markup-compatibility/2006">
              <mc:Choice xmlns:v="urn:schemas-microsoft-com:vml" Requires="v">
                <p:oleObj spid="_x0000_s13" name="" r:id="rId19" imgW="922020" imgH="198120" progId="">
                  <p:embed/>
                </p:oleObj>
              </mc:Choice>
              <mc:Fallback>
                <p:oleObj name="" r:id="rId19" imgW="922020" imgH="198120" progId="">
                  <p:embed/>
                  <p:pic>
                    <p:nvPicPr>
                      <p:cNvPr id="0" name="图片 13"/>
                      <p:cNvPicPr/>
                      <p:nvPr/>
                    </p:nvPicPr>
                    <p:blipFill>
                      <a:blip r:embed="rId20"/>
                      <a:stretch>
                        <a:fillRect/>
                      </a:stretch>
                    </p:blipFill>
                    <p:spPr>
                      <a:xfrm>
                        <a:off x="1616075" y="4293235"/>
                        <a:ext cx="2385695" cy="465455"/>
                      </a:xfrm>
                      <a:prstGeom prst="rect">
                        <a:avLst/>
                      </a:prstGeom>
                    </p:spPr>
                  </p:pic>
                </p:oleObj>
              </mc:Fallback>
            </mc:AlternateContent>
          </a:graphicData>
        </a:graphic>
      </p:graphicFrame>
      <p:sp>
        <p:nvSpPr>
          <p:cNvPr id="14" name="Rectangle 50"/>
          <p:cNvSpPr>
            <a:spLocks noChangeArrowheads="1"/>
          </p:cNvSpPr>
          <p:nvPr>
            <p:custDataLst>
              <p:tags r:id="rId21"/>
            </p:custDataLst>
          </p:nvPr>
        </p:nvSpPr>
        <p:spPr bwMode="auto">
          <a:xfrm>
            <a:off x="3143885" y="501015"/>
            <a:ext cx="1159510" cy="464820"/>
          </a:xfrm>
          <a:prstGeom prst="rect">
            <a:avLst/>
          </a:prstGeom>
          <a:solidFill>
            <a:srgbClr val="003399"/>
          </a:solidFill>
          <a:ln w="9525">
            <a:solidFill>
              <a:srgbClr val="D9D9FF"/>
            </a:solidFill>
            <a:miter lim="800000"/>
          </a:ln>
          <a:effectLst>
            <a:outerShdw blurRad="50800" dist="38100" dir="5400000" algn="t" rotWithShape="0">
              <a:prstClr val="black">
                <a:alpha val="40000"/>
              </a:prstClr>
            </a:outerShdw>
          </a:effectLst>
        </p:spPr>
        <p:txBody>
          <a:bodyPr anchor="b"/>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bg1">
                    <a:lumMod val="95000"/>
                  </a:schemeClr>
                </a:solidFill>
                <a:effectLst/>
                <a:uLnTx/>
                <a:uFillTx/>
                <a:latin typeface="华文楷体" panose="02010600040101010101" charset="-122"/>
                <a:ea typeface="华文楷体" panose="02010600040101010101" charset="-122"/>
                <a:cs typeface="华文楷体" panose="02010600040101010101" charset="-122"/>
                <a:sym typeface="Wingdings" panose="05000000000000000000" pitchFamily="2" charset="2"/>
              </a:rPr>
              <a:t>有效性 </a:t>
            </a:r>
            <a:r>
              <a:rPr kumimoji="0" lang="en-US" altLang="zh-CN" sz="2400" b="1" i="0" u="none" strike="noStrike" kern="1200" cap="none" spc="0" normalizeH="0" baseline="0" noProof="0" dirty="0">
                <a:ln>
                  <a:noFill/>
                </a:ln>
                <a:solidFill>
                  <a:schemeClr val="bg1">
                    <a:lumMod val="95000"/>
                  </a:schemeClr>
                </a:solidFill>
                <a:effectLst/>
                <a:uLnTx/>
                <a:uFillTx/>
                <a:latin typeface="华文楷体" panose="02010600040101010101" charset="-122"/>
                <a:ea typeface="华文楷体" panose="02010600040101010101" charset="-122"/>
                <a:cs typeface="华文楷体" panose="02010600040101010101" charset="-122"/>
                <a:sym typeface="Wingdings" panose="05000000000000000000" pitchFamily="2" charset="2"/>
              </a:rPr>
              <a:t> </a:t>
            </a:r>
            <a:endParaRPr kumimoji="0" lang="en-US" altLang="zh-CN" sz="2400" b="1" i="0" u="none" strike="noStrike" kern="1200" cap="none" spc="0" normalizeH="0" baseline="0" noProof="0" dirty="0">
              <a:ln>
                <a:noFill/>
              </a:ln>
              <a:solidFill>
                <a:schemeClr val="bg1">
                  <a:lumMod val="95000"/>
                </a:schemeClr>
              </a:solidFill>
              <a:effectLst/>
              <a:uLnTx/>
              <a:uFillTx/>
              <a:latin typeface="华文楷体" panose="02010600040101010101" charset="-122"/>
              <a:ea typeface="华文楷体" panose="02010600040101010101" charset="-122"/>
              <a:cs typeface="华文楷体" panose="02010600040101010101" charset="-122"/>
              <a:sym typeface="Wingdings" panose="05000000000000000000" pitchFamily="2" charset="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67632" name="Picture 48"/>
          <p:cNvPicPr>
            <a:picLocks noChangeAspect="1"/>
          </p:cNvPicPr>
          <p:nvPr>
            <p:custDataLst>
              <p:tags r:id="rId2"/>
            </p:custDataLst>
          </p:nvPr>
        </p:nvPicPr>
        <p:blipFill>
          <a:blip r:embed="rId3"/>
          <a:srcRect l="1143" t="1601" r="1143" b="1613"/>
          <a:stretch>
            <a:fillRect/>
          </a:stretch>
        </p:blipFill>
        <p:spPr>
          <a:xfrm>
            <a:off x="2927985" y="1269048"/>
            <a:ext cx="7600950" cy="5378450"/>
          </a:xfrm>
          <a:prstGeom prst="rect">
            <a:avLst/>
          </a:prstGeom>
          <a:noFill/>
          <a:ln w="9525">
            <a:noFill/>
          </a:ln>
        </p:spPr>
      </p:pic>
      <p:graphicFrame>
        <p:nvGraphicFramePr>
          <p:cNvPr id="466982" name="Object 38"/>
          <p:cNvGraphicFramePr>
            <a:graphicFrameLocks noChangeAspect="1"/>
          </p:cNvGraphicFramePr>
          <p:nvPr>
            <p:custDataLst>
              <p:tags r:id="rId4"/>
            </p:custDataLst>
          </p:nvPr>
        </p:nvGraphicFramePr>
        <p:xfrm>
          <a:off x="6685598" y="2527935"/>
          <a:ext cx="1665287" cy="969963"/>
        </p:xfrm>
        <a:graphic>
          <a:graphicData uri="http://schemas.openxmlformats.org/presentationml/2006/ole">
            <mc:AlternateContent xmlns:mc="http://schemas.openxmlformats.org/markup-compatibility/2006">
              <mc:Choice xmlns:v="urn:schemas-microsoft-com:vml" Requires="v">
                <p:oleObj spid="_x0000_s3109" name="" r:id="rId5" imgW="787400" imgH="457200" progId="Equation.DSMT4">
                  <p:embed/>
                </p:oleObj>
              </mc:Choice>
              <mc:Fallback>
                <p:oleObj name="" r:id="rId5" imgW="787400" imgH="457200" progId="Equation.DSMT4">
                  <p:embed/>
                  <p:pic>
                    <p:nvPicPr>
                      <p:cNvPr id="0" name="图片 3108"/>
                      <p:cNvPicPr/>
                      <p:nvPr/>
                    </p:nvPicPr>
                    <p:blipFill>
                      <a:blip r:embed="rId6"/>
                      <a:stretch>
                        <a:fillRect/>
                      </a:stretch>
                    </p:blipFill>
                    <p:spPr>
                      <a:xfrm>
                        <a:off x="6685598" y="2527935"/>
                        <a:ext cx="1665287" cy="969963"/>
                      </a:xfrm>
                      <a:prstGeom prst="rect">
                        <a:avLst/>
                      </a:prstGeom>
                      <a:noFill/>
                      <a:ln w="38100">
                        <a:noFill/>
                        <a:miter/>
                      </a:ln>
                    </p:spPr>
                  </p:pic>
                </p:oleObj>
              </mc:Fallback>
            </mc:AlternateContent>
          </a:graphicData>
        </a:graphic>
      </p:graphicFrame>
      <p:graphicFrame>
        <p:nvGraphicFramePr>
          <p:cNvPr id="466983" name="Object 39"/>
          <p:cNvGraphicFramePr>
            <a:graphicFrameLocks noChangeAspect="1"/>
          </p:cNvGraphicFramePr>
          <p:nvPr>
            <p:custDataLst>
              <p:tags r:id="rId7"/>
            </p:custDataLst>
          </p:nvPr>
        </p:nvGraphicFramePr>
        <p:xfrm>
          <a:off x="4409123" y="2578735"/>
          <a:ext cx="2024062" cy="962025"/>
        </p:xfrm>
        <a:graphic>
          <a:graphicData uri="http://schemas.openxmlformats.org/presentationml/2006/ole">
            <mc:AlternateContent xmlns:mc="http://schemas.openxmlformats.org/markup-compatibility/2006">
              <mc:Choice xmlns:v="urn:schemas-microsoft-com:vml" Requires="v">
                <p:oleObj spid="_x0000_s3107" name="" r:id="rId8" imgW="1066800" imgH="508000" progId="Equation.DSMT4">
                  <p:embed/>
                </p:oleObj>
              </mc:Choice>
              <mc:Fallback>
                <p:oleObj name="" r:id="rId8" imgW="1066800" imgH="508000" progId="Equation.DSMT4">
                  <p:embed/>
                  <p:pic>
                    <p:nvPicPr>
                      <p:cNvPr id="0" name="图片 3106"/>
                      <p:cNvPicPr/>
                      <p:nvPr/>
                    </p:nvPicPr>
                    <p:blipFill>
                      <a:blip r:embed="rId9"/>
                      <a:stretch>
                        <a:fillRect/>
                      </a:stretch>
                    </p:blipFill>
                    <p:spPr>
                      <a:xfrm>
                        <a:off x="4409123" y="2578735"/>
                        <a:ext cx="2024062" cy="962025"/>
                      </a:xfrm>
                      <a:prstGeom prst="rect">
                        <a:avLst/>
                      </a:prstGeom>
                      <a:noFill/>
                      <a:ln w="38100">
                        <a:noFill/>
                        <a:miter/>
                      </a:ln>
                    </p:spPr>
                  </p:pic>
                </p:oleObj>
              </mc:Fallback>
            </mc:AlternateContent>
          </a:graphicData>
        </a:graphic>
      </p:graphicFrame>
      <p:graphicFrame>
        <p:nvGraphicFramePr>
          <p:cNvPr id="466984" name="Object 40"/>
          <p:cNvGraphicFramePr>
            <a:graphicFrameLocks noChangeAspect="1"/>
          </p:cNvGraphicFramePr>
          <p:nvPr>
            <p:custDataLst>
              <p:tags r:id="rId10"/>
            </p:custDataLst>
          </p:nvPr>
        </p:nvGraphicFramePr>
        <p:xfrm>
          <a:off x="8658860" y="2527935"/>
          <a:ext cx="1692275" cy="936625"/>
        </p:xfrm>
        <a:graphic>
          <a:graphicData uri="http://schemas.openxmlformats.org/presentationml/2006/ole">
            <mc:AlternateContent xmlns:mc="http://schemas.openxmlformats.org/markup-compatibility/2006">
              <mc:Choice xmlns:v="urn:schemas-microsoft-com:vml" Requires="v">
                <p:oleObj spid="_x0000_s3106" name="" r:id="rId11" imgW="711200" imgH="393700" progId="Equation.DSMT4">
                  <p:embed/>
                </p:oleObj>
              </mc:Choice>
              <mc:Fallback>
                <p:oleObj name="" r:id="rId11" imgW="711200" imgH="393700" progId="Equation.DSMT4">
                  <p:embed/>
                  <p:pic>
                    <p:nvPicPr>
                      <p:cNvPr id="0" name="图片 3105"/>
                      <p:cNvPicPr/>
                      <p:nvPr/>
                    </p:nvPicPr>
                    <p:blipFill>
                      <a:blip r:embed="rId12"/>
                      <a:stretch>
                        <a:fillRect/>
                      </a:stretch>
                    </p:blipFill>
                    <p:spPr>
                      <a:xfrm>
                        <a:off x="8658860" y="2527935"/>
                        <a:ext cx="1692275" cy="936625"/>
                      </a:xfrm>
                      <a:prstGeom prst="rect">
                        <a:avLst/>
                      </a:prstGeom>
                      <a:noFill/>
                      <a:ln w="38100">
                        <a:noFill/>
                        <a:miter/>
                      </a:ln>
                    </p:spPr>
                  </p:pic>
                </p:oleObj>
              </mc:Fallback>
            </mc:AlternateContent>
          </a:graphicData>
        </a:graphic>
      </p:graphicFrame>
      <p:graphicFrame>
        <p:nvGraphicFramePr>
          <p:cNvPr id="466985" name="Object 41"/>
          <p:cNvGraphicFramePr>
            <a:graphicFrameLocks noChangeAspect="1"/>
          </p:cNvGraphicFramePr>
          <p:nvPr>
            <p:custDataLst>
              <p:tags r:id="rId13"/>
            </p:custDataLst>
          </p:nvPr>
        </p:nvGraphicFramePr>
        <p:xfrm>
          <a:off x="4409123" y="3582035"/>
          <a:ext cx="2024062" cy="965200"/>
        </p:xfrm>
        <a:graphic>
          <a:graphicData uri="http://schemas.openxmlformats.org/presentationml/2006/ole">
            <mc:AlternateContent xmlns:mc="http://schemas.openxmlformats.org/markup-compatibility/2006">
              <mc:Choice xmlns:v="urn:schemas-microsoft-com:vml" Requires="v">
                <p:oleObj spid="_x0000_s3104" name="" r:id="rId14" imgW="1066800" imgH="508000" progId="Equation.DSMT4">
                  <p:embed/>
                </p:oleObj>
              </mc:Choice>
              <mc:Fallback>
                <p:oleObj name="" r:id="rId14" imgW="1066800" imgH="508000" progId="Equation.DSMT4">
                  <p:embed/>
                  <p:pic>
                    <p:nvPicPr>
                      <p:cNvPr id="0" name="图片 3103"/>
                      <p:cNvPicPr/>
                      <p:nvPr/>
                    </p:nvPicPr>
                    <p:blipFill>
                      <a:blip r:embed="rId15"/>
                      <a:stretch>
                        <a:fillRect/>
                      </a:stretch>
                    </p:blipFill>
                    <p:spPr>
                      <a:xfrm>
                        <a:off x="4409123" y="3582035"/>
                        <a:ext cx="2024062" cy="965200"/>
                      </a:xfrm>
                      <a:prstGeom prst="rect">
                        <a:avLst/>
                      </a:prstGeom>
                      <a:noFill/>
                      <a:ln w="38100">
                        <a:noFill/>
                        <a:miter/>
                      </a:ln>
                    </p:spPr>
                  </p:pic>
                </p:oleObj>
              </mc:Fallback>
            </mc:AlternateContent>
          </a:graphicData>
        </a:graphic>
      </p:graphicFrame>
      <p:graphicFrame>
        <p:nvGraphicFramePr>
          <p:cNvPr id="466986" name="Object 42"/>
          <p:cNvGraphicFramePr>
            <a:graphicFrameLocks noChangeAspect="1"/>
          </p:cNvGraphicFramePr>
          <p:nvPr>
            <p:custDataLst>
              <p:tags r:id="rId16"/>
            </p:custDataLst>
          </p:nvPr>
        </p:nvGraphicFramePr>
        <p:xfrm>
          <a:off x="6650673" y="3518535"/>
          <a:ext cx="1789112" cy="977900"/>
        </p:xfrm>
        <a:graphic>
          <a:graphicData uri="http://schemas.openxmlformats.org/presentationml/2006/ole">
            <mc:AlternateContent xmlns:mc="http://schemas.openxmlformats.org/markup-compatibility/2006">
              <mc:Choice xmlns:v="urn:schemas-microsoft-com:vml" Requires="v">
                <p:oleObj spid="_x0000_s3108" name="" r:id="rId17" imgW="838200" imgH="457200" progId="Equation.DSMT4">
                  <p:embed/>
                </p:oleObj>
              </mc:Choice>
              <mc:Fallback>
                <p:oleObj name="" r:id="rId17" imgW="838200" imgH="457200" progId="Equation.DSMT4">
                  <p:embed/>
                  <p:pic>
                    <p:nvPicPr>
                      <p:cNvPr id="0" name="图片 3107"/>
                      <p:cNvPicPr/>
                      <p:nvPr/>
                    </p:nvPicPr>
                    <p:blipFill>
                      <a:blip r:embed="rId18"/>
                      <a:stretch>
                        <a:fillRect/>
                      </a:stretch>
                    </p:blipFill>
                    <p:spPr>
                      <a:xfrm>
                        <a:off x="6650673" y="3518535"/>
                        <a:ext cx="1789112" cy="977900"/>
                      </a:xfrm>
                      <a:prstGeom prst="rect">
                        <a:avLst/>
                      </a:prstGeom>
                      <a:noFill/>
                      <a:ln w="38100">
                        <a:noFill/>
                        <a:miter/>
                      </a:ln>
                    </p:spPr>
                  </p:pic>
                </p:oleObj>
              </mc:Fallback>
            </mc:AlternateContent>
          </a:graphicData>
        </a:graphic>
      </p:graphicFrame>
      <p:graphicFrame>
        <p:nvGraphicFramePr>
          <p:cNvPr id="466987" name="Object 43"/>
          <p:cNvGraphicFramePr>
            <a:graphicFrameLocks noChangeAspect="1"/>
          </p:cNvGraphicFramePr>
          <p:nvPr>
            <p:custDataLst>
              <p:tags r:id="rId19"/>
            </p:custDataLst>
          </p:nvPr>
        </p:nvGraphicFramePr>
        <p:xfrm>
          <a:off x="8638223" y="3518535"/>
          <a:ext cx="1755775" cy="973138"/>
        </p:xfrm>
        <a:graphic>
          <a:graphicData uri="http://schemas.openxmlformats.org/presentationml/2006/ole">
            <mc:AlternateContent xmlns:mc="http://schemas.openxmlformats.org/markup-compatibility/2006">
              <mc:Choice xmlns:v="urn:schemas-microsoft-com:vml" Requires="v">
                <p:oleObj spid="_x0000_s3099" name="" r:id="rId20" imgW="711200" imgH="393700" progId="Equation.DSMT4">
                  <p:embed/>
                </p:oleObj>
              </mc:Choice>
              <mc:Fallback>
                <p:oleObj name="" r:id="rId20" imgW="711200" imgH="393700" progId="Equation.DSMT4">
                  <p:embed/>
                  <p:pic>
                    <p:nvPicPr>
                      <p:cNvPr id="0" name="图片 3098"/>
                      <p:cNvPicPr/>
                      <p:nvPr/>
                    </p:nvPicPr>
                    <p:blipFill>
                      <a:blip r:embed="rId21"/>
                      <a:stretch>
                        <a:fillRect/>
                      </a:stretch>
                    </p:blipFill>
                    <p:spPr>
                      <a:xfrm>
                        <a:off x="8638223" y="3518535"/>
                        <a:ext cx="1755775" cy="973138"/>
                      </a:xfrm>
                      <a:prstGeom prst="rect">
                        <a:avLst/>
                      </a:prstGeom>
                      <a:noFill/>
                      <a:ln w="38100">
                        <a:noFill/>
                        <a:miter/>
                      </a:ln>
                    </p:spPr>
                  </p:pic>
                </p:oleObj>
              </mc:Fallback>
            </mc:AlternateContent>
          </a:graphicData>
        </a:graphic>
      </p:graphicFrame>
      <p:graphicFrame>
        <p:nvGraphicFramePr>
          <p:cNvPr id="466988" name="Object 44"/>
          <p:cNvGraphicFramePr>
            <a:graphicFrameLocks noChangeAspect="1"/>
          </p:cNvGraphicFramePr>
          <p:nvPr>
            <p:custDataLst>
              <p:tags r:id="rId22"/>
            </p:custDataLst>
          </p:nvPr>
        </p:nvGraphicFramePr>
        <p:xfrm>
          <a:off x="4407535" y="4705985"/>
          <a:ext cx="2027238" cy="796925"/>
        </p:xfrm>
        <a:graphic>
          <a:graphicData uri="http://schemas.openxmlformats.org/presentationml/2006/ole">
            <mc:AlternateContent xmlns:mc="http://schemas.openxmlformats.org/markup-compatibility/2006">
              <mc:Choice xmlns:v="urn:schemas-microsoft-com:vml" Requires="v">
                <p:oleObj spid="_x0000_s3100" name="" r:id="rId23" imgW="1002665" imgH="393700" progId="Equation.DSMT4">
                  <p:embed/>
                </p:oleObj>
              </mc:Choice>
              <mc:Fallback>
                <p:oleObj name="" r:id="rId23" imgW="1002665" imgH="393700" progId="Equation.DSMT4">
                  <p:embed/>
                  <p:pic>
                    <p:nvPicPr>
                      <p:cNvPr id="0" name="图片 3099"/>
                      <p:cNvPicPr/>
                      <p:nvPr/>
                    </p:nvPicPr>
                    <p:blipFill>
                      <a:blip r:embed="rId24"/>
                      <a:stretch>
                        <a:fillRect/>
                      </a:stretch>
                    </p:blipFill>
                    <p:spPr>
                      <a:xfrm>
                        <a:off x="4407535" y="4705985"/>
                        <a:ext cx="2027238" cy="796925"/>
                      </a:xfrm>
                      <a:prstGeom prst="rect">
                        <a:avLst/>
                      </a:prstGeom>
                      <a:noFill/>
                      <a:ln w="38100">
                        <a:noFill/>
                        <a:miter/>
                      </a:ln>
                    </p:spPr>
                  </p:pic>
                </p:oleObj>
              </mc:Fallback>
            </mc:AlternateContent>
          </a:graphicData>
        </a:graphic>
      </p:graphicFrame>
      <p:graphicFrame>
        <p:nvGraphicFramePr>
          <p:cNvPr id="466989" name="Object 45"/>
          <p:cNvGraphicFramePr>
            <a:graphicFrameLocks noChangeAspect="1"/>
          </p:cNvGraphicFramePr>
          <p:nvPr>
            <p:custDataLst>
              <p:tags r:id="rId25"/>
            </p:custDataLst>
          </p:nvPr>
        </p:nvGraphicFramePr>
        <p:xfrm>
          <a:off x="6655435" y="4582160"/>
          <a:ext cx="1709738" cy="1011238"/>
        </p:xfrm>
        <a:graphic>
          <a:graphicData uri="http://schemas.openxmlformats.org/presentationml/2006/ole">
            <mc:AlternateContent xmlns:mc="http://schemas.openxmlformats.org/markup-compatibility/2006">
              <mc:Choice xmlns:v="urn:schemas-microsoft-com:vml" Requires="v">
                <p:oleObj spid="_x0000_s3101" name="" r:id="rId26" imgW="774065" imgH="457200" progId="Equation.DSMT4">
                  <p:embed/>
                </p:oleObj>
              </mc:Choice>
              <mc:Fallback>
                <p:oleObj name="" r:id="rId26" imgW="774065" imgH="457200" progId="Equation.DSMT4">
                  <p:embed/>
                  <p:pic>
                    <p:nvPicPr>
                      <p:cNvPr id="0" name="图片 3100"/>
                      <p:cNvPicPr/>
                      <p:nvPr/>
                    </p:nvPicPr>
                    <p:blipFill>
                      <a:blip r:embed="rId27"/>
                      <a:stretch>
                        <a:fillRect/>
                      </a:stretch>
                    </p:blipFill>
                    <p:spPr>
                      <a:xfrm>
                        <a:off x="6655435" y="4582160"/>
                        <a:ext cx="1709738" cy="1011238"/>
                      </a:xfrm>
                      <a:prstGeom prst="rect">
                        <a:avLst/>
                      </a:prstGeom>
                      <a:noFill/>
                      <a:ln w="38100">
                        <a:noFill/>
                        <a:miter/>
                      </a:ln>
                    </p:spPr>
                  </p:pic>
                </p:oleObj>
              </mc:Fallback>
            </mc:AlternateContent>
          </a:graphicData>
        </a:graphic>
      </p:graphicFrame>
      <p:graphicFrame>
        <p:nvGraphicFramePr>
          <p:cNvPr id="466990" name="Object 46"/>
          <p:cNvGraphicFramePr>
            <a:graphicFrameLocks noChangeAspect="1"/>
          </p:cNvGraphicFramePr>
          <p:nvPr>
            <p:custDataLst>
              <p:tags r:id="rId28"/>
            </p:custDataLst>
          </p:nvPr>
        </p:nvGraphicFramePr>
        <p:xfrm>
          <a:off x="4407535" y="5817235"/>
          <a:ext cx="1981200" cy="582613"/>
        </p:xfrm>
        <a:graphic>
          <a:graphicData uri="http://schemas.openxmlformats.org/presentationml/2006/ole">
            <mc:AlternateContent xmlns:mc="http://schemas.openxmlformats.org/markup-compatibility/2006">
              <mc:Choice xmlns:v="urn:schemas-microsoft-com:vml" Requires="v">
                <p:oleObj spid="_x0000_s3102" name="" r:id="rId29" imgW="862965" imgH="254000" progId="Equation.DSMT4">
                  <p:embed/>
                </p:oleObj>
              </mc:Choice>
              <mc:Fallback>
                <p:oleObj name="" r:id="rId29" imgW="862965" imgH="254000" progId="Equation.DSMT4">
                  <p:embed/>
                  <p:pic>
                    <p:nvPicPr>
                      <p:cNvPr id="0" name="图片 3101"/>
                      <p:cNvPicPr/>
                      <p:nvPr/>
                    </p:nvPicPr>
                    <p:blipFill>
                      <a:blip r:embed="rId30"/>
                      <a:stretch>
                        <a:fillRect/>
                      </a:stretch>
                    </p:blipFill>
                    <p:spPr>
                      <a:xfrm>
                        <a:off x="4407535" y="5817235"/>
                        <a:ext cx="1981200" cy="582613"/>
                      </a:xfrm>
                      <a:prstGeom prst="rect">
                        <a:avLst/>
                      </a:prstGeom>
                      <a:noFill/>
                      <a:ln w="38100">
                        <a:noFill/>
                        <a:miter/>
                      </a:ln>
                    </p:spPr>
                  </p:pic>
                </p:oleObj>
              </mc:Fallback>
            </mc:AlternateContent>
          </a:graphicData>
        </a:graphic>
      </p:graphicFrame>
      <p:graphicFrame>
        <p:nvGraphicFramePr>
          <p:cNvPr id="466991" name="Object 47"/>
          <p:cNvGraphicFramePr>
            <a:graphicFrameLocks noChangeAspect="1"/>
          </p:cNvGraphicFramePr>
          <p:nvPr>
            <p:custDataLst>
              <p:tags r:id="rId31"/>
            </p:custDataLst>
          </p:nvPr>
        </p:nvGraphicFramePr>
        <p:xfrm>
          <a:off x="6687185" y="5656898"/>
          <a:ext cx="1485900" cy="974725"/>
        </p:xfrm>
        <a:graphic>
          <a:graphicData uri="http://schemas.openxmlformats.org/presentationml/2006/ole">
            <mc:AlternateContent xmlns:mc="http://schemas.openxmlformats.org/markup-compatibility/2006">
              <mc:Choice xmlns:v="urn:schemas-microsoft-com:vml" Requires="v">
                <p:oleObj spid="_x0000_s3103" name="" r:id="rId32" imgW="698500" imgH="457200" progId="Equation.DSMT4">
                  <p:embed/>
                </p:oleObj>
              </mc:Choice>
              <mc:Fallback>
                <p:oleObj name="" r:id="rId32" imgW="698500" imgH="457200" progId="Equation.DSMT4">
                  <p:embed/>
                  <p:pic>
                    <p:nvPicPr>
                      <p:cNvPr id="0" name="图片 3102"/>
                      <p:cNvPicPr/>
                      <p:nvPr/>
                    </p:nvPicPr>
                    <p:blipFill>
                      <a:blip r:embed="rId33"/>
                      <a:stretch>
                        <a:fillRect/>
                      </a:stretch>
                    </p:blipFill>
                    <p:spPr>
                      <a:xfrm>
                        <a:off x="6687185" y="5656898"/>
                        <a:ext cx="1485900" cy="974725"/>
                      </a:xfrm>
                      <a:prstGeom prst="rect">
                        <a:avLst/>
                      </a:prstGeom>
                      <a:noFill/>
                      <a:ln w="38100">
                        <a:noFill/>
                        <a:miter/>
                      </a:ln>
                    </p:spPr>
                  </p:pic>
                </p:oleObj>
              </mc:Fallback>
            </mc:AlternateContent>
          </a:graphicData>
        </a:graphic>
      </p:graphicFrame>
      <p:graphicFrame>
        <p:nvGraphicFramePr>
          <p:cNvPr id="466992" name="Object 48"/>
          <p:cNvGraphicFramePr>
            <a:graphicFrameLocks noChangeAspect="1"/>
          </p:cNvGraphicFramePr>
          <p:nvPr>
            <p:custDataLst>
              <p:tags r:id="rId34"/>
            </p:custDataLst>
          </p:nvPr>
        </p:nvGraphicFramePr>
        <p:xfrm>
          <a:off x="8698548" y="5647373"/>
          <a:ext cx="1519237" cy="963612"/>
        </p:xfrm>
        <a:graphic>
          <a:graphicData uri="http://schemas.openxmlformats.org/presentationml/2006/ole">
            <mc:AlternateContent xmlns:mc="http://schemas.openxmlformats.org/markup-compatibility/2006">
              <mc:Choice xmlns:v="urn:schemas-microsoft-com:vml" Requires="v">
                <p:oleObj spid="_x0000_s3105" name="" r:id="rId35" imgW="622300" imgH="393700" progId="Equation.DSMT4">
                  <p:embed/>
                </p:oleObj>
              </mc:Choice>
              <mc:Fallback>
                <p:oleObj name="" r:id="rId35" imgW="622300" imgH="393700" progId="Equation.DSMT4">
                  <p:embed/>
                  <p:pic>
                    <p:nvPicPr>
                      <p:cNvPr id="0" name="图片 3104"/>
                      <p:cNvPicPr/>
                      <p:nvPr/>
                    </p:nvPicPr>
                    <p:blipFill>
                      <a:blip r:embed="rId36"/>
                      <a:stretch>
                        <a:fillRect/>
                      </a:stretch>
                    </p:blipFill>
                    <p:spPr>
                      <a:xfrm>
                        <a:off x="8698548" y="5647373"/>
                        <a:ext cx="1519237" cy="963612"/>
                      </a:xfrm>
                      <a:prstGeom prst="rect">
                        <a:avLst/>
                      </a:prstGeom>
                      <a:noFill/>
                      <a:ln w="38100">
                        <a:noFill/>
                        <a:miter/>
                      </a:ln>
                    </p:spPr>
                  </p:pic>
                </p:oleObj>
              </mc:Fallback>
            </mc:AlternateContent>
          </a:graphicData>
        </a:graphic>
      </p:graphicFrame>
      <p:sp>
        <p:nvSpPr>
          <p:cNvPr id="76847" name="Rectangle 50"/>
          <p:cNvSpPr>
            <a:spLocks noChangeArrowheads="1"/>
          </p:cNvSpPr>
          <p:nvPr>
            <p:custDataLst>
              <p:tags r:id="rId37"/>
            </p:custDataLst>
          </p:nvPr>
        </p:nvSpPr>
        <p:spPr bwMode="auto">
          <a:xfrm>
            <a:off x="1415415" y="549275"/>
            <a:ext cx="4356100" cy="577850"/>
          </a:xfrm>
          <a:prstGeom prst="rect">
            <a:avLst/>
          </a:prstGeom>
          <a:solidFill>
            <a:srgbClr val="003399"/>
          </a:solidFill>
          <a:ln w="9525">
            <a:solidFill>
              <a:srgbClr val="D9D9FF"/>
            </a:solidFill>
            <a:miter lim="800000"/>
          </a:ln>
          <a:effectLst>
            <a:outerShdw blurRad="50800" dist="38100" dir="5400000" algn="t" rotWithShape="0">
              <a:prstClr val="black">
                <a:alpha val="40000"/>
              </a:prstClr>
            </a:outerShdw>
          </a:effectLst>
        </p:spPr>
        <p:txBody>
          <a:bodyPr anchor="b"/>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FF0000"/>
                </a:solidFill>
                <a:effectLst/>
                <a:uLnTx/>
                <a:uFillTx/>
                <a:latin typeface="Tahoma" panose="020B0604030504040204" pitchFamily="34" charset="0"/>
                <a:ea typeface="宋体" pitchFamily="2" charset="-122"/>
                <a:cs typeface="Arial" panose="020B0604020202090204" pitchFamily="34" charset="0"/>
                <a:sym typeface="Wingdings" panose="05000000000000000000" pitchFamily="2" charset="2"/>
              </a:rPr>
              <a:t>   </a:t>
            </a:r>
            <a:r>
              <a:rPr kumimoji="0" lang="en-US" altLang="zh-CN" sz="3200" b="1" i="0" u="sng" strike="noStrike" kern="1200" cap="none" spc="0" normalizeH="0" baseline="0" noProof="0" dirty="0">
                <a:ln>
                  <a:noFill/>
                </a:ln>
                <a:solidFill>
                  <a:schemeClr val="bg1">
                    <a:lumMod val="95000"/>
                  </a:schemeClr>
                </a:solidFill>
                <a:effectLst/>
                <a:uLnTx/>
                <a:uFillTx/>
                <a:latin typeface="Tahoma" panose="020B0604030504040204" pitchFamily="34" charset="0"/>
                <a:ea typeface="宋体" pitchFamily="2" charset="-122"/>
                <a:cs typeface="Arial" panose="020B0604020202090204" pitchFamily="34" charset="0"/>
                <a:sym typeface="Wingdings" panose="05000000000000000000" pitchFamily="2" charset="2"/>
              </a:rPr>
              <a:t>1</a:t>
            </a:r>
            <a:r>
              <a:rPr kumimoji="0" lang="en-US" altLang="zh-CN" sz="3200" b="1" i="0" u="sng" strike="noStrike" kern="1200" cap="none" spc="0" normalizeH="0" baseline="0" noProof="0" dirty="0">
                <a:ln>
                  <a:noFill/>
                </a:ln>
                <a:solidFill>
                  <a:srgbClr val="800080"/>
                </a:solidFill>
                <a:effectLst/>
                <a:uLnTx/>
                <a:uFillTx/>
                <a:latin typeface="Tahoma" panose="020B0604030504040204" pitchFamily="34" charset="0"/>
                <a:ea typeface="宋体" pitchFamily="2" charset="-122"/>
                <a:cs typeface="Arial" panose="020B0604020202090204" pitchFamily="34" charset="0"/>
                <a:sym typeface="Wingdings" panose="05000000000000000000" pitchFamily="2" charset="2"/>
              </a:rPr>
              <a:t> </a:t>
            </a:r>
            <a:r>
              <a:rPr kumimoji="0" lang="en-US" altLang="zh-CN" sz="2800" b="1" i="0" u="none" strike="noStrike" kern="1200" cap="none" spc="0" normalizeH="0" baseline="0" noProof="0" dirty="0">
                <a:ln>
                  <a:noFill/>
                </a:ln>
                <a:solidFill>
                  <a:srgbClr val="800080"/>
                </a:solidFill>
                <a:effectLst/>
                <a:uLnTx/>
                <a:uFillTx/>
                <a:latin typeface="Tahoma" panose="020B0604030504040204" pitchFamily="34" charset="0"/>
                <a:ea typeface="宋体" pitchFamily="2" charset="-122"/>
                <a:cs typeface="Arial" panose="020B0604020202090204" pitchFamily="34" charset="0"/>
                <a:sym typeface="Wingdings" panose="05000000000000000000" pitchFamily="2" charset="2"/>
              </a:rPr>
              <a:t>   </a:t>
            </a:r>
            <a:r>
              <a:rPr kumimoji="0" lang="zh-CN" altLang="en-US" sz="2800" b="1" i="0" u="none" strike="noStrike" kern="1200" cap="none" spc="0" normalizeH="0" baseline="0" noProof="0" dirty="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Arial" panose="020B0604020202090204" pitchFamily="34" charset="0"/>
                <a:sym typeface="Wingdings" panose="05000000000000000000" pitchFamily="2" charset="2"/>
              </a:rPr>
              <a:t>误码率 </a:t>
            </a:r>
            <a:r>
              <a:rPr kumimoji="0" lang="en-US" altLang="zh-CN" sz="2800" b="1" i="0" u="none" strike="noStrike" kern="1200" cap="none" spc="0" normalizeH="0" baseline="0" noProof="0" dirty="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a:t>
            </a:r>
            <a:r>
              <a:rPr kumimoji="0" lang="zh-CN" altLang="en-US" sz="2800" b="1" i="0" u="none" strike="noStrike" kern="1200" cap="none" spc="0" normalizeH="0" baseline="0" noProof="0" dirty="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可靠性 </a:t>
            </a:r>
            <a:r>
              <a:rPr kumimoji="0" lang="en-US" altLang="zh-CN" sz="2800" b="1" i="0" u="none" strike="noStrike" kern="1200" cap="none" spc="0" normalizeH="0" baseline="0" noProof="0" dirty="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 </a:t>
            </a:r>
            <a:endParaRPr kumimoji="0" lang="zh-CN" altLang="en-US" sz="2800" b="1" i="0" u="none" strike="noStrike" kern="1200" cap="none" spc="0" normalizeH="0" baseline="0" noProof="0" dirty="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endParaRPr>
          </a:p>
        </p:txBody>
      </p:sp>
      <p:graphicFrame>
        <p:nvGraphicFramePr>
          <p:cNvPr id="67633" name="Object 7"/>
          <p:cNvGraphicFramePr>
            <a:graphicFrameLocks noChangeAspect="1"/>
          </p:cNvGraphicFramePr>
          <p:nvPr>
            <p:custDataLst>
              <p:tags r:id="rId38"/>
            </p:custDataLst>
          </p:nvPr>
        </p:nvGraphicFramePr>
        <p:xfrm>
          <a:off x="7239635" y="349885"/>
          <a:ext cx="1111250" cy="903288"/>
        </p:xfrm>
        <a:graphic>
          <a:graphicData uri="http://schemas.openxmlformats.org/presentationml/2006/ole">
            <mc:AlternateContent xmlns:mc="http://schemas.openxmlformats.org/markup-compatibility/2006">
              <mc:Choice xmlns:v="urn:schemas-microsoft-com:vml" Requires="v">
                <p:oleObj spid="_x0000_s3270" name="" r:id="rId39" imgW="558800" imgH="457200" progId="Equation.DSMT4">
                  <p:embed/>
                </p:oleObj>
              </mc:Choice>
              <mc:Fallback>
                <p:oleObj name="" r:id="rId39" imgW="558800" imgH="457200" progId="Equation.DSMT4">
                  <p:embed/>
                  <p:pic>
                    <p:nvPicPr>
                      <p:cNvPr id="0" name="图片 3269"/>
                      <p:cNvPicPr/>
                      <p:nvPr/>
                    </p:nvPicPr>
                    <p:blipFill>
                      <a:blip r:embed="rId40"/>
                      <a:stretch>
                        <a:fillRect/>
                      </a:stretch>
                    </p:blipFill>
                    <p:spPr>
                      <a:xfrm>
                        <a:off x="7239635" y="349885"/>
                        <a:ext cx="1111250" cy="903288"/>
                      </a:xfrm>
                      <a:prstGeom prst="rect">
                        <a:avLst/>
                      </a:prstGeom>
                      <a:solidFill>
                        <a:srgbClr val="FFFFCC"/>
                      </a:solidFill>
                      <a:ln w="38100">
                        <a:noFill/>
                        <a:miter/>
                      </a:ln>
                      <a:effectLst>
                        <a:prstShdw prst="shdw17" dist="17961" dir="2699999">
                          <a:srgbClr val="99997A"/>
                        </a:prstShdw>
                      </a:effectLst>
                    </p:spPr>
                  </p:pic>
                </p:oleObj>
              </mc:Fallback>
            </mc:AlternateContent>
          </a:graphicData>
        </a:graphic>
      </p:graphicFrame>
      <p:graphicFrame>
        <p:nvGraphicFramePr>
          <p:cNvPr id="67634" name="Object 8"/>
          <p:cNvGraphicFramePr>
            <a:graphicFrameLocks noChangeAspect="1"/>
          </p:cNvGraphicFramePr>
          <p:nvPr>
            <p:custDataLst>
              <p:tags r:id="rId41"/>
            </p:custDataLst>
          </p:nvPr>
        </p:nvGraphicFramePr>
        <p:xfrm>
          <a:off x="8528685" y="354648"/>
          <a:ext cx="2355850" cy="914400"/>
        </p:xfrm>
        <a:graphic>
          <a:graphicData uri="http://schemas.openxmlformats.org/presentationml/2006/ole">
            <mc:AlternateContent xmlns:mc="http://schemas.openxmlformats.org/markup-compatibility/2006">
              <mc:Choice xmlns:v="urn:schemas-microsoft-com:vml" Requires="v">
                <p:oleObj spid="_x0000_s3271" name="" r:id="rId42" imgW="1104900" imgH="431800" progId="Equation.DSMT4">
                  <p:embed/>
                </p:oleObj>
              </mc:Choice>
              <mc:Fallback>
                <p:oleObj name="" r:id="rId42" imgW="1104900" imgH="431800" progId="Equation.DSMT4">
                  <p:embed/>
                  <p:pic>
                    <p:nvPicPr>
                      <p:cNvPr id="0" name="图片 3270"/>
                      <p:cNvPicPr/>
                      <p:nvPr/>
                    </p:nvPicPr>
                    <p:blipFill>
                      <a:blip r:embed="rId43"/>
                      <a:stretch>
                        <a:fillRect/>
                      </a:stretch>
                    </p:blipFill>
                    <p:spPr>
                      <a:xfrm>
                        <a:off x="8528685" y="354648"/>
                        <a:ext cx="2355850" cy="914400"/>
                      </a:xfrm>
                      <a:prstGeom prst="rect">
                        <a:avLst/>
                      </a:prstGeom>
                      <a:solidFill>
                        <a:srgbClr val="FFFFCC"/>
                      </a:solidFill>
                      <a:ln w="38100">
                        <a:noFill/>
                        <a:miter/>
                      </a:ln>
                      <a:effectLst>
                        <a:prstShdw prst="shdw17" dist="17961" dir="2699999">
                          <a:srgbClr val="99997A"/>
                        </a:prstShdw>
                      </a:effectLst>
                    </p:spPr>
                  </p:pic>
                </p:oleObj>
              </mc:Fallback>
            </mc:AlternateContent>
          </a:graphicData>
        </a:graphic>
      </p:graphicFrame>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2" name="Picture 53"/>
          <p:cNvPicPr>
            <a:picLocks noChangeAspect="1"/>
          </p:cNvPicPr>
          <p:nvPr>
            <p:custDataLst>
              <p:tags r:id="rId2"/>
            </p:custDataLst>
          </p:nvPr>
        </p:nvPicPr>
        <p:blipFill>
          <a:blip r:embed="rId3"/>
          <a:srcRect b="77072"/>
          <a:stretch>
            <a:fillRect/>
          </a:stretch>
        </p:blipFill>
        <p:spPr>
          <a:xfrm>
            <a:off x="1631315" y="480060"/>
            <a:ext cx="7861300" cy="1244600"/>
          </a:xfrm>
          <a:prstGeom prst="rect">
            <a:avLst/>
          </a:prstGeom>
          <a:noFill/>
          <a:ln w="9525">
            <a:noFill/>
          </a:ln>
        </p:spPr>
      </p:pic>
      <p:sp>
        <p:nvSpPr>
          <p:cNvPr id="18" name="矩形 17"/>
          <p:cNvSpPr/>
          <p:nvPr>
            <p:custDataLst>
              <p:tags r:id="rId4"/>
            </p:custDataLst>
          </p:nvPr>
        </p:nvSpPr>
        <p:spPr>
          <a:xfrm>
            <a:off x="4609465" y="1143635"/>
            <a:ext cx="4527550" cy="461963"/>
          </a:xfrm>
          <a:prstGeom prst="rect">
            <a:avLst/>
          </a:prstGeom>
          <a:noFill/>
          <a:ln w="9525">
            <a:noFill/>
          </a:ln>
        </p:spPr>
        <p:txBody>
          <a:bodyPr>
            <a:spAutoFit/>
          </a:bodyPr>
          <a:p>
            <a:pPr eaLnBrk="1" hangingPunct="1"/>
            <a:r>
              <a:rPr lang="en-US" altLang="zh-CN" sz="2400" b="1" dirty="0">
                <a:solidFill>
                  <a:srgbClr val="0000CC"/>
                </a:solidFill>
                <a:latin typeface="Tahoma" panose="020B0604030504040204" pitchFamily="34" charset="0"/>
                <a:ea typeface="华文中宋" panose="02010600040101010101" pitchFamily="2" charset="-122"/>
              </a:rPr>
              <a:t>2PSK</a:t>
            </a:r>
            <a:r>
              <a:rPr lang="zh-CN" altLang="zh-CN" sz="2400" b="1" dirty="0">
                <a:solidFill>
                  <a:srgbClr val="0000CC"/>
                </a:solidFill>
                <a:latin typeface="Tahoma" panose="020B0604030504040204" pitchFamily="34" charset="0"/>
                <a:ea typeface="华文中宋" panose="02010600040101010101" pitchFamily="2" charset="-122"/>
              </a:rPr>
              <a:t>、</a:t>
            </a:r>
            <a:r>
              <a:rPr lang="en-US" altLang="zh-CN" sz="2400" b="1" dirty="0">
                <a:solidFill>
                  <a:srgbClr val="0000CC"/>
                </a:solidFill>
                <a:latin typeface="Tahoma" panose="020B0604030504040204" pitchFamily="34" charset="0"/>
                <a:ea typeface="华文中宋" panose="02010600040101010101" pitchFamily="2" charset="-122"/>
              </a:rPr>
              <a:t>2DPSK</a:t>
            </a:r>
            <a:r>
              <a:rPr lang="zh-CN" altLang="zh-CN" sz="2400" b="1" dirty="0">
                <a:solidFill>
                  <a:srgbClr val="0000CC"/>
                </a:solidFill>
                <a:latin typeface="Tahoma" panose="020B0604030504040204" pitchFamily="34" charset="0"/>
                <a:ea typeface="华文中宋" panose="02010600040101010101" pitchFamily="2" charset="-122"/>
              </a:rPr>
              <a:t>、</a:t>
            </a:r>
            <a:r>
              <a:rPr lang="en-US" altLang="zh-CN" sz="2400" b="1" dirty="0">
                <a:solidFill>
                  <a:srgbClr val="0000CC"/>
                </a:solidFill>
                <a:latin typeface="Tahoma" panose="020B0604030504040204" pitchFamily="34" charset="0"/>
                <a:ea typeface="华文中宋" panose="02010600040101010101" pitchFamily="2" charset="-122"/>
              </a:rPr>
              <a:t>2FSK</a:t>
            </a:r>
            <a:r>
              <a:rPr lang="zh-CN" altLang="zh-CN" sz="2400" b="1" dirty="0">
                <a:solidFill>
                  <a:srgbClr val="0000CC"/>
                </a:solidFill>
                <a:latin typeface="Tahoma" panose="020B0604030504040204" pitchFamily="34" charset="0"/>
                <a:ea typeface="华文中宋" panose="02010600040101010101" pitchFamily="2" charset="-122"/>
              </a:rPr>
              <a:t>、</a:t>
            </a:r>
            <a:r>
              <a:rPr lang="en-US" altLang="zh-CN" sz="2400" b="1" dirty="0">
                <a:solidFill>
                  <a:srgbClr val="0000CC"/>
                </a:solidFill>
                <a:latin typeface="Tahoma" panose="020B0604030504040204" pitchFamily="34" charset="0"/>
                <a:ea typeface="华文中宋" panose="02010600040101010101" pitchFamily="2" charset="-122"/>
              </a:rPr>
              <a:t>2ASK</a:t>
            </a:r>
            <a:endParaRPr lang="zh-CN" altLang="en-US" b="1" dirty="0">
              <a:solidFill>
                <a:srgbClr val="0000CC"/>
              </a:solidFill>
              <a:latin typeface="Tahoma" panose="020B0604030504040204" pitchFamily="34" charset="0"/>
            </a:endParaRPr>
          </a:p>
        </p:txBody>
      </p:sp>
      <p:pic>
        <p:nvPicPr>
          <p:cNvPr id="4" name="Picture 53"/>
          <p:cNvPicPr>
            <a:picLocks noChangeAspect="1"/>
          </p:cNvPicPr>
          <p:nvPr>
            <p:custDataLst>
              <p:tags r:id="rId5"/>
            </p:custDataLst>
          </p:nvPr>
        </p:nvPicPr>
        <p:blipFill>
          <a:blip r:embed="rId3"/>
          <a:srcRect t="84460" b="-838"/>
          <a:stretch>
            <a:fillRect/>
          </a:stretch>
        </p:blipFill>
        <p:spPr>
          <a:xfrm>
            <a:off x="1630998" y="3254375"/>
            <a:ext cx="7772400" cy="889000"/>
          </a:xfrm>
          <a:prstGeom prst="rect">
            <a:avLst/>
          </a:prstGeom>
          <a:noFill/>
          <a:ln w="9525">
            <a:noFill/>
          </a:ln>
        </p:spPr>
      </p:pic>
      <p:graphicFrame>
        <p:nvGraphicFramePr>
          <p:cNvPr id="19" name="Object 12"/>
          <p:cNvGraphicFramePr>
            <a:graphicFrameLocks noChangeAspect="1"/>
          </p:cNvGraphicFramePr>
          <p:nvPr>
            <p:custDataLst>
              <p:tags r:id="rId6"/>
            </p:custDataLst>
          </p:nvPr>
        </p:nvGraphicFramePr>
        <p:xfrm>
          <a:off x="5550535" y="3432175"/>
          <a:ext cx="3467100" cy="519113"/>
        </p:xfrm>
        <a:graphic>
          <a:graphicData uri="http://schemas.openxmlformats.org/presentationml/2006/ole">
            <mc:AlternateContent xmlns:mc="http://schemas.openxmlformats.org/markup-compatibility/2006">
              <mc:Choice xmlns:v="urn:schemas-microsoft-com:vml" Requires="v">
                <p:oleObj spid="_x0000_s3272" name="" r:id="rId7" imgW="1612900" imgH="241300" progId="Equation.DSMT4">
                  <p:embed/>
                </p:oleObj>
              </mc:Choice>
              <mc:Fallback>
                <p:oleObj name="" r:id="rId7" imgW="1612900" imgH="241300" progId="Equation.DSMT4">
                  <p:embed/>
                  <p:pic>
                    <p:nvPicPr>
                      <p:cNvPr id="0" name="图片 3271"/>
                      <p:cNvPicPr/>
                      <p:nvPr/>
                    </p:nvPicPr>
                    <p:blipFill>
                      <a:blip r:embed="rId8"/>
                      <a:stretch>
                        <a:fillRect/>
                      </a:stretch>
                    </p:blipFill>
                    <p:spPr>
                      <a:xfrm>
                        <a:off x="5550535" y="3432175"/>
                        <a:ext cx="3467100" cy="519113"/>
                      </a:xfrm>
                      <a:prstGeom prst="rect">
                        <a:avLst/>
                      </a:prstGeom>
                      <a:solidFill>
                        <a:srgbClr val="DDDDDD"/>
                      </a:solidFill>
                      <a:ln w="38100">
                        <a:noFill/>
                        <a:miter/>
                      </a:ln>
                    </p:spPr>
                  </p:pic>
                </p:oleObj>
              </mc:Fallback>
            </mc:AlternateContent>
          </a:graphicData>
        </a:graphic>
      </p:graphicFrame>
      <p:pic>
        <p:nvPicPr>
          <p:cNvPr id="161807" name="Picture 15"/>
          <p:cNvPicPr>
            <a:picLocks noChangeAspect="1"/>
          </p:cNvPicPr>
          <p:nvPr>
            <p:custDataLst>
              <p:tags r:id="rId9"/>
            </p:custDataLst>
          </p:nvPr>
        </p:nvPicPr>
        <p:blipFill>
          <a:blip r:embed="rId10"/>
          <a:srcRect b="-1430"/>
          <a:stretch>
            <a:fillRect/>
          </a:stretch>
        </p:blipFill>
        <p:spPr>
          <a:xfrm>
            <a:off x="1703388" y="1847850"/>
            <a:ext cx="7600950" cy="1155700"/>
          </a:xfrm>
          <a:prstGeom prst="rect">
            <a:avLst/>
          </a:prstGeom>
          <a:noFill/>
          <a:ln w="9525">
            <a:noFill/>
          </a:ln>
        </p:spPr>
      </p:pic>
      <p:graphicFrame>
        <p:nvGraphicFramePr>
          <p:cNvPr id="22" name="Object 6"/>
          <p:cNvGraphicFramePr>
            <a:graphicFrameLocks noChangeAspect="1"/>
          </p:cNvGraphicFramePr>
          <p:nvPr>
            <p:custDataLst>
              <p:tags r:id="rId11"/>
            </p:custDataLst>
          </p:nvPr>
        </p:nvGraphicFramePr>
        <p:xfrm>
          <a:off x="6094413" y="2025650"/>
          <a:ext cx="2609850" cy="717550"/>
        </p:xfrm>
        <a:graphic>
          <a:graphicData uri="http://schemas.openxmlformats.org/presentationml/2006/ole">
            <mc:AlternateContent xmlns:mc="http://schemas.openxmlformats.org/markup-compatibility/2006">
              <mc:Choice xmlns:v="urn:schemas-microsoft-com:vml" Requires="v">
                <p:oleObj spid="_x0000_s3278" name="" r:id="rId12" imgW="926465" imgH="254000" progId="Equation.DSMT4">
                  <p:embed/>
                </p:oleObj>
              </mc:Choice>
              <mc:Fallback>
                <p:oleObj name="" r:id="rId12" imgW="926465" imgH="254000" progId="Equation.DSMT4">
                  <p:embed/>
                  <p:pic>
                    <p:nvPicPr>
                      <p:cNvPr id="0" name="图片 3277"/>
                      <p:cNvPicPr/>
                      <p:nvPr/>
                    </p:nvPicPr>
                    <p:blipFill>
                      <a:blip r:embed="rId13"/>
                      <a:stretch>
                        <a:fillRect/>
                      </a:stretch>
                    </p:blipFill>
                    <p:spPr>
                      <a:xfrm>
                        <a:off x="6094413" y="2025650"/>
                        <a:ext cx="2609850" cy="717550"/>
                      </a:xfrm>
                      <a:prstGeom prst="rect">
                        <a:avLst/>
                      </a:prstGeom>
                      <a:noFill/>
                      <a:ln w="38100">
                        <a:noFill/>
                        <a:miter/>
                      </a:ln>
                      <a:effectLst>
                        <a:prstShdw prst="shdw17" dist="17961" dir="2699999">
                          <a:srgbClr val="858585"/>
                        </a:prstShdw>
                      </a:effectLst>
                    </p:spPr>
                  </p:pic>
                </p:oleObj>
              </mc:Fallback>
            </mc:AlternateContent>
          </a:graphicData>
        </a:graphic>
      </p:graphicFrame>
      <p:sp>
        <p:nvSpPr>
          <p:cNvPr id="12" name="矩形 4"/>
          <p:cNvSpPr>
            <a:spLocks noChangeArrowheads="1"/>
          </p:cNvSpPr>
          <p:nvPr>
            <p:custDataLst>
              <p:tags r:id="rId14"/>
            </p:custDataLst>
          </p:nvPr>
        </p:nvSpPr>
        <p:spPr bwMode="auto">
          <a:xfrm>
            <a:off x="1657033" y="4369435"/>
            <a:ext cx="7646988" cy="547688"/>
          </a:xfrm>
          <a:prstGeom prst="rect">
            <a:avLst/>
          </a:prstGeom>
          <a:solidFill>
            <a:schemeClr val="bg1">
              <a:lumMod val="85000"/>
            </a:schemeClr>
          </a:solidFill>
          <a:ln w="9525">
            <a:noFill/>
            <a:miter lim="800000"/>
          </a:ln>
          <a:effectLst>
            <a:prstShdw prst="shdw17" dist="17961" dir="2700000">
              <a:schemeClr val="bg1">
                <a:gamma/>
                <a:shade val="60000"/>
                <a:invGamma/>
              </a:schemeClr>
            </a:prstShdw>
          </a:effectLst>
        </p:spPr>
        <p:txBody>
          <a:bodyPr>
            <a:spAutoFit/>
          </a:bodyPr>
          <a:p>
            <a:pPr marL="0" marR="0" lvl="0" indent="0" algn="l" defTabSz="914400" rtl="0" eaLnBrk="1" fontAlgn="base" latinLnBrk="0" hangingPunct="1">
              <a:lnSpc>
                <a:spcPts val="4100"/>
              </a:lnSpc>
              <a:spcBef>
                <a:spcPct val="0"/>
              </a:spcBef>
              <a:spcAft>
                <a:spcPct val="0"/>
              </a:spcAft>
              <a:buClr>
                <a:schemeClr val="folHlink"/>
              </a:buClr>
              <a:buSzPct val="65000"/>
              <a:buFont typeface="Wingdings" panose="05000000000000000000" pitchFamily="2" charset="2"/>
              <a:buChar char="l"/>
              <a:defRPr/>
            </a:pPr>
            <a:r>
              <a:rPr kumimoji="0" lang="en-US" altLang="zh-CN" sz="24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 </a:t>
            </a:r>
            <a:r>
              <a:rPr kumimoji="0" lang="zh-CN" altLang="en-US" sz="24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大信噪比</a:t>
            </a:r>
            <a:r>
              <a:rPr kumimoji="0" lang="en-US" altLang="zh-CN" sz="24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a:t>
            </a:r>
            <a:r>
              <a:rPr kumimoji="0" lang="en-US" altLang="zh-CN" sz="2800" b="1"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华文楷体" panose="02010600040101010101" charset="-122"/>
              </a:rPr>
              <a:t>r </a:t>
            </a:r>
            <a:r>
              <a:rPr kumimoji="0" lang="en-US" altLang="zh-CN" sz="2400" b="1"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华文楷体" panose="02010600040101010101" charset="-122"/>
              </a:rPr>
              <a:t>&gt;&gt;1</a:t>
            </a:r>
            <a:r>
              <a:rPr kumimoji="0" lang="en-US" altLang="zh-CN" sz="24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a:t>
            </a:r>
            <a:r>
              <a:rPr kumimoji="0" lang="zh-CN" altLang="en-US" sz="24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时</a:t>
            </a:r>
            <a:r>
              <a:rPr kumimoji="0" lang="en-US" altLang="zh-CN" sz="24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  </a:t>
            </a:r>
            <a:r>
              <a:rPr kumimoji="0" lang="zh-CN" altLang="en-US" sz="24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rPr>
              <a:t>两者性能相差不大。</a:t>
            </a:r>
            <a:endParaRPr kumimoji="0" lang="zh-CN" altLang="en-US" sz="2400" b="1" i="0" u="none" strike="noStrike" kern="1200" cap="none" spc="0" normalizeH="0" baseline="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endParaRPr>
          </a:p>
        </p:txBody>
      </p:sp>
      <p:sp>
        <p:nvSpPr>
          <p:cNvPr id="546819" name="Rectangle 3"/>
          <p:cNvSpPr>
            <a:spLocks noGrp="1"/>
          </p:cNvSpPr>
          <p:nvPr>
            <p:ph idx="1"/>
            <p:custDataLst>
              <p:tags r:id="rId15"/>
            </p:custDataLst>
          </p:nvPr>
        </p:nvSpPr>
        <p:spPr>
          <a:xfrm>
            <a:off x="1275715" y="5335270"/>
            <a:ext cx="9544685" cy="1431290"/>
          </a:xfrm>
          <a:noFill/>
          <a:ln>
            <a:noFill/>
          </a:ln>
        </p:spPr>
        <p:txBody>
          <a:bodyPr/>
          <a:p>
            <a:pPr eaLnBrk="1" hangingPunct="1">
              <a:lnSpc>
                <a:spcPct val="125000"/>
              </a:lnSpc>
              <a:buSzPct val="50000"/>
              <a:buNone/>
            </a:pPr>
            <a:r>
              <a:rPr lang="en-US" altLang="zh-CN" sz="2800" dirty="0">
                <a:latin typeface="华文楷体" panose="02010600040101010101" charset="-122"/>
                <a:ea typeface="华文楷体" panose="02010600040101010101" charset="-122"/>
                <a:cs typeface="华文楷体" panose="02010600040101010101" charset="-122"/>
              </a:rPr>
              <a:t>   </a:t>
            </a:r>
            <a:r>
              <a:rPr lang="zh-CN" altLang="en-US" sz="2400" b="0" dirty="0">
                <a:latin typeface="华文楷体" panose="02010600040101010101" charset="-122"/>
                <a:ea typeface="华文楷体" panose="02010600040101010101" charset="-122"/>
                <a:cs typeface="华文楷体" panose="02010600040101010101" charset="-122"/>
              </a:rPr>
              <a:t>通常，</a:t>
            </a:r>
            <a:r>
              <a:rPr lang="zh-CN" altLang="en-US" sz="2400" dirty="0">
                <a:solidFill>
                  <a:srgbClr val="000099"/>
                </a:solidFill>
                <a:latin typeface="华文楷体" panose="02010600040101010101" charset="-122"/>
                <a:ea typeface="华文楷体" panose="02010600040101010101" charset="-122"/>
                <a:cs typeface="华文楷体" panose="02010600040101010101" charset="-122"/>
              </a:rPr>
              <a:t>非相干</a:t>
            </a:r>
            <a:r>
              <a:rPr lang="zh-CN" altLang="en-US" sz="2400" b="0" dirty="0">
                <a:latin typeface="华文楷体" panose="02010600040101010101" charset="-122"/>
                <a:ea typeface="华文楷体" panose="02010600040101010101" charset="-122"/>
                <a:cs typeface="华文楷体" panose="02010600040101010101" charset="-122"/>
              </a:rPr>
              <a:t>方式 </a:t>
            </a:r>
            <a:r>
              <a:rPr lang="zh-CN" altLang="en-US" sz="2400" b="0" dirty="0">
                <a:solidFill>
                  <a:srgbClr val="FF0000"/>
                </a:solidFill>
                <a:latin typeface="华文楷体" panose="02010600040101010101" charset="-122"/>
                <a:ea typeface="华文楷体" panose="02010600040101010101" charset="-122"/>
                <a:cs typeface="华文楷体" panose="02010600040101010101" charset="-122"/>
              </a:rPr>
              <a:t>比</a:t>
            </a:r>
            <a:r>
              <a:rPr lang="zh-CN" altLang="en-US" sz="2400" b="0" dirty="0">
                <a:solidFill>
                  <a:srgbClr val="800080"/>
                </a:solidFill>
                <a:latin typeface="华文楷体" panose="02010600040101010101" charset="-122"/>
                <a:ea typeface="华文楷体" panose="02010600040101010101" charset="-122"/>
                <a:cs typeface="华文楷体" panose="02010600040101010101" charset="-122"/>
              </a:rPr>
              <a:t> </a:t>
            </a:r>
            <a:r>
              <a:rPr lang="zh-CN" altLang="en-US" sz="2400" dirty="0">
                <a:solidFill>
                  <a:srgbClr val="000099"/>
                </a:solidFill>
                <a:latin typeface="华文楷体" panose="02010600040101010101" charset="-122"/>
                <a:ea typeface="华文楷体" panose="02010600040101010101" charset="-122"/>
                <a:cs typeface="华文楷体" panose="02010600040101010101" charset="-122"/>
              </a:rPr>
              <a:t>相干</a:t>
            </a:r>
            <a:r>
              <a:rPr lang="zh-CN" altLang="en-US" sz="2400" b="0" dirty="0">
                <a:latin typeface="华文楷体" panose="02010600040101010101" charset="-122"/>
                <a:ea typeface="华文楷体" panose="02010600040101010101" charset="-122"/>
                <a:cs typeface="华文楷体" panose="02010600040101010101" charset="-122"/>
              </a:rPr>
              <a:t>方式</a:t>
            </a:r>
            <a:r>
              <a:rPr lang="zh-CN" altLang="en-US" sz="2400" b="0" dirty="0">
                <a:solidFill>
                  <a:srgbClr val="FF0000"/>
                </a:solidFill>
                <a:latin typeface="华文楷体" panose="02010600040101010101" charset="-122"/>
                <a:ea typeface="华文楷体" panose="02010600040101010101" charset="-122"/>
                <a:cs typeface="华文楷体" panose="02010600040101010101" charset="-122"/>
              </a:rPr>
              <a:t>简单</a:t>
            </a:r>
            <a:r>
              <a:rPr lang="zh-CN" altLang="en-US" sz="2400" b="0" dirty="0">
                <a:latin typeface="华文楷体" panose="02010600040101010101" charset="-122"/>
                <a:ea typeface="华文楷体" panose="02010600040101010101" charset="-122"/>
                <a:cs typeface="华文楷体" panose="02010600040101010101" charset="-122"/>
              </a:rPr>
              <a:t>。这是因为相干解调需要提取相干载波，故设备相对复杂些，成本也略高。</a:t>
            </a:r>
            <a:endParaRPr lang="zh-CN" altLang="en-US" sz="2400" b="0" dirty="0">
              <a:latin typeface="华文楷体" panose="02010600040101010101" charset="-122"/>
              <a:ea typeface="华文楷体" panose="02010600040101010101" charset="-122"/>
              <a:cs typeface="华文楷体" panose="02010600040101010101" charset="-122"/>
            </a:endParaRPr>
          </a:p>
          <a:p>
            <a:pPr eaLnBrk="1" hangingPunct="1">
              <a:buNone/>
            </a:pPr>
            <a:endParaRPr lang="zh-CN" altLang="en-US" sz="2400" b="0" dirty="0">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4295775" y="189230"/>
            <a:ext cx="3429635" cy="675640"/>
          </a:xfrm>
        </p:spPr>
        <p:txBody>
          <a:bodyPr/>
          <a:p>
            <a:pPr marL="571500" indent="-571500" algn="just">
              <a:buFont typeface="Arial" panose="020B0604020202090204" pitchFamily="34" charset="0"/>
              <a:buChar char="•"/>
            </a:pPr>
            <a:r>
              <a:rPr lang="zh-CN" sz="2800" b="1" dirty="0">
                <a:latin typeface="华文楷体" panose="02010600040101010101" charset="-122"/>
                <a:ea typeface="华文楷体" panose="02010600040101010101" charset="-122"/>
                <a:cs typeface="Times New Roman" panose="02020603050405020304" pitchFamily="18" charset="0"/>
                <a:sym typeface="+mn-ea"/>
              </a:rPr>
              <a:t>多</a:t>
            </a:r>
            <a:r>
              <a:rPr sz="2800" b="1" dirty="0">
                <a:latin typeface="华文楷体" panose="02010600040101010101" charset="-122"/>
                <a:ea typeface="华文楷体" panose="02010600040101010101" charset="-122"/>
                <a:cs typeface="Times New Roman" panose="02020603050405020304" pitchFamily="18" charset="0"/>
                <a:sym typeface="+mn-ea"/>
              </a:rPr>
              <a:t>进制数字调制</a:t>
            </a:r>
            <a:endParaRPr lang="zh-CN" altLang="en-US" sz="2800" b="1" dirty="0">
              <a:latin typeface="华文楷体" panose="02010600040101010101" charset="-122"/>
              <a:ea typeface="华文楷体" panose="02010600040101010101" charset="-122"/>
              <a:cs typeface="Times New Roman" panose="02020603050405020304" pitchFamily="18" charset="0"/>
              <a:sym typeface="+mn-ea"/>
            </a:endParaRPr>
          </a:p>
        </p:txBody>
      </p:sp>
      <p:graphicFrame>
        <p:nvGraphicFramePr>
          <p:cNvPr id="33811" name="Object 19"/>
          <p:cNvGraphicFramePr>
            <a:graphicFrameLocks noChangeAspect="1"/>
          </p:cNvGraphicFramePr>
          <p:nvPr>
            <p:custDataLst>
              <p:tags r:id="rId3"/>
            </p:custDataLst>
          </p:nvPr>
        </p:nvGraphicFramePr>
        <p:xfrm>
          <a:off x="1415415" y="908685"/>
          <a:ext cx="2384425" cy="565150"/>
        </p:xfrm>
        <a:graphic>
          <a:graphicData uri="http://schemas.openxmlformats.org/presentationml/2006/ole">
            <mc:AlternateContent xmlns:mc="http://schemas.openxmlformats.org/markup-compatibility/2006">
              <mc:Choice xmlns:v="urn:schemas-microsoft-com:vml" Requires="v">
                <p:oleObj spid="_x0000_s3196" name="" r:id="rId4" imgW="965200" imgH="228600" progId="Equation.DSMT4">
                  <p:embed/>
                </p:oleObj>
              </mc:Choice>
              <mc:Fallback>
                <p:oleObj name="" r:id="rId4" imgW="965200" imgH="228600" progId="Equation.DSMT4">
                  <p:embed/>
                  <p:pic>
                    <p:nvPicPr>
                      <p:cNvPr id="0" name="图片 3195"/>
                      <p:cNvPicPr/>
                      <p:nvPr/>
                    </p:nvPicPr>
                    <p:blipFill>
                      <a:blip r:embed="rId5"/>
                      <a:stretch>
                        <a:fillRect/>
                      </a:stretch>
                    </p:blipFill>
                    <p:spPr>
                      <a:xfrm>
                        <a:off x="1415415" y="908685"/>
                        <a:ext cx="2384425" cy="565150"/>
                      </a:xfrm>
                      <a:prstGeom prst="rect">
                        <a:avLst/>
                      </a:prstGeom>
                      <a:noFill/>
                      <a:ln w="38100" cap="flat" cmpd="dbl">
                        <a:solidFill>
                          <a:srgbClr val="9999FF"/>
                        </a:solidFill>
                        <a:prstDash val="solid"/>
                        <a:miter/>
                        <a:headEnd type="none" w="med" len="med"/>
                        <a:tailEnd type="none" w="med" len="med"/>
                      </a:ln>
                    </p:spPr>
                  </p:pic>
                </p:oleObj>
              </mc:Fallback>
            </mc:AlternateContent>
          </a:graphicData>
        </a:graphic>
      </p:graphicFrame>
      <p:pic>
        <p:nvPicPr>
          <p:cNvPr id="59398" name="Picture 6" descr="0722"/>
          <p:cNvPicPr>
            <a:picLocks noChangeAspect="1"/>
          </p:cNvPicPr>
          <p:nvPr>
            <p:custDataLst>
              <p:tags r:id="rId6"/>
            </p:custDataLst>
          </p:nvPr>
        </p:nvPicPr>
        <p:blipFill>
          <a:blip r:embed="rId7"/>
          <a:stretch>
            <a:fillRect/>
          </a:stretch>
        </p:blipFill>
        <p:spPr>
          <a:xfrm>
            <a:off x="1343660" y="1628775"/>
            <a:ext cx="4463415" cy="1254760"/>
          </a:xfrm>
          <a:prstGeom prst="rect">
            <a:avLst/>
          </a:prstGeom>
          <a:solidFill>
            <a:schemeClr val="bg1"/>
          </a:solidFill>
          <a:ln w="9525">
            <a:noFill/>
          </a:ln>
        </p:spPr>
      </p:pic>
      <p:sp>
        <p:nvSpPr>
          <p:cNvPr id="4" name="文本框 3"/>
          <p:cNvSpPr txBox="1"/>
          <p:nvPr>
            <p:custDataLst>
              <p:tags r:id="rId8"/>
            </p:custDataLst>
          </p:nvPr>
        </p:nvSpPr>
        <p:spPr>
          <a:xfrm>
            <a:off x="227330" y="2048510"/>
            <a:ext cx="1159510" cy="4324350"/>
          </a:xfrm>
          <a:prstGeom prst="rect">
            <a:avLst/>
          </a:prstGeom>
          <a:noFill/>
        </p:spPr>
        <p:txBody>
          <a:bodyPr wrap="square" rtlCol="0">
            <a:noAutofit/>
          </a:bodyPr>
          <a:p>
            <a:r>
              <a:rPr lang="en-US" altLang="zh-CN"/>
              <a:t>4ASK</a:t>
            </a:r>
            <a:endParaRPr lang="en-US" altLang="zh-CN"/>
          </a:p>
          <a:p>
            <a:endParaRPr lang="en-US" altLang="zh-CN"/>
          </a:p>
          <a:p>
            <a:endParaRPr lang="en-US" altLang="zh-CN"/>
          </a:p>
          <a:p>
            <a:endParaRPr lang="en-US" altLang="zh-CN"/>
          </a:p>
          <a:p>
            <a:r>
              <a:rPr lang="en-US" altLang="zh-CN"/>
              <a:t>4FSK</a:t>
            </a:r>
            <a:endParaRPr lang="en-US" altLang="zh-CN"/>
          </a:p>
          <a:p>
            <a:endParaRPr lang="en-US" altLang="zh-CN"/>
          </a:p>
          <a:p>
            <a:endParaRPr lang="en-US" altLang="zh-CN"/>
          </a:p>
          <a:p>
            <a:endParaRPr lang="en-US" altLang="zh-CN"/>
          </a:p>
          <a:p>
            <a:r>
              <a:rPr lang="en-US" altLang="zh-CN"/>
              <a:t>4PSK</a:t>
            </a:r>
            <a:endParaRPr lang="en-US" altLang="zh-CN"/>
          </a:p>
          <a:p>
            <a:endParaRPr lang="en-US" altLang="zh-CN"/>
          </a:p>
          <a:p>
            <a:endParaRPr lang="en-US" altLang="zh-CN"/>
          </a:p>
          <a:p>
            <a:endParaRPr lang="en-US" altLang="zh-CN"/>
          </a:p>
          <a:p>
            <a:r>
              <a:rPr lang="en-US" altLang="zh-CN"/>
              <a:t>4DPSK</a:t>
            </a:r>
            <a:endParaRPr lang="en-US" altLang="zh-CN"/>
          </a:p>
        </p:txBody>
      </p:sp>
      <p:pic>
        <p:nvPicPr>
          <p:cNvPr id="61443" name="Picture 3" descr="0723"/>
          <p:cNvPicPr>
            <a:picLocks noChangeAspect="1"/>
          </p:cNvPicPr>
          <p:nvPr>
            <p:custDataLst>
              <p:tags r:id="rId9"/>
            </p:custDataLst>
          </p:nvPr>
        </p:nvPicPr>
        <p:blipFill>
          <a:blip r:embed="rId10"/>
          <a:stretch>
            <a:fillRect/>
          </a:stretch>
        </p:blipFill>
        <p:spPr>
          <a:xfrm>
            <a:off x="1055370" y="2853055"/>
            <a:ext cx="4907280" cy="1146175"/>
          </a:xfrm>
          <a:prstGeom prst="rect">
            <a:avLst/>
          </a:prstGeom>
          <a:noFill/>
          <a:ln w="9525">
            <a:noFill/>
          </a:ln>
        </p:spPr>
      </p:pic>
      <p:pic>
        <p:nvPicPr>
          <p:cNvPr id="76808" name="Picture 8"/>
          <p:cNvPicPr>
            <a:picLocks noChangeAspect="1"/>
          </p:cNvPicPr>
          <p:nvPr>
            <p:custDataLst>
              <p:tags r:id="rId11"/>
            </p:custDataLst>
          </p:nvPr>
        </p:nvPicPr>
        <p:blipFill>
          <a:blip r:embed="rId12"/>
          <a:srcRect l="52003" t="7277" r="9943" b="5634"/>
          <a:stretch>
            <a:fillRect/>
          </a:stretch>
        </p:blipFill>
        <p:spPr>
          <a:xfrm>
            <a:off x="3476625" y="4104640"/>
            <a:ext cx="2289810" cy="2129155"/>
          </a:xfrm>
          <a:prstGeom prst="rect">
            <a:avLst/>
          </a:prstGeom>
          <a:noFill/>
          <a:ln w="9525">
            <a:noFill/>
          </a:ln>
        </p:spPr>
      </p:pic>
      <p:pic>
        <p:nvPicPr>
          <p:cNvPr id="6" name="Picture 8"/>
          <p:cNvPicPr>
            <a:picLocks noChangeAspect="1"/>
          </p:cNvPicPr>
          <p:nvPr>
            <p:custDataLst>
              <p:tags r:id="rId13"/>
            </p:custDataLst>
          </p:nvPr>
        </p:nvPicPr>
        <p:blipFill>
          <a:blip r:embed="rId12"/>
          <a:srcRect l="4672" t="6573" r="57941" b="6339"/>
          <a:stretch>
            <a:fillRect/>
          </a:stretch>
        </p:blipFill>
        <p:spPr>
          <a:xfrm>
            <a:off x="1243330" y="4149090"/>
            <a:ext cx="2249170" cy="2129155"/>
          </a:xfrm>
          <a:prstGeom prst="rect">
            <a:avLst/>
          </a:prstGeom>
          <a:noFill/>
          <a:ln w="9525">
            <a:noFill/>
          </a:ln>
        </p:spPr>
      </p:pic>
      <p:pic>
        <p:nvPicPr>
          <p:cNvPr id="88079" name="Picture 15"/>
          <p:cNvPicPr>
            <a:picLocks noChangeAspect="1"/>
          </p:cNvPicPr>
          <p:nvPr>
            <p:custDataLst>
              <p:tags r:id="rId14"/>
            </p:custDataLst>
          </p:nvPr>
        </p:nvPicPr>
        <p:blipFill>
          <a:blip r:embed="rId15"/>
          <a:srcRect t="72549"/>
          <a:stretch>
            <a:fillRect/>
          </a:stretch>
        </p:blipFill>
        <p:spPr>
          <a:xfrm>
            <a:off x="6096000" y="3933190"/>
            <a:ext cx="5745480" cy="965200"/>
          </a:xfrm>
          <a:prstGeom prst="rect">
            <a:avLst/>
          </a:prstGeom>
          <a:noFill/>
          <a:ln w="9525">
            <a:noFill/>
          </a:ln>
        </p:spPr>
      </p:pic>
      <p:pic>
        <p:nvPicPr>
          <p:cNvPr id="17" name="Picture 15"/>
          <p:cNvPicPr>
            <a:picLocks noChangeAspect="1"/>
          </p:cNvPicPr>
          <p:nvPr>
            <p:custDataLst>
              <p:tags r:id="rId16"/>
            </p:custDataLst>
          </p:nvPr>
        </p:nvPicPr>
        <p:blipFill>
          <a:blip r:embed="rId15"/>
          <a:srcRect b="70589"/>
          <a:stretch>
            <a:fillRect/>
          </a:stretch>
        </p:blipFill>
        <p:spPr>
          <a:xfrm>
            <a:off x="6379210" y="4941570"/>
            <a:ext cx="5462270" cy="982980"/>
          </a:xfrm>
          <a:prstGeom prst="rect">
            <a:avLst/>
          </a:prstGeom>
          <a:noFill/>
          <a:ln w="9525">
            <a:noFill/>
          </a:ln>
        </p:spPr>
      </p:pic>
      <p:sp>
        <p:nvSpPr>
          <p:cNvPr id="7" name="文本框 6"/>
          <p:cNvSpPr txBox="1"/>
          <p:nvPr/>
        </p:nvSpPr>
        <p:spPr>
          <a:xfrm>
            <a:off x="8688070" y="6094730"/>
            <a:ext cx="1098550" cy="325755"/>
          </a:xfrm>
          <a:prstGeom prst="rect">
            <a:avLst/>
          </a:prstGeom>
          <a:noFill/>
        </p:spPr>
        <p:txBody>
          <a:bodyPr wrap="square" rtlCol="0" anchor="t">
            <a:noAutofit/>
          </a:bodyPr>
          <a:p>
            <a:r>
              <a:rPr lang="en-US" altLang="zh-CN">
                <a:sym typeface="+mn-ea"/>
              </a:rPr>
              <a:t>A</a:t>
            </a:r>
            <a:r>
              <a:rPr lang="zh-CN" altLang="en-US">
                <a:sym typeface="+mn-ea"/>
              </a:rPr>
              <a:t>方式</a:t>
            </a:r>
            <a:endParaRPr lang="zh-CN" altLang="en-US">
              <a:sym typeface="+mn-ea"/>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5" name="图片 4"/>
          <p:cNvPicPr>
            <a:picLocks noChangeAspect="1"/>
          </p:cNvPicPr>
          <p:nvPr>
            <p:custDataLst>
              <p:tags r:id="rId2"/>
            </p:custDataLst>
          </p:nvPr>
        </p:nvPicPr>
        <p:blipFill>
          <a:blip r:embed="rId3"/>
          <a:stretch>
            <a:fillRect/>
          </a:stretch>
        </p:blipFill>
        <p:spPr>
          <a:xfrm>
            <a:off x="2639695" y="908685"/>
            <a:ext cx="7372350" cy="5414010"/>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a:xfrm>
            <a:off x="695325" y="678815"/>
            <a:ext cx="3429635" cy="675640"/>
          </a:xfrm>
        </p:spPr>
        <p:txBody>
          <a:bodyPr/>
          <a:p>
            <a:pPr marL="571500" indent="-571500" algn="just">
              <a:buFont typeface="Arial" panose="020B0604020202090204" pitchFamily="34" charset="0"/>
              <a:buChar char="•"/>
            </a:pPr>
            <a:r>
              <a:rPr lang="zh-CN" altLang="en-US" sz="2800" dirty="0">
                <a:latin typeface="华文楷体" panose="02010600040101010101" charset="-122"/>
                <a:ea typeface="华文楷体" panose="02010600040101010101" charset="-122"/>
                <a:cs typeface="Times New Roman" panose="02020603050405020304" pitchFamily="18" charset="0"/>
                <a:sym typeface="+mn-ea"/>
              </a:rPr>
              <a:t>匹配滤波器</a:t>
            </a:r>
            <a:endParaRPr lang="zh-CN" altLang="en-US" sz="2800" dirty="0">
              <a:latin typeface="华文楷体" panose="02010600040101010101" charset="-122"/>
              <a:ea typeface="华文楷体" panose="02010600040101010101" charset="-122"/>
              <a:cs typeface="Times New Roman" panose="02020603050405020304" pitchFamily="18" charset="0"/>
              <a:sym typeface="+mn-ea"/>
            </a:endParaRPr>
          </a:p>
        </p:txBody>
      </p:sp>
      <p:pic>
        <p:nvPicPr>
          <p:cNvPr id="62467" name="Object 4"/>
          <p:cNvPicPr>
            <a:picLocks noChangeAspect="1"/>
          </p:cNvPicPr>
          <p:nvPr>
            <p:custDataLst>
              <p:tags r:id="rId3"/>
            </p:custDataLst>
          </p:nvPr>
        </p:nvPicPr>
        <p:blipFill>
          <a:blip r:embed="rId4"/>
          <a:stretch>
            <a:fillRect/>
          </a:stretch>
        </p:blipFill>
        <p:spPr>
          <a:xfrm>
            <a:off x="2491740" y="2200593"/>
            <a:ext cx="4103688" cy="2065337"/>
          </a:xfrm>
          <a:prstGeom prst="rect">
            <a:avLst/>
          </a:prstGeom>
          <a:noFill/>
          <a:ln w="9525">
            <a:noFill/>
          </a:ln>
        </p:spPr>
      </p:pic>
      <p:pic>
        <p:nvPicPr>
          <p:cNvPr id="62468" name="Object 5"/>
          <p:cNvPicPr>
            <a:picLocks noChangeAspect="1"/>
          </p:cNvPicPr>
          <p:nvPr>
            <p:custDataLst>
              <p:tags r:id="rId5"/>
            </p:custDataLst>
          </p:nvPr>
        </p:nvPicPr>
        <p:blipFill>
          <a:blip r:embed="rId6"/>
          <a:stretch>
            <a:fillRect/>
          </a:stretch>
        </p:blipFill>
        <p:spPr>
          <a:xfrm>
            <a:off x="3121978" y="4029393"/>
            <a:ext cx="3941762" cy="2166937"/>
          </a:xfrm>
          <a:prstGeom prst="rect">
            <a:avLst/>
          </a:prstGeom>
          <a:noFill/>
          <a:ln w="9525">
            <a:noFill/>
          </a:ln>
        </p:spPr>
      </p:pic>
      <p:sp>
        <p:nvSpPr>
          <p:cNvPr id="62469" name="Text Box 6"/>
          <p:cNvSpPr/>
          <p:nvPr>
            <p:custDataLst>
              <p:tags r:id="rId7"/>
            </p:custDataLst>
          </p:nvPr>
        </p:nvSpPr>
        <p:spPr>
          <a:xfrm>
            <a:off x="7113905" y="2517775"/>
            <a:ext cx="2438400" cy="583565"/>
          </a:xfrm>
          <a:prstGeom prst="rect">
            <a:avLst/>
          </a:prstGeom>
          <a:noFill/>
          <a:ln w="9525">
            <a:noFill/>
          </a:ln>
        </p:spPr>
        <p:txBody>
          <a:bodyPr>
            <a:spAutoFit/>
          </a:bodyPr>
          <a:p>
            <a:pPr>
              <a:spcBef>
                <a:spcPct val="50000"/>
              </a:spcBef>
            </a:pPr>
            <a:r>
              <a:rPr lang="en-US" altLang="zh-CN" sz="2800" b="1" i="1" dirty="0">
                <a:solidFill>
                  <a:srgbClr val="0000CC"/>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t</a:t>
            </a:r>
            <a:r>
              <a:rPr lang="en-US" altLang="zh-CN" sz="2800" b="1" baseline="-25000" dirty="0">
                <a:solidFill>
                  <a:srgbClr val="0000CC"/>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0 </a:t>
            </a:r>
            <a:r>
              <a:rPr lang="en-US" altLang="zh-CN" sz="2800" b="1" baseline="-25000" dirty="0">
                <a:solidFill>
                  <a:srgbClr val="000099"/>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lang="en-US" altLang="zh-CN" sz="2800" b="1"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lang="en-US" altLang="zh-CN" sz="2400" b="1" i="1" dirty="0">
                <a:solidFill>
                  <a:srgbClr val="0000CC"/>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T</a:t>
            </a:r>
            <a:r>
              <a:rPr lang="en-US" altLang="zh-CN" sz="2400" baseline="-25000"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B</a:t>
            </a:r>
            <a:r>
              <a:rPr lang="en-US" altLang="zh-CN" sz="2400" b="1" dirty="0">
                <a:solidFill>
                  <a:srgbClr val="0000CC"/>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lang="en-US" altLang="zh-CN" sz="2400" b="1" dirty="0">
                <a:solidFill>
                  <a:srgbClr val="00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lang="en-US" altLang="zh-CN" sz="3200" b="1" dirty="0">
                <a:solidFill>
                  <a:srgbClr val="00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endParaRPr lang="en-US" altLang="zh-CN" sz="3200" b="1" dirty="0">
              <a:solidFill>
                <a:srgbClr val="FF33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endParaRPr>
          </a:p>
        </p:txBody>
      </p:sp>
      <p:sp>
        <p:nvSpPr>
          <p:cNvPr id="62470" name="Rectangle 7"/>
          <p:cNvSpPr/>
          <p:nvPr>
            <p:custDataLst>
              <p:tags r:id="rId8"/>
            </p:custDataLst>
          </p:nvPr>
        </p:nvSpPr>
        <p:spPr>
          <a:xfrm>
            <a:off x="7113905" y="3203575"/>
            <a:ext cx="2438400" cy="523875"/>
          </a:xfrm>
          <a:prstGeom prst="rect">
            <a:avLst/>
          </a:prstGeom>
          <a:noFill/>
          <a:ln w="9525">
            <a:noFill/>
          </a:ln>
        </p:spPr>
        <p:txBody>
          <a:bodyPr>
            <a:spAutoFit/>
          </a:bodyPr>
          <a:p>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通常取  </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 </a:t>
            </a:r>
            <a:r>
              <a:rPr lang="en-US" altLang="zh-CN" sz="2800" b="1" i="1" dirty="0">
                <a:solidFill>
                  <a:srgbClr val="0000CC"/>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t</a:t>
            </a:r>
            <a:r>
              <a:rPr lang="en-US" altLang="zh-CN" sz="2800" b="1" baseline="-25000" dirty="0">
                <a:solidFill>
                  <a:srgbClr val="0000CC"/>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0</a:t>
            </a:r>
            <a:r>
              <a:rPr lang="en-US" altLang="zh-CN" sz="2800" b="1" baseline="-25000"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 </a:t>
            </a:r>
            <a:r>
              <a:rPr lang="en-US" altLang="zh-CN" sz="2800" b="1" dirty="0">
                <a:solidFill>
                  <a:srgbClr val="FF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a:t>
            </a:r>
            <a:r>
              <a:rPr lang="en-US" altLang="zh-CN" sz="2400" b="1" i="1" dirty="0">
                <a:solidFill>
                  <a:srgbClr val="0000CC"/>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T</a:t>
            </a:r>
            <a:r>
              <a:rPr lang="en-US" altLang="zh-CN" sz="2400" baseline="-25000" dirty="0">
                <a:solidFill>
                  <a:srgbClr val="0000CC"/>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B</a:t>
            </a:r>
            <a:endParaRPr lang="en-US" altLang="zh-CN" sz="2400" b="1" dirty="0">
              <a:solidFill>
                <a:srgbClr val="0000CC"/>
              </a:solidFill>
              <a:latin typeface="华文楷体" panose="02010600040101010101" charset="-122"/>
              <a:ea typeface="华文楷体" panose="02010600040101010101" charset="-122"/>
              <a:cs typeface="华文楷体" panose="02010600040101010101" charset="-122"/>
              <a:sym typeface="Tahoma" panose="020B0604030504040204" pitchFamily="34" charset="0"/>
            </a:endParaRPr>
          </a:p>
        </p:txBody>
      </p:sp>
      <p:pic>
        <p:nvPicPr>
          <p:cNvPr id="62471" name="Object 8"/>
          <p:cNvPicPr>
            <a:picLocks noChangeAspect="1"/>
          </p:cNvPicPr>
          <p:nvPr>
            <p:custDataLst>
              <p:tags r:id="rId9"/>
            </p:custDataLst>
          </p:nvPr>
        </p:nvPicPr>
        <p:blipFill>
          <a:blip r:embed="rId10"/>
          <a:stretch>
            <a:fillRect/>
          </a:stretch>
        </p:blipFill>
        <p:spPr>
          <a:xfrm>
            <a:off x="4335145" y="1485265"/>
            <a:ext cx="4089400" cy="584200"/>
          </a:xfrm>
          <a:prstGeom prst="rect">
            <a:avLst/>
          </a:prstGeom>
          <a:noFill/>
          <a:ln w="38100" cap="flat" cmpd="sng">
            <a:solidFill>
              <a:srgbClr val="6666FF"/>
            </a:solidFill>
            <a:prstDash val="solid"/>
            <a:miter/>
            <a:headEnd type="none" w="med" len="med"/>
            <a:tailEnd type="none" w="med" len="med"/>
          </a:ln>
        </p:spPr>
      </p:pic>
      <p:sp>
        <p:nvSpPr>
          <p:cNvPr id="62473" name="Rectangle 12"/>
          <p:cNvSpPr/>
          <p:nvPr>
            <p:custDataLst>
              <p:tags r:id="rId11"/>
            </p:custDataLst>
          </p:nvPr>
        </p:nvSpPr>
        <p:spPr>
          <a:xfrm>
            <a:off x="9551988" y="1520825"/>
            <a:ext cx="1643062" cy="523875"/>
          </a:xfrm>
          <a:prstGeom prst="rect">
            <a:avLst/>
          </a:prstGeom>
          <a:noFill/>
          <a:ln w="9525">
            <a:noFill/>
          </a:ln>
        </p:spPr>
        <p:txBody>
          <a:bodyPr wrap="none">
            <a:spAutoFit/>
          </a:bodyPr>
          <a:p>
            <a:pPr eaLnBrk="0" hangingPunct="0"/>
            <a:r>
              <a:rPr lang="en-US" altLang="zh-CN" sz="2800" dirty="0">
                <a:solidFill>
                  <a:srgbClr val="000000"/>
                </a:solidFill>
                <a:latin typeface="华文楷体" panose="02010600040101010101" charset="-122"/>
                <a:ea typeface="华文楷体" panose="02010600040101010101" charset="-122"/>
                <a:cs typeface="华文楷体" panose="02010600040101010101" charset="-122"/>
                <a:sym typeface="华文新魏" panose="02010800040101010101" pitchFamily="2" charset="-122"/>
              </a:rPr>
              <a:t>  </a:t>
            </a: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镜像</a:t>
            </a:r>
            <a:r>
              <a:rPr lang="zh-CN" altLang="en-US" sz="2000" dirty="0">
                <a:solidFill>
                  <a:srgbClr val="0033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及</a:t>
            </a:r>
            <a:r>
              <a:rPr lang="zh-CN" altLang="en-US" sz="2000" b="1" dirty="0">
                <a:solidFill>
                  <a:srgbClr val="0033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右移</a:t>
            </a:r>
            <a:endParaRPr lang="zh-CN" altLang="en-US" dirty="0">
              <a:latin typeface="华文楷体" panose="02010600040101010101" charset="-122"/>
              <a:ea typeface="华文楷体" panose="02010600040101010101" charset="-122"/>
              <a:cs typeface="华文楷体" panose="02010600040101010101" charset="-122"/>
            </a:endParaRPr>
          </a:p>
        </p:txBody>
      </p:sp>
      <p:pic>
        <p:nvPicPr>
          <p:cNvPr id="62475" name="Object 20"/>
          <p:cNvPicPr>
            <a:picLocks noChangeAspect="1"/>
          </p:cNvPicPr>
          <p:nvPr>
            <p:custDataLst>
              <p:tags r:id="rId12"/>
            </p:custDataLst>
          </p:nvPr>
        </p:nvPicPr>
        <p:blipFill>
          <a:blip r:embed="rId13"/>
          <a:stretch>
            <a:fillRect/>
          </a:stretch>
        </p:blipFill>
        <p:spPr>
          <a:xfrm>
            <a:off x="3939540" y="4612005"/>
            <a:ext cx="1576388" cy="1017588"/>
          </a:xfrm>
          <a:prstGeom prst="rect">
            <a:avLst/>
          </a:prstGeom>
          <a:solidFill>
            <a:srgbClr val="00CC99"/>
          </a:solidFill>
          <a:ln w="9525" cap="flat" cmpd="sng">
            <a:solidFill>
              <a:srgbClr val="000000"/>
            </a:solidFill>
            <a:prstDash val="solid"/>
            <a:miter/>
            <a:headEnd type="none" w="med" len="med"/>
            <a:tailEnd type="none" w="med" len="med"/>
          </a:ln>
        </p:spPr>
      </p:pic>
      <p:sp>
        <p:nvSpPr>
          <p:cNvPr id="62477" name="矩形 15"/>
          <p:cNvSpPr/>
          <p:nvPr>
            <p:custDataLst>
              <p:tags r:id="rId14"/>
            </p:custDataLst>
          </p:nvPr>
        </p:nvSpPr>
        <p:spPr>
          <a:xfrm>
            <a:off x="3115628" y="2775268"/>
            <a:ext cx="1219200" cy="914400"/>
          </a:xfrm>
          <a:prstGeom prst="rect">
            <a:avLst/>
          </a:prstGeom>
          <a:solidFill>
            <a:srgbClr val="FFFFFF"/>
          </a:solidFill>
          <a:ln w="9525">
            <a:noFill/>
          </a:ln>
        </p:spPr>
        <p:txBody>
          <a:bodyPr>
            <a:spAutoFit/>
          </a:bodyPr>
          <a:p>
            <a:pPr eaLnBrk="0" hangingPunct="0"/>
            <a:endParaRPr>
              <a:solidFill>
                <a:srgbClr val="000000"/>
              </a:solidFill>
              <a:latin typeface="华文楷体" panose="02010600040101010101" charset="-122"/>
              <a:ea typeface="华文楷体" panose="02010600040101010101" charset="-122"/>
              <a:sym typeface="Times New Roman" panose="02020603050405020304" pitchFamily="18" charset="0"/>
            </a:endParaRPr>
          </a:p>
        </p:txBody>
      </p:sp>
      <p:sp>
        <p:nvSpPr>
          <p:cNvPr id="62478" name="Rectangle 7"/>
          <p:cNvSpPr/>
          <p:nvPr>
            <p:custDataLst>
              <p:tags r:id="rId15"/>
            </p:custDataLst>
          </p:nvPr>
        </p:nvSpPr>
        <p:spPr>
          <a:xfrm>
            <a:off x="7113905" y="3889375"/>
            <a:ext cx="3124200" cy="461963"/>
          </a:xfrm>
          <a:prstGeom prst="rect">
            <a:avLst/>
          </a:prstGeom>
          <a:noFill/>
          <a:ln w="9525">
            <a:noFill/>
          </a:ln>
        </p:spPr>
        <p:txBody>
          <a:bodyPr>
            <a:spAutoFit/>
          </a:bodyPr>
          <a:p>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这时 </a:t>
            </a:r>
            <a:r>
              <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 </a:t>
            </a:r>
            <a:r>
              <a:rPr lang="en-US" altLang="zh-CN" sz="2400" b="1" i="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h</a:t>
            </a:r>
            <a:r>
              <a:rPr lang="en-US" altLang="zh-CN" sz="2400" b="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en-US" altLang="zh-CN" sz="2400" b="1" i="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t</a:t>
            </a:r>
            <a:r>
              <a:rPr lang="zh-CN" altLang="en-US" sz="2400" b="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en-US" altLang="zh-CN" sz="2400" b="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en-US" altLang="zh-CN" sz="2400" b="1" i="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 s</a:t>
            </a:r>
            <a:r>
              <a:rPr lang="en-US" altLang="zh-CN" sz="2400" b="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en-US" altLang="zh-CN" sz="2400" b="1" i="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T</a:t>
            </a:r>
            <a:r>
              <a:rPr lang="en-US" altLang="zh-CN" sz="2400" b="1" baseline="-25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B</a:t>
            </a:r>
            <a:r>
              <a:rPr lang="en-US" altLang="zh-CN" sz="2400" b="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-t)</a:t>
            </a:r>
            <a:endParaRPr lang="zh-CN" altLang="en-US" dirty="0">
              <a:latin typeface="华文楷体" panose="02010600040101010101" charset="-122"/>
              <a:ea typeface="华文楷体" panose="02010600040101010101" charset="-122"/>
              <a:cs typeface="华文楷体" panose="02010600040101010101" charset="-122"/>
            </a:endParaRPr>
          </a:p>
        </p:txBody>
      </p:sp>
      <p:pic>
        <p:nvPicPr>
          <p:cNvPr id="60422" name="Object 17"/>
          <p:cNvPicPr>
            <a:picLocks noChangeAspect="1"/>
          </p:cNvPicPr>
          <p:nvPr>
            <p:custDataLst>
              <p:tags r:id="rId16"/>
            </p:custDataLst>
          </p:nvPr>
        </p:nvPicPr>
        <p:blipFill>
          <a:blip r:embed="rId17"/>
          <a:stretch>
            <a:fillRect/>
          </a:stretch>
        </p:blipFill>
        <p:spPr>
          <a:xfrm>
            <a:off x="695325" y="2781300"/>
            <a:ext cx="1562100" cy="914400"/>
          </a:xfrm>
          <a:prstGeom prst="rect">
            <a:avLst/>
          </a:prstGeom>
          <a:noFill/>
          <a:ln w="38100" cap="flat" cmpd="sng">
            <a:solidFill>
              <a:srgbClr val="6666FF"/>
            </a:solidFill>
            <a:prstDash val="solid"/>
            <a:miter/>
            <a:headEnd type="none" w="med" len="med"/>
            <a:tailEnd type="none" w="med" len="med"/>
          </a:ln>
        </p:spPr>
      </p:pic>
      <p:pic>
        <p:nvPicPr>
          <p:cNvPr id="60423" name="Object 18"/>
          <p:cNvPicPr>
            <a:picLocks noChangeAspect="1"/>
          </p:cNvPicPr>
          <p:nvPr>
            <p:custDataLst>
              <p:tags r:id="rId18"/>
            </p:custDataLst>
          </p:nvPr>
        </p:nvPicPr>
        <p:blipFill>
          <a:blip r:embed="rId19"/>
          <a:stretch>
            <a:fillRect/>
          </a:stretch>
        </p:blipFill>
        <p:spPr>
          <a:xfrm>
            <a:off x="319723" y="1522730"/>
            <a:ext cx="3162300" cy="509588"/>
          </a:xfrm>
          <a:prstGeom prst="rect">
            <a:avLst/>
          </a:prstGeom>
          <a:noFill/>
          <a:ln w="38100" cap="flat" cmpd="sng">
            <a:solidFill>
              <a:srgbClr val="969696"/>
            </a:solidFill>
            <a:prstDash val="solid"/>
            <a:miter/>
            <a:headEnd type="none" w="med" len="med"/>
            <a:tailEnd type="none" w="med" len="med"/>
          </a:ln>
        </p:spPr>
      </p:pic>
      <p:sp>
        <p:nvSpPr>
          <p:cNvPr id="4" name="文本框 3"/>
          <p:cNvSpPr txBox="1"/>
          <p:nvPr/>
        </p:nvSpPr>
        <p:spPr>
          <a:xfrm>
            <a:off x="5842000" y="3238500"/>
            <a:ext cx="411480" cy="368300"/>
          </a:xfrm>
          <a:prstGeom prst="rect">
            <a:avLst/>
          </a:prstGeom>
          <a:noFill/>
        </p:spPr>
        <p:txBody>
          <a:bodyPr wrap="none" rtlCol="0" anchor="t">
            <a:spAutoFit/>
          </a:bodyPr>
          <a:p>
            <a:r>
              <a:rPr lang="zh-CN" altLang="en-US">
                <a:cs typeface="Arial" panose="020B0604020202090204" pitchFamily="34" charset="0"/>
              </a:rPr>
              <a:t>→</a:t>
            </a:r>
            <a:endParaRPr lang="zh-CN" altLang="en-US">
              <a:cs typeface="Arial" panose="020B0604020202090204" pitchFamily="34" charset="0"/>
            </a:endParaRPr>
          </a:p>
        </p:txBody>
      </p:sp>
      <p:sp>
        <p:nvSpPr>
          <p:cNvPr id="5" name="右箭头 4"/>
          <p:cNvSpPr/>
          <p:nvPr/>
        </p:nvSpPr>
        <p:spPr>
          <a:xfrm>
            <a:off x="3719830" y="1628775"/>
            <a:ext cx="431800" cy="216535"/>
          </a:xfrm>
          <a:prstGeom prst="rightArrow">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右箭头 5"/>
          <p:cNvSpPr/>
          <p:nvPr>
            <p:custDataLst>
              <p:tags r:id="rId20"/>
            </p:custDataLst>
          </p:nvPr>
        </p:nvSpPr>
        <p:spPr>
          <a:xfrm rot="5400000">
            <a:off x="1307465" y="2298065"/>
            <a:ext cx="431800" cy="216535"/>
          </a:xfrm>
          <a:prstGeom prst="rightArrow">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60427" name="Object 20"/>
          <p:cNvPicPr>
            <a:picLocks noChangeAspect="1"/>
          </p:cNvPicPr>
          <p:nvPr>
            <p:custDataLst>
              <p:tags r:id="rId21"/>
            </p:custDataLst>
          </p:nvPr>
        </p:nvPicPr>
        <p:blipFill>
          <a:blip r:embed="rId22"/>
          <a:stretch>
            <a:fillRect/>
          </a:stretch>
        </p:blipFill>
        <p:spPr>
          <a:xfrm>
            <a:off x="191135" y="6198235"/>
            <a:ext cx="3660775" cy="584200"/>
          </a:xfrm>
          <a:prstGeom prst="rect">
            <a:avLst/>
          </a:prstGeom>
          <a:solidFill>
            <a:srgbClr val="E8E8E8"/>
          </a:solidFill>
          <a:ln w="9525" cap="flat" cmpd="sng">
            <a:solidFill>
              <a:srgbClr val="000000"/>
            </a:solidFill>
            <a:prstDash val="solid"/>
            <a:miter/>
            <a:headEnd type="none" w="med" len="med"/>
            <a:tailEnd type="none" w="med" len="med"/>
          </a:ln>
        </p:spPr>
      </p:pic>
      <p:sp>
        <p:nvSpPr>
          <p:cNvPr id="63497" name="Text Box 22"/>
          <p:cNvSpPr/>
          <p:nvPr>
            <p:custDataLst>
              <p:tags r:id="rId23"/>
            </p:custDataLst>
          </p:nvPr>
        </p:nvSpPr>
        <p:spPr>
          <a:xfrm>
            <a:off x="7896225" y="4629785"/>
            <a:ext cx="1295400" cy="460375"/>
          </a:xfrm>
          <a:prstGeom prst="rect">
            <a:avLst/>
          </a:prstGeom>
          <a:noFill/>
          <a:ln w="9525">
            <a:noFill/>
          </a:ln>
        </p:spPr>
        <p:txBody>
          <a:bodyPr>
            <a:spAutoFit/>
          </a:bodyPr>
          <a:p>
            <a:pPr>
              <a:spcBef>
                <a:spcPct val="50000"/>
              </a:spcBef>
            </a:pPr>
            <a:r>
              <a:rPr lang="en-US" altLang="zh-CN" sz="2400" b="1" i="1" dirty="0">
                <a:solidFill>
                  <a:srgbClr val="00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k</a:t>
            </a:r>
            <a:r>
              <a:rPr lang="en-US" altLang="zh-CN" sz="2400" b="1" dirty="0">
                <a:solidFill>
                  <a:srgbClr val="000000"/>
                </a:solidFill>
                <a:latin typeface="华文楷体" panose="02010600040101010101" charset="-122"/>
                <a:ea typeface="华文楷体" panose="02010600040101010101" charset="-122"/>
                <a:cs typeface="华文楷体" panose="02010600040101010101" charset="-122"/>
                <a:sym typeface="Times New Roman" panose="02020603050405020304" pitchFamily="18" charset="0"/>
              </a:rPr>
              <a:t>=1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时：</a:t>
            </a:r>
            <a:endParaRPr lang="zh-CN" altLang="en-US" dirty="0">
              <a:latin typeface="华文楷体" panose="02010600040101010101" charset="-122"/>
              <a:ea typeface="华文楷体" panose="02010600040101010101" charset="-122"/>
              <a:cs typeface="华文楷体" panose="02010600040101010101" charset="-122"/>
            </a:endParaRPr>
          </a:p>
        </p:txBody>
      </p:sp>
      <p:pic>
        <p:nvPicPr>
          <p:cNvPr id="63498" name="Object 23"/>
          <p:cNvPicPr>
            <a:picLocks noChangeAspect="1"/>
          </p:cNvPicPr>
          <p:nvPr>
            <p:custDataLst>
              <p:tags r:id="rId24"/>
            </p:custDataLst>
          </p:nvPr>
        </p:nvPicPr>
        <p:blipFill>
          <a:blip r:embed="rId25"/>
          <a:stretch>
            <a:fillRect/>
          </a:stretch>
        </p:blipFill>
        <p:spPr>
          <a:xfrm>
            <a:off x="9547225" y="4585335"/>
            <a:ext cx="2199640" cy="523240"/>
          </a:xfrm>
          <a:prstGeom prst="rect">
            <a:avLst/>
          </a:prstGeom>
          <a:solidFill>
            <a:srgbClr val="FFFF99"/>
          </a:solidFill>
          <a:ln w="38100" cap="flat" cmpd="sng">
            <a:solidFill>
              <a:srgbClr val="969696"/>
            </a:solidFill>
            <a:prstDash val="solid"/>
            <a:miter/>
            <a:headEnd type="none" w="med" len="med"/>
            <a:tailEnd type="none" w="med" len="med"/>
          </a:ln>
        </p:spPr>
      </p:pic>
      <p:sp>
        <p:nvSpPr>
          <p:cNvPr id="63499" name="Rectangle 24"/>
          <p:cNvSpPr/>
          <p:nvPr>
            <p:custDataLst>
              <p:tags r:id="rId26"/>
            </p:custDataLst>
          </p:nvPr>
        </p:nvSpPr>
        <p:spPr>
          <a:xfrm>
            <a:off x="4487545" y="6157595"/>
            <a:ext cx="7620000" cy="573088"/>
          </a:xfrm>
          <a:prstGeom prst="rect">
            <a:avLst/>
          </a:prstGeom>
          <a:solidFill>
            <a:srgbClr val="E8E8E8"/>
          </a:solidFill>
          <a:ln w="9525">
            <a:noFill/>
          </a:ln>
        </p:spPr>
        <p:txBody>
          <a:bodyPr anchor="ctr" anchorCtr="0">
            <a:spAutoFit/>
          </a:bodyPr>
          <a:p>
            <a:pPr>
              <a:lnSpc>
                <a:spcPct val="130000"/>
              </a:lnSpc>
            </a:pPr>
            <a:r>
              <a:rPr lang="en-US" altLang="zh-CN" sz="2400" b="1" dirty="0">
                <a:solidFill>
                  <a:srgbClr val="990099"/>
                </a:solidFill>
                <a:latin typeface="华文楷体" panose="02010600040101010101" charset="-122"/>
                <a:ea typeface="华文楷体" panose="02010600040101010101" charset="-122"/>
                <a:cs typeface="华文楷体" panose="02010600040101010101" charset="-122"/>
                <a:sym typeface="Verdana" panose="020B0804030504040204" pitchFamily="2" charset="0"/>
              </a:rPr>
              <a:t> </a:t>
            </a:r>
            <a:r>
              <a:rPr lang="zh-CN" altLang="en-US" sz="2400" dirty="0">
                <a:solidFill>
                  <a:srgbClr val="99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匹配滤波器</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可看成是一个计算输入信号自相关函数的</a:t>
            </a:r>
            <a:r>
              <a:rPr lang="zh-CN" altLang="en-US" sz="2400" dirty="0">
                <a:solidFill>
                  <a:srgbClr val="99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相关器</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a:t>
            </a:r>
            <a:r>
              <a:rPr lang="zh-CN" altLang="en-US" sz="2000" dirty="0">
                <a:solidFill>
                  <a:srgbClr val="990099"/>
                </a:solidFill>
                <a:latin typeface="华文楷体" panose="02010600040101010101" charset="-122"/>
                <a:ea typeface="华文楷体" panose="02010600040101010101" charset="-122"/>
                <a:cs typeface="华文楷体" panose="02010600040101010101" charset="-122"/>
                <a:sym typeface="微软雅黑" panose="020B0503020204020204" pitchFamily="34" charset="-122"/>
              </a:rPr>
              <a:t> </a:t>
            </a:r>
            <a:endParaRPr lang="zh-CN" altLang="en-US" dirty="0">
              <a:latin typeface="华文楷体" panose="02010600040101010101" charset="-122"/>
              <a:ea typeface="华文楷体" panose="02010600040101010101" charset="-122"/>
              <a:cs typeface="华文楷体" panose="02010600040101010101" charset="-122"/>
            </a:endParaRPr>
          </a:p>
        </p:txBody>
      </p:sp>
      <p:sp>
        <p:nvSpPr>
          <p:cNvPr id="63500" name="Text Box 26"/>
          <p:cNvSpPr/>
          <p:nvPr>
            <p:custDataLst>
              <p:tags r:id="rId27"/>
            </p:custDataLst>
          </p:nvPr>
        </p:nvSpPr>
        <p:spPr>
          <a:xfrm>
            <a:off x="6887528" y="5423535"/>
            <a:ext cx="1219200" cy="521970"/>
          </a:xfrm>
          <a:prstGeom prst="rect">
            <a:avLst/>
          </a:prstGeom>
          <a:noFill/>
          <a:ln w="9525">
            <a:noFill/>
          </a:ln>
        </p:spPr>
        <p:txBody>
          <a:bodyPr>
            <a:spAutoFit/>
          </a:bodyPr>
          <a:p>
            <a:pPr>
              <a:spcBef>
                <a:spcPct val="50000"/>
              </a:spcBef>
            </a:pPr>
            <a:r>
              <a:rPr lang="en-US" altLang="zh-CN" sz="2800" i="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t </a:t>
            </a:r>
            <a:r>
              <a:rPr lang="en-US" altLang="zh-CN" sz="28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a:t>
            </a:r>
            <a:r>
              <a:rPr lang="en-US" altLang="zh-CN" sz="2800" i="1"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t</a:t>
            </a:r>
            <a:r>
              <a:rPr lang="en-US" altLang="zh-CN" sz="2800" baseline="-25000" dirty="0">
                <a:solidFill>
                  <a:srgbClr val="FF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0 </a:t>
            </a:r>
            <a:r>
              <a:rPr lang="zh-CN" altLang="en-US" sz="2000"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rPr>
              <a:t>时：</a:t>
            </a:r>
            <a:endParaRPr lang="zh-CN" altLang="en-US" sz="2000" b="1" dirty="0">
              <a:solidFill>
                <a:srgbClr val="000000"/>
              </a:solidFill>
              <a:latin typeface="华文楷体" panose="02010600040101010101" charset="-122"/>
              <a:ea typeface="华文楷体" panose="02010600040101010101" charset="-122"/>
              <a:cs typeface="华文楷体" panose="02010600040101010101" charset="-122"/>
              <a:sym typeface="Arial" panose="020B0604020202090204" pitchFamily="34" charset="0"/>
            </a:endParaRPr>
          </a:p>
        </p:txBody>
      </p:sp>
      <p:pic>
        <p:nvPicPr>
          <p:cNvPr id="63501" name="Object 27"/>
          <p:cNvPicPr>
            <a:picLocks noChangeAspect="1"/>
          </p:cNvPicPr>
          <p:nvPr>
            <p:custDataLst>
              <p:tags r:id="rId28"/>
            </p:custDataLst>
          </p:nvPr>
        </p:nvPicPr>
        <p:blipFill>
          <a:blip r:embed="rId29"/>
          <a:stretch>
            <a:fillRect/>
          </a:stretch>
        </p:blipFill>
        <p:spPr>
          <a:xfrm>
            <a:off x="8169910" y="5427980"/>
            <a:ext cx="3884295" cy="522605"/>
          </a:xfrm>
          <a:prstGeom prst="rect">
            <a:avLst/>
          </a:prstGeom>
          <a:solidFill>
            <a:srgbClr val="00CC99"/>
          </a:solidFill>
          <a:ln w="38100" cap="flat" cmpd="sng">
            <a:solidFill>
              <a:srgbClr val="9999FF"/>
            </a:solidFill>
            <a:prstDash val="solid"/>
            <a:miter/>
            <a:headEnd type="none" w="med" len="med"/>
            <a:tailEnd type="none" w="med" len="me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p:txBody>
          <a:bodyPr/>
          <a:p>
            <a:r>
              <a:rPr lang="zh-CN" altLang="en-US">
                <a:latin typeface="华文楷体" panose="02010600040101010101" charset="-122"/>
                <a:ea typeface="华文楷体" panose="02010600040101010101" charset="-122"/>
              </a:rPr>
              <a:t>第六章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差错控制</a:t>
            </a:r>
            <a:r>
              <a:rPr lang="zh-CN" altLang="en-US">
                <a:latin typeface="华文楷体" panose="02010600040101010101" charset="-122"/>
                <a:ea typeface="华文楷体" panose="02010600040101010101" charset="-122"/>
              </a:rPr>
              <a:t>编码</a:t>
            </a:r>
            <a:endParaRPr lang="zh-CN" altLang="en-US">
              <a:latin typeface="华文楷体" panose="02010600040101010101" charset="-122"/>
              <a:ea typeface="华文楷体" panose="02010600040101010101" charset="-122"/>
            </a:endParaRPr>
          </a:p>
        </p:txBody>
      </p:sp>
      <p:sp>
        <p:nvSpPr>
          <p:cNvPr id="4" name="内容占位符 3"/>
          <p:cNvSpPr>
            <a:spLocks noGrp="1"/>
          </p:cNvSpPr>
          <p:nvPr>
            <p:ph idx="1"/>
            <p:custDataLst>
              <p:tags r:id="rId3"/>
            </p:custDataLst>
          </p:nvPr>
        </p:nvSpPr>
        <p:spPr>
          <a:xfrm>
            <a:off x="624205" y="1627505"/>
            <a:ext cx="10972800" cy="4526280"/>
          </a:xfrm>
        </p:spPr>
        <p:txBody>
          <a:bodyPr/>
          <a:p>
            <a:r>
              <a:rPr lang="zh-CN" altLang="en-US" sz="2800">
                <a:latin typeface="华文楷体" panose="02010600040101010101" charset="-122"/>
                <a:ea typeface="华文楷体" panose="02010600040101010101" charset="-122"/>
              </a:rPr>
              <a:t>识记——重要基本概念（差错控制编码、ARQ、FEC、HEC、奇偶校验码、二维奇偶校验码、恒比码、循环冗余校验码、码长、码重、码距、最小码距、码组、线性分组码、许用码组、禁用码组、生成矩阵、校验矩阵、校正子、错误图样、编码译码电路、汉明码）。</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分析——应用最小码距与检错纠错能力之间的关系分析给出码组的检错纠错能力。</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掌握——汉明码性能特点。</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掌握——奇偶校验码、二维奇偶校验码、恒比码、循环冗余校验码如何检错纠错。</a:t>
            </a:r>
            <a:endParaRPr lang="zh-CN" altLang="en-US" sz="2800">
              <a:latin typeface="华文楷体" panose="02010600040101010101" charset="-122"/>
              <a:ea typeface="华文楷体" panose="02010600040101010101" charset="-122"/>
            </a:endParaRPr>
          </a:p>
          <a:p>
            <a:r>
              <a:rPr lang="zh-CN" altLang="en-US" sz="2800">
                <a:latin typeface="华文楷体" panose="02010600040101010101" charset="-122"/>
                <a:ea typeface="华文楷体" panose="02010600040101010101" charset="-122"/>
              </a:rPr>
              <a:t>计算——线性分组码的生成矩阵、校验矩阵和许用码组，例1。</a:t>
            </a:r>
            <a:endParaRPr lang="zh-CN" altLang="en-US" sz="2800">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标题 1"/>
          <p:cNvSpPr>
            <a:spLocks noGrp="1"/>
          </p:cNvSpPr>
          <p:nvPr>
            <p:ph type="title"/>
            <p:custDataLst>
              <p:tags r:id="rId2"/>
            </p:custDataLst>
          </p:nvPr>
        </p:nvSpPr>
        <p:spPr/>
        <p:txBody>
          <a:bodyPr/>
          <a:p>
            <a:r>
              <a:rPr lang="zh-CN" altLang="en-US">
                <a:latin typeface="华文楷体" panose="02010600040101010101" charset="-122"/>
                <a:ea typeface="华文楷体" panose="02010600040101010101" charset="-122"/>
              </a:rPr>
              <a:t>第六章</a:t>
            </a:r>
            <a:r>
              <a:rPr lang="en-US" altLang="zh-CN">
                <a:latin typeface="华文楷体" panose="02010600040101010101" charset="-122"/>
                <a:ea typeface="华文楷体" panose="02010600040101010101" charset="-122"/>
              </a:rPr>
              <a:t> </a:t>
            </a:r>
            <a:r>
              <a:rPr lang="zh-CN" altLang="en-US">
                <a:latin typeface="华文楷体" panose="02010600040101010101" charset="-122"/>
                <a:ea typeface="华文楷体" panose="02010600040101010101" charset="-122"/>
              </a:rPr>
              <a:t>差错控制</a:t>
            </a:r>
            <a:r>
              <a:rPr lang="zh-CN" altLang="en-US">
                <a:latin typeface="华文楷体" panose="02010600040101010101" charset="-122"/>
                <a:ea typeface="华文楷体" panose="02010600040101010101" charset="-122"/>
              </a:rPr>
              <a:t>编码</a:t>
            </a:r>
            <a:endParaRPr lang="zh-CN" altLang="en-US">
              <a:latin typeface="华文楷体" panose="02010600040101010101" charset="-122"/>
              <a:ea typeface="华文楷体" panose="02010600040101010101" charset="-122"/>
            </a:endParaRPr>
          </a:p>
        </p:txBody>
      </p:sp>
      <p:sp>
        <p:nvSpPr>
          <p:cNvPr id="5" name="矩形 4"/>
          <p:cNvSpPr/>
          <p:nvPr>
            <p:custDataLst>
              <p:tags r:id="rId3"/>
            </p:custDataLst>
          </p:nvPr>
        </p:nvSpPr>
        <p:spPr>
          <a:xfrm>
            <a:off x="1487170" y="1914525"/>
            <a:ext cx="1818640" cy="3600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差错控制编码</a:t>
            </a:r>
            <a:endParaRPr lang="zh-CN" altLang="en-US">
              <a:latin typeface="华文楷体" panose="02010600040101010101" charset="-122"/>
              <a:ea typeface="华文楷体" panose="02010600040101010101" charset="-122"/>
            </a:endParaRPr>
          </a:p>
        </p:txBody>
      </p:sp>
      <p:sp>
        <p:nvSpPr>
          <p:cNvPr id="6" name="矩形 5"/>
          <p:cNvSpPr/>
          <p:nvPr>
            <p:custDataLst>
              <p:tags r:id="rId4"/>
            </p:custDataLst>
          </p:nvPr>
        </p:nvSpPr>
        <p:spPr>
          <a:xfrm>
            <a:off x="3504565" y="1871980"/>
            <a:ext cx="3737610" cy="3600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原理、</a:t>
            </a:r>
            <a:r>
              <a:rPr lang="zh-CN" altLang="en-US">
                <a:latin typeface="华文楷体" panose="02010600040101010101" charset="-122"/>
                <a:ea typeface="华文楷体" panose="02010600040101010101" charset="-122"/>
              </a:rPr>
              <a:t>分类（</a:t>
            </a:r>
            <a:r>
              <a:rPr lang="en-US" altLang="zh-CN">
                <a:latin typeface="华文楷体" panose="02010600040101010101" charset="-122"/>
                <a:ea typeface="华文楷体" panose="02010600040101010101" charset="-122"/>
              </a:rPr>
              <a:t>ARQ</a:t>
            </a:r>
            <a:r>
              <a:rPr lang="zh-CN" altLang="en-US">
                <a:latin typeface="华文楷体" panose="02010600040101010101" charset="-122"/>
                <a:ea typeface="华文楷体" panose="02010600040101010101" charset="-122"/>
              </a:rPr>
              <a:t>、</a:t>
            </a:r>
            <a:r>
              <a:rPr lang="en-US" altLang="zh-CN">
                <a:latin typeface="华文楷体" panose="02010600040101010101" charset="-122"/>
                <a:ea typeface="华文楷体" panose="02010600040101010101" charset="-122"/>
              </a:rPr>
              <a:t>FEC</a:t>
            </a:r>
            <a:r>
              <a:rPr lang="zh-CN" altLang="en-US">
                <a:latin typeface="华文楷体" panose="02010600040101010101" charset="-122"/>
                <a:ea typeface="华文楷体" panose="02010600040101010101" charset="-122"/>
              </a:rPr>
              <a:t>、</a:t>
            </a:r>
            <a:r>
              <a:rPr lang="en-US" altLang="zh-CN">
                <a:latin typeface="华文楷体" panose="02010600040101010101" charset="-122"/>
                <a:ea typeface="华文楷体" panose="02010600040101010101" charset="-122"/>
              </a:rPr>
              <a:t>HEC</a:t>
            </a:r>
            <a:r>
              <a:rPr lang="zh-CN" altLang="en-US">
                <a:latin typeface="华文楷体" panose="02010600040101010101" charset="-122"/>
                <a:ea typeface="华文楷体" panose="02010600040101010101" charset="-122"/>
              </a:rPr>
              <a:t>）</a:t>
            </a:r>
            <a:endParaRPr lang="zh-CN" altLang="en-US">
              <a:latin typeface="华文楷体" panose="02010600040101010101" charset="-122"/>
              <a:ea typeface="华文楷体" panose="02010600040101010101" charset="-122"/>
            </a:endParaRPr>
          </a:p>
        </p:txBody>
      </p:sp>
      <p:sp>
        <p:nvSpPr>
          <p:cNvPr id="7" name="矩形 6"/>
          <p:cNvSpPr/>
          <p:nvPr>
            <p:custDataLst>
              <p:tags r:id="rId5"/>
            </p:custDataLst>
          </p:nvPr>
        </p:nvSpPr>
        <p:spPr>
          <a:xfrm>
            <a:off x="2711450" y="2543810"/>
            <a:ext cx="1184910" cy="3600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纠错</a:t>
            </a:r>
            <a:r>
              <a:rPr lang="zh-CN" altLang="en-US">
                <a:latin typeface="华文楷体" panose="02010600040101010101" charset="-122"/>
                <a:ea typeface="华文楷体" panose="02010600040101010101" charset="-122"/>
              </a:rPr>
              <a:t>码</a:t>
            </a:r>
            <a:endParaRPr lang="zh-CN" altLang="en-US">
              <a:latin typeface="华文楷体" panose="02010600040101010101" charset="-122"/>
              <a:ea typeface="华文楷体" panose="02010600040101010101" charset="-122"/>
            </a:endParaRPr>
          </a:p>
        </p:txBody>
      </p:sp>
      <p:sp>
        <p:nvSpPr>
          <p:cNvPr id="8" name="矩形 7"/>
          <p:cNvSpPr/>
          <p:nvPr>
            <p:custDataLst>
              <p:tags r:id="rId6"/>
            </p:custDataLst>
          </p:nvPr>
        </p:nvSpPr>
        <p:spPr>
          <a:xfrm>
            <a:off x="2711450" y="3354070"/>
            <a:ext cx="1184910" cy="3600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检错码</a:t>
            </a:r>
            <a:endParaRPr lang="zh-CN" altLang="en-US">
              <a:latin typeface="华文楷体" panose="02010600040101010101" charset="-122"/>
              <a:ea typeface="华文楷体" panose="02010600040101010101" charset="-122"/>
            </a:endParaRPr>
          </a:p>
        </p:txBody>
      </p:sp>
      <p:cxnSp>
        <p:nvCxnSpPr>
          <p:cNvPr id="9" name="肘形连接符 8"/>
          <p:cNvCxnSpPr>
            <a:stCxn id="5" idx="2"/>
            <a:endCxn id="7" idx="1"/>
          </p:cNvCxnSpPr>
          <p:nvPr>
            <p:custDataLst>
              <p:tags r:id="rId7"/>
            </p:custDataLst>
          </p:nvPr>
        </p:nvCxnSpPr>
        <p:spPr>
          <a:xfrm rot="5400000" flipV="1">
            <a:off x="2329180" y="2341880"/>
            <a:ext cx="449580" cy="31496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肘形连接符 9"/>
          <p:cNvCxnSpPr>
            <a:stCxn id="5" idx="2"/>
            <a:endCxn id="8" idx="1"/>
          </p:cNvCxnSpPr>
          <p:nvPr>
            <p:custDataLst>
              <p:tags r:id="rId8"/>
            </p:custDataLst>
          </p:nvPr>
        </p:nvCxnSpPr>
        <p:spPr>
          <a:xfrm rot="5400000" flipV="1">
            <a:off x="1924050" y="2747010"/>
            <a:ext cx="1259840" cy="31496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1" name="矩形 10"/>
          <p:cNvSpPr/>
          <p:nvPr>
            <p:custDataLst>
              <p:tags r:id="rId9"/>
            </p:custDataLst>
          </p:nvPr>
        </p:nvSpPr>
        <p:spPr>
          <a:xfrm>
            <a:off x="4079875" y="2561590"/>
            <a:ext cx="6115685" cy="3600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基本原理（分组码），关键特征（码长、码重、码距）、</a:t>
            </a:r>
            <a:r>
              <a:rPr lang="zh-CN" altLang="en-US">
                <a:solidFill>
                  <a:srgbClr val="C00000"/>
                </a:solidFill>
                <a:latin typeface="华文楷体" panose="02010600040101010101" charset="-122"/>
                <a:ea typeface="华文楷体" panose="02010600040101010101" charset="-122"/>
              </a:rPr>
              <a:t>最小码距与纠检错能力</a:t>
            </a:r>
            <a:endParaRPr lang="zh-CN" altLang="en-US">
              <a:solidFill>
                <a:srgbClr val="C00000"/>
              </a:solidFill>
              <a:latin typeface="华文楷体" panose="02010600040101010101" charset="-122"/>
              <a:ea typeface="华文楷体" panose="02010600040101010101" charset="-122"/>
            </a:endParaRPr>
          </a:p>
        </p:txBody>
      </p:sp>
      <p:sp>
        <p:nvSpPr>
          <p:cNvPr id="12" name="矩形 11"/>
          <p:cNvSpPr/>
          <p:nvPr>
            <p:custDataLst>
              <p:tags r:id="rId10"/>
            </p:custDataLst>
          </p:nvPr>
        </p:nvSpPr>
        <p:spPr>
          <a:xfrm>
            <a:off x="4079875" y="3324225"/>
            <a:ext cx="7028815" cy="360045"/>
          </a:xfrm>
          <a:prstGeom prst="rect">
            <a:avLst/>
          </a:prstGeom>
          <a:ln>
            <a:no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chemeClr val="tx1"/>
                </a:solidFill>
                <a:latin typeface="华文楷体" panose="02010600040101010101" charset="-122"/>
                <a:ea typeface="华文楷体" panose="02010600040101010101" charset="-122"/>
              </a:rPr>
              <a:t>典型码：奇偶校验码、二维奇偶校验码、恒比码、循环冗余校验码</a:t>
            </a:r>
            <a:endParaRPr lang="zh-CN" altLang="en-US">
              <a:solidFill>
                <a:schemeClr val="tx1"/>
              </a:solidFill>
              <a:latin typeface="华文楷体" panose="02010600040101010101" charset="-122"/>
              <a:ea typeface="华文楷体" panose="02010600040101010101" charset="-122"/>
            </a:endParaRPr>
          </a:p>
        </p:txBody>
      </p:sp>
      <p:sp>
        <p:nvSpPr>
          <p:cNvPr id="13" name="矩形 12"/>
          <p:cNvSpPr/>
          <p:nvPr>
            <p:custDataLst>
              <p:tags r:id="rId11"/>
            </p:custDataLst>
          </p:nvPr>
        </p:nvSpPr>
        <p:spPr>
          <a:xfrm>
            <a:off x="2797810" y="4902835"/>
            <a:ext cx="1570355" cy="3600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线性</a:t>
            </a:r>
            <a:r>
              <a:rPr lang="zh-CN" altLang="en-US">
                <a:latin typeface="华文楷体" panose="02010600040101010101" charset="-122"/>
                <a:ea typeface="华文楷体" panose="02010600040101010101" charset="-122"/>
              </a:rPr>
              <a:t>分组码</a:t>
            </a:r>
            <a:endParaRPr lang="zh-CN" altLang="en-US">
              <a:latin typeface="华文楷体" panose="02010600040101010101" charset="-122"/>
              <a:ea typeface="华文楷体" panose="02010600040101010101" charset="-122"/>
            </a:endParaRPr>
          </a:p>
        </p:txBody>
      </p:sp>
      <p:cxnSp>
        <p:nvCxnSpPr>
          <p:cNvPr id="14" name="肘形连接符 13"/>
          <p:cNvCxnSpPr>
            <a:stCxn id="5" idx="2"/>
            <a:endCxn id="13" idx="1"/>
          </p:cNvCxnSpPr>
          <p:nvPr>
            <p:custDataLst>
              <p:tags r:id="rId12"/>
            </p:custDataLst>
          </p:nvPr>
        </p:nvCxnSpPr>
        <p:spPr>
          <a:xfrm rot="5400000" flipV="1">
            <a:off x="1192848" y="3478213"/>
            <a:ext cx="2808605" cy="40132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5" name="矩形 14"/>
          <p:cNvSpPr/>
          <p:nvPr>
            <p:custDataLst>
              <p:tags r:id="rId13"/>
            </p:custDataLst>
          </p:nvPr>
        </p:nvSpPr>
        <p:spPr>
          <a:xfrm>
            <a:off x="7967980" y="4507230"/>
            <a:ext cx="3589020" cy="36004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gradFill>
                  <a:gsLst>
                    <a:gs pos="0">
                      <a:srgbClr val="E30000"/>
                    </a:gs>
                    <a:gs pos="100000">
                      <a:srgbClr val="760303"/>
                    </a:gs>
                  </a:gsLst>
                  <a:lin scaled="0"/>
                </a:gradFill>
                <a:latin typeface="华文楷体" panose="02010600040101010101" charset="-122"/>
                <a:ea typeface="华文楷体" panose="02010600040101010101" charset="-122"/>
              </a:rPr>
              <a:t>（</a:t>
            </a:r>
            <a:r>
              <a:rPr lang="en-US" altLang="zh-CN">
                <a:gradFill>
                  <a:gsLst>
                    <a:gs pos="0">
                      <a:srgbClr val="E30000"/>
                    </a:gs>
                    <a:gs pos="100000">
                      <a:srgbClr val="760303"/>
                    </a:gs>
                  </a:gsLst>
                  <a:lin scaled="0"/>
                </a:gradFill>
                <a:latin typeface="华文楷体" panose="02010600040101010101" charset="-122"/>
                <a:ea typeface="华文楷体" panose="02010600040101010101" charset="-122"/>
              </a:rPr>
              <a:t>7</a:t>
            </a:r>
            <a:r>
              <a:rPr lang="zh-CN" altLang="en-US">
                <a:gradFill>
                  <a:gsLst>
                    <a:gs pos="0">
                      <a:srgbClr val="E30000"/>
                    </a:gs>
                    <a:gs pos="100000">
                      <a:srgbClr val="760303"/>
                    </a:gs>
                  </a:gsLst>
                  <a:lin scaled="0"/>
                </a:gradFill>
                <a:latin typeface="华文楷体" panose="02010600040101010101" charset="-122"/>
                <a:ea typeface="华文楷体" panose="02010600040101010101" charset="-122"/>
              </a:rPr>
              <a:t>，</a:t>
            </a:r>
            <a:r>
              <a:rPr lang="en-US" altLang="zh-CN">
                <a:gradFill>
                  <a:gsLst>
                    <a:gs pos="0">
                      <a:srgbClr val="E30000"/>
                    </a:gs>
                    <a:gs pos="100000">
                      <a:srgbClr val="760303"/>
                    </a:gs>
                  </a:gsLst>
                  <a:lin scaled="0"/>
                </a:gradFill>
                <a:latin typeface="华文楷体" panose="02010600040101010101" charset="-122"/>
                <a:ea typeface="华文楷体" panose="02010600040101010101" charset="-122"/>
              </a:rPr>
              <a:t>4</a:t>
            </a:r>
            <a:r>
              <a:rPr lang="zh-CN" altLang="en-US">
                <a:gradFill>
                  <a:gsLst>
                    <a:gs pos="0">
                      <a:srgbClr val="E30000"/>
                    </a:gs>
                    <a:gs pos="100000">
                      <a:srgbClr val="760303"/>
                    </a:gs>
                  </a:gsLst>
                  <a:lin scaled="0"/>
                </a:gradFill>
                <a:latin typeface="华文楷体" panose="02010600040101010101" charset="-122"/>
                <a:ea typeface="华文楷体" panose="02010600040101010101" charset="-122"/>
              </a:rPr>
              <a:t>）线性分组码（汉明码）</a:t>
            </a:r>
            <a:endParaRPr lang="zh-CN" altLang="en-US">
              <a:gradFill>
                <a:gsLst>
                  <a:gs pos="0">
                    <a:srgbClr val="E30000"/>
                  </a:gs>
                  <a:gs pos="100000">
                    <a:srgbClr val="760303"/>
                  </a:gs>
                </a:gsLst>
                <a:lin scaled="0"/>
              </a:gradFill>
              <a:latin typeface="华文楷体" panose="02010600040101010101" charset="-122"/>
              <a:ea typeface="华文楷体" panose="02010600040101010101" charset="-122"/>
            </a:endParaRPr>
          </a:p>
        </p:txBody>
      </p:sp>
      <p:sp>
        <p:nvSpPr>
          <p:cNvPr id="16" name="矩形 15"/>
          <p:cNvSpPr/>
          <p:nvPr>
            <p:custDataLst>
              <p:tags r:id="rId14"/>
            </p:custDataLst>
          </p:nvPr>
        </p:nvSpPr>
        <p:spPr>
          <a:xfrm>
            <a:off x="4732020" y="4003040"/>
            <a:ext cx="775970" cy="3600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定义</a:t>
            </a:r>
            <a:endParaRPr lang="zh-CN" altLang="en-US">
              <a:latin typeface="华文楷体" panose="02010600040101010101" charset="-122"/>
              <a:ea typeface="华文楷体" panose="02010600040101010101" charset="-122"/>
            </a:endParaRPr>
          </a:p>
        </p:txBody>
      </p:sp>
      <p:sp>
        <p:nvSpPr>
          <p:cNvPr id="17" name="矩形 16"/>
          <p:cNvSpPr/>
          <p:nvPr>
            <p:custDataLst>
              <p:tags r:id="rId15"/>
            </p:custDataLst>
          </p:nvPr>
        </p:nvSpPr>
        <p:spPr>
          <a:xfrm>
            <a:off x="4727575" y="4536440"/>
            <a:ext cx="1563370" cy="3600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校验矩阵</a:t>
            </a:r>
            <a:r>
              <a:rPr lang="en-US" altLang="zh-CN">
                <a:solidFill>
                  <a:srgbClr val="C00000"/>
                </a:solidFill>
                <a:latin typeface="华文楷体" panose="02010600040101010101" charset="-122"/>
                <a:ea typeface="华文楷体" panose="02010600040101010101" charset="-122"/>
              </a:rPr>
              <a:t>H</a:t>
            </a:r>
            <a:endParaRPr lang="en-US" altLang="zh-CN">
              <a:solidFill>
                <a:srgbClr val="C00000"/>
              </a:solidFill>
              <a:latin typeface="华文楷体" panose="02010600040101010101" charset="-122"/>
              <a:ea typeface="华文楷体" panose="02010600040101010101" charset="-122"/>
            </a:endParaRPr>
          </a:p>
        </p:txBody>
      </p:sp>
      <p:sp>
        <p:nvSpPr>
          <p:cNvPr id="18" name="矩形 17"/>
          <p:cNvSpPr/>
          <p:nvPr>
            <p:custDataLst>
              <p:tags r:id="rId16"/>
            </p:custDataLst>
          </p:nvPr>
        </p:nvSpPr>
        <p:spPr>
          <a:xfrm>
            <a:off x="4732020" y="5083175"/>
            <a:ext cx="1563370" cy="3600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rgbClr val="C00000"/>
                </a:solidFill>
                <a:latin typeface="华文楷体" panose="02010600040101010101" charset="-122"/>
                <a:ea typeface="华文楷体" panose="02010600040101010101" charset="-122"/>
              </a:rPr>
              <a:t>生成矩阵</a:t>
            </a:r>
            <a:r>
              <a:rPr lang="en-US" altLang="zh-CN">
                <a:solidFill>
                  <a:srgbClr val="C00000"/>
                </a:solidFill>
                <a:latin typeface="华文楷体" panose="02010600040101010101" charset="-122"/>
                <a:ea typeface="华文楷体" panose="02010600040101010101" charset="-122"/>
              </a:rPr>
              <a:t>G</a:t>
            </a:r>
            <a:endParaRPr lang="en-US" altLang="zh-CN">
              <a:solidFill>
                <a:srgbClr val="C00000"/>
              </a:solidFill>
              <a:latin typeface="华文楷体" panose="02010600040101010101" charset="-122"/>
              <a:ea typeface="华文楷体" panose="02010600040101010101" charset="-122"/>
            </a:endParaRPr>
          </a:p>
        </p:txBody>
      </p:sp>
      <p:sp>
        <p:nvSpPr>
          <p:cNvPr id="19" name="矩形 18"/>
          <p:cNvSpPr/>
          <p:nvPr>
            <p:custDataLst>
              <p:tags r:id="rId17"/>
            </p:custDataLst>
          </p:nvPr>
        </p:nvSpPr>
        <p:spPr>
          <a:xfrm>
            <a:off x="4732020" y="5695315"/>
            <a:ext cx="4310380" cy="36004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latin typeface="华文楷体" panose="02010600040101010101" charset="-122"/>
                <a:ea typeface="华文楷体" panose="02010600040101010101" charset="-122"/>
              </a:rPr>
              <a:t>译码流程（伴随式</a:t>
            </a:r>
            <a:r>
              <a:rPr lang="en-US" altLang="zh-CN">
                <a:latin typeface="华文楷体" panose="02010600040101010101" charset="-122"/>
                <a:ea typeface="华文楷体" panose="02010600040101010101" charset="-122"/>
              </a:rPr>
              <a:t>/</a:t>
            </a:r>
            <a:r>
              <a:rPr lang="zh-CN" altLang="en-US">
                <a:latin typeface="华文楷体" panose="02010600040101010101" charset="-122"/>
                <a:ea typeface="华文楷体" panose="02010600040101010101" charset="-122"/>
              </a:rPr>
              <a:t>校正子、</a:t>
            </a:r>
            <a:r>
              <a:rPr lang="zh-CN" altLang="en-US">
                <a:latin typeface="华文楷体" panose="02010600040101010101" charset="-122"/>
                <a:ea typeface="华文楷体" panose="02010600040101010101" charset="-122"/>
              </a:rPr>
              <a:t>错误图样、）</a:t>
            </a:r>
            <a:endParaRPr lang="zh-CN" altLang="en-US">
              <a:latin typeface="华文楷体" panose="02010600040101010101" charset="-122"/>
              <a:ea typeface="华文楷体" panose="02010600040101010101" charset="-122"/>
            </a:endParaRPr>
          </a:p>
        </p:txBody>
      </p:sp>
      <p:sp>
        <p:nvSpPr>
          <p:cNvPr id="20" name="左大括号 19"/>
          <p:cNvSpPr/>
          <p:nvPr>
            <p:custDataLst>
              <p:tags r:id="rId18"/>
            </p:custDataLst>
          </p:nvPr>
        </p:nvSpPr>
        <p:spPr>
          <a:xfrm>
            <a:off x="4368165" y="4147185"/>
            <a:ext cx="314325" cy="187198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左箭头 20"/>
          <p:cNvSpPr/>
          <p:nvPr>
            <p:custDataLst>
              <p:tags r:id="rId19"/>
            </p:custDataLst>
          </p:nvPr>
        </p:nvSpPr>
        <p:spPr>
          <a:xfrm>
            <a:off x="6960235" y="4464685"/>
            <a:ext cx="647700" cy="431800"/>
          </a:xfrm>
          <a:prstGeom prst="leftArrow">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graphicFrame>
        <p:nvGraphicFramePr>
          <p:cNvPr id="4" name="对象 -2147482624"/>
          <p:cNvGraphicFramePr>
            <a:graphicFrameLocks noChangeAspect="1"/>
          </p:cNvGraphicFramePr>
          <p:nvPr>
            <p:custDataLst>
              <p:tags r:id="rId2"/>
            </p:custDataLst>
          </p:nvPr>
        </p:nvGraphicFramePr>
        <p:xfrm>
          <a:off x="335280" y="1052830"/>
          <a:ext cx="11590020" cy="4972685"/>
        </p:xfrm>
        <a:graphic>
          <a:graphicData uri="http://schemas.openxmlformats.org/presentationml/2006/ole">
            <mc:AlternateContent xmlns:mc="http://schemas.openxmlformats.org/markup-compatibility/2006">
              <mc:Choice xmlns:v="urn:schemas-microsoft-com:vml" Requires="v">
                <p:oleObj spid="_x0000_s1094" name="" r:id="rId3" imgW="5057775" imgH="1990725" progId="Word.Picture.8">
                  <p:embed/>
                </p:oleObj>
              </mc:Choice>
              <mc:Fallback>
                <p:oleObj name="" r:id="rId3" imgW="5057775" imgH="1990725" progId="Word.Picture.8">
                  <p:embed/>
                  <p:pic>
                    <p:nvPicPr>
                      <p:cNvPr id="0" name="图片 3075"/>
                      <p:cNvPicPr/>
                      <p:nvPr/>
                    </p:nvPicPr>
                    <p:blipFill>
                      <a:blip r:embed="rId4"/>
                      <a:stretch>
                        <a:fillRect/>
                      </a:stretch>
                    </p:blipFill>
                    <p:spPr>
                      <a:xfrm>
                        <a:off x="335280" y="1052830"/>
                        <a:ext cx="11590020" cy="497268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35843" name="Rectangle 3"/>
          <p:cNvSpPr>
            <a:spLocks noGrp="1"/>
          </p:cNvSpPr>
          <p:nvPr>
            <p:ph idx="1"/>
            <p:custDataLst>
              <p:tags r:id="rId2"/>
            </p:custDataLst>
          </p:nvPr>
        </p:nvSpPr>
        <p:spPr>
          <a:xfrm>
            <a:off x="1127125" y="836613"/>
            <a:ext cx="9144000" cy="4910137"/>
          </a:xfrm>
          <a:noFill/>
          <a:ln>
            <a:noFill/>
          </a:ln>
        </p:spPr>
        <p:txBody>
          <a:bodyPr/>
          <a:p>
            <a:pPr lvl="1"/>
            <a:r>
              <a:rPr lang="zh-CN" altLang="en-US" sz="2400" b="1" dirty="0"/>
              <a:t>分组码的一般结构</a:t>
            </a:r>
            <a:endParaRPr lang="zh-CN" altLang="en-US" sz="2400" b="1" dirty="0"/>
          </a:p>
          <a:p>
            <a:pPr lvl="3"/>
            <a:endParaRPr lang="zh-CN" altLang="en-US" dirty="0"/>
          </a:p>
          <a:p>
            <a:pPr lvl="3"/>
            <a:endParaRPr lang="zh-CN" altLang="en-US" dirty="0"/>
          </a:p>
          <a:p>
            <a:pPr lvl="3"/>
            <a:endParaRPr lang="zh-CN" altLang="en-US" dirty="0"/>
          </a:p>
          <a:p>
            <a:pPr lvl="3"/>
            <a:endParaRPr lang="zh-CN" altLang="en-US" dirty="0"/>
          </a:p>
          <a:p>
            <a:pPr lvl="1">
              <a:lnSpc>
                <a:spcPct val="150000"/>
              </a:lnSpc>
            </a:pPr>
            <a:r>
              <a:rPr lang="zh-CN" altLang="en-US" sz="2400" b="1" dirty="0"/>
              <a:t>分组码的符号：</a:t>
            </a:r>
            <a:r>
              <a:rPr lang="en-US" altLang="zh-CN" sz="2400" b="1" dirty="0"/>
              <a:t>(</a:t>
            </a:r>
            <a:r>
              <a:rPr lang="en-US" altLang="zh-CN" sz="2400" b="1" i="1" dirty="0"/>
              <a:t>n</a:t>
            </a:r>
            <a:r>
              <a:rPr lang="en-US" altLang="zh-CN" sz="2400" b="1" dirty="0"/>
              <a:t>,</a:t>
            </a:r>
            <a:r>
              <a:rPr lang="en-US" altLang="zh-CN" sz="2400" b="1" i="1" dirty="0"/>
              <a:t> k</a:t>
            </a:r>
            <a:r>
              <a:rPr lang="en-US" altLang="zh-CN" sz="2400" b="1" dirty="0"/>
              <a:t>)</a:t>
            </a:r>
            <a:endParaRPr lang="en-US" altLang="zh-CN" sz="2400" b="1" dirty="0"/>
          </a:p>
          <a:p>
            <a:pPr lvl="2">
              <a:lnSpc>
                <a:spcPct val="100000"/>
              </a:lnSpc>
            </a:pPr>
            <a:r>
              <a:rPr lang="en-US" altLang="zh-CN" sz="2000" i="1" dirty="0"/>
              <a:t>N </a:t>
            </a:r>
            <a:r>
              <a:rPr lang="zh-CN" altLang="en-US" sz="2000" i="1" dirty="0"/>
              <a:t>－ </a:t>
            </a:r>
            <a:r>
              <a:rPr lang="zh-CN" altLang="en-US" sz="2000" dirty="0"/>
              <a:t>码组的总位数，码长</a:t>
            </a:r>
            <a:endParaRPr lang="zh-CN" altLang="en-US" sz="2000" dirty="0"/>
          </a:p>
          <a:p>
            <a:pPr lvl="2">
              <a:lnSpc>
                <a:spcPct val="100000"/>
              </a:lnSpc>
            </a:pPr>
            <a:r>
              <a:rPr lang="en-US" altLang="zh-CN" sz="2000" i="1" dirty="0"/>
              <a:t>k </a:t>
            </a:r>
            <a:r>
              <a:rPr lang="zh-CN" altLang="en-US" sz="2000" i="1" dirty="0"/>
              <a:t>－ </a:t>
            </a:r>
            <a:r>
              <a:rPr lang="zh-CN" altLang="en-US" sz="2000" dirty="0"/>
              <a:t>信息码元的数目</a:t>
            </a:r>
            <a:endParaRPr lang="zh-CN" altLang="en-US" sz="2000" dirty="0"/>
          </a:p>
          <a:p>
            <a:pPr lvl="2">
              <a:lnSpc>
                <a:spcPct val="100000"/>
              </a:lnSpc>
            </a:pPr>
            <a:r>
              <a:rPr lang="en-US" altLang="zh-CN" sz="2000" i="1" dirty="0"/>
              <a:t>n</a:t>
            </a:r>
            <a:r>
              <a:rPr lang="en-US" altLang="zh-CN" sz="2000" dirty="0"/>
              <a:t> – </a:t>
            </a:r>
            <a:r>
              <a:rPr lang="en-US" altLang="zh-CN" sz="2000" i="1" dirty="0"/>
              <a:t>k </a:t>
            </a:r>
            <a:r>
              <a:rPr lang="zh-CN" altLang="en-US" sz="2000" dirty="0"/>
              <a:t>＝ </a:t>
            </a:r>
            <a:r>
              <a:rPr lang="en-US" altLang="zh-CN" sz="2000" i="1" dirty="0"/>
              <a:t>r </a:t>
            </a:r>
            <a:r>
              <a:rPr lang="zh-CN" altLang="en-US" sz="2000" i="1" dirty="0"/>
              <a:t>－ </a:t>
            </a:r>
            <a:r>
              <a:rPr lang="zh-CN" altLang="en-US" sz="2000" dirty="0"/>
              <a:t>监督码元数目或称监督位数目 </a:t>
            </a:r>
            <a:endParaRPr lang="zh-CN" altLang="en-US" sz="2000" dirty="0"/>
          </a:p>
        </p:txBody>
      </p:sp>
      <p:pic>
        <p:nvPicPr>
          <p:cNvPr id="35844" name="Picture 4" descr="t0902"/>
          <p:cNvPicPr>
            <a:picLocks noChangeAspect="1"/>
          </p:cNvPicPr>
          <p:nvPr>
            <p:custDataLst>
              <p:tags r:id="rId3"/>
            </p:custDataLst>
          </p:nvPr>
        </p:nvPicPr>
        <p:blipFill>
          <a:blip r:embed="rId4"/>
          <a:stretch>
            <a:fillRect/>
          </a:stretch>
        </p:blipFill>
        <p:spPr>
          <a:xfrm>
            <a:off x="2350770" y="1268413"/>
            <a:ext cx="7875588" cy="1570037"/>
          </a:xfrm>
          <a:prstGeom prst="rect">
            <a:avLst/>
          </a:prstGeom>
          <a:noFill/>
          <a:ln w="9525">
            <a:noFill/>
          </a:ln>
        </p:spPr>
      </p:pic>
      <p:sp>
        <p:nvSpPr>
          <p:cNvPr id="2" name="文本框 1"/>
          <p:cNvSpPr txBox="1"/>
          <p:nvPr>
            <p:custDataLst>
              <p:tags r:id="rId5"/>
            </p:custDataLst>
          </p:nvPr>
        </p:nvSpPr>
        <p:spPr>
          <a:xfrm>
            <a:off x="551180" y="4797425"/>
            <a:ext cx="10740390" cy="1146810"/>
          </a:xfrm>
          <a:prstGeom prst="rect">
            <a:avLst/>
          </a:prstGeom>
          <a:noFill/>
        </p:spPr>
        <p:txBody>
          <a:bodyPr wrap="square" rtlCol="0" anchor="t">
            <a:noAutofit/>
          </a:bodyPr>
          <a:p>
            <a:pPr marL="0" indent="457200" latinLnBrk="0">
              <a:lnSpc>
                <a:spcPct val="150000"/>
              </a:lnSpc>
              <a:spcBef>
                <a:spcPts val="0"/>
              </a:spcBef>
              <a:buNone/>
            </a:pPr>
            <a:r>
              <a:rPr lang="zh-CN" altLang="en-US" sz="2000" dirty="0">
                <a:latin typeface="华文楷体" panose="02010600040101010101" charset="-122"/>
                <a:ea typeface="华文楷体" panose="02010600040101010101" charset="-122"/>
                <a:cs typeface="华文楷体" panose="02010600040101010101" charset="-122"/>
                <a:sym typeface="+mn-ea"/>
              </a:rPr>
              <a:t>如果用二进制码元表示码字，共有</a:t>
            </a:r>
            <a:r>
              <a:rPr lang="en-US" altLang="zh-CN" sz="2000" dirty="0">
                <a:latin typeface="华文楷体" panose="02010600040101010101" charset="-122"/>
                <a:ea typeface="华文楷体" panose="02010600040101010101" charset="-122"/>
                <a:cs typeface="华文楷体" panose="02010600040101010101" charset="-122"/>
                <a:sym typeface="+mn-ea"/>
              </a:rPr>
              <a:t> </a:t>
            </a:r>
            <a:r>
              <a:rPr lang="zh-CN" altLang="en-US" sz="2000" dirty="0">
                <a:latin typeface="华文楷体" panose="02010600040101010101" charset="-122"/>
                <a:ea typeface="华文楷体" panose="02010600040101010101" charset="-122"/>
                <a:cs typeface="华文楷体" panose="02010600040101010101" charset="-122"/>
                <a:sym typeface="+mn-ea"/>
              </a:rPr>
              <a:t>2</a:t>
            </a:r>
            <a:r>
              <a:rPr lang="zh-CN" altLang="en-US" sz="2000" i="1" baseline="30000" dirty="0">
                <a:latin typeface="华文楷体" panose="02010600040101010101" charset="-122"/>
                <a:ea typeface="华文楷体" panose="02010600040101010101" charset="-122"/>
                <a:cs typeface="华文楷体" panose="02010600040101010101" charset="-122"/>
                <a:sym typeface="+mn-ea"/>
              </a:rPr>
              <a:t>k</a:t>
            </a:r>
            <a:r>
              <a:rPr lang="en-US" altLang="zh-CN" sz="2000" i="1" baseline="30000" dirty="0">
                <a:latin typeface="华文楷体" panose="02010600040101010101" charset="-122"/>
                <a:ea typeface="华文楷体" panose="02010600040101010101" charset="-122"/>
                <a:cs typeface="华文楷体" panose="02010600040101010101" charset="-122"/>
                <a:sym typeface="+mn-ea"/>
              </a:rPr>
              <a:t> </a:t>
            </a:r>
            <a:r>
              <a:rPr lang="zh-CN" altLang="en-US" sz="2000" dirty="0">
                <a:latin typeface="华文楷体" panose="02010600040101010101" charset="-122"/>
                <a:ea typeface="华文楷体" panose="02010600040101010101" charset="-122"/>
                <a:cs typeface="华文楷体" panose="02010600040101010101" charset="-122"/>
                <a:sym typeface="+mn-ea"/>
              </a:rPr>
              <a:t>个不同的信息组，对应有</a:t>
            </a:r>
            <a:r>
              <a:rPr lang="en-US" altLang="zh-CN" sz="2000" dirty="0">
                <a:latin typeface="华文楷体" panose="02010600040101010101" charset="-122"/>
                <a:ea typeface="华文楷体" panose="02010600040101010101" charset="-122"/>
                <a:cs typeface="华文楷体" panose="02010600040101010101" charset="-122"/>
                <a:sym typeface="+mn-ea"/>
              </a:rPr>
              <a:t> </a:t>
            </a:r>
            <a:r>
              <a:rPr lang="zh-CN" altLang="en-US" sz="2000" dirty="0">
                <a:latin typeface="华文楷体" panose="02010600040101010101" charset="-122"/>
                <a:ea typeface="华文楷体" panose="02010600040101010101" charset="-122"/>
                <a:cs typeface="华文楷体" panose="02010600040101010101" charset="-122"/>
                <a:sym typeface="+mn-ea"/>
              </a:rPr>
              <a:t>2</a:t>
            </a:r>
            <a:r>
              <a:rPr lang="zh-CN" altLang="en-US" sz="2000" i="1" baseline="30000" dirty="0">
                <a:latin typeface="华文楷体" panose="02010600040101010101" charset="-122"/>
                <a:ea typeface="华文楷体" panose="02010600040101010101" charset="-122"/>
                <a:cs typeface="华文楷体" panose="02010600040101010101" charset="-122"/>
                <a:sym typeface="+mn-ea"/>
              </a:rPr>
              <a:t>k</a:t>
            </a:r>
            <a:r>
              <a:rPr lang="zh-CN" altLang="en-US" sz="2000" dirty="0">
                <a:latin typeface="华文楷体" panose="02010600040101010101" charset="-122"/>
                <a:ea typeface="华文楷体" panose="02010600040101010101" charset="-122"/>
                <a:cs typeface="华文楷体" panose="02010600040101010101" charset="-122"/>
                <a:sym typeface="+mn-ea"/>
              </a:rPr>
              <a:t>个不同的编码码字，称为</a:t>
            </a:r>
            <a:r>
              <a:rPr lang="zh-CN" altLang="en-US" sz="2000" b="1" dirty="0">
                <a:solidFill>
                  <a:srgbClr val="FF0000"/>
                </a:solidFill>
                <a:latin typeface="华文楷体" panose="02010600040101010101" charset="-122"/>
                <a:ea typeface="华文楷体" panose="02010600040101010101" charset="-122"/>
                <a:cs typeface="华文楷体" panose="02010600040101010101" charset="-122"/>
                <a:sym typeface="+mn-ea"/>
              </a:rPr>
              <a:t>许用码字</a:t>
            </a:r>
            <a:r>
              <a:rPr lang="zh-CN" altLang="en-US" sz="2000" dirty="0">
                <a:latin typeface="华文楷体" panose="02010600040101010101" charset="-122"/>
                <a:ea typeface="华文楷体" panose="02010600040101010101" charset="-122"/>
                <a:cs typeface="华文楷体" panose="02010600040101010101" charset="-122"/>
                <a:sym typeface="+mn-ea"/>
              </a:rPr>
              <a:t>。其余</a:t>
            </a:r>
            <a:r>
              <a:rPr lang="en-US" altLang="zh-CN" sz="2000" dirty="0">
                <a:latin typeface="华文楷体" panose="02010600040101010101" charset="-122"/>
                <a:ea typeface="华文楷体" panose="02010600040101010101" charset="-122"/>
                <a:cs typeface="华文楷体" panose="02010600040101010101" charset="-122"/>
                <a:sym typeface="+mn-ea"/>
              </a:rPr>
              <a:t> </a:t>
            </a:r>
            <a:r>
              <a:rPr lang="zh-CN" altLang="en-US" sz="2000" dirty="0">
                <a:latin typeface="华文楷体" panose="02010600040101010101" charset="-122"/>
                <a:ea typeface="华文楷体" panose="02010600040101010101" charset="-122"/>
                <a:cs typeface="华文楷体" panose="02010600040101010101" charset="-122"/>
                <a:sym typeface="+mn-ea"/>
              </a:rPr>
              <a:t>2</a:t>
            </a:r>
            <a:r>
              <a:rPr lang="zh-CN" altLang="en-US" sz="2000" i="1" baseline="30000" dirty="0">
                <a:latin typeface="华文楷体" panose="02010600040101010101" charset="-122"/>
                <a:ea typeface="华文楷体" panose="02010600040101010101" charset="-122"/>
                <a:cs typeface="华文楷体" panose="02010600040101010101" charset="-122"/>
                <a:sym typeface="+mn-ea"/>
              </a:rPr>
              <a:t>n</a:t>
            </a:r>
            <a:r>
              <a:rPr lang="zh-CN" altLang="en-US" sz="2000" dirty="0">
                <a:latin typeface="华文楷体" panose="02010600040101010101" charset="-122"/>
                <a:ea typeface="华文楷体" panose="02010600040101010101" charset="-122"/>
                <a:cs typeface="华文楷体" panose="02010600040101010101" charset="-122"/>
                <a:sym typeface="+mn-ea"/>
              </a:rPr>
              <a:t>-2</a:t>
            </a:r>
            <a:r>
              <a:rPr lang="zh-CN" altLang="en-US" sz="2000" i="1" baseline="30000" dirty="0">
                <a:latin typeface="华文楷体" panose="02010600040101010101" charset="-122"/>
                <a:ea typeface="华文楷体" panose="02010600040101010101" charset="-122"/>
                <a:cs typeface="华文楷体" panose="02010600040101010101" charset="-122"/>
                <a:sym typeface="+mn-ea"/>
              </a:rPr>
              <a:t>k</a:t>
            </a:r>
            <a:r>
              <a:rPr lang="en-US" altLang="zh-CN" sz="2000" i="1" baseline="30000" dirty="0">
                <a:latin typeface="华文楷体" panose="02010600040101010101" charset="-122"/>
                <a:ea typeface="华文楷体" panose="02010600040101010101" charset="-122"/>
                <a:cs typeface="华文楷体" panose="02010600040101010101" charset="-122"/>
                <a:sym typeface="+mn-ea"/>
              </a:rPr>
              <a:t> </a:t>
            </a:r>
            <a:r>
              <a:rPr lang="zh-CN" altLang="en-US" sz="2000" dirty="0">
                <a:latin typeface="华文楷体" panose="02010600040101010101" charset="-122"/>
                <a:ea typeface="华文楷体" panose="02010600040101010101" charset="-122"/>
                <a:cs typeface="华文楷体" panose="02010600040101010101" charset="-122"/>
                <a:sym typeface="+mn-ea"/>
              </a:rPr>
              <a:t>个未被选用的码字称为</a:t>
            </a:r>
            <a:r>
              <a:rPr lang="zh-CN" altLang="en-US" sz="2000" b="1" dirty="0">
                <a:solidFill>
                  <a:srgbClr val="FF0000"/>
                </a:solidFill>
                <a:latin typeface="华文楷体" panose="02010600040101010101" charset="-122"/>
                <a:ea typeface="华文楷体" panose="02010600040101010101" charset="-122"/>
                <a:cs typeface="华文楷体" panose="02010600040101010101" charset="-122"/>
                <a:sym typeface="+mn-ea"/>
              </a:rPr>
              <a:t>禁用码字</a:t>
            </a:r>
            <a:endParaRPr lang="zh-CN" altLang="en-US" sz="2000" b="1" dirty="0">
              <a:solidFill>
                <a:srgbClr val="FF0000"/>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843">
                                            <p:txEl>
                                              <p:charRg st="0" end="9"/>
                                            </p:txEl>
                                          </p:spTgt>
                                        </p:tgtEl>
                                        <p:attrNameLst>
                                          <p:attrName>style.visibility</p:attrName>
                                        </p:attrNameLst>
                                      </p:cBhvr>
                                      <p:to>
                                        <p:strVal val="visible"/>
                                      </p:to>
                                    </p:set>
                                    <p:anim calcmode="lin" valueType="num">
                                      <p:cBhvr additive="base">
                                        <p:cTn id="7" dur="500" fill="hold"/>
                                        <p:tgtEl>
                                          <p:spTgt spid="35843">
                                            <p:txEl>
                                              <p:charRg st="0"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3">
                                            <p:txEl>
                                              <p:charRg st="0" end="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844"/>
                                        </p:tgtEl>
                                        <p:attrNameLst>
                                          <p:attrName>style.visibility</p:attrName>
                                        </p:attrNameLst>
                                      </p:cBhvr>
                                      <p:to>
                                        <p:strVal val="visible"/>
                                      </p:to>
                                    </p:set>
                                    <p:anim calcmode="lin" valueType="num">
                                      <p:cBhvr additive="base">
                                        <p:cTn id="13" dur="500" fill="hold"/>
                                        <p:tgtEl>
                                          <p:spTgt spid="35844"/>
                                        </p:tgtEl>
                                        <p:attrNameLst>
                                          <p:attrName>ppt_x</p:attrName>
                                        </p:attrNameLst>
                                      </p:cBhvr>
                                      <p:tavLst>
                                        <p:tav tm="0">
                                          <p:val>
                                            <p:strVal val="#ppt_x"/>
                                          </p:val>
                                        </p:tav>
                                        <p:tav tm="100000">
                                          <p:val>
                                            <p:strVal val="#ppt_x"/>
                                          </p:val>
                                        </p:tav>
                                      </p:tavLst>
                                    </p:anim>
                                    <p:anim calcmode="lin" valueType="num">
                                      <p:cBhvr additive="base">
                                        <p:cTn id="14" dur="500" fill="hold"/>
                                        <p:tgtEl>
                                          <p:spTgt spid="3584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843">
                                            <p:txEl>
                                              <p:charRg st="13" end="27"/>
                                            </p:txEl>
                                          </p:spTgt>
                                        </p:tgtEl>
                                        <p:attrNameLst>
                                          <p:attrName>style.visibility</p:attrName>
                                        </p:attrNameLst>
                                      </p:cBhvr>
                                      <p:to>
                                        <p:strVal val="visible"/>
                                      </p:to>
                                    </p:set>
                                    <p:anim calcmode="lin" valueType="num">
                                      <p:cBhvr additive="base">
                                        <p:cTn id="19" dur="500" fill="hold"/>
                                        <p:tgtEl>
                                          <p:spTgt spid="35843">
                                            <p:txEl>
                                              <p:charRg st="13" end="2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843">
                                            <p:txEl>
                                              <p:charRg st="13" end="2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843">
                                            <p:txEl>
                                              <p:charRg st="27" end="41"/>
                                            </p:txEl>
                                          </p:spTgt>
                                        </p:tgtEl>
                                        <p:attrNameLst>
                                          <p:attrName>style.visibility</p:attrName>
                                        </p:attrNameLst>
                                      </p:cBhvr>
                                      <p:to>
                                        <p:strVal val="visible"/>
                                      </p:to>
                                    </p:set>
                                    <p:anim calcmode="lin" valueType="num">
                                      <p:cBhvr additive="base">
                                        <p:cTn id="25" dur="500" fill="hold"/>
                                        <p:tgtEl>
                                          <p:spTgt spid="35843">
                                            <p:txEl>
                                              <p:charRg st="27" end="4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843">
                                            <p:txEl>
                                              <p:charRg st="27" end="4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5843">
                                            <p:txEl>
                                              <p:charRg st="41" end="53"/>
                                            </p:txEl>
                                          </p:spTgt>
                                        </p:tgtEl>
                                        <p:attrNameLst>
                                          <p:attrName>style.visibility</p:attrName>
                                        </p:attrNameLst>
                                      </p:cBhvr>
                                      <p:to>
                                        <p:strVal val="visible"/>
                                      </p:to>
                                    </p:set>
                                    <p:anim calcmode="lin" valueType="num">
                                      <p:cBhvr additive="base">
                                        <p:cTn id="31" dur="500" fill="hold"/>
                                        <p:tgtEl>
                                          <p:spTgt spid="35843">
                                            <p:txEl>
                                              <p:charRg st="41" end="5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843">
                                            <p:txEl>
                                              <p:charRg st="41" end="5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5843">
                                            <p:txEl>
                                              <p:charRg st="53" end="80"/>
                                            </p:txEl>
                                          </p:spTgt>
                                        </p:tgtEl>
                                        <p:attrNameLst>
                                          <p:attrName>style.visibility</p:attrName>
                                        </p:attrNameLst>
                                      </p:cBhvr>
                                      <p:to>
                                        <p:strVal val="visible"/>
                                      </p:to>
                                    </p:set>
                                    <p:anim calcmode="lin" valueType="num">
                                      <p:cBhvr additive="base">
                                        <p:cTn id="37" dur="500" fill="hold"/>
                                        <p:tgtEl>
                                          <p:spTgt spid="35843">
                                            <p:txEl>
                                              <p:charRg st="53" end="8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843">
                                            <p:txEl>
                                              <p:charRg st="53" end="8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p:txBody>
          <a:bodyPr/>
          <a:p>
            <a:pPr marL="0" algn="l" latinLnBrk="0">
              <a:lnSpc>
                <a:spcPct val="150000"/>
              </a:lnSpc>
              <a:spcBef>
                <a:spcPts val="0"/>
              </a:spcBef>
              <a:spcAft>
                <a:spcPts val="600"/>
              </a:spcAft>
              <a:buClrTx/>
              <a:buSzTx/>
              <a:buFont typeface="Wingdings" panose="05000000000000000000" charset="0"/>
              <a:buChar char="p"/>
            </a:pPr>
            <a:r>
              <a:rPr lang="zh-CN" altLang="en-US" sz="2400" b="1" u="sng" dirty="0">
                <a:cs typeface="华文楷体" panose="02010600040101010101" charset="-122"/>
                <a:sym typeface="+mn-ea"/>
              </a:rPr>
              <a:t>最小距离与检、纠错能力</a:t>
            </a:r>
            <a:endParaRPr lang="zh-CN" altLang="en-US" sz="2400" b="1" u="sng" dirty="0">
              <a:cs typeface="华文楷体" panose="02010600040101010101" charset="-122"/>
            </a:endParaRPr>
          </a:p>
          <a:p>
            <a:pPr marL="0" indent="0" algn="l" latinLnBrk="0">
              <a:lnSpc>
                <a:spcPct val="150000"/>
              </a:lnSpc>
              <a:spcBef>
                <a:spcPts val="0"/>
              </a:spcBef>
              <a:buClrTx/>
              <a:buSzTx/>
              <a:buFont typeface="Wingdings" panose="05000000000000000000" pitchFamily="2" charset="2"/>
              <a:buNone/>
            </a:pPr>
            <a:r>
              <a:rPr lang="en-US" altLang="zh-CN" sz="2000" dirty="0">
                <a:cs typeface="华文楷体" panose="02010600040101010101" charset="-122"/>
                <a:sym typeface="+mn-ea"/>
              </a:rPr>
              <a:t>    </a:t>
            </a:r>
            <a:r>
              <a:rPr lang="zh-CN" altLang="en-US" sz="2000" dirty="0">
                <a:solidFill>
                  <a:srgbClr val="C00000"/>
                </a:solidFill>
                <a:cs typeface="华文楷体" panose="02010600040101010101" charset="-122"/>
                <a:sym typeface="+mn-ea"/>
              </a:rPr>
              <a:t>纠错误的抗干扰能力完全取决于许用码字之间的码距</a:t>
            </a:r>
            <a:r>
              <a:rPr lang="zh-CN" altLang="en-US" sz="2000" dirty="0">
                <a:cs typeface="华文楷体" panose="02010600040101010101" charset="-122"/>
                <a:sym typeface="+mn-ea"/>
              </a:rPr>
              <a:t>，码距的最小值越大，说明码字间的最小差别越大，抗干扰能力就越强。</a:t>
            </a:r>
            <a:endParaRPr lang="zh-CN" altLang="en-US" sz="2000" dirty="0">
              <a:cs typeface="华文楷体" panose="02010600040101010101" charset="-122"/>
            </a:endParaRPr>
          </a:p>
          <a:p>
            <a:pPr marL="0" indent="0" algn="l" latinLnBrk="0">
              <a:lnSpc>
                <a:spcPct val="150000"/>
              </a:lnSpc>
              <a:spcBef>
                <a:spcPts val="0"/>
              </a:spcBef>
              <a:buClrTx/>
              <a:buSzTx/>
              <a:buFont typeface="Wingdings" panose="05000000000000000000" pitchFamily="2" charset="2"/>
              <a:buNone/>
            </a:pPr>
            <a:r>
              <a:rPr lang="en-US" altLang="zh-CN" sz="2000" b="1" dirty="0">
                <a:cs typeface="华文楷体" panose="02010600040101010101" charset="-122"/>
                <a:sym typeface="+mn-ea"/>
              </a:rPr>
              <a:t>   </a:t>
            </a:r>
            <a:endParaRPr lang="en-US" altLang="zh-CN" sz="2000" b="1" dirty="0">
              <a:cs typeface="华文楷体" panose="02010600040101010101" charset="-122"/>
              <a:sym typeface="+mn-ea"/>
            </a:endParaRPr>
          </a:p>
          <a:p>
            <a:pPr marL="0" indent="0" algn="l" latinLnBrk="0">
              <a:lnSpc>
                <a:spcPct val="150000"/>
              </a:lnSpc>
              <a:spcBef>
                <a:spcPts val="0"/>
              </a:spcBef>
              <a:buClrTx/>
              <a:buSzTx/>
              <a:buFont typeface="Wingdings" panose="05000000000000000000" pitchFamily="2" charset="2"/>
              <a:buNone/>
            </a:pPr>
            <a:r>
              <a:rPr lang="zh-CN" altLang="en-US" sz="2000" dirty="0">
                <a:cs typeface="华文楷体" panose="02010600040101010101" charset="-122"/>
                <a:sym typeface="+mn-ea"/>
              </a:rPr>
              <a:t> </a:t>
            </a:r>
            <a:r>
              <a:rPr lang="en-US" altLang="zh-CN" sz="2000" dirty="0">
                <a:cs typeface="华文楷体" panose="02010600040101010101" charset="-122"/>
                <a:sym typeface="+mn-ea"/>
              </a:rPr>
              <a:t>  </a:t>
            </a:r>
            <a:r>
              <a:rPr lang="zh-CN" altLang="en-US" sz="2000" dirty="0">
                <a:cs typeface="华文楷体" panose="02010600040101010101" charset="-122"/>
              </a:rPr>
              <a:t>分组码的最小码距</a:t>
            </a:r>
            <a:r>
              <a:rPr lang="en-US" sz="2000" dirty="0">
                <a:cs typeface="华文楷体" panose="02010600040101010101" charset="-122"/>
              </a:rPr>
              <a:t> </a:t>
            </a:r>
            <a:r>
              <a:rPr sz="2000" dirty="0">
                <a:cs typeface="华文楷体" panose="02010600040101010101" charset="-122"/>
              </a:rPr>
              <a:t> </a:t>
            </a:r>
            <a:r>
              <a:rPr lang="zh-CN" altLang="en-US" sz="2000" i="1" dirty="0">
                <a:cs typeface="华文楷体" panose="02010600040101010101" charset="-122"/>
                <a:sym typeface="Wingdings" panose="05000000000000000000" pitchFamily="2" charset="2"/>
              </a:rPr>
              <a:t>d</a:t>
            </a:r>
            <a:r>
              <a:rPr lang="zh-CN" altLang="en-US" sz="2000" i="1" baseline="-25000" dirty="0">
                <a:cs typeface="华文楷体" panose="02010600040101010101" charset="-122"/>
                <a:sym typeface="Wingdings" panose="05000000000000000000" pitchFamily="2" charset="2"/>
              </a:rPr>
              <a:t>min</a:t>
            </a:r>
            <a:r>
              <a:rPr lang="en-US" altLang="zh-CN" sz="2000" i="1" baseline="-25000" dirty="0">
                <a:cs typeface="华文楷体" panose="02010600040101010101" charset="-122"/>
                <a:sym typeface="Wingdings" panose="05000000000000000000" pitchFamily="2" charset="2"/>
              </a:rPr>
              <a:t> </a:t>
            </a:r>
            <a:r>
              <a:rPr lang="zh-CN" altLang="en-US" sz="2000" dirty="0">
                <a:cs typeface="华文楷体" panose="02010600040101010101" charset="-122"/>
              </a:rPr>
              <a:t>与检错和纠错能力之间满足下列关系：</a:t>
            </a:r>
            <a:endParaRPr sz="2000" dirty="0">
              <a:cs typeface="华文楷体" panose="02010600040101010101" charset="-122"/>
            </a:endParaRPr>
          </a:p>
          <a:p>
            <a:pPr marL="0" algn="l" latinLnBrk="0">
              <a:lnSpc>
                <a:spcPct val="150000"/>
              </a:lnSpc>
              <a:spcBef>
                <a:spcPts val="0"/>
              </a:spcBef>
              <a:buClrTx/>
              <a:buSzTx/>
              <a:buFont typeface="Wingdings" panose="05000000000000000000" pitchFamily="2" charset="2"/>
              <a:buNone/>
            </a:pPr>
            <a:r>
              <a:rPr lang="en-US" altLang="zh-CN" sz="2000" dirty="0">
                <a:cs typeface="华文楷体" panose="02010600040101010101" charset="-122"/>
                <a:sym typeface="Wingdings" panose="05000000000000000000" pitchFamily="2" charset="2"/>
              </a:rPr>
              <a:t>   </a:t>
            </a:r>
            <a:r>
              <a:rPr lang="zh-CN" altLang="en-US" sz="2000" dirty="0">
                <a:cs typeface="华文楷体" panose="02010600040101010101" charset="-122"/>
                <a:sym typeface="Wingdings" panose="05000000000000000000" pitchFamily="2" charset="2"/>
              </a:rPr>
              <a:t>（1）</a:t>
            </a:r>
            <a:r>
              <a:rPr lang="zh-CN" altLang="en-US" sz="2000" dirty="0">
                <a:solidFill>
                  <a:srgbClr val="C00000"/>
                </a:solidFill>
                <a:cs typeface="华文楷体" panose="02010600040101010101" charset="-122"/>
                <a:sym typeface="Wingdings" panose="05000000000000000000" pitchFamily="2" charset="2"/>
              </a:rPr>
              <a:t>若能检测（发现）</a:t>
            </a:r>
            <a:r>
              <a:rPr lang="zh-CN" altLang="en-US" sz="2000" i="1" dirty="0">
                <a:solidFill>
                  <a:srgbClr val="C00000"/>
                </a:solidFill>
                <a:cs typeface="华文楷体" panose="02010600040101010101" charset="-122"/>
                <a:sym typeface="Wingdings" panose="05000000000000000000" pitchFamily="2" charset="2"/>
              </a:rPr>
              <a:t>e</a:t>
            </a:r>
            <a:r>
              <a:rPr lang="en-US" altLang="zh-CN" sz="2000" i="1" dirty="0">
                <a:solidFill>
                  <a:srgbClr val="C00000"/>
                </a:solidFill>
                <a:cs typeface="华文楷体" panose="02010600040101010101" charset="-122"/>
                <a:sym typeface="Wingdings" panose="05000000000000000000" pitchFamily="2" charset="2"/>
              </a:rPr>
              <a:t> </a:t>
            </a:r>
            <a:r>
              <a:rPr lang="zh-CN" altLang="en-US" sz="2000" dirty="0">
                <a:solidFill>
                  <a:srgbClr val="C00000"/>
                </a:solidFill>
                <a:cs typeface="华文楷体" panose="02010600040101010101" charset="-122"/>
                <a:sym typeface="Wingdings" panose="05000000000000000000" pitchFamily="2" charset="2"/>
              </a:rPr>
              <a:t>个错误，则要求</a:t>
            </a:r>
            <a:r>
              <a:rPr lang="en-US" altLang="zh-CN" sz="2000" dirty="0">
                <a:solidFill>
                  <a:srgbClr val="C00000"/>
                </a:solidFill>
                <a:cs typeface="华文楷体" panose="02010600040101010101" charset="-122"/>
                <a:sym typeface="Wingdings" panose="05000000000000000000" pitchFamily="2" charset="2"/>
              </a:rPr>
              <a:t> </a:t>
            </a:r>
            <a:r>
              <a:rPr lang="zh-CN" altLang="en-US" sz="2000" i="1" dirty="0">
                <a:solidFill>
                  <a:srgbClr val="C00000"/>
                </a:solidFill>
                <a:cs typeface="华文楷体" panose="02010600040101010101" charset="-122"/>
                <a:sym typeface="Wingdings" panose="05000000000000000000" pitchFamily="2" charset="2"/>
              </a:rPr>
              <a:t>d</a:t>
            </a:r>
            <a:r>
              <a:rPr lang="zh-CN" altLang="en-US" sz="2000" i="1" baseline="-25000" dirty="0">
                <a:solidFill>
                  <a:srgbClr val="C00000"/>
                </a:solidFill>
                <a:cs typeface="华文楷体" panose="02010600040101010101" charset="-122"/>
                <a:sym typeface="Wingdings" panose="05000000000000000000" pitchFamily="2" charset="2"/>
              </a:rPr>
              <a:t>min</a:t>
            </a:r>
            <a:r>
              <a:rPr lang="zh-CN" altLang="en-US" sz="2000" dirty="0">
                <a:solidFill>
                  <a:srgbClr val="C00000"/>
                </a:solidFill>
                <a:cs typeface="华文楷体" panose="02010600040101010101" charset="-122"/>
                <a:sym typeface="Wingdings" panose="05000000000000000000" pitchFamily="2" charset="2"/>
              </a:rPr>
              <a:t> ≥ </a:t>
            </a:r>
            <a:r>
              <a:rPr lang="zh-CN" altLang="en-US" sz="2000" i="1" dirty="0">
                <a:solidFill>
                  <a:srgbClr val="C00000"/>
                </a:solidFill>
                <a:cs typeface="华文楷体" panose="02010600040101010101" charset="-122"/>
                <a:sym typeface="Wingdings" panose="05000000000000000000" pitchFamily="2" charset="2"/>
              </a:rPr>
              <a:t>e</a:t>
            </a:r>
            <a:r>
              <a:rPr lang="zh-CN" altLang="en-US" sz="2000" dirty="0">
                <a:solidFill>
                  <a:srgbClr val="C00000"/>
                </a:solidFill>
                <a:cs typeface="华文楷体" panose="02010600040101010101" charset="-122"/>
                <a:sym typeface="Wingdings" panose="05000000000000000000" pitchFamily="2" charset="2"/>
              </a:rPr>
              <a:t>+1</a:t>
            </a:r>
            <a:endParaRPr lang="zh-CN" altLang="en-US" sz="2000" dirty="0">
              <a:solidFill>
                <a:srgbClr val="C00000"/>
              </a:solidFill>
              <a:cs typeface="华文楷体" panose="02010600040101010101" charset="-122"/>
              <a:sym typeface="Wingdings" panose="05000000000000000000" pitchFamily="2" charset="2"/>
            </a:endParaRPr>
          </a:p>
          <a:p>
            <a:pPr marL="0" algn="l" latinLnBrk="0">
              <a:lnSpc>
                <a:spcPct val="150000"/>
              </a:lnSpc>
              <a:spcBef>
                <a:spcPts val="0"/>
              </a:spcBef>
              <a:buClrTx/>
              <a:buSzTx/>
              <a:buFont typeface="Wingdings" panose="05000000000000000000" pitchFamily="2" charset="2"/>
              <a:buNone/>
            </a:pPr>
            <a:r>
              <a:rPr lang="zh-CN" altLang="en-US" sz="2000" dirty="0">
                <a:cs typeface="华文楷体" panose="02010600040101010101" charset="-122"/>
                <a:sym typeface="Wingdings" panose="05000000000000000000" pitchFamily="2" charset="2"/>
              </a:rPr>
              <a:t> </a:t>
            </a:r>
            <a:r>
              <a:rPr lang="en-US" altLang="zh-CN" sz="2000" dirty="0">
                <a:cs typeface="华文楷体" panose="02010600040101010101" charset="-122"/>
                <a:sym typeface="Wingdings" panose="05000000000000000000" pitchFamily="2" charset="2"/>
              </a:rPr>
              <a:t>  </a:t>
            </a:r>
            <a:r>
              <a:rPr lang="zh-CN" altLang="en-US" sz="2000" dirty="0">
                <a:cs typeface="华文楷体" panose="02010600040101010101" charset="-122"/>
                <a:sym typeface="Wingdings" panose="05000000000000000000" pitchFamily="2" charset="2"/>
              </a:rPr>
              <a:t>（2）</a:t>
            </a:r>
            <a:r>
              <a:rPr lang="zh-CN" altLang="en-US" sz="2000" dirty="0">
                <a:solidFill>
                  <a:srgbClr val="7030A0"/>
                </a:solidFill>
                <a:cs typeface="华文楷体" panose="02010600040101010101" charset="-122"/>
                <a:sym typeface="Wingdings" panose="05000000000000000000" pitchFamily="2" charset="2"/>
              </a:rPr>
              <a:t>若能纠正</a:t>
            </a:r>
            <a:r>
              <a:rPr lang="en-US" altLang="zh-CN" sz="2000" dirty="0">
                <a:solidFill>
                  <a:srgbClr val="7030A0"/>
                </a:solidFill>
                <a:cs typeface="华文楷体" panose="02010600040101010101" charset="-122"/>
                <a:sym typeface="Wingdings" panose="05000000000000000000" pitchFamily="2" charset="2"/>
              </a:rPr>
              <a:t> </a:t>
            </a:r>
            <a:r>
              <a:rPr lang="zh-CN" altLang="en-US" sz="2000" i="1" dirty="0">
                <a:solidFill>
                  <a:srgbClr val="7030A0"/>
                </a:solidFill>
                <a:cs typeface="华文楷体" panose="02010600040101010101" charset="-122"/>
                <a:sym typeface="Wingdings" panose="05000000000000000000" pitchFamily="2" charset="2"/>
              </a:rPr>
              <a:t>t</a:t>
            </a:r>
            <a:r>
              <a:rPr lang="en-US" altLang="zh-CN" sz="2000" i="1" dirty="0">
                <a:solidFill>
                  <a:srgbClr val="7030A0"/>
                </a:solidFill>
                <a:cs typeface="华文楷体" panose="02010600040101010101" charset="-122"/>
                <a:sym typeface="Wingdings" panose="05000000000000000000" pitchFamily="2" charset="2"/>
              </a:rPr>
              <a:t> </a:t>
            </a:r>
            <a:r>
              <a:rPr lang="zh-CN" altLang="en-US" sz="2000" dirty="0">
                <a:solidFill>
                  <a:srgbClr val="7030A0"/>
                </a:solidFill>
                <a:cs typeface="华文楷体" panose="02010600040101010101" charset="-122"/>
                <a:sym typeface="Wingdings" panose="05000000000000000000" pitchFamily="2" charset="2"/>
              </a:rPr>
              <a:t>个错误，则要求</a:t>
            </a:r>
            <a:r>
              <a:rPr lang="en-US" altLang="zh-CN" sz="2000" dirty="0">
                <a:solidFill>
                  <a:srgbClr val="7030A0"/>
                </a:solidFill>
                <a:cs typeface="华文楷体" panose="02010600040101010101" charset="-122"/>
                <a:sym typeface="Wingdings" panose="05000000000000000000" pitchFamily="2" charset="2"/>
              </a:rPr>
              <a:t> </a:t>
            </a:r>
            <a:r>
              <a:rPr lang="zh-CN" altLang="en-US" sz="2000" i="1" dirty="0">
                <a:solidFill>
                  <a:srgbClr val="7030A0"/>
                </a:solidFill>
                <a:cs typeface="华文楷体" panose="02010600040101010101" charset="-122"/>
                <a:sym typeface="Wingdings" panose="05000000000000000000" pitchFamily="2" charset="2"/>
              </a:rPr>
              <a:t>d</a:t>
            </a:r>
            <a:r>
              <a:rPr lang="zh-CN" altLang="en-US" sz="2000" i="1" baseline="-25000" dirty="0">
                <a:solidFill>
                  <a:srgbClr val="7030A0"/>
                </a:solidFill>
                <a:cs typeface="华文楷体" panose="02010600040101010101" charset="-122"/>
                <a:sym typeface="Wingdings" panose="05000000000000000000" pitchFamily="2" charset="2"/>
              </a:rPr>
              <a:t>min</a:t>
            </a:r>
            <a:r>
              <a:rPr lang="zh-CN" altLang="en-US" sz="2000" dirty="0">
                <a:solidFill>
                  <a:srgbClr val="7030A0"/>
                </a:solidFill>
                <a:cs typeface="华文楷体" panose="02010600040101010101" charset="-122"/>
                <a:sym typeface="Wingdings" panose="05000000000000000000" pitchFamily="2" charset="2"/>
              </a:rPr>
              <a:t> ≥ 2</a:t>
            </a:r>
            <a:r>
              <a:rPr lang="zh-CN" altLang="en-US" sz="2000" i="1" dirty="0">
                <a:solidFill>
                  <a:srgbClr val="7030A0"/>
                </a:solidFill>
                <a:cs typeface="华文楷体" panose="02010600040101010101" charset="-122"/>
                <a:sym typeface="Wingdings" panose="05000000000000000000" pitchFamily="2" charset="2"/>
              </a:rPr>
              <a:t>t</a:t>
            </a:r>
            <a:r>
              <a:rPr lang="zh-CN" altLang="en-US" sz="2000" dirty="0">
                <a:solidFill>
                  <a:srgbClr val="7030A0"/>
                </a:solidFill>
                <a:cs typeface="华文楷体" panose="02010600040101010101" charset="-122"/>
                <a:sym typeface="Wingdings" panose="05000000000000000000" pitchFamily="2" charset="2"/>
              </a:rPr>
              <a:t>+1</a:t>
            </a:r>
            <a:endParaRPr lang="zh-CN" altLang="en-US" sz="2000" dirty="0">
              <a:solidFill>
                <a:srgbClr val="7030A0"/>
              </a:solidFill>
              <a:cs typeface="华文楷体" panose="02010600040101010101" charset="-122"/>
              <a:sym typeface="Wingdings" panose="05000000000000000000" pitchFamily="2" charset="2"/>
            </a:endParaRPr>
          </a:p>
          <a:p>
            <a:pPr marL="0" algn="l" latinLnBrk="0">
              <a:lnSpc>
                <a:spcPct val="150000"/>
              </a:lnSpc>
              <a:spcBef>
                <a:spcPts val="0"/>
              </a:spcBef>
              <a:buClrTx/>
              <a:buSzTx/>
              <a:buFont typeface="Wingdings" panose="05000000000000000000" pitchFamily="2" charset="2"/>
              <a:buNone/>
            </a:pPr>
            <a:r>
              <a:rPr lang="zh-CN" altLang="en-US" sz="2000" dirty="0">
                <a:cs typeface="华文楷体" panose="02010600040101010101" charset="-122"/>
                <a:sym typeface="Wingdings" panose="05000000000000000000" pitchFamily="2" charset="2"/>
              </a:rPr>
              <a:t> </a:t>
            </a:r>
            <a:r>
              <a:rPr lang="en-US" altLang="zh-CN" sz="2000" dirty="0">
                <a:cs typeface="华文楷体" panose="02010600040101010101" charset="-122"/>
                <a:sym typeface="Wingdings" panose="05000000000000000000" pitchFamily="2" charset="2"/>
              </a:rPr>
              <a:t>  </a:t>
            </a:r>
            <a:r>
              <a:rPr lang="zh-CN" altLang="en-US" sz="2000" dirty="0">
                <a:cs typeface="华文楷体" panose="02010600040101010101" charset="-122"/>
                <a:sym typeface="Wingdings" panose="05000000000000000000" pitchFamily="2" charset="2"/>
              </a:rPr>
              <a:t>（3）</a:t>
            </a:r>
            <a:r>
              <a:rPr lang="zh-CN" altLang="en-US" sz="2000" dirty="0">
                <a:solidFill>
                  <a:srgbClr val="0070C0"/>
                </a:solidFill>
                <a:cs typeface="华文楷体" panose="02010600040101010101" charset="-122"/>
                <a:sym typeface="Wingdings" panose="05000000000000000000" pitchFamily="2" charset="2"/>
              </a:rPr>
              <a:t>若能纠正</a:t>
            </a:r>
            <a:r>
              <a:rPr lang="en-US" altLang="zh-CN" sz="2000" dirty="0">
                <a:solidFill>
                  <a:srgbClr val="0070C0"/>
                </a:solidFill>
                <a:cs typeface="华文楷体" panose="02010600040101010101" charset="-122"/>
                <a:sym typeface="Wingdings" panose="05000000000000000000" pitchFamily="2" charset="2"/>
              </a:rPr>
              <a:t> </a:t>
            </a:r>
            <a:r>
              <a:rPr lang="zh-CN" altLang="en-US" sz="2000" i="1" dirty="0">
                <a:solidFill>
                  <a:srgbClr val="0070C0"/>
                </a:solidFill>
                <a:cs typeface="华文楷体" panose="02010600040101010101" charset="-122"/>
                <a:sym typeface="Wingdings" panose="05000000000000000000" pitchFamily="2" charset="2"/>
              </a:rPr>
              <a:t>t</a:t>
            </a:r>
            <a:r>
              <a:rPr lang="en-US" altLang="zh-CN" sz="2000" i="1" dirty="0">
                <a:solidFill>
                  <a:srgbClr val="0070C0"/>
                </a:solidFill>
                <a:cs typeface="华文楷体" panose="02010600040101010101" charset="-122"/>
                <a:sym typeface="Wingdings" panose="05000000000000000000" pitchFamily="2" charset="2"/>
              </a:rPr>
              <a:t> </a:t>
            </a:r>
            <a:r>
              <a:rPr lang="zh-CN" altLang="en-US" sz="2000" dirty="0">
                <a:solidFill>
                  <a:srgbClr val="0070C0"/>
                </a:solidFill>
                <a:cs typeface="华文楷体" panose="02010600040101010101" charset="-122"/>
                <a:sym typeface="Wingdings" panose="05000000000000000000" pitchFamily="2" charset="2"/>
              </a:rPr>
              <a:t>个错误,</a:t>
            </a:r>
            <a:r>
              <a:rPr lang="en-US" altLang="zh-CN" sz="2000" dirty="0">
                <a:solidFill>
                  <a:srgbClr val="0070C0"/>
                </a:solidFill>
                <a:cs typeface="华文楷体" panose="02010600040101010101" charset="-122"/>
                <a:sym typeface="Wingdings" panose="05000000000000000000" pitchFamily="2" charset="2"/>
              </a:rPr>
              <a:t> </a:t>
            </a:r>
            <a:r>
              <a:rPr lang="zh-CN" altLang="en-US" sz="2000" dirty="0">
                <a:solidFill>
                  <a:srgbClr val="0070C0"/>
                </a:solidFill>
                <a:cs typeface="华文楷体" panose="02010600040101010101" charset="-122"/>
                <a:sym typeface="Wingdings" panose="05000000000000000000" pitchFamily="2" charset="2"/>
              </a:rPr>
              <a:t>同时能检测</a:t>
            </a:r>
            <a:r>
              <a:rPr lang="en-US" altLang="zh-CN" sz="2000" dirty="0">
                <a:solidFill>
                  <a:srgbClr val="0070C0"/>
                </a:solidFill>
                <a:cs typeface="华文楷体" panose="02010600040101010101" charset="-122"/>
                <a:sym typeface="Wingdings" panose="05000000000000000000" pitchFamily="2" charset="2"/>
              </a:rPr>
              <a:t> </a:t>
            </a:r>
            <a:r>
              <a:rPr lang="zh-CN" altLang="en-US" sz="2000" i="1" dirty="0">
                <a:solidFill>
                  <a:srgbClr val="0070C0"/>
                </a:solidFill>
                <a:cs typeface="华文楷体" panose="02010600040101010101" charset="-122"/>
                <a:sym typeface="Wingdings" panose="05000000000000000000" pitchFamily="2" charset="2"/>
              </a:rPr>
              <a:t>e</a:t>
            </a:r>
            <a:r>
              <a:rPr lang="zh-CN" altLang="en-US" sz="2000" dirty="0">
                <a:solidFill>
                  <a:srgbClr val="0070C0"/>
                </a:solidFill>
                <a:cs typeface="华文楷体" panose="02010600040101010101" charset="-122"/>
                <a:sym typeface="Wingdings" panose="05000000000000000000" pitchFamily="2" charset="2"/>
              </a:rPr>
              <a:t>（</a:t>
            </a:r>
            <a:r>
              <a:rPr lang="zh-CN" altLang="en-US" sz="2000" i="1" dirty="0">
                <a:solidFill>
                  <a:srgbClr val="0070C0"/>
                </a:solidFill>
                <a:cs typeface="华文楷体" panose="02010600040101010101" charset="-122"/>
                <a:sym typeface="Wingdings" panose="05000000000000000000" pitchFamily="2" charset="2"/>
              </a:rPr>
              <a:t>e</a:t>
            </a:r>
            <a:r>
              <a:rPr lang="zh-CN" altLang="en-US" sz="2000" dirty="0">
                <a:solidFill>
                  <a:srgbClr val="0070C0"/>
                </a:solidFill>
                <a:cs typeface="华文楷体" panose="02010600040101010101" charset="-122"/>
                <a:sym typeface="Wingdings" panose="05000000000000000000" pitchFamily="2" charset="2"/>
              </a:rPr>
              <a:t>≥</a:t>
            </a:r>
            <a:r>
              <a:rPr lang="zh-CN" altLang="en-US" sz="2000" i="1" dirty="0">
                <a:solidFill>
                  <a:srgbClr val="0070C0"/>
                </a:solidFill>
                <a:cs typeface="华文楷体" panose="02010600040101010101" charset="-122"/>
                <a:sym typeface="Wingdings" panose="05000000000000000000" pitchFamily="2" charset="2"/>
              </a:rPr>
              <a:t>t</a:t>
            </a:r>
            <a:r>
              <a:rPr lang="zh-CN" altLang="en-US" sz="2000" dirty="0">
                <a:solidFill>
                  <a:srgbClr val="0070C0"/>
                </a:solidFill>
                <a:cs typeface="华文楷体" panose="02010600040101010101" charset="-122"/>
                <a:sym typeface="Wingdings" panose="05000000000000000000" pitchFamily="2" charset="2"/>
              </a:rPr>
              <a:t>）个错误,则要求:  </a:t>
            </a:r>
            <a:r>
              <a:rPr lang="zh-CN" altLang="en-US" sz="2000" i="1" dirty="0">
                <a:solidFill>
                  <a:srgbClr val="0070C0"/>
                </a:solidFill>
                <a:cs typeface="华文楷体" panose="02010600040101010101" charset="-122"/>
                <a:sym typeface="Wingdings" panose="05000000000000000000" pitchFamily="2" charset="2"/>
              </a:rPr>
              <a:t>d</a:t>
            </a:r>
            <a:r>
              <a:rPr lang="zh-CN" altLang="en-US" sz="2000" i="1" baseline="-25000" dirty="0">
                <a:solidFill>
                  <a:srgbClr val="0070C0"/>
                </a:solidFill>
                <a:cs typeface="华文楷体" panose="02010600040101010101" charset="-122"/>
                <a:sym typeface="Wingdings" panose="05000000000000000000" pitchFamily="2" charset="2"/>
              </a:rPr>
              <a:t>min</a:t>
            </a:r>
            <a:r>
              <a:rPr lang="zh-CN" altLang="en-US" sz="2000" dirty="0">
                <a:solidFill>
                  <a:srgbClr val="0070C0"/>
                </a:solidFill>
                <a:cs typeface="华文楷体" panose="02010600040101010101" charset="-122"/>
                <a:sym typeface="Wingdings" panose="05000000000000000000" pitchFamily="2" charset="2"/>
              </a:rPr>
              <a:t> ≥ </a:t>
            </a:r>
            <a:r>
              <a:rPr lang="zh-CN" altLang="en-US" sz="2000" i="1" dirty="0">
                <a:solidFill>
                  <a:srgbClr val="0070C0"/>
                </a:solidFill>
                <a:cs typeface="华文楷体" panose="02010600040101010101" charset="-122"/>
                <a:sym typeface="Wingdings" panose="05000000000000000000" pitchFamily="2" charset="2"/>
              </a:rPr>
              <a:t>e</a:t>
            </a:r>
            <a:r>
              <a:rPr lang="zh-CN" altLang="en-US" sz="2000" dirty="0">
                <a:solidFill>
                  <a:srgbClr val="0070C0"/>
                </a:solidFill>
                <a:cs typeface="华文楷体" panose="02010600040101010101" charset="-122"/>
                <a:sym typeface="Wingdings" panose="05000000000000000000" pitchFamily="2" charset="2"/>
              </a:rPr>
              <a:t>+</a:t>
            </a:r>
            <a:r>
              <a:rPr lang="zh-CN" altLang="en-US" sz="2000" i="1" dirty="0">
                <a:solidFill>
                  <a:srgbClr val="0070C0"/>
                </a:solidFill>
                <a:cs typeface="华文楷体" panose="02010600040101010101" charset="-122"/>
                <a:sym typeface="Wingdings" panose="05000000000000000000" pitchFamily="2" charset="2"/>
              </a:rPr>
              <a:t>t</a:t>
            </a:r>
            <a:r>
              <a:rPr lang="zh-CN" altLang="en-US" sz="2000" dirty="0">
                <a:solidFill>
                  <a:srgbClr val="0070C0"/>
                </a:solidFill>
                <a:cs typeface="华文楷体" panose="02010600040101010101" charset="-122"/>
                <a:sym typeface="Wingdings" panose="05000000000000000000" pitchFamily="2" charset="2"/>
              </a:rPr>
              <a:t>+1</a:t>
            </a:r>
            <a:endParaRPr lang="zh-CN" altLang="en-US" sz="2000" dirty="0">
              <a:cs typeface="华文楷体" panose="02010600040101010101" charset="-122"/>
              <a:sym typeface="Wingdings" panose="05000000000000000000" pitchFamily="2" charset="2"/>
            </a:endParaRPr>
          </a:p>
          <a:p>
            <a:pPr marL="0" indent="0">
              <a:buNone/>
            </a:pPr>
            <a:endParaRPr lang="zh-CN" altLang="en-US" sz="2000" dirty="0">
              <a:cs typeface="华文楷体" panose="02010600040101010101" charset="-122"/>
              <a:sym typeface="Wingdings" panose="05000000000000000000" pitchFamily="2" charset="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p:txBody>
          <a:bodyPr/>
          <a:p>
            <a:pPr marL="0" indent="0" latinLnBrk="0">
              <a:lnSpc>
                <a:spcPct val="150000"/>
              </a:lnSpc>
              <a:spcBef>
                <a:spcPts val="0"/>
              </a:spcBef>
              <a:buNone/>
            </a:pPr>
            <a:r>
              <a:rPr lang="en-US" altLang="zh-CN" sz="2000" b="1" dirty="0">
                <a:latin typeface="宋体" pitchFamily="2" charset="-122"/>
                <a:ea typeface="宋体" pitchFamily="2" charset="-122"/>
                <a:cs typeface="宋体" pitchFamily="2" charset="-122"/>
                <a:sym typeface="+mn-ea"/>
              </a:rPr>
              <a:t>   </a:t>
            </a:r>
            <a:r>
              <a:rPr lang="zh-CN" altLang="en-US" sz="2000" b="1" u="sng" dirty="0">
                <a:latin typeface="宋体" pitchFamily="2" charset="-122"/>
                <a:ea typeface="宋体" pitchFamily="2" charset="-122"/>
                <a:cs typeface="宋体" pitchFamily="2" charset="-122"/>
                <a:sym typeface="+mn-ea"/>
              </a:rPr>
              <a:t>线性系统分组码：</a:t>
            </a:r>
            <a:r>
              <a:rPr lang="zh-CN" altLang="en-US" sz="2000" dirty="0">
                <a:latin typeface="宋体" pitchFamily="2" charset="-122"/>
                <a:ea typeface="宋体" pitchFamily="2" charset="-122"/>
                <a:cs typeface="宋体" pitchFamily="2" charset="-122"/>
                <a:sym typeface="+mn-ea"/>
              </a:rPr>
              <a:t>用标准</a:t>
            </a:r>
            <a:r>
              <a:rPr lang="zh-CN" altLang="en-US" sz="2000" dirty="0">
                <a:solidFill>
                  <a:srgbClr val="FF0000"/>
                </a:solidFill>
                <a:latin typeface="宋体" pitchFamily="2" charset="-122"/>
                <a:ea typeface="宋体" pitchFamily="2" charset="-122"/>
                <a:cs typeface="宋体" pitchFamily="2" charset="-122"/>
                <a:sym typeface="+mn-ea"/>
              </a:rPr>
              <a:t>生成矩阵 </a:t>
            </a:r>
            <a:r>
              <a:rPr lang="zh-CN" altLang="en-US" sz="2000" b="1" dirty="0">
                <a:solidFill>
                  <a:srgbClr val="FF0000"/>
                </a:solidFill>
                <a:latin typeface="Times New Roman" panose="02020603050405020304" pitchFamily="18" charset="0"/>
                <a:ea typeface="宋体" pitchFamily="2" charset="-122"/>
                <a:cs typeface="Times New Roman" panose="02020603050405020304" pitchFamily="18" charset="0"/>
                <a:sym typeface="+mn-ea"/>
              </a:rPr>
              <a:t>G</a:t>
            </a:r>
            <a:r>
              <a:rPr lang="en-US" altLang="zh-CN" sz="2000" b="1" dirty="0">
                <a:solidFill>
                  <a:srgbClr val="FF0000"/>
                </a:solidFill>
                <a:latin typeface="Times New Roman" panose="02020603050405020304" pitchFamily="18" charset="0"/>
                <a:ea typeface="宋体" pitchFamily="2" charset="-122"/>
                <a:cs typeface="Times New Roman" panose="02020603050405020304" pitchFamily="18" charset="0"/>
                <a:sym typeface="+mn-ea"/>
              </a:rPr>
              <a:t>  </a:t>
            </a:r>
            <a:r>
              <a:rPr lang="zh-CN" altLang="en-US" sz="2000" dirty="0">
                <a:latin typeface="宋体" pitchFamily="2" charset="-122"/>
                <a:ea typeface="宋体" pitchFamily="2" charset="-122"/>
                <a:cs typeface="宋体" pitchFamily="2" charset="-122"/>
                <a:sym typeface="+mn-ea"/>
              </a:rPr>
              <a:t>编码得到的码字，前面 </a:t>
            </a:r>
            <a:r>
              <a:rPr lang="zh-CN" altLang="en-US" sz="2000" i="1" dirty="0">
                <a:latin typeface="Times New Roman" panose="02020603050405020304" pitchFamily="18" charset="0"/>
                <a:ea typeface="宋体" pitchFamily="2" charset="-122"/>
                <a:cs typeface="Times New Roman" panose="02020603050405020304" pitchFamily="18" charset="0"/>
                <a:sym typeface="+mn-ea"/>
              </a:rPr>
              <a:t>k</a:t>
            </a:r>
            <a:r>
              <a:rPr lang="zh-CN" altLang="en-US" sz="2000" dirty="0">
                <a:latin typeface="宋体" pitchFamily="2" charset="-122"/>
                <a:ea typeface="宋体" pitchFamily="2" charset="-122"/>
                <a:cs typeface="宋体" pitchFamily="2" charset="-122"/>
                <a:sym typeface="+mn-ea"/>
              </a:rPr>
              <a:t> 位为信息部分，后面 </a:t>
            </a:r>
            <a:r>
              <a:rPr lang="zh-CN" altLang="en-US" sz="2000" i="1" dirty="0">
                <a:latin typeface="Times New Roman" panose="02020603050405020304" pitchFamily="18" charset="0"/>
                <a:ea typeface="宋体" pitchFamily="2" charset="-122"/>
                <a:cs typeface="Times New Roman" panose="02020603050405020304" pitchFamily="18" charset="0"/>
                <a:sym typeface="+mn-ea"/>
              </a:rPr>
              <a:t>r</a:t>
            </a:r>
            <a:r>
              <a:rPr lang="en-US" altLang="zh-CN" sz="2000" i="1" dirty="0">
                <a:latin typeface="Times New Roman" panose="02020603050405020304" pitchFamily="18" charset="0"/>
                <a:ea typeface="宋体" pitchFamily="2" charset="-122"/>
                <a:cs typeface="Times New Roman" panose="02020603050405020304" pitchFamily="18" charset="0"/>
                <a:sym typeface="+mn-ea"/>
              </a:rPr>
              <a:t> </a:t>
            </a:r>
            <a:r>
              <a:rPr lang="zh-CN" altLang="en-US" sz="2000" dirty="0">
                <a:latin typeface="Times New Roman" panose="02020603050405020304" pitchFamily="18" charset="0"/>
                <a:ea typeface="宋体" pitchFamily="2" charset="-122"/>
                <a:cs typeface="Times New Roman" panose="02020603050405020304" pitchFamily="18" charset="0"/>
                <a:sym typeface="+mn-ea"/>
              </a:rPr>
              <a:t>=</a:t>
            </a:r>
            <a:r>
              <a:rPr lang="en-US" altLang="zh-CN" sz="2000" dirty="0">
                <a:latin typeface="Times New Roman" panose="02020603050405020304" pitchFamily="18" charset="0"/>
                <a:ea typeface="宋体" pitchFamily="2" charset="-122"/>
                <a:cs typeface="Times New Roman" panose="02020603050405020304" pitchFamily="18" charset="0"/>
                <a:sym typeface="+mn-ea"/>
              </a:rPr>
              <a:t> </a:t>
            </a:r>
            <a:r>
              <a:rPr lang="zh-CN" altLang="en-US" sz="2000" i="1" dirty="0">
                <a:latin typeface="Times New Roman" panose="02020603050405020304" pitchFamily="18" charset="0"/>
                <a:ea typeface="宋体" pitchFamily="2" charset="-122"/>
                <a:cs typeface="Times New Roman" panose="02020603050405020304" pitchFamily="18" charset="0"/>
                <a:sym typeface="+mn-ea"/>
              </a:rPr>
              <a:t>n</a:t>
            </a:r>
            <a:r>
              <a:rPr lang="zh-CN" altLang="en-US" sz="2000" dirty="0">
                <a:latin typeface="Times New Roman" panose="02020603050405020304" pitchFamily="18" charset="0"/>
                <a:ea typeface="宋体"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itchFamily="2" charset="-122"/>
                <a:cs typeface="Times New Roman" panose="02020603050405020304" pitchFamily="18" charset="0"/>
                <a:sym typeface="+mn-ea"/>
              </a:rPr>
              <a:t>k </a:t>
            </a:r>
            <a:r>
              <a:rPr lang="zh-CN" altLang="en-US" sz="2000" dirty="0">
                <a:latin typeface="宋体" pitchFamily="2" charset="-122"/>
                <a:ea typeface="宋体" pitchFamily="2" charset="-122"/>
                <a:cs typeface="宋体" pitchFamily="2" charset="-122"/>
                <a:sym typeface="+mn-ea"/>
              </a:rPr>
              <a:t>位为冗余校验部分，这种</a:t>
            </a:r>
            <a:r>
              <a:rPr lang="zh-CN" altLang="en-US" sz="2000" b="1" dirty="0">
                <a:latin typeface="宋体" pitchFamily="2" charset="-122"/>
                <a:ea typeface="宋体" pitchFamily="2" charset="-122"/>
                <a:cs typeface="宋体" pitchFamily="2" charset="-122"/>
                <a:sym typeface="+mn-ea"/>
              </a:rPr>
              <a:t>消息部分在前冗余校验部分在后</a:t>
            </a:r>
            <a:r>
              <a:rPr lang="zh-CN" altLang="en-US" sz="2000" dirty="0">
                <a:latin typeface="宋体" pitchFamily="2" charset="-122"/>
                <a:ea typeface="宋体" pitchFamily="2" charset="-122"/>
                <a:cs typeface="宋体" pitchFamily="2" charset="-122"/>
                <a:sym typeface="+mn-ea"/>
              </a:rPr>
              <a:t>的线性分组码称为线性系统分组码。</a:t>
            </a:r>
            <a:endParaRPr lang="zh-CN" altLang="en-US" sz="2000" dirty="0">
              <a:latin typeface="宋体" pitchFamily="2" charset="-122"/>
              <a:ea typeface="宋体" pitchFamily="2" charset="-122"/>
              <a:cs typeface="宋体" pitchFamily="2" charset="-122"/>
              <a:sym typeface="+mn-ea"/>
            </a:endParaRPr>
          </a:p>
          <a:p>
            <a:pPr marL="0" indent="0" latinLnBrk="0">
              <a:lnSpc>
                <a:spcPct val="150000"/>
              </a:lnSpc>
              <a:spcBef>
                <a:spcPts val="0"/>
              </a:spcBef>
              <a:buNone/>
            </a:pPr>
            <a:endParaRPr lang="zh-CN" altLang="en-US" sz="2000" dirty="0">
              <a:latin typeface="宋体" pitchFamily="2" charset="-122"/>
              <a:ea typeface="宋体" pitchFamily="2" charset="-122"/>
              <a:cs typeface="宋体" pitchFamily="2" charset="-122"/>
              <a:sym typeface="+mn-ea"/>
            </a:endParaRPr>
          </a:p>
          <a:p>
            <a:pPr marL="0" indent="0" latinLnBrk="0">
              <a:lnSpc>
                <a:spcPct val="150000"/>
              </a:lnSpc>
              <a:spcBef>
                <a:spcPts val="0"/>
              </a:spcBef>
              <a:buNone/>
            </a:pPr>
            <a:endParaRPr lang="zh-CN" altLang="en-US" sz="2000" dirty="0">
              <a:latin typeface="宋体" pitchFamily="2" charset="-122"/>
              <a:ea typeface="宋体" pitchFamily="2" charset="-122"/>
              <a:cs typeface="宋体" pitchFamily="2" charset="-122"/>
              <a:sym typeface="+mn-ea"/>
            </a:endParaRPr>
          </a:p>
          <a:p>
            <a:pPr marL="0" indent="0" latinLnBrk="0">
              <a:lnSpc>
                <a:spcPct val="150000"/>
              </a:lnSpc>
              <a:spcBef>
                <a:spcPts val="0"/>
              </a:spcBef>
              <a:buNone/>
            </a:pPr>
            <a:endParaRPr lang="zh-CN" altLang="en-US" sz="2000" dirty="0">
              <a:latin typeface="宋体" pitchFamily="2" charset="-122"/>
              <a:ea typeface="宋体" pitchFamily="2" charset="-122"/>
              <a:cs typeface="宋体" pitchFamily="2" charset="-122"/>
              <a:sym typeface="+mn-ea"/>
            </a:endParaRPr>
          </a:p>
          <a:p>
            <a:pPr marL="0" indent="0" latinLnBrk="0">
              <a:lnSpc>
                <a:spcPct val="150000"/>
              </a:lnSpc>
              <a:spcBef>
                <a:spcPts val="0"/>
              </a:spcBef>
              <a:buNone/>
            </a:pPr>
            <a:r>
              <a:rPr lang="en-US" altLang="zh-CN" sz="2000" dirty="0">
                <a:latin typeface="宋体" pitchFamily="2" charset="-122"/>
                <a:ea typeface="宋体" pitchFamily="2" charset="-122"/>
                <a:cs typeface="宋体" pitchFamily="2" charset="-122"/>
                <a:sym typeface="+mn-ea"/>
              </a:rPr>
              <a:t>  </a:t>
            </a:r>
            <a:r>
              <a:rPr lang="zh-CN" altLang="en-US" sz="2000" dirty="0">
                <a:solidFill>
                  <a:srgbClr val="FF0000"/>
                </a:solidFill>
                <a:latin typeface="宋体" pitchFamily="2" charset="-122"/>
                <a:ea typeface="宋体" pitchFamily="2" charset="-122"/>
                <a:cs typeface="宋体" pitchFamily="2" charset="-122"/>
                <a:sym typeface="+mn-ea"/>
              </a:rPr>
              <a:t>高 </a:t>
            </a:r>
            <a:r>
              <a:rPr lang="zh-CN" altLang="en-US" sz="2000" i="1" dirty="0">
                <a:solidFill>
                  <a:srgbClr val="FF0000"/>
                </a:solidFill>
                <a:latin typeface="Times New Roman" panose="02020603050405020304" pitchFamily="18" charset="0"/>
                <a:ea typeface="宋体" pitchFamily="2" charset="-122"/>
                <a:cs typeface="Times New Roman" panose="02020603050405020304" pitchFamily="18" charset="0"/>
                <a:sym typeface="+mn-ea"/>
              </a:rPr>
              <a:t>k</a:t>
            </a:r>
            <a:r>
              <a:rPr lang="zh-CN" altLang="en-US" sz="2000" dirty="0">
                <a:solidFill>
                  <a:srgbClr val="FF0000"/>
                </a:solidFill>
                <a:latin typeface="宋体" pitchFamily="2" charset="-122"/>
                <a:ea typeface="宋体" pitchFamily="2" charset="-122"/>
                <a:cs typeface="宋体" pitchFamily="2" charset="-122"/>
                <a:sym typeface="+mn-ea"/>
              </a:rPr>
              <a:t> 个比特与信息比特一致</a:t>
            </a:r>
            <a:r>
              <a:rPr lang="zh-CN" altLang="en-US" sz="2000" dirty="0">
                <a:latin typeface="宋体" pitchFamily="2" charset="-122"/>
                <a:ea typeface="宋体" pitchFamily="2" charset="-122"/>
                <a:cs typeface="宋体" pitchFamily="2" charset="-122"/>
                <a:sym typeface="+mn-ea"/>
              </a:rPr>
              <a:t>，即</a:t>
            </a:r>
            <a:endParaRPr lang="zh-CN" altLang="en-US" sz="2000" dirty="0">
              <a:latin typeface="宋体" pitchFamily="2" charset="-122"/>
              <a:ea typeface="宋体" pitchFamily="2" charset="-122"/>
              <a:cs typeface="宋体" pitchFamily="2" charset="-122"/>
              <a:sym typeface="+mn-ea"/>
            </a:endParaRPr>
          </a:p>
          <a:p>
            <a:pPr marL="0" indent="0" latinLnBrk="0">
              <a:lnSpc>
                <a:spcPct val="150000"/>
              </a:lnSpc>
              <a:spcBef>
                <a:spcPts val="0"/>
              </a:spcBef>
              <a:buNone/>
            </a:pPr>
            <a:endParaRPr lang="zh-CN" altLang="en-US" sz="2000" dirty="0">
              <a:latin typeface="宋体" pitchFamily="2" charset="-122"/>
              <a:ea typeface="宋体" pitchFamily="2" charset="-122"/>
              <a:cs typeface="宋体" pitchFamily="2" charset="-122"/>
              <a:sym typeface="+mn-ea"/>
            </a:endParaRPr>
          </a:p>
          <a:p>
            <a:pPr marL="0" indent="0" latinLnBrk="0">
              <a:lnSpc>
                <a:spcPct val="150000"/>
              </a:lnSpc>
              <a:spcBef>
                <a:spcPts val="0"/>
              </a:spcBef>
              <a:buNone/>
            </a:pPr>
            <a:r>
              <a:rPr lang="en-US" altLang="zh-CN" sz="2000" dirty="0">
                <a:latin typeface="宋体" pitchFamily="2" charset="-122"/>
                <a:ea typeface="宋体" pitchFamily="2" charset="-122"/>
                <a:cs typeface="宋体" pitchFamily="2" charset="-122"/>
                <a:sym typeface="+mn-ea"/>
              </a:rPr>
              <a:t>  </a:t>
            </a:r>
            <a:r>
              <a:rPr lang="zh-CN" altLang="en-US" sz="2000" dirty="0">
                <a:solidFill>
                  <a:srgbClr val="FF0000"/>
                </a:solidFill>
                <a:latin typeface="宋体" pitchFamily="2" charset="-122"/>
                <a:ea typeface="宋体" pitchFamily="2" charset="-122"/>
                <a:cs typeface="宋体" pitchFamily="2" charset="-122"/>
                <a:sym typeface="+mn-ea"/>
              </a:rPr>
              <a:t>低 </a:t>
            </a:r>
            <a:r>
              <a:rPr lang="zh-CN" altLang="en-US" sz="2000" i="1" dirty="0">
                <a:solidFill>
                  <a:srgbClr val="FF0000"/>
                </a:solidFill>
                <a:latin typeface="Times New Roman" panose="02020603050405020304" pitchFamily="18" charset="0"/>
                <a:ea typeface="宋体" pitchFamily="2" charset="-122"/>
                <a:cs typeface="Times New Roman" panose="02020603050405020304" pitchFamily="18" charset="0"/>
                <a:sym typeface="+mn-ea"/>
              </a:rPr>
              <a:t>n</a:t>
            </a:r>
            <a:r>
              <a:rPr lang="zh-CN" altLang="en-US" sz="2000" dirty="0">
                <a:solidFill>
                  <a:srgbClr val="FF0000"/>
                </a:solidFill>
                <a:latin typeface="Times New Roman" panose="02020603050405020304" pitchFamily="18" charset="0"/>
                <a:ea typeface="宋体" pitchFamily="2" charset="-122"/>
                <a:cs typeface="Times New Roman" panose="02020603050405020304" pitchFamily="18" charset="0"/>
                <a:sym typeface="+mn-ea"/>
              </a:rPr>
              <a:t>-</a:t>
            </a:r>
            <a:r>
              <a:rPr lang="zh-CN" altLang="en-US" sz="2000" i="1" dirty="0">
                <a:solidFill>
                  <a:srgbClr val="FF0000"/>
                </a:solidFill>
                <a:latin typeface="Times New Roman" panose="02020603050405020304" pitchFamily="18" charset="0"/>
                <a:ea typeface="宋体" pitchFamily="2" charset="-122"/>
                <a:cs typeface="Times New Roman" panose="02020603050405020304" pitchFamily="18" charset="0"/>
                <a:sym typeface="+mn-ea"/>
              </a:rPr>
              <a:t>k</a:t>
            </a:r>
            <a:r>
              <a:rPr lang="zh-CN" altLang="en-US" sz="2000" dirty="0">
                <a:solidFill>
                  <a:srgbClr val="FF0000"/>
                </a:solidFill>
                <a:latin typeface="宋体" pitchFamily="2" charset="-122"/>
                <a:ea typeface="宋体" pitchFamily="2" charset="-122"/>
                <a:cs typeface="宋体" pitchFamily="2" charset="-122"/>
                <a:sym typeface="+mn-ea"/>
              </a:rPr>
              <a:t> 个比特是信息比特的线性组合</a:t>
            </a:r>
            <a:endParaRPr lang="zh-CN" altLang="en-US" sz="2000" dirty="0">
              <a:latin typeface="宋体" pitchFamily="2" charset="-122"/>
              <a:ea typeface="宋体" pitchFamily="2" charset="-122"/>
              <a:cs typeface="宋体" pitchFamily="2" charset="-122"/>
              <a:sym typeface="+mn-ea"/>
            </a:endParaRPr>
          </a:p>
          <a:p>
            <a:pPr marL="0" indent="0" latinLnBrk="0">
              <a:lnSpc>
                <a:spcPct val="150000"/>
              </a:lnSpc>
              <a:spcBef>
                <a:spcPts val="0"/>
              </a:spcBef>
              <a:buNone/>
            </a:pPr>
            <a:endParaRPr lang="zh-CN" altLang="en-US" sz="2000" dirty="0">
              <a:latin typeface="宋体" pitchFamily="2" charset="-122"/>
              <a:ea typeface="宋体" pitchFamily="2" charset="-122"/>
              <a:cs typeface="宋体" pitchFamily="2" charset="-122"/>
              <a:sym typeface="+mn-ea"/>
            </a:endParaRPr>
          </a:p>
          <a:p>
            <a:pPr marL="0" indent="0" latinLnBrk="0">
              <a:lnSpc>
                <a:spcPct val="150000"/>
              </a:lnSpc>
              <a:spcBef>
                <a:spcPts val="0"/>
              </a:spcBef>
              <a:buNone/>
            </a:pPr>
            <a:r>
              <a:rPr lang="en-US" altLang="zh-CN" sz="2000" dirty="0">
                <a:latin typeface="宋体" pitchFamily="2" charset="-122"/>
                <a:ea typeface="宋体" pitchFamily="2" charset="-122"/>
                <a:cs typeface="宋体" pitchFamily="2" charset="-122"/>
                <a:sym typeface="+mn-ea"/>
              </a:rPr>
              <a:t>  </a:t>
            </a:r>
            <a:r>
              <a:rPr lang="zh-CN" altLang="en-US" sz="2000" dirty="0">
                <a:latin typeface="宋体" pitchFamily="2" charset="-122"/>
                <a:ea typeface="宋体" pitchFamily="2" charset="-122"/>
                <a:cs typeface="宋体" pitchFamily="2" charset="-122"/>
                <a:sym typeface="+mn-ea"/>
              </a:rPr>
              <a:t>这 </a:t>
            </a:r>
            <a:r>
              <a:rPr lang="zh-CN" altLang="en-US" sz="2000" i="1" dirty="0">
                <a:latin typeface="Times New Roman" panose="02020603050405020304" pitchFamily="18" charset="0"/>
                <a:ea typeface="宋体" pitchFamily="2" charset="-122"/>
                <a:cs typeface="Times New Roman" panose="02020603050405020304" pitchFamily="18" charset="0"/>
                <a:sym typeface="+mn-ea"/>
              </a:rPr>
              <a:t>n</a:t>
            </a:r>
            <a:r>
              <a:rPr lang="zh-CN" altLang="en-US" sz="2000" dirty="0">
                <a:latin typeface="Times New Roman" panose="02020603050405020304" pitchFamily="18" charset="0"/>
                <a:ea typeface="宋体" pitchFamily="2" charset="-122"/>
                <a:cs typeface="Times New Roman" panose="02020603050405020304" pitchFamily="18" charset="0"/>
                <a:sym typeface="+mn-ea"/>
              </a:rPr>
              <a:t>-</a:t>
            </a:r>
            <a:r>
              <a:rPr lang="zh-CN" altLang="en-US" sz="2000" i="1" dirty="0">
                <a:latin typeface="Times New Roman" panose="02020603050405020304" pitchFamily="18" charset="0"/>
                <a:ea typeface="宋体" pitchFamily="2" charset="-122"/>
                <a:cs typeface="Times New Roman" panose="02020603050405020304" pitchFamily="18" charset="0"/>
                <a:sym typeface="+mn-ea"/>
              </a:rPr>
              <a:t>k</a:t>
            </a:r>
            <a:r>
              <a:rPr lang="zh-CN" altLang="en-US" sz="2000" dirty="0">
                <a:latin typeface="宋体" pitchFamily="2" charset="-122"/>
                <a:ea typeface="宋体" pitchFamily="2" charset="-122"/>
                <a:cs typeface="宋体" pitchFamily="2" charset="-122"/>
                <a:sym typeface="+mn-ea"/>
              </a:rPr>
              <a:t> 个由信息比特线性求和得到的码比特称为</a:t>
            </a:r>
            <a:r>
              <a:rPr lang="zh-CN" altLang="en-US" sz="2000" b="1" u="sng" dirty="0">
                <a:latin typeface="宋体" pitchFamily="2" charset="-122"/>
                <a:ea typeface="宋体" pitchFamily="2" charset="-122"/>
                <a:cs typeface="宋体" pitchFamily="2" charset="-122"/>
                <a:sym typeface="+mn-ea"/>
              </a:rPr>
              <a:t>一致校验比特（简称校验比特）</a:t>
            </a:r>
            <a:endParaRPr lang="zh-CN" altLang="en-US" sz="2000" dirty="0">
              <a:latin typeface="宋体" pitchFamily="2" charset="-122"/>
              <a:ea typeface="宋体" pitchFamily="2" charset="-122"/>
              <a:cs typeface="宋体" pitchFamily="2" charset="-122"/>
              <a:sym typeface="+mn-ea"/>
            </a:endParaRPr>
          </a:p>
          <a:p>
            <a:pPr marL="0" indent="0" latinLnBrk="0">
              <a:lnSpc>
                <a:spcPct val="150000"/>
              </a:lnSpc>
              <a:spcBef>
                <a:spcPts val="0"/>
              </a:spcBef>
              <a:buNone/>
            </a:pPr>
            <a:endParaRPr lang="zh-CN" altLang="en-US" sz="2000" dirty="0">
              <a:latin typeface="宋体" pitchFamily="2" charset="-122"/>
              <a:ea typeface="宋体" pitchFamily="2" charset="-122"/>
              <a:cs typeface="宋体" pitchFamily="2" charset="-122"/>
              <a:sym typeface="+mn-ea"/>
            </a:endParaRPr>
          </a:p>
          <a:p>
            <a:pPr marL="0" indent="0" latinLnBrk="0">
              <a:lnSpc>
                <a:spcPct val="150000"/>
              </a:lnSpc>
              <a:spcBef>
                <a:spcPts val="0"/>
              </a:spcBef>
              <a:buNone/>
            </a:pPr>
            <a:endParaRPr lang="zh-CN" altLang="en-US" sz="2000" dirty="0">
              <a:latin typeface="宋体" pitchFamily="2" charset="-122"/>
              <a:ea typeface="宋体" pitchFamily="2" charset="-122"/>
              <a:cs typeface="宋体" pitchFamily="2" charset="-122"/>
              <a:sym typeface="+mn-ea"/>
            </a:endParaRPr>
          </a:p>
          <a:p>
            <a:pPr marL="0" indent="0" latinLnBrk="0">
              <a:lnSpc>
                <a:spcPct val="150000"/>
              </a:lnSpc>
              <a:spcBef>
                <a:spcPts val="0"/>
              </a:spcBef>
              <a:buNone/>
            </a:pPr>
            <a:endParaRPr lang="zh-CN" altLang="en-US" sz="2000" dirty="0">
              <a:latin typeface="宋体" pitchFamily="2" charset="-122"/>
              <a:ea typeface="宋体" pitchFamily="2" charset="-122"/>
              <a:cs typeface="宋体" pitchFamily="2" charset="-122"/>
              <a:sym typeface="+mn-ea"/>
            </a:endParaRPr>
          </a:p>
        </p:txBody>
      </p:sp>
      <p:graphicFrame>
        <p:nvGraphicFramePr>
          <p:cNvPr id="4" name="对象 -2147482611"/>
          <p:cNvGraphicFramePr>
            <a:graphicFrameLocks noChangeAspect="1"/>
          </p:cNvGraphicFramePr>
          <p:nvPr>
            <p:custDataLst>
              <p:tags r:id="rId3"/>
            </p:custDataLst>
          </p:nvPr>
        </p:nvGraphicFramePr>
        <p:xfrm>
          <a:off x="3143250" y="2204720"/>
          <a:ext cx="5248910" cy="1141730"/>
        </p:xfrm>
        <a:graphic>
          <a:graphicData uri="http://schemas.openxmlformats.org/presentationml/2006/ole">
            <mc:AlternateContent xmlns:mc="http://schemas.openxmlformats.org/markup-compatibility/2006">
              <mc:Choice xmlns:v="urn:schemas-microsoft-com:vml" Requires="v">
                <p:oleObj spid="_x0000_s10446" name="" r:id="rId4" imgW="4784090" imgH="1026160" progId="Visio.Drawing.15">
                  <p:embed/>
                </p:oleObj>
              </mc:Choice>
              <mc:Fallback>
                <p:oleObj name="" r:id="rId4" imgW="4784090" imgH="1026160" progId="Visio.Drawing.15">
                  <p:embed/>
                  <p:pic>
                    <p:nvPicPr>
                      <p:cNvPr id="0" name="图片 3075"/>
                      <p:cNvPicPr/>
                      <p:nvPr/>
                    </p:nvPicPr>
                    <p:blipFill>
                      <a:blip r:embed="rId5"/>
                      <a:stretch>
                        <a:fillRect/>
                      </a:stretch>
                    </p:blipFill>
                    <p:spPr>
                      <a:xfrm>
                        <a:off x="3143250" y="2204720"/>
                        <a:ext cx="5248910" cy="1141730"/>
                      </a:xfrm>
                      <a:prstGeom prst="rect">
                        <a:avLst/>
                      </a:prstGeom>
                      <a:noFill/>
                      <a:ln w="38100">
                        <a:noFill/>
                        <a:miter/>
                      </a:ln>
                    </p:spPr>
                  </p:pic>
                </p:oleObj>
              </mc:Fallback>
            </mc:AlternateContent>
          </a:graphicData>
        </a:graphic>
      </p:graphicFrame>
      <p:graphicFrame>
        <p:nvGraphicFramePr>
          <p:cNvPr id="5" name="对象 -2147482610"/>
          <p:cNvGraphicFramePr>
            <a:graphicFrameLocks noChangeAspect="1"/>
          </p:cNvGraphicFramePr>
          <p:nvPr>
            <p:custDataLst>
              <p:tags r:id="rId6"/>
            </p:custDataLst>
          </p:nvPr>
        </p:nvGraphicFramePr>
        <p:xfrm>
          <a:off x="4467860" y="4004945"/>
          <a:ext cx="2599690" cy="363220"/>
        </p:xfrm>
        <a:graphic>
          <a:graphicData uri="http://schemas.openxmlformats.org/presentationml/2006/ole">
            <mc:AlternateContent xmlns:mc="http://schemas.openxmlformats.org/markup-compatibility/2006">
              <mc:Choice xmlns:v="urn:schemas-microsoft-com:vml" Requires="v">
                <p:oleObj spid="_x0000_s10447" name="" r:id="rId7" imgW="1651000" imgH="228600" progId="Equation.DSMT4">
                  <p:embed/>
                </p:oleObj>
              </mc:Choice>
              <mc:Fallback>
                <p:oleObj name="" r:id="rId7" imgW="1651000" imgH="228600" progId="Equation.DSMT4">
                  <p:embed/>
                  <p:pic>
                    <p:nvPicPr>
                      <p:cNvPr id="0" name="图片 4"/>
                      <p:cNvPicPr/>
                      <p:nvPr/>
                    </p:nvPicPr>
                    <p:blipFill>
                      <a:blip r:embed="rId8"/>
                      <a:stretch>
                        <a:fillRect/>
                      </a:stretch>
                    </p:blipFill>
                    <p:spPr>
                      <a:xfrm>
                        <a:off x="4467860" y="4004945"/>
                        <a:ext cx="2599690" cy="363220"/>
                      </a:xfrm>
                      <a:prstGeom prst="rect">
                        <a:avLst/>
                      </a:prstGeom>
                      <a:noFill/>
                      <a:ln w="38100">
                        <a:noFill/>
                        <a:miter/>
                      </a:ln>
                    </p:spPr>
                  </p:pic>
                </p:oleObj>
              </mc:Fallback>
            </mc:AlternateContent>
          </a:graphicData>
        </a:graphic>
      </p:graphicFrame>
      <p:graphicFrame>
        <p:nvGraphicFramePr>
          <p:cNvPr id="7" name="对象 -2147482609"/>
          <p:cNvGraphicFramePr>
            <a:graphicFrameLocks noChangeAspect="1"/>
          </p:cNvGraphicFramePr>
          <p:nvPr>
            <p:custDataLst>
              <p:tags r:id="rId9"/>
            </p:custDataLst>
          </p:nvPr>
        </p:nvGraphicFramePr>
        <p:xfrm>
          <a:off x="3143250" y="4940935"/>
          <a:ext cx="5793740" cy="389255"/>
        </p:xfrm>
        <a:graphic>
          <a:graphicData uri="http://schemas.openxmlformats.org/presentationml/2006/ole">
            <mc:AlternateContent xmlns:mc="http://schemas.openxmlformats.org/markup-compatibility/2006">
              <mc:Choice xmlns:v="urn:schemas-microsoft-com:vml" Requires="v">
                <p:oleObj spid="_x0000_s10448" name="" r:id="rId10" imgW="3556000" imgH="241300" progId="Equation.DSMT4">
                  <p:embed/>
                </p:oleObj>
              </mc:Choice>
              <mc:Fallback>
                <p:oleObj name="" r:id="rId10" imgW="3556000" imgH="241300" progId="Equation.DSMT4">
                  <p:embed/>
                  <p:pic>
                    <p:nvPicPr>
                      <p:cNvPr id="0" name="图片 5"/>
                      <p:cNvPicPr/>
                      <p:nvPr/>
                    </p:nvPicPr>
                    <p:blipFill>
                      <a:blip r:embed="rId11"/>
                      <a:stretch>
                        <a:fillRect/>
                      </a:stretch>
                    </p:blipFill>
                    <p:spPr>
                      <a:xfrm>
                        <a:off x="3143250" y="4940935"/>
                        <a:ext cx="5793740" cy="38925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11" name="矩形 10"/>
          <p:cNvSpPr/>
          <p:nvPr>
            <p:custDataLst>
              <p:tags r:id="rId2"/>
            </p:custDataLst>
          </p:nvPr>
        </p:nvSpPr>
        <p:spPr>
          <a:xfrm>
            <a:off x="8478520" y="1129665"/>
            <a:ext cx="1534795" cy="1790065"/>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矩形 11"/>
          <p:cNvSpPr/>
          <p:nvPr>
            <p:custDataLst>
              <p:tags r:id="rId3"/>
            </p:custDataLst>
          </p:nvPr>
        </p:nvSpPr>
        <p:spPr>
          <a:xfrm>
            <a:off x="4869180" y="1129665"/>
            <a:ext cx="3510280" cy="1790065"/>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2" name="对象 -2147482607"/>
          <p:cNvGraphicFramePr>
            <a:graphicFrameLocks noChangeAspect="1"/>
          </p:cNvGraphicFramePr>
          <p:nvPr>
            <p:custDataLst>
              <p:tags r:id="rId4"/>
            </p:custDataLst>
          </p:nvPr>
        </p:nvGraphicFramePr>
        <p:xfrm>
          <a:off x="3024823" y="1201420"/>
          <a:ext cx="7071995" cy="1588135"/>
        </p:xfrm>
        <a:graphic>
          <a:graphicData uri="http://schemas.openxmlformats.org/presentationml/2006/ole">
            <mc:AlternateContent xmlns:mc="http://schemas.openxmlformats.org/markup-compatibility/2006">
              <mc:Choice xmlns:v="urn:schemas-microsoft-com:vml" Requires="v">
                <p:oleObj spid="_x0000_s5" name="" r:id="rId5" imgW="4291965" imgH="965200" progId="Equation.DSMT4">
                  <p:embed/>
                </p:oleObj>
              </mc:Choice>
              <mc:Fallback>
                <p:oleObj name="" r:id="rId5" imgW="4291965" imgH="965200" progId="Equation.DSMT4">
                  <p:embed/>
                  <p:pic>
                    <p:nvPicPr>
                      <p:cNvPr id="0" name="图片 9"/>
                      <p:cNvPicPr/>
                      <p:nvPr/>
                    </p:nvPicPr>
                    <p:blipFill>
                      <a:blip r:embed="rId6"/>
                      <a:stretch>
                        <a:fillRect/>
                      </a:stretch>
                    </p:blipFill>
                    <p:spPr>
                      <a:xfrm>
                        <a:off x="3024823" y="1201420"/>
                        <a:ext cx="7071995" cy="1588135"/>
                      </a:xfrm>
                      <a:prstGeom prst="rect">
                        <a:avLst/>
                      </a:prstGeom>
                      <a:noFill/>
                      <a:ln w="38100">
                        <a:noFill/>
                        <a:miter/>
                      </a:ln>
                    </p:spPr>
                  </p:pic>
                </p:oleObj>
              </mc:Fallback>
            </mc:AlternateContent>
          </a:graphicData>
        </a:graphic>
      </p:graphicFrame>
      <p:sp>
        <p:nvSpPr>
          <p:cNvPr id="6" name="Rectangle 3"/>
          <p:cNvSpPr>
            <a:spLocks noGrp="1"/>
          </p:cNvSpPr>
          <p:nvPr>
            <p:ph idx="1"/>
            <p:custDataLst>
              <p:tags r:id="rId7"/>
            </p:custDataLst>
          </p:nvPr>
        </p:nvSpPr>
        <p:spPr>
          <a:xfrm>
            <a:off x="911225" y="499110"/>
            <a:ext cx="9144000" cy="3164840"/>
          </a:xfrm>
          <a:noFill/>
          <a:ln>
            <a:noFill/>
          </a:ln>
        </p:spPr>
        <p:txBody>
          <a:bodyPr anchor="t" anchorCtr="0"/>
          <a:p>
            <a:pPr lvl="1">
              <a:lnSpc>
                <a:spcPct val="120000"/>
              </a:lnSpc>
            </a:pPr>
            <a:r>
              <a:rPr lang="en-US" altLang="zh-CN" b="1" i="1" dirty="0"/>
              <a:t>H</a:t>
            </a:r>
            <a:r>
              <a:rPr lang="zh-CN" altLang="en-US" b="1" dirty="0"/>
              <a:t>矩阵（监督矩阵</a:t>
            </a:r>
            <a:r>
              <a:rPr lang="en-US" altLang="zh-CN" b="1" dirty="0"/>
              <a:t>/</a:t>
            </a:r>
            <a:r>
              <a:rPr lang="zh-CN" altLang="en-US" b="1" dirty="0"/>
              <a:t>校验</a:t>
            </a:r>
            <a:r>
              <a:rPr lang="zh-CN" altLang="en-US" b="1" dirty="0"/>
              <a:t>矩阵）：</a:t>
            </a:r>
            <a:endParaRPr lang="zh-CN" altLang="en-US" b="1" dirty="0"/>
          </a:p>
          <a:p>
            <a:pPr lvl="1">
              <a:lnSpc>
                <a:spcPct val="120000"/>
              </a:lnSpc>
            </a:pPr>
            <a:endParaRPr lang="zh-CN" altLang="en-US" b="1" dirty="0"/>
          </a:p>
          <a:p>
            <a:pPr lvl="1">
              <a:lnSpc>
                <a:spcPct val="120000"/>
              </a:lnSpc>
            </a:pPr>
            <a:endParaRPr lang="zh-CN" altLang="en-US" b="1" dirty="0">
              <a:solidFill>
                <a:srgbClr val="000000"/>
              </a:solidFill>
            </a:endParaRPr>
          </a:p>
          <a:p>
            <a:pPr lvl="1">
              <a:lnSpc>
                <a:spcPct val="120000"/>
              </a:lnSpc>
            </a:pPr>
            <a:endParaRPr lang="zh-CN" altLang="en-US" b="1" dirty="0">
              <a:solidFill>
                <a:srgbClr val="000000"/>
              </a:solidFill>
            </a:endParaRPr>
          </a:p>
          <a:p>
            <a:pPr lvl="1">
              <a:lnSpc>
                <a:spcPct val="120000"/>
              </a:lnSpc>
            </a:pPr>
            <a:r>
              <a:rPr lang="en-US" altLang="zh-CN" b="1" i="1" dirty="0"/>
              <a:t>G</a:t>
            </a:r>
            <a:r>
              <a:rPr lang="zh-CN" altLang="en-US" b="1" dirty="0"/>
              <a:t>矩阵（生成</a:t>
            </a:r>
            <a:r>
              <a:rPr lang="zh-CN" altLang="en-US" b="1" dirty="0"/>
              <a:t>矩阵）</a:t>
            </a:r>
            <a:endParaRPr lang="zh-CN" altLang="en-US" dirty="0">
              <a:solidFill>
                <a:srgbClr val="000000"/>
              </a:solidFill>
            </a:endParaRPr>
          </a:p>
          <a:p>
            <a:pPr marL="1828800" lvl="4" indent="0">
              <a:lnSpc>
                <a:spcPct val="120000"/>
              </a:lnSpc>
              <a:buNone/>
            </a:pPr>
            <a:endParaRPr lang="zh-CN" altLang="en-US" dirty="0"/>
          </a:p>
        </p:txBody>
      </p:sp>
      <p:grpSp>
        <p:nvGrpSpPr>
          <p:cNvPr id="10" name="组合 9"/>
          <p:cNvGrpSpPr/>
          <p:nvPr/>
        </p:nvGrpSpPr>
        <p:grpSpPr>
          <a:xfrm>
            <a:off x="2711450" y="3789680"/>
            <a:ext cx="7971790" cy="3063875"/>
            <a:chOff x="1327" y="3924"/>
            <a:chExt cx="12554" cy="4825"/>
          </a:xfrm>
        </p:grpSpPr>
        <p:sp>
          <p:nvSpPr>
            <p:cNvPr id="8" name="矩形 7"/>
            <p:cNvSpPr/>
            <p:nvPr>
              <p:custDataLst>
                <p:tags r:id="rId8"/>
              </p:custDataLst>
            </p:nvPr>
          </p:nvSpPr>
          <p:spPr>
            <a:xfrm>
              <a:off x="7177" y="3924"/>
              <a:ext cx="5939" cy="2819"/>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9"/>
              </p:custDataLst>
            </p:nvPr>
          </p:nvSpPr>
          <p:spPr>
            <a:xfrm>
              <a:off x="4383" y="3924"/>
              <a:ext cx="2595" cy="2819"/>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对象 -2147482612"/>
            <p:cNvGraphicFramePr>
              <a:graphicFrameLocks noChangeAspect="1"/>
            </p:cNvGraphicFramePr>
            <p:nvPr>
              <p:custDataLst>
                <p:tags r:id="rId10"/>
              </p:custDataLst>
            </p:nvPr>
          </p:nvGraphicFramePr>
          <p:xfrm>
            <a:off x="1781" y="3924"/>
            <a:ext cx="11583" cy="2733"/>
          </p:xfrm>
          <a:graphic>
            <a:graphicData uri="http://schemas.openxmlformats.org/presentationml/2006/ole">
              <mc:AlternateContent xmlns:mc="http://schemas.openxmlformats.org/markup-compatibility/2006">
                <mc:Choice xmlns:v="urn:schemas-microsoft-com:vml" Requires="v">
                  <p:oleObj spid="_x0000_s9286" name="" r:id="rId11" imgW="3974465" imgH="939800" progId="Equation.DSMT4">
                    <p:embed/>
                  </p:oleObj>
                </mc:Choice>
                <mc:Fallback>
                  <p:oleObj name="" r:id="rId11" imgW="3974465" imgH="939800" progId="Equation.DSMT4">
                    <p:embed/>
                    <p:pic>
                      <p:nvPicPr>
                        <p:cNvPr id="0" name="图片 3075"/>
                        <p:cNvPicPr/>
                        <p:nvPr/>
                      </p:nvPicPr>
                      <p:blipFill>
                        <a:blip r:embed="rId12"/>
                        <a:stretch>
                          <a:fillRect/>
                        </a:stretch>
                      </p:blipFill>
                      <p:spPr>
                        <a:xfrm>
                          <a:off x="1781" y="3924"/>
                          <a:ext cx="11583" cy="2733"/>
                        </a:xfrm>
                        <a:prstGeom prst="rect">
                          <a:avLst/>
                        </a:prstGeom>
                        <a:noFill/>
                        <a:ln w="38100">
                          <a:noFill/>
                          <a:miter/>
                        </a:ln>
                      </p:spPr>
                    </p:pic>
                  </p:oleObj>
                </mc:Fallback>
              </mc:AlternateContent>
            </a:graphicData>
          </a:graphic>
        </p:graphicFrame>
        <p:sp>
          <p:nvSpPr>
            <p:cNvPr id="100" name="文本框 99"/>
            <p:cNvSpPr txBox="1"/>
            <p:nvPr>
              <p:custDataLst>
                <p:tags r:id="rId13"/>
              </p:custDataLst>
            </p:nvPr>
          </p:nvSpPr>
          <p:spPr>
            <a:xfrm>
              <a:off x="1327" y="8121"/>
              <a:ext cx="4771" cy="628"/>
            </a:xfrm>
            <a:prstGeom prst="rect">
              <a:avLst/>
            </a:prstGeom>
            <a:noFill/>
            <a:ln w="9525">
              <a:noFill/>
            </a:ln>
          </p:spPr>
          <p:txBody>
            <a:bodyPr wrap="square">
              <a:spAutoFit/>
            </a:bodyPr>
            <a:lstStyle/>
            <a:p>
              <a:pPr marL="0" indent="127000"/>
              <a:r>
                <a:rPr lang="en-US" sz="2000" b="1">
                  <a:latin typeface="Times New Roman" panose="02020603050405020304" pitchFamily="18" charset="0"/>
                  <a:ea typeface="宋体" pitchFamily="2" charset="-122"/>
                </a:rPr>
                <a:t>I</a:t>
              </a:r>
              <a:r>
                <a:rPr lang="en-US" sz="2000" b="0" i="1" baseline="-25000">
                  <a:latin typeface="Times New Roman" panose="02020603050405020304" pitchFamily="18" charset="0"/>
                  <a:ea typeface="宋体" pitchFamily="2" charset="-122"/>
                </a:rPr>
                <a:t>k</a:t>
              </a:r>
              <a:r>
                <a:rPr lang="zh-CN" sz="2000" b="0">
                  <a:latin typeface="Times New Roman" panose="02020603050405020304" pitchFamily="18" charset="0"/>
                  <a:ea typeface="宋体" pitchFamily="2" charset="-122"/>
                </a:rPr>
                <a:t>为一个</a:t>
              </a:r>
              <a:r>
                <a:rPr lang="en-US" sz="2000" b="0" i="1">
                  <a:latin typeface="Times New Roman" panose="02020603050405020304" pitchFamily="18" charset="0"/>
                  <a:ea typeface="宋体" pitchFamily="2" charset="-122"/>
                </a:rPr>
                <a:t>k</a:t>
              </a:r>
              <a:r>
                <a:rPr lang="en-US" sz="2000" b="0">
                  <a:latin typeface="Times New Roman" panose="02020603050405020304" pitchFamily="18" charset="0"/>
                  <a:ea typeface="宋体" pitchFamily="2" charset="-122"/>
                </a:rPr>
                <a:t>×</a:t>
              </a:r>
              <a:r>
                <a:rPr lang="en-US" sz="2000" b="0" i="1">
                  <a:latin typeface="Times New Roman" panose="02020603050405020304" pitchFamily="18" charset="0"/>
                  <a:ea typeface="宋体" pitchFamily="2" charset="-122"/>
                </a:rPr>
                <a:t>k</a:t>
              </a:r>
              <a:r>
                <a:rPr lang="zh-CN" sz="2000" b="0">
                  <a:latin typeface="Times New Roman" panose="02020603050405020304" pitchFamily="18" charset="0"/>
                  <a:ea typeface="宋体" pitchFamily="2" charset="-122"/>
                </a:rPr>
                <a:t>的单位矩阵</a:t>
              </a:r>
              <a:endParaRPr lang="en-US" altLang="en-US" sz="2000" b="0">
                <a:latin typeface="Times New Roman" panose="02020603050405020304" pitchFamily="18" charset="0"/>
                <a:ea typeface="宋体" pitchFamily="2" charset="-122"/>
              </a:endParaRPr>
            </a:p>
          </p:txBody>
        </p:sp>
        <p:sp>
          <p:nvSpPr>
            <p:cNvPr id="14" name="文本框 13"/>
            <p:cNvSpPr txBox="1"/>
            <p:nvPr>
              <p:custDataLst>
                <p:tags r:id="rId14"/>
              </p:custDataLst>
            </p:nvPr>
          </p:nvSpPr>
          <p:spPr>
            <a:xfrm>
              <a:off x="7337" y="8121"/>
              <a:ext cx="6544" cy="628"/>
            </a:xfrm>
            <a:prstGeom prst="rect">
              <a:avLst/>
            </a:prstGeom>
            <a:noFill/>
          </p:spPr>
          <p:txBody>
            <a:bodyPr wrap="square" rtlCol="0" anchor="t">
              <a:spAutoFit/>
            </a:bodyPr>
            <a:lstStyle/>
            <a:p>
              <a:r>
                <a:rPr lang="en-US" sz="2000" b="1">
                  <a:latin typeface="Times New Roman" panose="02020603050405020304" pitchFamily="18" charset="0"/>
                  <a:sym typeface="+mn-ea"/>
                </a:rPr>
                <a:t>P</a:t>
              </a:r>
              <a:r>
                <a:rPr lang="zh-CN" sz="2000">
                  <a:latin typeface="Times New Roman" panose="02020603050405020304" pitchFamily="18" charset="0"/>
                  <a:sym typeface="+mn-ea"/>
                </a:rPr>
                <a:t>为一个</a:t>
              </a:r>
              <a:r>
                <a:rPr lang="en-US" sz="2000" i="1">
                  <a:latin typeface="Times New Roman" panose="02020603050405020304" pitchFamily="18" charset="0"/>
                  <a:sym typeface="+mn-ea"/>
                </a:rPr>
                <a:t>k</a:t>
              </a:r>
              <a:r>
                <a:rPr lang="en-US" sz="2000">
                  <a:latin typeface="Times New Roman" panose="02020603050405020304" pitchFamily="18" charset="0"/>
                  <a:sym typeface="+mn-ea"/>
                </a:rPr>
                <a:t>×(</a:t>
              </a:r>
              <a:r>
                <a:rPr lang="en-US" sz="2000" i="1">
                  <a:latin typeface="Times New Roman" panose="02020603050405020304" pitchFamily="18" charset="0"/>
                  <a:sym typeface="+mn-ea"/>
                </a:rPr>
                <a:t>n</a:t>
              </a:r>
              <a:r>
                <a:rPr lang="en-US" sz="2000">
                  <a:latin typeface="Times New Roman" panose="02020603050405020304" pitchFamily="18" charset="0"/>
                  <a:sym typeface="+mn-ea"/>
                </a:rPr>
                <a:t>-</a:t>
              </a:r>
              <a:r>
                <a:rPr lang="en-US" sz="2000" i="1">
                  <a:latin typeface="Times New Roman" panose="02020603050405020304" pitchFamily="18" charset="0"/>
                  <a:sym typeface="+mn-ea"/>
                </a:rPr>
                <a:t>k</a:t>
              </a:r>
              <a:r>
                <a:rPr lang="en-US" sz="2000">
                  <a:latin typeface="Times New Roman" panose="02020603050405020304" pitchFamily="18" charset="0"/>
                  <a:sym typeface="+mn-ea"/>
                </a:rPr>
                <a:t>)</a:t>
              </a:r>
              <a:r>
                <a:rPr lang="zh-CN" sz="2000">
                  <a:latin typeface="Times New Roman" panose="02020603050405020304" pitchFamily="18" charset="0"/>
                  <a:sym typeface="+mn-ea"/>
                </a:rPr>
                <a:t>的矩阵，</a:t>
              </a:r>
              <a:r>
                <a:rPr lang="en-US" sz="2000" i="1">
                  <a:latin typeface="Times New Roman" panose="02020603050405020304" pitchFamily="18" charset="0"/>
                  <a:sym typeface="+mn-ea"/>
                </a:rPr>
                <a:t>p</a:t>
              </a:r>
              <a:r>
                <a:rPr lang="en-US" sz="2000" i="1" baseline="-25000">
                  <a:latin typeface="Times New Roman" panose="02020603050405020304" pitchFamily="18" charset="0"/>
                  <a:sym typeface="+mn-ea"/>
                </a:rPr>
                <a:t>i</a:t>
              </a:r>
              <a:r>
                <a:rPr lang="en-US" sz="2000" baseline="-25000">
                  <a:latin typeface="Times New Roman" panose="02020603050405020304" pitchFamily="18" charset="0"/>
                  <a:sym typeface="+mn-ea"/>
                </a:rPr>
                <a:t>,</a:t>
              </a:r>
              <a:r>
                <a:rPr lang="en-US" sz="2000" i="1" baseline="-25000">
                  <a:latin typeface="Times New Roman" panose="02020603050405020304" pitchFamily="18" charset="0"/>
                  <a:sym typeface="+mn-ea"/>
                </a:rPr>
                <a:t>j</a:t>
              </a:r>
              <a:r>
                <a:rPr lang="en-US" sz="2000">
                  <a:latin typeface="Times New Roman" panose="02020603050405020304" pitchFamily="18" charset="0"/>
                  <a:sym typeface="+mn-ea"/>
                </a:rPr>
                <a:t> = 0</a:t>
              </a:r>
              <a:r>
                <a:rPr lang="zh-CN" sz="2000">
                  <a:latin typeface="Times New Roman" panose="02020603050405020304" pitchFamily="18" charset="0"/>
                  <a:sym typeface="+mn-ea"/>
                </a:rPr>
                <a:t>或</a:t>
              </a:r>
              <a:r>
                <a:rPr lang="en-US" sz="2000">
                  <a:latin typeface="Times New Roman" panose="02020603050405020304" pitchFamily="18" charset="0"/>
                  <a:sym typeface="+mn-ea"/>
                </a:rPr>
                <a:t>1</a:t>
              </a:r>
              <a:endParaRPr lang="en-US" altLang="en-US" sz="2000">
                <a:latin typeface="Times New Roman" panose="02020603050405020304" pitchFamily="18" charset="0"/>
                <a:sym typeface="+mn-ea"/>
              </a:endParaRPr>
            </a:p>
          </p:txBody>
        </p:sp>
        <p:sp>
          <p:nvSpPr>
            <p:cNvPr id="15" name="左箭头 14"/>
            <p:cNvSpPr/>
            <p:nvPr>
              <p:custDataLst>
                <p:tags r:id="rId15"/>
              </p:custDataLst>
            </p:nvPr>
          </p:nvSpPr>
          <p:spPr>
            <a:xfrm rot="18360000">
              <a:off x="4236" y="7153"/>
              <a:ext cx="1302" cy="567"/>
            </a:xfrm>
            <a:prstGeom prst="leftArrow">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左箭头 15"/>
            <p:cNvSpPr/>
            <p:nvPr>
              <p:custDataLst>
                <p:tags r:id="rId16"/>
              </p:custDataLst>
            </p:nvPr>
          </p:nvSpPr>
          <p:spPr>
            <a:xfrm rot="16200000">
              <a:off x="9350" y="7195"/>
              <a:ext cx="1302" cy="567"/>
            </a:xfrm>
            <a:prstGeom prst="leftArrow">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charRg st="0" end="8"/>
                                            </p:txEl>
                                          </p:spTgt>
                                        </p:tgtEl>
                                        <p:attrNameLst>
                                          <p:attrName>style.visibility</p:attrName>
                                        </p:attrNameLst>
                                      </p:cBhvr>
                                      <p:to>
                                        <p:strVal val="visible"/>
                                      </p:to>
                                    </p:set>
                                    <p:anim calcmode="lin" valueType="num">
                                      <p:cBhvr additive="base">
                                        <p:cTn id="7" dur="500" fill="hold"/>
                                        <p:tgtEl>
                                          <p:spTgt spid="6">
                                            <p:txEl>
                                              <p:charRg st="0"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charRg st="0" end="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charRg st="4" end="4"/>
                                            </p:txEl>
                                          </p:spTgt>
                                        </p:tgtEl>
                                        <p:attrNameLst>
                                          <p:attrName>style.visibility</p:attrName>
                                        </p:attrNameLst>
                                      </p:cBhvr>
                                      <p:to>
                                        <p:strVal val="visible"/>
                                      </p:to>
                                    </p:set>
                                    <p:anim calcmode="lin" valueType="num">
                                      <p:cBhvr additive="base">
                                        <p:cTn id="13" dur="500" fill="hold"/>
                                        <p:tgtEl>
                                          <p:spTgt spid="6">
                                            <p:txEl>
                                              <p:char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char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mc:AlternateContent xmlns:mc="http://schemas.openxmlformats.org/markup-compatibility/2006">
        <mc:Choice xmlns:a14="http://schemas.microsoft.com/office/drawing/2010/main" Requires="a14">
          <p:sp>
            <p:nvSpPr>
              <p:cNvPr id="2" name="内容占位符 1"/>
              <p:cNvSpPr>
                <a:spLocks noGrp="1"/>
              </p:cNvSpPr>
              <p:nvPr>
                <p:ph idx="1"/>
                <p:custDataLst>
                  <p:tags r:id="rId2"/>
                </p:custDataLst>
              </p:nvPr>
            </p:nvSpPr>
            <p:spPr>
              <a:xfrm>
                <a:off x="624417" y="406401"/>
                <a:ext cx="10972800" cy="4525963"/>
              </a:xfrm>
            </p:spPr>
            <p:txBody>
              <a:bodyPr/>
              <a:p>
                <a:pPr marL="0" indent="0" latinLnBrk="0">
                  <a:lnSpc>
                    <a:spcPct val="150000"/>
                  </a:lnSpc>
                  <a:spcBef>
                    <a:spcPts val="0"/>
                  </a:spcBef>
                  <a:buNone/>
                </a:pPr>
                <a:r>
                  <a:rPr lang="en-US" altLang="zh-CN" sz="2000" dirty="0">
                    <a:cs typeface="华文楷体" panose="02010600040101010101" charset="-122"/>
                  </a:rPr>
                  <a:t>     </a:t>
                </a:r>
                <a:r>
                  <a:rPr lang="zh-CN" altLang="en-US" sz="2000" dirty="0">
                    <a:cs typeface="华文楷体" panose="02010600040101010101" charset="-122"/>
                  </a:rPr>
                  <a:t>令 </a:t>
                </a:r>
                <a:r>
                  <a:rPr lang="zh-CN" altLang="en-US" sz="2000" b="1" dirty="0">
                    <a:cs typeface="华文楷体" panose="02010600040101010101" charset="-122"/>
                  </a:rPr>
                  <a:t>s</a:t>
                </a:r>
                <a:r>
                  <a:rPr lang="en-US" altLang="zh-CN" sz="2000" b="1" dirty="0">
                    <a:cs typeface="华文楷体" panose="02010600040101010101" charset="-122"/>
                  </a:rPr>
                  <a:t> </a:t>
                </a:r>
                <a:r>
                  <a:rPr lang="zh-CN" altLang="en-US" sz="2000" dirty="0">
                    <a:cs typeface="华文楷体" panose="02010600040101010101" charset="-122"/>
                  </a:rPr>
                  <a:t>=</a:t>
                </a:r>
                <a:r>
                  <a:rPr lang="en-US" altLang="zh-CN" sz="2000" dirty="0">
                    <a:cs typeface="华文楷体" panose="02010600040101010101" charset="-122"/>
                  </a:rPr>
                  <a:t> </a:t>
                </a:r>
                <a:r>
                  <a:rPr lang="zh-CN" altLang="en-US" sz="2000" b="1" dirty="0">
                    <a:cs typeface="华文楷体" panose="02010600040101010101" charset="-122"/>
                  </a:rPr>
                  <a:t>yH</a:t>
                </a:r>
                <a:r>
                  <a:rPr lang="zh-CN" altLang="en-US" sz="2000" baseline="30000" dirty="0">
                    <a:cs typeface="华文楷体" panose="02010600040101010101" charset="-122"/>
                  </a:rPr>
                  <a:t>T</a:t>
                </a:r>
                <a:r>
                  <a:rPr lang="zh-CN" altLang="en-US" sz="2000" dirty="0">
                    <a:cs typeface="华文楷体" panose="02010600040101010101" charset="-122"/>
                  </a:rPr>
                  <a:t>，称为伴随式或校正子。则接收端利用接收到的码字 </a:t>
                </a:r>
                <a:r>
                  <a:rPr lang="zh-CN" altLang="en-US" sz="2000" b="1" dirty="0">
                    <a:cs typeface="华文楷体" panose="02010600040101010101" charset="-122"/>
                  </a:rPr>
                  <a:t>y</a:t>
                </a:r>
                <a:r>
                  <a:rPr lang="zh-CN" altLang="en-US" sz="2000" dirty="0">
                    <a:cs typeface="华文楷体" panose="02010600040101010101" charset="-122"/>
                  </a:rPr>
                  <a:t> 计算校正子</a:t>
                </a:r>
                <a:endParaRPr lang="zh-CN" altLang="en-US" sz="2400" dirty="0">
                  <a:cs typeface="华文楷体" panose="02010600040101010101" charset="-122"/>
                </a:endParaRPr>
              </a:p>
              <a:p>
                <a:pPr marL="0" indent="0" latinLnBrk="0">
                  <a:lnSpc>
                    <a:spcPct val="150000"/>
                  </a:lnSpc>
                  <a:spcBef>
                    <a:spcPts val="0"/>
                  </a:spcBef>
                  <a:buNone/>
                </a:pPr>
                <a:endParaRPr lang="zh-CN" altLang="en-US" dirty="0">
                  <a:cs typeface="华文楷体" panose="02010600040101010101" charset="-122"/>
                </a:endParaRPr>
              </a:p>
              <a:p>
                <a:pPr latinLnBrk="0">
                  <a:lnSpc>
                    <a:spcPct val="150000"/>
                  </a:lnSpc>
                  <a:spcBef>
                    <a:spcPts val="0"/>
                  </a:spcBef>
                </a:pPr>
                <a14:m>
                  <m:oMath xmlns:m="http://schemas.openxmlformats.org/officeDocument/2006/math">
                    <m:r>
                      <a:rPr lang="zh-CN" altLang="en-US" sz="2000" b="1" i="1" dirty="0">
                        <a:solidFill>
                          <a:srgbClr val="FF0000"/>
                        </a:solidFill>
                        <a:latin typeface="DejaVu Math TeX Gyre" panose="02000503000000000000" charset="0"/>
                        <a:cs typeface="DejaVu Math TeX Gyre" panose="02000503000000000000" charset="0"/>
                      </a:rPr>
                      <m:t>任意码组</m:t>
                    </m:r>
                    <m:r>
                      <a:rPr lang="en-US" altLang="zh-CN" sz="2000" b="1" i="1" dirty="0">
                        <a:solidFill>
                          <a:srgbClr val="FF0000"/>
                        </a:solidFill>
                        <a:latin typeface="DejaVu Math TeX Gyre" panose="02000503000000000000" charset="0"/>
                        <a:cs typeface="DejaVu Math TeX Gyre" panose="02000503000000000000" charset="0"/>
                      </a:rPr>
                      <m:t>𝒄</m:t>
                    </m:r>
                    <m:r>
                      <a:rPr lang="zh-CN" altLang="en-US" sz="2000" b="1" i="1" dirty="0">
                        <a:solidFill>
                          <a:srgbClr val="FF0000"/>
                        </a:solidFill>
                        <a:latin typeface="DejaVu Math TeX Gyre" panose="02000503000000000000" charset="0"/>
                        <a:cs typeface="DejaVu Math TeX Gyre" panose="02000503000000000000" charset="0"/>
                      </a:rPr>
                      <m:t>应满足</m:t>
                    </m:r>
                    <m:r>
                      <a:rPr lang="en-US" altLang="zh-CN" sz="2000" b="1" i="1" dirty="0">
                        <a:solidFill>
                          <a:srgbClr val="FF0000"/>
                        </a:solidFill>
                        <a:latin typeface="DejaVu Math TeX Gyre" panose="02000503000000000000" charset="0"/>
                        <a:ea typeface="宋体" charset="0"/>
                        <a:cs typeface="DejaVu Math TeX Gyre" panose="02000503000000000000" charset="0"/>
                      </a:rPr>
                      <m:t>：</m:t>
                    </m:r>
                    <m:r>
                      <a:rPr lang="en-US" altLang="zh-CN" sz="2000" b="1" i="1" dirty="0">
                        <a:solidFill>
                          <a:srgbClr val="FF0000"/>
                        </a:solidFill>
                        <a:latin typeface="DejaVu Math TeX Gyre" panose="02000503000000000000" charset="0"/>
                        <a:cs typeface="DejaVu Math TeX Gyre" panose="02000503000000000000" charset="0"/>
                      </a:rPr>
                      <m:t>𝒄</m:t>
                    </m:r>
                    <m:sSup>
                      <m:sSupPr>
                        <m:ctrlPr>
                          <a:rPr lang="en-US" altLang="zh-CN" sz="2000" i="1" dirty="0">
                            <a:solidFill>
                              <a:srgbClr val="FF0000"/>
                            </a:solidFill>
                            <a:latin typeface="DejaVu Math TeX Gyre" panose="02000503000000000000" charset="0"/>
                            <a:cs typeface="DejaVu Math TeX Gyre" panose="02000503000000000000" charset="0"/>
                          </a:rPr>
                        </m:ctrlPr>
                      </m:sSupPr>
                      <m:e>
                        <m:r>
                          <a:rPr lang="en-US" altLang="zh-CN" sz="2000" b="1" i="1" dirty="0">
                            <a:solidFill>
                              <a:srgbClr val="FF0000"/>
                            </a:solidFill>
                            <a:latin typeface="DejaVu Math TeX Gyre" panose="02000503000000000000" charset="0"/>
                            <a:cs typeface="DejaVu Math TeX Gyre" panose="02000503000000000000" charset="0"/>
                          </a:rPr>
                          <m:t>𝑯</m:t>
                        </m:r>
                      </m:e>
                      <m:sup>
                        <m:r>
                          <a:rPr lang="en-US" altLang="zh-CN" sz="2000" i="1" dirty="0">
                            <a:solidFill>
                              <a:srgbClr val="FF0000"/>
                            </a:solidFill>
                            <a:latin typeface="DejaVu Math TeX Gyre" panose="02000503000000000000" charset="0"/>
                            <a:cs typeface="DejaVu Math TeX Gyre" panose="02000503000000000000" charset="0"/>
                          </a:rPr>
                          <m:t>𝑇</m:t>
                        </m:r>
                      </m:sup>
                    </m:sSup>
                    <m:r>
                      <a:rPr lang="en-US" altLang="zh-CN" sz="2000" i="1" dirty="0">
                        <a:solidFill>
                          <a:srgbClr val="FF0000"/>
                        </a:solidFill>
                        <a:latin typeface="DejaVu Math TeX Gyre" panose="02000503000000000000" charset="0"/>
                        <a:ea typeface="宋体" charset="0"/>
                        <a:cs typeface="DejaVu Math TeX Gyre" panose="02000503000000000000" charset="0"/>
                      </a:rPr>
                      <m:t>=</m:t>
                    </m:r>
                    <m:r>
                      <a:rPr lang="en-US" altLang="zh-CN" sz="2000" i="1" dirty="0">
                        <a:solidFill>
                          <a:srgbClr val="FF0000"/>
                        </a:solidFill>
                        <a:latin typeface="DejaVu Math TeX Gyre" panose="02000503000000000000" charset="0"/>
                        <a:ea typeface="宋体" charset="0"/>
                        <a:cs typeface="DejaVu Math TeX Gyre" panose="02000503000000000000" charset="0"/>
                      </a:rPr>
                      <m:t>0</m:t>
                    </m:r>
                  </m:oMath>
                </a14:m>
                <a:r>
                  <a:rPr lang="en-US" altLang="zh-CN" sz="2000" dirty="0">
                    <a:solidFill>
                      <a:srgbClr val="FF0000"/>
                    </a:solidFill>
                    <a:cs typeface="华文楷体" panose="02010600040101010101" charset="-122"/>
                  </a:rPr>
                  <a:t>   </a:t>
                </a:r>
                <a:r>
                  <a:rPr lang="en-US" altLang="zh-CN" sz="2000" dirty="0">
                    <a:cs typeface="华文楷体" panose="02010600040101010101" charset="-122"/>
                  </a:rPr>
                  <a:t>  </a:t>
                </a:r>
                <a:endParaRPr lang="en-US" altLang="zh-CN" sz="2000" dirty="0">
                  <a:cs typeface="华文楷体" panose="02010600040101010101" charset="-122"/>
                </a:endParaRPr>
              </a:p>
              <a:p>
                <a:pPr marL="342900" indent="-342900">
                  <a:buFont typeface="Arial" panose="020B0604020202090204" pitchFamily="34" charset="0"/>
                  <a:buChar char="•"/>
                </a:pPr>
                <a:r>
                  <a:rPr lang="zh-CN" altLang="en-US" sz="2000" dirty="0">
                    <a:solidFill>
                      <a:srgbClr val="FF0000"/>
                    </a:solidFill>
                    <a:cs typeface="华文楷体" panose="02010600040101010101" charset="-122"/>
                    <a:sym typeface="+mn-ea"/>
                  </a:rPr>
                  <a:t>校正子：</a:t>
                </a:r>
                <a14:m>
                  <m:oMath xmlns:m="http://schemas.openxmlformats.org/officeDocument/2006/math">
                    <m:r>
                      <a:rPr lang="en-US" altLang="zh-CN" sz="2000" b="1" i="1" dirty="0">
                        <a:solidFill>
                          <a:srgbClr val="FF0000"/>
                        </a:solidFill>
                        <a:latin typeface="DejaVu Math TeX Gyre" panose="02000503000000000000" charset="0"/>
                        <a:ea typeface="华文楷体" panose="02010600040101010101" charset="-122"/>
                        <a:cs typeface="DejaVu Math TeX Gyre" panose="02000503000000000000" charset="0"/>
                      </a:rPr>
                      <m:t>𝒔</m:t>
                    </m:r>
                    <m:r>
                      <a:rPr lang="en-US" altLang="zh-CN" sz="2000" b="1" i="1" dirty="0">
                        <a:solidFill>
                          <a:srgbClr val="FF0000"/>
                        </a:solidFill>
                        <a:latin typeface="DejaVu Math TeX Gyre" panose="02000503000000000000" charset="0"/>
                        <a:ea typeface="宋体" charset="0"/>
                        <a:cs typeface="DejaVu Math TeX Gyre" panose="02000503000000000000" charset="0"/>
                      </a:rPr>
                      <m:t>=</m:t>
                    </m:r>
                    <m:r>
                      <a:rPr lang="en-US" altLang="zh-CN" sz="2000" b="1" i="1" dirty="0">
                        <a:solidFill>
                          <a:srgbClr val="FF0000"/>
                        </a:solidFill>
                        <a:latin typeface="DejaVu Math TeX Gyre" panose="02000503000000000000" charset="0"/>
                        <a:ea typeface="华文楷体" panose="02010600040101010101" charset="-122"/>
                        <a:cs typeface="DejaVu Math TeX Gyre" panose="02000503000000000000" charset="0"/>
                      </a:rPr>
                      <m:t>𝒆</m:t>
                    </m:r>
                    <m:sSup>
                      <m:sSupPr>
                        <m:ctrlPr>
                          <a:rPr lang="en-US" altLang="zh-CN" sz="2000" i="1" dirty="0">
                            <a:solidFill>
                              <a:srgbClr val="FF0000"/>
                            </a:solidFill>
                            <a:latin typeface="DejaVu Math TeX Gyre" panose="02000503000000000000" charset="0"/>
                            <a:ea typeface="华文楷体" panose="02010600040101010101" charset="-122"/>
                            <a:cs typeface="DejaVu Math TeX Gyre" panose="02000503000000000000" charset="0"/>
                          </a:rPr>
                        </m:ctrlPr>
                      </m:sSupPr>
                      <m:e>
                        <m:r>
                          <a:rPr lang="en-US" altLang="zh-CN" sz="2000" b="1" i="1" dirty="0">
                            <a:solidFill>
                              <a:srgbClr val="FF0000"/>
                            </a:solidFill>
                            <a:latin typeface="DejaVu Math TeX Gyre" panose="02000503000000000000" charset="0"/>
                            <a:ea typeface="华文楷体" panose="02010600040101010101" charset="-122"/>
                            <a:cs typeface="DejaVu Math TeX Gyre" panose="02000503000000000000" charset="0"/>
                          </a:rPr>
                          <m:t>𝑯</m:t>
                        </m:r>
                      </m:e>
                      <m:sup>
                        <m:r>
                          <a:rPr lang="en-US" altLang="zh-CN" sz="2000" i="1" dirty="0">
                            <a:solidFill>
                              <a:srgbClr val="FF0000"/>
                            </a:solidFill>
                            <a:latin typeface="DejaVu Math TeX Gyre" panose="02000503000000000000" charset="0"/>
                            <a:ea typeface="华文楷体" panose="02010600040101010101" charset="-122"/>
                            <a:cs typeface="DejaVu Math TeX Gyre" panose="02000503000000000000" charset="0"/>
                          </a:rPr>
                          <m:t>𝑇</m:t>
                        </m:r>
                      </m:sup>
                    </m:sSup>
                  </m:oMath>
                </a14:m>
                <a:r>
                  <a:rPr lang="zh-CN" altLang="en-US" sz="2000" dirty="0">
                    <a:solidFill>
                      <a:srgbClr val="FF0000"/>
                    </a:solidFill>
                    <a:cs typeface="华文楷体" panose="02010600040101010101" charset="-122"/>
                    <a:sym typeface="+mn-ea"/>
                  </a:rPr>
                  <a:t>，</a:t>
                </a:r>
                <a:r>
                  <a:rPr lang="zh-CN" altLang="en-US" sz="2000" b="1" dirty="0">
                    <a:cs typeface="华文楷体" panose="02010600040101010101" charset="-122"/>
                    <a:sym typeface="+mn-ea"/>
                  </a:rPr>
                  <a:t>s</a:t>
                </a:r>
                <a:r>
                  <a:rPr lang="zh-CN" altLang="en-US" sz="2000" dirty="0">
                    <a:cs typeface="华文楷体" panose="02010600040101010101" charset="-122"/>
                    <a:sym typeface="+mn-ea"/>
                  </a:rPr>
                  <a:t> 与错误图样 </a:t>
                </a:r>
                <a:r>
                  <a:rPr lang="zh-CN" altLang="en-US" sz="2000" b="1" dirty="0">
                    <a:cs typeface="华文楷体" panose="02010600040101010101" charset="-122"/>
                    <a:sym typeface="+mn-ea"/>
                  </a:rPr>
                  <a:t>e</a:t>
                </a:r>
                <a:r>
                  <a:rPr lang="zh-CN" altLang="en-US" sz="2000" dirty="0">
                    <a:cs typeface="华文楷体" panose="02010600040101010101" charset="-122"/>
                    <a:sym typeface="+mn-ea"/>
                  </a:rPr>
                  <a:t> 之间有确定的线性变换关系，与发送码字 </a:t>
                </a:r>
                <a:r>
                  <a:rPr lang="zh-CN" altLang="en-US" sz="2000" b="1" dirty="0">
                    <a:cs typeface="华文楷体" panose="02010600040101010101" charset="-122"/>
                    <a:sym typeface="+mn-ea"/>
                  </a:rPr>
                  <a:t>y</a:t>
                </a:r>
                <a:r>
                  <a:rPr lang="zh-CN" altLang="en-US" sz="2000" dirty="0">
                    <a:cs typeface="华文楷体" panose="02010600040101010101" charset="-122"/>
                    <a:sym typeface="+mn-ea"/>
                  </a:rPr>
                  <a:t> 无关。</a:t>
                </a:r>
                <a:endParaRPr lang="zh-CN" altLang="en-US" sz="2000" dirty="0">
                  <a:latin typeface="华文楷体" panose="02010600040101010101" charset="-122"/>
                  <a:ea typeface="华文楷体" panose="02010600040101010101" charset="-122"/>
                  <a:cs typeface="华文楷体" panose="02010600040101010101" charset="-122"/>
                  <a:sym typeface="+mn-ea"/>
                </a:endParaRPr>
              </a:p>
              <a:p>
                <a:pPr marL="800100" lvl="1" indent="-342900">
                  <a:buFont typeface="Arial" panose="020B0604020202090204" pitchFamily="34" charset="0"/>
                  <a:buChar char="•"/>
                </a:pPr>
                <a:r>
                  <a:rPr lang="zh-CN" altLang="en-US" sz="2000" dirty="0">
                    <a:cs typeface="华文楷体" panose="02010600040101010101" charset="-122"/>
                    <a:sym typeface="+mn-ea"/>
                  </a:rPr>
                  <a:t>若</a:t>
                </a:r>
                <a14:m>
                  <m:oMath xmlns:m="http://schemas.openxmlformats.org/officeDocument/2006/math">
                    <m:r>
                      <a:rPr lang="en-US" altLang="zh-CN" sz="2000" b="1" i="1" dirty="0">
                        <a:solidFill>
                          <a:srgbClr val="FF0000"/>
                        </a:solidFill>
                        <a:latin typeface="DejaVu Math TeX Gyre" panose="02000503000000000000" charset="0"/>
                        <a:ea typeface="华文楷体" panose="02010600040101010101" charset="-122"/>
                        <a:cs typeface="DejaVu Math TeX Gyre" panose="02000503000000000000" charset="0"/>
                      </a:rPr>
                      <m:t>𝒆</m:t>
                    </m:r>
                    <m:r>
                      <a:rPr lang="en-US" altLang="zh-CN" sz="2000" b="1" i="1" dirty="0">
                        <a:solidFill>
                          <a:srgbClr val="FF0000"/>
                        </a:solidFill>
                        <a:latin typeface="DejaVu Math TeX Gyre" panose="02000503000000000000" charset="0"/>
                        <a:ea typeface="华文楷体" panose="02010600040101010101" charset="-122"/>
                        <a:cs typeface="DejaVu Math TeX Gyre" panose="02000503000000000000" charset="0"/>
                      </a:rPr>
                      <m:t>=</m:t>
                    </m:r>
                    <m:r>
                      <a:rPr lang="en-US" altLang="zh-CN" sz="2000" b="1" i="1" dirty="0">
                        <a:solidFill>
                          <a:srgbClr val="FF0000"/>
                        </a:solidFill>
                        <a:latin typeface="DejaVu Math TeX Gyre" panose="02000503000000000000" charset="0"/>
                        <a:ea typeface="华文楷体" panose="02010600040101010101" charset="-122"/>
                        <a:cs typeface="DejaVu Math TeX Gyre" panose="02000503000000000000" charset="0"/>
                      </a:rPr>
                      <m:t>𝟎</m:t>
                    </m:r>
                  </m:oMath>
                </a14:m>
                <a:r>
                  <a:rPr lang="zh-CN" altLang="en-US" sz="2000" dirty="0">
                    <a:solidFill>
                      <a:srgbClr val="FF0000"/>
                    </a:solidFill>
                    <a:latin typeface="DejaVu Math TeX Gyre" panose="02000503000000000000" charset="0"/>
                    <a:cs typeface="DejaVu Math TeX Gyre" panose="02000503000000000000" charset="0"/>
                    <a:sym typeface="+mn-ea"/>
                  </a:rPr>
                  <a:t>，则</a:t>
                </a:r>
                <a14:m>
                  <m:oMath xmlns:m="http://schemas.openxmlformats.org/officeDocument/2006/math">
                    <m:r>
                      <a:rPr lang="en-US" altLang="zh-CN" sz="2000" b="1" i="1" dirty="0">
                        <a:solidFill>
                          <a:srgbClr val="FF0000"/>
                        </a:solidFill>
                        <a:latin typeface="DejaVu Math TeX Gyre" panose="02000503000000000000" charset="0"/>
                        <a:ea typeface="华文楷体" panose="02010600040101010101" charset="-122"/>
                        <a:cs typeface="DejaVu Math TeX Gyre" panose="02000503000000000000" charset="0"/>
                      </a:rPr>
                      <m:t>𝒔</m:t>
                    </m:r>
                    <m:r>
                      <a:rPr lang="en-US" altLang="zh-CN" sz="2000" b="1" i="1" dirty="0">
                        <a:solidFill>
                          <a:srgbClr val="FF0000"/>
                        </a:solidFill>
                        <a:latin typeface="DejaVu Math TeX Gyre" panose="02000503000000000000" charset="0"/>
                        <a:ea typeface="华文楷体" panose="02010600040101010101" charset="-122"/>
                        <a:cs typeface="DejaVu Math TeX Gyre" panose="02000503000000000000" charset="0"/>
                      </a:rPr>
                      <m:t>=</m:t>
                    </m:r>
                    <m:r>
                      <a:rPr lang="en-US" altLang="zh-CN" sz="2000" b="1" i="1" dirty="0">
                        <a:solidFill>
                          <a:srgbClr val="FF0000"/>
                        </a:solidFill>
                        <a:latin typeface="DejaVu Math TeX Gyre" panose="02000503000000000000" charset="0"/>
                        <a:ea typeface="华文楷体" panose="02010600040101010101" charset="-122"/>
                        <a:cs typeface="DejaVu Math TeX Gyre" panose="02000503000000000000" charset="0"/>
                      </a:rPr>
                      <m:t>𝟎</m:t>
                    </m:r>
                  </m:oMath>
                </a14:m>
                <a:endParaRPr lang="en-US" altLang="zh-CN" sz="2000" dirty="0">
                  <a:cs typeface="华文楷体" panose="02010600040101010101" charset="-122"/>
                </a:endParaRPr>
              </a:p>
              <a:p>
                <a:pPr latinLnBrk="0">
                  <a:lnSpc>
                    <a:spcPct val="150000"/>
                  </a:lnSpc>
                  <a:spcBef>
                    <a:spcPts val="0"/>
                  </a:spcBef>
                </a:pPr>
                <a:r>
                  <a:rPr lang="zh-CN" altLang="en-US" sz="2000" dirty="0">
                    <a:cs typeface="华文楷体" panose="02010600040101010101" charset="-122"/>
                  </a:rPr>
                  <a:t>若接收码组为</a:t>
                </a:r>
                <a14:m>
                  <m:oMath xmlns:m="http://schemas.openxmlformats.org/officeDocument/2006/math">
                    <m:r>
                      <a:rPr lang="en-US" altLang="zh-CN" sz="2000" b="1" i="1" dirty="0">
                        <a:latin typeface="DejaVu Math TeX Gyre" panose="02000503000000000000" charset="0"/>
                        <a:cs typeface="DejaVu Math TeX Gyre" panose="02000503000000000000" charset="0"/>
                      </a:rPr>
                      <m:t>𝒔</m:t>
                    </m:r>
                    <m:r>
                      <a:rPr lang="en-US" altLang="zh-CN" sz="2000" i="1" dirty="0">
                        <a:latin typeface="DejaVu Math TeX Gyre" panose="02000503000000000000" charset="0"/>
                        <a:cs typeface="DejaVu Math TeX Gyre" panose="02000503000000000000" charset="0"/>
                      </a:rPr>
                      <m:t>=[</m:t>
                    </m:r>
                    <m:r>
                      <a:rPr lang="en-US" altLang="zh-CN" sz="2000" i="1" dirty="0">
                        <a:latin typeface="DejaVu Math TeX Gyre" panose="02000503000000000000" charset="0"/>
                        <a:cs typeface="DejaVu Math TeX Gyre" panose="02000503000000000000" charset="0"/>
                      </a:rPr>
                      <m:t>1000011</m:t>
                    </m:r>
                    <m:r>
                      <a:rPr lang="en-US" altLang="zh-CN" sz="2000" i="1" dirty="0">
                        <a:latin typeface="DejaVu Math TeX Gyre" panose="02000503000000000000" charset="0"/>
                        <a:cs typeface="DejaVu Math TeX Gyre" panose="02000503000000000000" charset="0"/>
                      </a:rPr>
                      <m:t>]</m:t>
                    </m:r>
                  </m:oMath>
                </a14:m>
                <a:r>
                  <a:rPr lang="zh-CN" altLang="en-US" sz="2000" dirty="0">
                    <a:latin typeface="DejaVu Math TeX Gyre" panose="02000503000000000000" charset="0"/>
                    <a:cs typeface="DejaVu Math TeX Gyre" panose="02000503000000000000" charset="0"/>
                  </a:rPr>
                  <a:t>，错误矩阵</a:t>
                </a:r>
                <a14:m>
                  <m:oMath xmlns:m="http://schemas.openxmlformats.org/officeDocument/2006/math">
                    <m:r>
                      <a:rPr lang="en-US" altLang="zh-CN" sz="2000" b="1" i="1" dirty="0">
                        <a:latin typeface="DejaVu Math TeX Gyre" panose="02000503000000000000" charset="0"/>
                        <a:cs typeface="DejaVu Math TeX Gyre" panose="02000503000000000000" charset="0"/>
                      </a:rPr>
                      <m:t>𝒆</m:t>
                    </m:r>
                    <m:r>
                      <a:rPr lang="en-US" altLang="zh-CN" sz="2000" i="1" dirty="0">
                        <a:latin typeface="DejaVu Math TeX Gyre" panose="02000503000000000000" charset="0"/>
                        <a:cs typeface="DejaVu Math TeX Gyre" panose="02000503000000000000" charset="0"/>
                      </a:rPr>
                      <m:t>=[</m:t>
                    </m:r>
                    <m:r>
                      <a:rPr lang="en-US" altLang="zh-CN" sz="2000" i="1" dirty="0">
                        <a:latin typeface="DejaVu Math TeX Gyre" panose="02000503000000000000" charset="0"/>
                        <a:cs typeface="DejaVu Math TeX Gyre" panose="02000503000000000000" charset="0"/>
                      </a:rPr>
                      <m:t>0000100</m:t>
                    </m:r>
                    <m:r>
                      <a:rPr lang="en-US" altLang="zh-CN" sz="2000" i="1" dirty="0">
                        <a:latin typeface="DejaVu Math TeX Gyre" panose="02000503000000000000" charset="0"/>
                        <a:cs typeface="DejaVu Math TeX Gyre" panose="02000503000000000000" charset="0"/>
                      </a:rPr>
                      <m:t>]</m:t>
                    </m:r>
                  </m:oMath>
                </a14:m>
                <a:r>
                  <a:rPr lang="zh-CN" altLang="en-US" sz="2000" dirty="0">
                    <a:latin typeface="DejaVu Math TeX Gyre" panose="02000503000000000000" charset="0"/>
                    <a:cs typeface="DejaVu Math TeX Gyre" panose="02000503000000000000" charset="0"/>
                  </a:rPr>
                  <a:t>，则发送码组</a:t>
                </a:r>
                <a14:m>
                  <m:oMath xmlns:m="http://schemas.openxmlformats.org/officeDocument/2006/math">
                    <m:r>
                      <a:rPr lang="en-US" altLang="zh-CN" sz="2000" b="1" i="1" dirty="0">
                        <a:latin typeface="DejaVu Math TeX Gyre" panose="02000503000000000000" charset="0"/>
                        <a:cs typeface="DejaVu Math TeX Gyre" panose="02000503000000000000" charset="0"/>
                      </a:rPr>
                      <m:t>𝒄</m:t>
                    </m:r>
                    <m:r>
                      <a:rPr lang="en-US" altLang="zh-CN" sz="2000" i="1" dirty="0">
                        <a:latin typeface="DejaVu Math TeX Gyre" panose="02000503000000000000" charset="0"/>
                        <a:cs typeface="DejaVu Math TeX Gyre" panose="02000503000000000000" charset="0"/>
                      </a:rPr>
                      <m:t>=[</m:t>
                    </m:r>
                    <m:r>
                      <a:rPr lang="en-US" altLang="zh-CN" sz="2000" i="1" dirty="0">
                        <a:latin typeface="DejaVu Math TeX Gyre" panose="02000503000000000000" charset="0"/>
                        <a:cs typeface="DejaVu Math TeX Gyre" panose="02000503000000000000" charset="0"/>
                      </a:rPr>
                      <m:t>1000111</m:t>
                    </m:r>
                    <m:r>
                      <a:rPr lang="en-US" altLang="zh-CN" sz="2000" i="1" dirty="0">
                        <a:latin typeface="DejaVu Math TeX Gyre" panose="02000503000000000000" charset="0"/>
                        <a:cs typeface="DejaVu Math TeX Gyre" panose="02000503000000000000" charset="0"/>
                      </a:rPr>
                      <m:t>]</m:t>
                    </m:r>
                  </m:oMath>
                </a14:m>
                <a:endParaRPr lang="en-US" altLang="zh-CN" sz="2000" dirty="0">
                  <a:cs typeface="华文楷体" panose="02010600040101010101" charset="-122"/>
                </a:endParaRPr>
              </a:p>
              <a:p>
                <a:pPr latinLnBrk="0">
                  <a:lnSpc>
                    <a:spcPct val="150000"/>
                  </a:lnSpc>
                  <a:spcBef>
                    <a:spcPts val="0"/>
                  </a:spcBef>
                </a:pPr>
                <a:r>
                  <a:rPr lang="zh-CN" altLang="en-US" sz="2000" dirty="0">
                    <a:solidFill>
                      <a:srgbClr val="FF0000"/>
                    </a:solidFill>
                    <a:cs typeface="华文楷体" panose="02010600040101010101" charset="-122"/>
                  </a:rPr>
                  <a:t>对于接收码组</a:t>
                </a:r>
                <a:r>
                  <a:rPr lang="en-US" altLang="zh-CN" sz="2000" b="1" i="1" dirty="0">
                    <a:solidFill>
                      <a:srgbClr val="FF0000"/>
                    </a:solidFill>
                    <a:latin typeface="DejaVu Math TeX Gyre" panose="02000503000000000000" charset="0"/>
                    <a:cs typeface="DejaVu Math TeX Gyre" panose="02000503000000000000" charset="0"/>
                  </a:rPr>
                  <a:t>y</a:t>
                </a:r>
                <a:r>
                  <a:rPr lang="en-US" altLang="zh-CN" sz="2000" dirty="0">
                    <a:solidFill>
                      <a:srgbClr val="FF0000"/>
                    </a:solidFill>
                    <a:cs typeface="华文楷体" panose="02010600040101010101" charset="-122"/>
                    <a:sym typeface="+mn-ea"/>
                  </a:rPr>
                  <a:t> </a:t>
                </a:r>
                <a:r>
                  <a:rPr lang="zh-CN" altLang="en-US" sz="2000" dirty="0">
                    <a:solidFill>
                      <a:srgbClr val="FF0000"/>
                    </a:solidFill>
                    <a:cs typeface="华文楷体" panose="02010600040101010101" charset="-122"/>
                    <a:sym typeface="+mn-ea"/>
                  </a:rPr>
                  <a:t>，可计算</a:t>
                </a:r>
                <a14:m>
                  <m:oMath xmlns:m="http://schemas.openxmlformats.org/officeDocument/2006/math">
                    <m:sSup>
                      <m:sSupPr>
                        <m:ctrlPr>
                          <a:rPr lang="en-US" altLang="zh-CN" sz="2000" i="1" dirty="0">
                            <a:solidFill>
                              <a:srgbClr val="FF0000"/>
                            </a:solidFill>
                            <a:latin typeface="DejaVu Math TeX Gyre" panose="02000503000000000000" charset="0"/>
                            <a:cs typeface="DejaVu Math TeX Gyre" panose="02000503000000000000" charset="0"/>
                          </a:rPr>
                        </m:ctrlPr>
                      </m:sSupPr>
                      <m:e>
                        <m:r>
                          <a:rPr lang="en-US" altLang="zh-CN" sz="2000" b="1" i="1" dirty="0">
                            <a:solidFill>
                              <a:srgbClr val="FF0000"/>
                            </a:solidFill>
                            <a:latin typeface="DejaVu Math TeX Gyre" panose="02000503000000000000" charset="0"/>
                            <a:cs typeface="DejaVu Math TeX Gyre" panose="02000503000000000000" charset="0"/>
                          </a:rPr>
                          <m:t>𝒚𝑯</m:t>
                        </m:r>
                      </m:e>
                      <m:sup>
                        <m:r>
                          <a:rPr lang="en-US" altLang="zh-CN" sz="2000" i="1" dirty="0">
                            <a:solidFill>
                              <a:srgbClr val="FF0000"/>
                            </a:solidFill>
                            <a:latin typeface="DejaVu Math TeX Gyre" panose="02000503000000000000" charset="0"/>
                            <a:cs typeface="DejaVu Math TeX Gyre" panose="02000503000000000000" charset="0"/>
                          </a:rPr>
                          <m:t>𝑇</m:t>
                        </m:r>
                      </m:sup>
                    </m:sSup>
                    <m:r>
                      <a:rPr lang="en-US" altLang="zh-CN" sz="2000" i="1" dirty="0">
                        <a:solidFill>
                          <a:srgbClr val="FF0000"/>
                        </a:solidFill>
                        <a:latin typeface="DejaVu Math TeX Gyre" panose="02000503000000000000" charset="0"/>
                        <a:cs typeface="DejaVu Math TeX Gyre" panose="02000503000000000000" charset="0"/>
                      </a:rPr>
                      <m:t>=</m:t>
                    </m:r>
                    <m:r>
                      <a:rPr lang="en-US" altLang="zh-CN" sz="2000" b="1" i="1" dirty="0">
                        <a:solidFill>
                          <a:srgbClr val="FF0000"/>
                        </a:solidFill>
                        <a:latin typeface="DejaVu Math TeX Gyre" panose="02000503000000000000" charset="0"/>
                        <a:cs typeface="DejaVu Math TeX Gyre" panose="02000503000000000000" charset="0"/>
                      </a:rPr>
                      <m:t>𝒔</m:t>
                    </m:r>
                    <m:r>
                      <a:rPr lang="en-US" altLang="zh-CN" sz="2000" i="1" dirty="0">
                        <a:solidFill>
                          <a:srgbClr val="FF0000"/>
                        </a:solidFill>
                        <a:latin typeface="DejaVu Math TeX Gyre" panose="02000503000000000000" charset="0"/>
                        <a:cs typeface="DejaVu Math TeX Gyre" panose="02000503000000000000" charset="0"/>
                      </a:rPr>
                      <m:t>=</m:t>
                    </m:r>
                    <m:d>
                      <m:dPr>
                        <m:begChr m:val="{"/>
                        <m:endChr m:val=""/>
                        <m:ctrlPr>
                          <a:rPr lang="en-US" altLang="zh-CN" sz="2000" i="1" dirty="0">
                            <a:solidFill>
                              <a:srgbClr val="FF0000"/>
                            </a:solidFill>
                            <a:latin typeface="DejaVu Math TeX Gyre" panose="02000503000000000000" charset="0"/>
                            <a:cs typeface="DejaVu Math TeX Gyre" panose="02000503000000000000" charset="0"/>
                          </a:rPr>
                        </m:ctrlPr>
                      </m:dPr>
                      <m:e>
                        <m:eqArr>
                          <m:eqArrPr>
                            <m:ctrlPr>
                              <a:rPr lang="en-US" altLang="zh-CN" sz="2000" i="1" dirty="0">
                                <a:solidFill>
                                  <a:srgbClr val="FF0000"/>
                                </a:solidFill>
                                <a:latin typeface="DejaVu Math TeX Gyre" panose="02000503000000000000" charset="0"/>
                                <a:cs typeface="DejaVu Math TeX Gyre" panose="02000503000000000000" charset="0"/>
                              </a:rPr>
                            </m:ctrlPr>
                          </m:eqArrPr>
                          <m:e>
                            <m:r>
                              <a:rPr lang="en-US" altLang="zh-CN" sz="2000" i="1" dirty="0">
                                <a:solidFill>
                                  <a:srgbClr val="FF0000"/>
                                </a:solidFill>
                                <a:latin typeface="DejaVu Math TeX Gyre" panose="02000503000000000000" charset="0"/>
                                <a:ea typeface="宋体" charset="0"/>
                                <a:cs typeface="DejaVu Math TeX Gyre" panose="02000503000000000000" charset="0"/>
                              </a:rPr>
                              <m:t>=</m:t>
                            </m:r>
                            <m:r>
                              <a:rPr lang="en-US" altLang="zh-CN" sz="2000" i="1" dirty="0">
                                <a:solidFill>
                                  <a:srgbClr val="FF0000"/>
                                </a:solidFill>
                                <a:latin typeface="DejaVu Math TeX Gyre" panose="02000503000000000000" charset="0"/>
                                <a:ea typeface="宋体" charset="0"/>
                                <a:cs typeface="DejaVu Math TeX Gyre" panose="02000503000000000000" charset="0"/>
                              </a:rPr>
                              <m:t>0</m:t>
                            </m:r>
                            <m:r>
                              <a:rPr lang="en-US" altLang="zh-CN" sz="2000" i="1" dirty="0">
                                <a:solidFill>
                                  <a:srgbClr val="FF0000"/>
                                </a:solidFill>
                                <a:latin typeface="DejaVu Math TeX Gyre" panose="02000503000000000000" charset="0"/>
                                <a:ea typeface="宋体" charset="0"/>
                                <a:cs typeface="DejaVu Math TeX Gyre" panose="02000503000000000000" charset="0"/>
                              </a:rPr>
                              <m:t>，</m:t>
                            </m:r>
                            <m:r>
                              <a:rPr lang="zh-CN" altLang="en-US" sz="2000" i="1" dirty="0">
                                <a:solidFill>
                                  <a:srgbClr val="FF0000"/>
                                </a:solidFill>
                                <a:latin typeface="DejaVu Math TeX Gyre" panose="02000503000000000000" charset="0"/>
                                <a:ea typeface="宋体" charset="0"/>
                                <a:cs typeface="DejaVu Math TeX Gyre" panose="02000503000000000000" charset="0"/>
                              </a:rPr>
                              <m:t>无错</m:t>
                            </m:r>
                          </m:e>
                          <m:e>
                            <m:r>
                              <a:rPr lang="en-US" altLang="zh-CN" sz="2000" i="1" dirty="0">
                                <a:solidFill>
                                  <a:srgbClr val="FF0000"/>
                                </a:solidFill>
                                <a:latin typeface="DejaVu Math TeX Gyre" panose="02000503000000000000" charset="0"/>
                                <a:ea typeface="宋体" charset="0"/>
                                <a:cs typeface="DejaVu Math TeX Gyre" panose="02000503000000000000" charset="0"/>
                              </a:rPr>
                              <m:t>≠</m:t>
                            </m:r>
                            <m:r>
                              <a:rPr lang="en-US" altLang="zh-CN" sz="2000" i="1" dirty="0">
                                <a:solidFill>
                                  <a:srgbClr val="FF0000"/>
                                </a:solidFill>
                                <a:latin typeface="DejaVu Math TeX Gyre" panose="02000503000000000000" charset="0"/>
                                <a:ea typeface="宋体" charset="0"/>
                                <a:cs typeface="DejaVu Math TeX Gyre" panose="02000503000000000000" charset="0"/>
                              </a:rPr>
                              <m:t>0</m:t>
                            </m:r>
                            <m:r>
                              <a:rPr lang="en-US" altLang="zh-CN" sz="2000" i="1" dirty="0">
                                <a:solidFill>
                                  <a:srgbClr val="FF0000"/>
                                </a:solidFill>
                                <a:latin typeface="DejaVu Math TeX Gyre" panose="02000503000000000000" charset="0"/>
                                <a:ea typeface="宋体" charset="0"/>
                                <a:cs typeface="DejaVu Math TeX Gyre" panose="02000503000000000000" charset="0"/>
                              </a:rPr>
                              <m:t>，</m:t>
                            </m:r>
                            <m:r>
                              <a:rPr lang="zh-CN" altLang="en-US" sz="2000" i="1" dirty="0">
                                <a:solidFill>
                                  <a:srgbClr val="FF0000"/>
                                </a:solidFill>
                                <a:latin typeface="DejaVu Math TeX Gyre" panose="02000503000000000000" charset="0"/>
                                <a:ea typeface="宋体" charset="0"/>
                                <a:cs typeface="DejaVu Math TeX Gyre" panose="02000503000000000000" charset="0"/>
                              </a:rPr>
                              <m:t>出错</m:t>
                            </m:r>
                          </m:e>
                        </m:eqArr>
                      </m:e>
                    </m:d>
                  </m:oMath>
                </a14:m>
                <a:r>
                  <a:rPr lang="zh-CN" altLang="en-US" sz="2000" dirty="0">
                    <a:solidFill>
                      <a:srgbClr val="FF0000"/>
                    </a:solidFill>
                    <a:latin typeface="DejaVu Math TeX Gyre" panose="02000503000000000000" charset="0"/>
                    <a:cs typeface="DejaVu Math TeX Gyre" panose="02000503000000000000" charset="0"/>
                  </a:rPr>
                  <a:t>来进行检测</a:t>
                </a:r>
                <a:endParaRPr lang="zh-CN" altLang="en-US" sz="2000" dirty="0">
                  <a:solidFill>
                    <a:srgbClr val="FF0000"/>
                  </a:solidFill>
                  <a:latin typeface="DejaVu Math TeX Gyre" panose="02000503000000000000" charset="0"/>
                  <a:cs typeface="DejaVu Math TeX Gyre" panose="02000503000000000000" charset="0"/>
                </a:endParaRPr>
              </a:p>
            </p:txBody>
          </p:sp>
        </mc:Choice>
        <mc:Fallback>
          <p:sp>
            <p:nvSpPr>
              <p:cNvPr id="2" name="内容占位符 1"/>
              <p:cNvSpPr>
                <a:spLocks noRot="1" noChangeAspect="1" noMove="1" noResize="1" noEditPoints="1" noAdjustHandles="1" noChangeArrowheads="1" noChangeShapeType="1" noTextEdit="1"/>
              </p:cNvSpPr>
              <p:nvPr>
                <p:ph idx="1"/>
                <p:custDataLst>
                  <p:tags r:id="rId3"/>
                </p:custDataLst>
              </p:nvPr>
            </p:nvSpPr>
            <p:spPr>
              <a:xfrm>
                <a:off x="624417" y="406401"/>
                <a:ext cx="10972800" cy="4525963"/>
              </a:xfrm>
              <a:blipFill rotWithShape="1">
                <a:blip r:embed="rId4"/>
                <a:stretch>
                  <a:fillRect l="-2" t="-379" r="2" b="7"/>
                </a:stretch>
              </a:blipFill>
            </p:spPr>
            <p:txBody>
              <a:bodyPr/>
              <a:lstStyle/>
              <a:p>
                <a:r>
                  <a:rPr lang="zh-CN" altLang="en-US">
                    <a:noFill/>
                  </a:rPr>
                  <a:t> </a:t>
                </a:r>
              </a:p>
            </p:txBody>
          </p:sp>
        </mc:Fallback>
      </mc:AlternateContent>
      <p:graphicFrame>
        <p:nvGraphicFramePr>
          <p:cNvPr id="4" name="对象 -2147482598"/>
          <p:cNvGraphicFramePr>
            <a:graphicFrameLocks noChangeAspect="1"/>
          </p:cNvGraphicFramePr>
          <p:nvPr>
            <p:custDataLst>
              <p:tags r:id="rId5"/>
            </p:custDataLst>
          </p:nvPr>
        </p:nvGraphicFramePr>
        <p:xfrm>
          <a:off x="4439920" y="1055370"/>
          <a:ext cx="3381375" cy="479425"/>
        </p:xfrm>
        <a:graphic>
          <a:graphicData uri="http://schemas.openxmlformats.org/presentationml/2006/ole">
            <mc:AlternateContent xmlns:mc="http://schemas.openxmlformats.org/markup-compatibility/2006">
              <mc:Choice xmlns:v="urn:schemas-microsoft-com:vml" Requires="v">
                <p:oleObj spid="_x0000_s16454" name="" r:id="rId6" imgW="1663700" imgH="228600" progId="Equation.DSMT4">
                  <p:embed/>
                </p:oleObj>
              </mc:Choice>
              <mc:Fallback>
                <p:oleObj name="" r:id="rId6" imgW="1663700" imgH="228600" progId="Equation.DSMT4">
                  <p:embed/>
                  <p:pic>
                    <p:nvPicPr>
                      <p:cNvPr id="0" name="图片 3075"/>
                      <p:cNvPicPr/>
                      <p:nvPr/>
                    </p:nvPicPr>
                    <p:blipFill>
                      <a:blip r:embed="rId7"/>
                      <a:stretch>
                        <a:fillRect/>
                      </a:stretch>
                    </p:blipFill>
                    <p:spPr>
                      <a:xfrm>
                        <a:off x="4439920" y="1055370"/>
                        <a:ext cx="3381375" cy="479425"/>
                      </a:xfrm>
                      <a:prstGeom prst="rect">
                        <a:avLst/>
                      </a:prstGeom>
                      <a:no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9" name="圆角矩形 8"/>
              <p:cNvSpPr/>
              <p:nvPr>
                <p:custDataLst>
                  <p:tags r:id="rId8"/>
                </p:custDataLst>
              </p:nvPr>
            </p:nvSpPr>
            <p:spPr>
              <a:xfrm>
                <a:off x="2711450" y="4437380"/>
                <a:ext cx="7045960" cy="2401570"/>
              </a:xfrm>
              <a:prstGeom prst="round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indent="0" eaLnBrk="1" latinLnBrk="0" hangingPunct="1">
                  <a:lnSpc>
                    <a:spcPct val="150000"/>
                  </a:lnSpc>
                  <a:buNone/>
                </a:pP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由以上分析可知，</a:t>
                </a:r>
                <a:r>
                  <a:rPr lang="en-US" altLang="zh-CN" sz="2000" dirty="0">
                    <a:solidFill>
                      <a:schemeClr val="tx1"/>
                    </a:solidFill>
                    <a:latin typeface="华文楷体" panose="02010600040101010101" charset="-122"/>
                    <a:ea typeface="华文楷体" panose="02010600040101010101" charset="-122"/>
                    <a:cs typeface="华文楷体" panose="02010600040101010101" charset="-122"/>
                    <a:sym typeface="+mn-ea"/>
                  </a:rPr>
                  <a:t>(</a:t>
                </a:r>
                <a:r>
                  <a:rPr lang="en-US" altLang="zh-CN" sz="2000" i="1" dirty="0">
                    <a:solidFill>
                      <a:schemeClr val="tx1"/>
                    </a:solidFill>
                    <a:latin typeface="华文楷体" panose="02010600040101010101" charset="-122"/>
                    <a:ea typeface="华文楷体" panose="02010600040101010101" charset="-122"/>
                    <a:cs typeface="华文楷体" panose="02010600040101010101" charset="-122"/>
                    <a:sym typeface="+mn-ea"/>
                  </a:rPr>
                  <a:t>n</a:t>
                </a:r>
                <a:r>
                  <a:rPr lang="en-US" altLang="zh-CN" sz="2000"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en-US" altLang="zh-CN" sz="2000" i="1" dirty="0">
                    <a:solidFill>
                      <a:schemeClr val="tx1"/>
                    </a:solidFill>
                    <a:latin typeface="华文楷体" panose="02010600040101010101" charset="-122"/>
                    <a:ea typeface="华文楷体" panose="02010600040101010101" charset="-122"/>
                    <a:cs typeface="华文楷体" panose="02010600040101010101" charset="-122"/>
                    <a:sym typeface="+mn-ea"/>
                  </a:rPr>
                  <a:t>k</a:t>
                </a:r>
                <a:r>
                  <a:rPr lang="en-US" altLang="zh-CN" sz="2000"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线性分组码译码的三个基本步骤：</a:t>
                </a:r>
                <a:endParaRPr lang="en-US" altLang="zh-CN" sz="2000" dirty="0">
                  <a:solidFill>
                    <a:schemeClr val="tx1"/>
                  </a:solidFill>
                  <a:latin typeface="华文楷体" panose="02010600040101010101" charset="-122"/>
                  <a:ea typeface="华文楷体" panose="02010600040101010101" charset="-122"/>
                  <a:cs typeface="华文楷体" panose="02010600040101010101" charset="-122"/>
                </a:endParaRPr>
              </a:p>
              <a:p>
                <a:pPr marL="0" indent="0" eaLnBrk="1" latinLnBrk="0" hangingPunct="1">
                  <a:lnSpc>
                    <a:spcPct val="150000"/>
                  </a:lnSpc>
                  <a:buNone/>
                </a:pPr>
                <a:r>
                  <a:rPr lang="en-US" altLang="zh-CN" sz="2000" dirty="0">
                    <a:solidFill>
                      <a:schemeClr val="tx1"/>
                    </a:solidFill>
                    <a:latin typeface="华文楷体" panose="02010600040101010101" charset="-122"/>
                    <a:ea typeface="华文楷体" panose="02010600040101010101" charset="-122"/>
                    <a:cs typeface="华文楷体" panose="02010600040101010101" charset="-122"/>
                    <a:sym typeface="+mn-ea"/>
                  </a:rPr>
                  <a:t>1</a:t>
                </a: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）计算接收码字 </a:t>
                </a:r>
                <a:r>
                  <a:rPr lang="en-US" altLang="zh-CN" sz="2000" dirty="0">
                    <a:solidFill>
                      <a:schemeClr val="tx1"/>
                    </a:solidFill>
                    <a:latin typeface="华文楷体" panose="02010600040101010101" charset="-122"/>
                    <a:ea typeface="华文楷体" panose="02010600040101010101" charset="-122"/>
                    <a:cs typeface="华文楷体" panose="02010600040101010101" charset="-122"/>
                    <a:sym typeface="+mn-ea"/>
                  </a:rPr>
                  <a:t>y</a:t>
                </a: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 的伴随式 </a:t>
                </a:r>
                <a:r>
                  <a:rPr lang="en-US" altLang="zh-CN" sz="2000" b="1" dirty="0">
                    <a:solidFill>
                      <a:schemeClr val="tx1"/>
                    </a:solidFill>
                    <a:latin typeface="华文楷体" panose="02010600040101010101" charset="-122"/>
                    <a:ea typeface="华文楷体" panose="02010600040101010101" charset="-122"/>
                    <a:cs typeface="华文楷体" panose="02010600040101010101" charset="-122"/>
                    <a:sym typeface="+mn-ea"/>
                  </a:rPr>
                  <a:t>s : </a:t>
                </a:r>
                <a14:m>
                  <m:oMath xmlns:m="http://schemas.openxmlformats.org/officeDocument/2006/math">
                    <m:sSup>
                      <m:sSupPr>
                        <m:ctrlPr>
                          <a:rPr lang="en-US" altLang="zh-CN" sz="2000" i="1" dirty="0">
                            <a:solidFill>
                              <a:srgbClr val="FF0000"/>
                            </a:solidFill>
                            <a:latin typeface="DejaVu Math TeX Gyre" panose="02000503000000000000" charset="0"/>
                            <a:cs typeface="DejaVu Math TeX Gyre" panose="02000503000000000000" charset="0"/>
                          </a:rPr>
                        </m:ctrlPr>
                      </m:sSupPr>
                      <m:e>
                        <m:r>
                          <a:rPr lang="en-US" altLang="zh-CN" sz="2000" b="1" i="1" dirty="0">
                            <a:solidFill>
                              <a:srgbClr val="FF0000"/>
                            </a:solidFill>
                            <a:latin typeface="DejaVu Math TeX Gyre" panose="02000503000000000000" charset="0"/>
                            <a:cs typeface="DejaVu Math TeX Gyre" panose="02000503000000000000" charset="0"/>
                          </a:rPr>
                          <m:t>𝒔</m:t>
                        </m:r>
                        <m:r>
                          <a:rPr lang="en-US" altLang="zh-CN" sz="2000" b="1" i="1" dirty="0">
                            <a:solidFill>
                              <a:srgbClr val="FF0000"/>
                            </a:solidFill>
                            <a:latin typeface="DejaVu Math TeX Gyre" panose="02000503000000000000" charset="0"/>
                            <a:cs typeface="DejaVu Math TeX Gyre" panose="02000503000000000000" charset="0"/>
                          </a:rPr>
                          <m:t>=</m:t>
                        </m:r>
                        <m:r>
                          <a:rPr lang="en-US" altLang="zh-CN" sz="2000" b="1" i="1" dirty="0">
                            <a:solidFill>
                              <a:srgbClr val="FF0000"/>
                            </a:solidFill>
                            <a:latin typeface="DejaVu Math TeX Gyre" panose="02000503000000000000" charset="0"/>
                            <a:cs typeface="DejaVu Math TeX Gyre" panose="02000503000000000000" charset="0"/>
                          </a:rPr>
                          <m:t>𝒚𝑯</m:t>
                        </m:r>
                      </m:e>
                      <m:sup>
                        <m:r>
                          <a:rPr lang="en-US" altLang="zh-CN" sz="2000" i="1" dirty="0">
                            <a:solidFill>
                              <a:srgbClr val="FF0000"/>
                            </a:solidFill>
                            <a:latin typeface="DejaVu Math TeX Gyre" panose="02000503000000000000" charset="0"/>
                            <a:cs typeface="DejaVu Math TeX Gyre" panose="02000503000000000000" charset="0"/>
                          </a:rPr>
                          <m:t>𝑇</m:t>
                        </m:r>
                      </m:sup>
                    </m:sSup>
                  </m:oMath>
                </a14:m>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a:t>
                </a:r>
                <a:endParaRPr lang="zh-CN" altLang="en-US" sz="2000" dirty="0">
                  <a:solidFill>
                    <a:schemeClr val="tx1"/>
                  </a:solidFill>
                  <a:latin typeface="华文楷体" panose="02010600040101010101" charset="-122"/>
                  <a:ea typeface="华文楷体" panose="02010600040101010101" charset="-122"/>
                  <a:cs typeface="华文楷体" panose="02010600040101010101" charset="-122"/>
                </a:endParaRPr>
              </a:p>
              <a:p>
                <a:pPr marL="0" indent="0" eaLnBrk="1" latinLnBrk="0" hangingPunct="1">
                  <a:lnSpc>
                    <a:spcPct val="150000"/>
                  </a:lnSpc>
                  <a:buNone/>
                </a:pP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2) 根据 </a:t>
                </a:r>
                <a:r>
                  <a:rPr lang="en-US" altLang="zh-CN" sz="2000" b="1" dirty="0">
                    <a:solidFill>
                      <a:schemeClr val="tx1"/>
                    </a:solidFill>
                    <a:latin typeface="华文楷体" panose="02010600040101010101" charset="-122"/>
                    <a:ea typeface="华文楷体" panose="02010600040101010101" charset="-122"/>
                    <a:cs typeface="华文楷体" panose="02010600040101010101" charset="-122"/>
                    <a:sym typeface="+mn-ea"/>
                  </a:rPr>
                  <a:t>s</a:t>
                </a: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 找出错误图样 </a:t>
                </a:r>
                <a:r>
                  <a:rPr lang="en-US" altLang="zh-CN" sz="2000" b="1" dirty="0">
                    <a:solidFill>
                      <a:schemeClr val="tx1"/>
                    </a:solidFill>
                    <a:latin typeface="华文楷体" panose="02010600040101010101" charset="-122"/>
                    <a:ea typeface="华文楷体" panose="02010600040101010101" charset="-122"/>
                    <a:cs typeface="华文楷体" panose="02010600040101010101" charset="-122"/>
                    <a:sym typeface="+mn-ea"/>
                  </a:rPr>
                  <a:t>e</a:t>
                </a:r>
                <a:r>
                  <a:rPr lang="en-US" altLang="zh-CN" sz="2000" i="1"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，判定误码位置；</a:t>
                </a:r>
                <a:endParaRPr lang="zh-CN" altLang="en-US" sz="2000" dirty="0">
                  <a:solidFill>
                    <a:schemeClr val="tx1"/>
                  </a:solidFill>
                  <a:latin typeface="华文楷体" panose="02010600040101010101" charset="-122"/>
                  <a:ea typeface="华文楷体" panose="02010600040101010101" charset="-122"/>
                  <a:cs typeface="华文楷体" panose="02010600040101010101" charset="-122"/>
                </a:endParaRPr>
              </a:p>
              <a:p>
                <a:pPr marL="0" indent="0" eaLnBrk="1" latinLnBrk="0" hangingPunct="1">
                  <a:lnSpc>
                    <a:spcPct val="150000"/>
                  </a:lnSpc>
                  <a:buNone/>
                </a:pP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3) 根据 </a:t>
                </a:r>
                <a:r>
                  <a:rPr lang="en-US" altLang="zh-CN" sz="2000" b="1" dirty="0">
                    <a:solidFill>
                      <a:schemeClr val="tx1"/>
                    </a:solidFill>
                    <a:latin typeface="华文楷体" panose="02010600040101010101" charset="-122"/>
                    <a:ea typeface="华文楷体" panose="02010600040101010101" charset="-122"/>
                    <a:cs typeface="华文楷体" panose="02010600040101010101" charset="-122"/>
                    <a:sym typeface="+mn-ea"/>
                  </a:rPr>
                  <a:t>e</a:t>
                </a: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 纠正错误，得到正确的码字 </a:t>
                </a:r>
                <a:r>
                  <a:rPr lang="en-US" altLang="zh-CN" sz="2000" b="1" dirty="0">
                    <a:solidFill>
                      <a:schemeClr val="tx1"/>
                    </a:solidFill>
                    <a:latin typeface="华文楷体" panose="02010600040101010101" charset="-122"/>
                    <a:ea typeface="华文楷体" panose="02010600040101010101" charset="-122"/>
                    <a:cs typeface="华文楷体" panose="02010600040101010101" charset="-122"/>
                    <a:sym typeface="+mn-ea"/>
                  </a:rPr>
                  <a:t>c </a:t>
                </a: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a:t>
                </a:r>
                <a:r>
                  <a:rPr lang="en-US" altLang="zh-CN" sz="2000"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en-US" altLang="zh-CN" sz="2000" b="1" dirty="0">
                    <a:solidFill>
                      <a:schemeClr val="tx1"/>
                    </a:solidFill>
                    <a:latin typeface="华文楷体" panose="02010600040101010101" charset="-122"/>
                    <a:ea typeface="华文楷体" panose="02010600040101010101" charset="-122"/>
                    <a:cs typeface="华文楷体" panose="02010600040101010101" charset="-122"/>
                    <a:sym typeface="+mn-ea"/>
                  </a:rPr>
                  <a:t>e </a:t>
                </a: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a:t>
                </a:r>
                <a:r>
                  <a:rPr lang="en-US" altLang="zh-CN" sz="2000" dirty="0">
                    <a:solidFill>
                      <a:schemeClr val="tx1"/>
                    </a:solidFill>
                    <a:latin typeface="华文楷体" panose="02010600040101010101" charset="-122"/>
                    <a:ea typeface="华文楷体" panose="02010600040101010101" charset="-122"/>
                    <a:cs typeface="华文楷体" panose="02010600040101010101" charset="-122"/>
                    <a:sym typeface="+mn-ea"/>
                  </a:rPr>
                  <a:t> </a:t>
                </a:r>
                <a:r>
                  <a:rPr lang="en-US" altLang="zh-CN" sz="2000" b="1" dirty="0">
                    <a:solidFill>
                      <a:schemeClr val="tx1"/>
                    </a:solidFill>
                    <a:latin typeface="华文楷体" panose="02010600040101010101" charset="-122"/>
                    <a:ea typeface="华文楷体" panose="02010600040101010101" charset="-122"/>
                    <a:cs typeface="华文楷体" panose="02010600040101010101" charset="-122"/>
                    <a:sym typeface="+mn-ea"/>
                  </a:rPr>
                  <a:t>y</a:t>
                </a:r>
                <a:r>
                  <a:rPr lang="en-US" altLang="zh-CN" sz="2000" dirty="0">
                    <a:solidFill>
                      <a:schemeClr val="tx1"/>
                    </a:solidFill>
                    <a:latin typeface="华文楷体" panose="02010600040101010101" charset="-122"/>
                    <a:ea typeface="华文楷体" panose="02010600040101010101" charset="-122"/>
                    <a:cs typeface="华文楷体" panose="02010600040101010101" charset="-122"/>
                    <a:sym typeface="+mn-ea"/>
                  </a:rPr>
                  <a:t>(</a:t>
                </a: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模 </a:t>
                </a:r>
                <a:r>
                  <a:rPr lang="zh-CN" altLang="en-US" sz="2000" dirty="0">
                    <a:solidFill>
                      <a:schemeClr val="tx1"/>
                    </a:solidFill>
                    <a:latin typeface="华文楷体" panose="02010600040101010101" charset="-122"/>
                    <a:ea typeface="华文楷体" panose="02010600040101010101" charset="-122"/>
                    <a:cs typeface="华文楷体" panose="02010600040101010101" charset="-122"/>
                    <a:sym typeface="+mn-ea"/>
                  </a:rPr>
                  <a:t>2 加</a:t>
                </a:r>
                <a:r>
                  <a:rPr lang="en-US" altLang="zh-CN" sz="2000" dirty="0">
                    <a:solidFill>
                      <a:schemeClr val="tx1"/>
                    </a:solidFill>
                    <a:latin typeface="华文楷体" panose="02010600040101010101" charset="-122"/>
                    <a:ea typeface="华文楷体" panose="02010600040101010101" charset="-122"/>
                    <a:cs typeface="华文楷体" panose="02010600040101010101" charset="-122"/>
                    <a:sym typeface="+mn-ea"/>
                  </a:rPr>
                  <a:t>)</a:t>
                </a:r>
                <a:endParaRPr lang="en-US" altLang="zh-CN" sz="2000" dirty="0">
                  <a:solidFill>
                    <a:schemeClr val="tx1"/>
                  </a:solidFill>
                  <a:latin typeface="华文楷体" panose="02010600040101010101" charset="-122"/>
                  <a:ea typeface="华文楷体" panose="02010600040101010101" charset="-122"/>
                  <a:cs typeface="华文楷体" panose="02010600040101010101" charset="-122"/>
                  <a:sym typeface="+mn-ea"/>
                </a:endParaRPr>
              </a:p>
            </p:txBody>
          </p:sp>
        </mc:Choice>
        <mc:Fallback>
          <p:sp>
            <p:nvSpPr>
              <p:cNvPr id="9" name="圆角矩形 8"/>
              <p:cNvSpPr>
                <a:spLocks noRot="1" noChangeAspect="1" noMove="1" noResize="1" noEditPoints="1" noAdjustHandles="1" noChangeArrowheads="1" noChangeShapeType="1" noTextEdit="1"/>
              </p:cNvSpPr>
              <p:nvPr>
                <p:custDataLst>
                  <p:tags r:id="rId9"/>
                </p:custDataLst>
              </p:nvPr>
            </p:nvSpPr>
            <p:spPr>
              <a:xfrm>
                <a:off x="2711450" y="4437380"/>
                <a:ext cx="7045960" cy="2401570"/>
              </a:xfrm>
              <a:prstGeom prst="roundRect">
                <a:avLst/>
              </a:prstGeom>
              <a:blipFill rotWithShape="1">
                <a:blip r:embed="rId10"/>
                <a:stretch>
                  <a:fillRect l="-180" t="-529" r="-180" b="-529"/>
                </a:stretch>
              </a:blip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63490" name="Rectangle 7"/>
          <p:cNvSpPr/>
          <p:nvPr>
            <p:custDataLst>
              <p:tags r:id="rId2"/>
            </p:custDataLst>
          </p:nvPr>
        </p:nvSpPr>
        <p:spPr>
          <a:xfrm>
            <a:off x="4751070" y="2610168"/>
            <a:ext cx="776288" cy="0"/>
          </a:xfrm>
          <a:prstGeom prst="rect">
            <a:avLst/>
          </a:prstGeom>
          <a:noFill/>
          <a:ln w="9525">
            <a:noFill/>
          </a:ln>
        </p:spPr>
        <p:txBody>
          <a:bodyPr wrap="none" anchor="t" anchorCtr="0">
            <a:spAutoFit/>
          </a:bodyPr>
          <a:p>
            <a:pPr eaLnBrk="0" hangingPunct="0"/>
            <a:endParaRPr lang="zh-CN" altLang="en-US" dirty="0">
              <a:latin typeface="Tahoma" panose="020B0604030504040204" pitchFamily="34" charset="0"/>
              <a:ea typeface="宋体" pitchFamily="2" charset="-122"/>
            </a:endParaRPr>
          </a:p>
        </p:txBody>
      </p:sp>
      <p:graphicFrame>
        <p:nvGraphicFramePr>
          <p:cNvPr id="60551" name="Group 135"/>
          <p:cNvGraphicFramePr>
            <a:graphicFrameLocks noGrp="1"/>
          </p:cNvGraphicFramePr>
          <p:nvPr>
            <p:custDataLst>
              <p:tags r:id="rId3"/>
            </p:custDataLst>
          </p:nvPr>
        </p:nvGraphicFramePr>
        <p:xfrm>
          <a:off x="2884170" y="3564255"/>
          <a:ext cx="5759450" cy="2570163"/>
        </p:xfrm>
        <a:graphic>
          <a:graphicData uri="http://schemas.openxmlformats.org/drawingml/2006/table">
            <a:tbl>
              <a:tblPr/>
              <a:tblGrid>
                <a:gridCol w="1439862"/>
                <a:gridCol w="1439863"/>
                <a:gridCol w="1439862"/>
                <a:gridCol w="1439863"/>
              </a:tblGrid>
              <a:tr h="741363">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1" u="none" strike="noStrike" cap="none" normalizeH="0" baseline="0" dirty="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S</a:t>
                      </a:r>
                      <a:r>
                        <a:rPr kumimoji="0" lang="en-US" altLang="zh-CN" sz="2400" b="0" i="0" u="none" strike="noStrike" cap="none" normalizeH="0" baseline="-30000" dirty="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1 </a:t>
                      </a:r>
                      <a:r>
                        <a:rPr kumimoji="0" lang="en-US" altLang="zh-CN" sz="2400" b="0" i="1" u="none" strike="noStrike" cap="none" normalizeH="0" baseline="0" dirty="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S</a:t>
                      </a:r>
                      <a:r>
                        <a:rPr kumimoji="0" lang="en-US" altLang="zh-CN" sz="2400" b="0" i="0" u="none" strike="noStrike" cap="none" normalizeH="0" baseline="-30000" dirty="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r>
                        <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r>
                        <a:rPr kumimoji="0" lang="en-US" altLang="zh-CN" sz="2400" b="0" i="1" u="none" strike="noStrike" cap="none" normalizeH="0" baseline="0" dirty="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S</a:t>
                      </a:r>
                      <a:r>
                        <a:rPr kumimoji="0" lang="en-US" altLang="zh-CN" sz="2400" b="0" i="0" u="none" strike="noStrike" cap="none" normalizeH="0" baseline="-30000" dirty="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3600" b="0" i="0" u="none" strike="noStrike" cap="none" normalizeH="0" baseline="0" dirty="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错码位置</a:t>
                      </a:r>
                      <a:endParaRPr kumimoji="0" lang="zh-CN" altLang="en-US"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S</a:t>
                      </a:r>
                      <a:r>
                        <a:rPr kumimoji="0" lang="en-US" altLang="zh-CN" sz="2400" b="0" i="0" u="none" strike="noStrike" cap="none" normalizeH="0" baseline="-3000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1 </a:t>
                      </a: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S</a:t>
                      </a:r>
                      <a:r>
                        <a:rPr kumimoji="0" lang="en-US" altLang="zh-CN" sz="2400" b="0" i="0" u="none" strike="noStrike" cap="none" normalizeH="0" baseline="-3000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S</a:t>
                      </a:r>
                      <a:r>
                        <a:rPr kumimoji="0" lang="en-US" altLang="zh-CN" sz="2400" b="0" i="0" u="none" strike="noStrike" cap="none" normalizeH="0" baseline="-3000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错码位置</a:t>
                      </a:r>
                      <a:endParaRPr kumimoji="0" lang="zh-CN" altLang="en-US"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45720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001</a:t>
                      </a:r>
                      <a:endParaRPr kumimoji="0" lang="en-US" altLang="zh-CN" sz="3600" b="0" i="0" u="none" strike="noStrike" cap="none" normalizeH="0" baseline="0" dirty="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400" b="0" i="0" u="none" strike="noStrike" cap="none" normalizeH="0" baseline="-3000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101</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400" b="0" i="0" u="none" strike="noStrike" cap="none" normalizeH="0" baseline="-3000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45720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010</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400" b="0" i="0" u="none" strike="noStrike" cap="none" normalizeH="0" baseline="-3000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110</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400" b="0" i="0" u="none" strike="noStrike" cap="none" normalizeH="0" baseline="-3000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45720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400" b="0" i="0" u="none" strike="noStrike" cap="none" normalizeH="0" baseline="-3000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111</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400" b="0" i="0" u="none" strike="noStrike" cap="none" normalizeH="0" baseline="-3000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45720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011</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400" b="0" i="0" u="none" strike="noStrike" cap="none" normalizeH="0" baseline="-3000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000</a:t>
                      </a:r>
                      <a:endParaRPr kumimoji="0" lang="en-US" altLang="zh-CN" sz="3600" b="0" i="0" u="none" strike="noStrike" cap="none" normalizeH="0" baseline="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Times New Roman" panose="02020603050405020304" pitchFamily="18" charset="0"/>
                          <a:ea typeface="宋体" pitchFamily="2" charset="-122"/>
                          <a:cs typeface="Times New Roman" panose="02020603050405020304" pitchFamily="18" charset="0"/>
                        </a:rPr>
                        <a:t>无错码</a:t>
                      </a:r>
                      <a:endParaRPr kumimoji="0" lang="zh-CN" altLang="en-US" sz="3600" b="0" i="0" u="none" strike="noStrike" cap="none" normalizeH="0" baseline="0" dirty="0" smtClean="0">
                        <a:ln>
                          <a:noFill/>
                        </a:ln>
                        <a:solidFill>
                          <a:schemeClr val="tx1"/>
                        </a:solidFill>
                        <a:effectLst/>
                        <a:latin typeface="Arial" panose="020B0604020202090204" pitchFamily="34" charset="0"/>
                        <a:ea typeface="宋体"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pic>
        <p:nvPicPr>
          <p:cNvPr id="2" name="图片 1"/>
          <p:cNvPicPr>
            <a:picLocks noChangeAspect="1"/>
          </p:cNvPicPr>
          <p:nvPr>
            <p:custDataLst>
              <p:tags r:id="rId4"/>
            </p:custDataLst>
          </p:nvPr>
        </p:nvPicPr>
        <p:blipFill>
          <a:blip r:embed="rId5"/>
          <a:stretch>
            <a:fillRect/>
          </a:stretch>
        </p:blipFill>
        <p:spPr>
          <a:xfrm>
            <a:off x="2207895" y="908368"/>
            <a:ext cx="6826250" cy="25923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0551"/>
                                        </p:tgtEl>
                                        <p:attrNameLst>
                                          <p:attrName>style.visibility</p:attrName>
                                        </p:attrNameLst>
                                      </p:cBhvr>
                                      <p:to>
                                        <p:strVal val="visible"/>
                                      </p:to>
                                    </p:set>
                                    <p:anim calcmode="lin" valueType="num">
                                      <p:cBhvr additive="base">
                                        <p:cTn id="11" dur="500" fill="hold"/>
                                        <p:tgtEl>
                                          <p:spTgt spid="60551"/>
                                        </p:tgtEl>
                                        <p:attrNameLst>
                                          <p:attrName>ppt_x</p:attrName>
                                        </p:attrNameLst>
                                      </p:cBhvr>
                                      <p:tavLst>
                                        <p:tav tm="0">
                                          <p:val>
                                            <p:strVal val="#ppt_x"/>
                                          </p:val>
                                        </p:tav>
                                        <p:tav tm="100000">
                                          <p:val>
                                            <p:strVal val="#ppt_x"/>
                                          </p:val>
                                        </p:tav>
                                      </p:tavLst>
                                    </p:anim>
                                    <p:anim calcmode="lin" valueType="num">
                                      <p:cBhvr additive="base">
                                        <p:cTn id="12" dur="500" fill="hold"/>
                                        <p:tgtEl>
                                          <p:spTgt spid="605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graphicFrame>
        <p:nvGraphicFramePr>
          <p:cNvPr id="62468" name="Object 4"/>
          <p:cNvGraphicFramePr>
            <a:graphicFrameLocks noChangeAspect="1"/>
          </p:cNvGraphicFramePr>
          <p:nvPr>
            <p:custDataLst>
              <p:tags r:id="rId2"/>
            </p:custDataLst>
          </p:nvPr>
        </p:nvGraphicFramePr>
        <p:xfrm>
          <a:off x="1287463" y="1454468"/>
          <a:ext cx="2474912" cy="1254125"/>
        </p:xfrm>
        <a:graphic>
          <a:graphicData uri="http://schemas.openxmlformats.org/presentationml/2006/ole">
            <mc:AlternateContent xmlns:mc="http://schemas.openxmlformats.org/markup-compatibility/2006">
              <mc:Choice xmlns:v="urn:schemas-microsoft-com:vml" Requires="v">
                <p:oleObj spid="_x0000_s3097" name="" r:id="rId3" imgW="1409065" imgH="711200" progId="Equation.3">
                  <p:embed/>
                </p:oleObj>
              </mc:Choice>
              <mc:Fallback>
                <p:oleObj name="" r:id="rId3" imgW="1409065" imgH="711200" progId="Equation.3">
                  <p:embed/>
                  <p:pic>
                    <p:nvPicPr>
                      <p:cNvPr id="0" name="图片 3096"/>
                      <p:cNvPicPr/>
                      <p:nvPr/>
                    </p:nvPicPr>
                    <p:blipFill>
                      <a:blip r:embed="rId4"/>
                      <a:stretch>
                        <a:fillRect/>
                      </a:stretch>
                    </p:blipFill>
                    <p:spPr>
                      <a:xfrm>
                        <a:off x="1287463" y="1454468"/>
                        <a:ext cx="2474912" cy="1254125"/>
                      </a:xfrm>
                      <a:prstGeom prst="rect">
                        <a:avLst/>
                      </a:prstGeom>
                      <a:noFill/>
                      <a:ln w="38100">
                        <a:noFill/>
                        <a:miter/>
                      </a:ln>
                    </p:spPr>
                  </p:pic>
                </p:oleObj>
              </mc:Fallback>
            </mc:AlternateContent>
          </a:graphicData>
        </a:graphic>
      </p:graphicFrame>
      <p:graphicFrame>
        <p:nvGraphicFramePr>
          <p:cNvPr id="62470" name="Object 6"/>
          <p:cNvGraphicFramePr>
            <a:graphicFrameLocks noChangeAspect="1"/>
          </p:cNvGraphicFramePr>
          <p:nvPr>
            <p:custDataLst>
              <p:tags r:id="rId5"/>
            </p:custDataLst>
          </p:nvPr>
        </p:nvGraphicFramePr>
        <p:xfrm>
          <a:off x="1393825" y="2919730"/>
          <a:ext cx="2386013" cy="1408113"/>
        </p:xfrm>
        <a:graphic>
          <a:graphicData uri="http://schemas.openxmlformats.org/presentationml/2006/ole">
            <mc:AlternateContent xmlns:mc="http://schemas.openxmlformats.org/markup-compatibility/2006">
              <mc:Choice xmlns:v="urn:schemas-microsoft-com:vml" Requires="v">
                <p:oleObj spid="_x0000_s3100" name="" r:id="rId6" imgW="1206500" imgH="711200" progId="Equation.3">
                  <p:embed/>
                </p:oleObj>
              </mc:Choice>
              <mc:Fallback>
                <p:oleObj name="" r:id="rId6" imgW="1206500" imgH="711200" progId="Equation.3">
                  <p:embed/>
                  <p:pic>
                    <p:nvPicPr>
                      <p:cNvPr id="0" name="图片 3099"/>
                      <p:cNvPicPr/>
                      <p:nvPr/>
                    </p:nvPicPr>
                    <p:blipFill>
                      <a:blip r:embed="rId7"/>
                      <a:stretch>
                        <a:fillRect/>
                      </a:stretch>
                    </p:blipFill>
                    <p:spPr>
                      <a:xfrm>
                        <a:off x="1393825" y="2919730"/>
                        <a:ext cx="2386013" cy="1408113"/>
                      </a:xfrm>
                      <a:prstGeom prst="rect">
                        <a:avLst/>
                      </a:prstGeom>
                      <a:noFill/>
                      <a:ln w="38100">
                        <a:noFill/>
                        <a:miter/>
                      </a:ln>
                    </p:spPr>
                  </p:pic>
                </p:oleObj>
              </mc:Fallback>
            </mc:AlternateContent>
          </a:graphicData>
        </a:graphic>
      </p:graphicFrame>
      <p:sp>
        <p:nvSpPr>
          <p:cNvPr id="11" name="AutoShape 23"/>
          <p:cNvSpPr/>
          <p:nvPr>
            <p:custDataLst>
              <p:tags r:id="rId8"/>
            </p:custDataLst>
          </p:nvPr>
        </p:nvSpPr>
        <p:spPr>
          <a:xfrm>
            <a:off x="1108075" y="2618105"/>
            <a:ext cx="179388" cy="584200"/>
          </a:xfrm>
          <a:prstGeom prst="curvedRightArrow">
            <a:avLst>
              <a:gd name="adj1" fmla="val 65132"/>
              <a:gd name="adj2" fmla="val 130265"/>
              <a:gd name="adj3" fmla="val 33328"/>
            </a:avLst>
          </a:prstGeom>
          <a:solidFill>
            <a:srgbClr val="FFFFFF"/>
          </a:solidFill>
          <a:ln w="9525" cap="flat" cmpd="sng">
            <a:solidFill>
              <a:schemeClr val="tx1"/>
            </a:solidFill>
            <a:prstDash val="solid"/>
            <a:miter/>
            <a:headEnd type="none" w="med" len="med"/>
            <a:tailEnd type="none" w="med" len="med"/>
          </a:ln>
        </p:spPr>
        <p:txBody>
          <a:bodyPr wrap="none" anchor="ctr" anchorCtr="0"/>
          <a:p>
            <a:endParaRPr lang="zh-CN" altLang="en-US" dirty="0">
              <a:latin typeface="Tahoma" panose="020B0604030504040204" pitchFamily="34" charset="0"/>
              <a:ea typeface="宋体" pitchFamily="2" charset="-122"/>
            </a:endParaRPr>
          </a:p>
        </p:txBody>
      </p:sp>
      <p:graphicFrame>
        <p:nvGraphicFramePr>
          <p:cNvPr id="8" name="表格 7"/>
          <p:cNvGraphicFramePr/>
          <p:nvPr>
            <p:custDataLst>
              <p:tags r:id="rId9"/>
            </p:custDataLst>
          </p:nvPr>
        </p:nvGraphicFramePr>
        <p:xfrm>
          <a:off x="4511675" y="1772920"/>
          <a:ext cx="6504305" cy="3741420"/>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562610"/>
                <a:gridCol w="1319530"/>
                <a:gridCol w="1270000"/>
                <a:gridCol w="271780"/>
                <a:gridCol w="591820"/>
                <a:gridCol w="1270000"/>
                <a:gridCol w="1218565"/>
              </a:tblGrid>
              <a:tr h="360680">
                <a:tc rowSpan="2">
                  <a:txBody>
                    <a:bodyPr/>
                    <a:p>
                      <a:pPr indent="0" algn="ctr">
                        <a:buNone/>
                      </a:pPr>
                      <a:r>
                        <a:rPr lang="en-US" sz="1400" b="0">
                          <a:solidFill>
                            <a:srgbClr val="000000"/>
                          </a:solidFill>
                          <a:latin typeface="宋体" pitchFamily="2" charset="-122"/>
                          <a:ea typeface="宋体" pitchFamily="2" charset="-122"/>
                          <a:cs typeface="宋体" pitchFamily="2" charset="-122"/>
                        </a:rPr>
                        <a:t>序号</a:t>
                      </a:r>
                      <a:endParaRPr lang="en-US" altLang="en-US" sz="1400" b="0">
                        <a:solidFill>
                          <a:srgbClr val="000000"/>
                        </a:solidFill>
                        <a:latin typeface="宋体" pitchFamily="2" charset="-122"/>
                        <a:ea typeface="宋体" pitchFamily="2"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p>
                      <a:pPr indent="0" algn="ctr">
                        <a:buNone/>
                      </a:pPr>
                      <a:r>
                        <a:rPr lang="en-US" sz="1400" b="0">
                          <a:solidFill>
                            <a:srgbClr val="000000"/>
                          </a:solidFill>
                          <a:latin typeface="宋体" pitchFamily="2" charset="-122"/>
                          <a:ea typeface="宋体" pitchFamily="2" charset="-122"/>
                          <a:cs typeface="宋体" pitchFamily="2" charset="-122"/>
                        </a:rPr>
                        <a:t>码 字</a:t>
                      </a:r>
                      <a:endParaRPr lang="en-US" altLang="en-US" sz="1400" b="0">
                        <a:solidFill>
                          <a:srgbClr val="000000"/>
                        </a:solidFill>
                        <a:latin typeface="宋体" pitchFamily="2" charset="-122"/>
                        <a:ea typeface="宋体" pitchFamily="2"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rowSpan="10">
                  <a:txBody>
                    <a:bodyPr/>
                    <a:p>
                      <a:pPr indent="0" algn="ctr">
                        <a:buNone/>
                      </a:pPr>
                      <a:r>
                        <a:rPr lang="en-US" sz="1400" b="0">
                          <a:solidFill>
                            <a:srgbClr val="000000"/>
                          </a:solidFill>
                          <a:latin typeface="Times New Roman" panose="02020603050405020304" pitchFamily="18" charset="0"/>
                          <a:cs typeface="Times New Roman" panose="02020603050405020304" pitchFamily="18" charset="0"/>
                        </a:rPr>
                        <a:t> </a:t>
                      </a:r>
                      <a:endParaRPr lang="en-US" altLang="en-US" sz="14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p>
                      <a:pPr indent="0" algn="ctr">
                        <a:buNone/>
                      </a:pPr>
                      <a:r>
                        <a:rPr lang="en-US" sz="1400" b="0">
                          <a:solidFill>
                            <a:srgbClr val="000000"/>
                          </a:solidFill>
                          <a:latin typeface="宋体" pitchFamily="2" charset="-122"/>
                          <a:ea typeface="宋体" pitchFamily="2" charset="-122"/>
                          <a:cs typeface="宋体" pitchFamily="2" charset="-122"/>
                        </a:rPr>
                        <a:t>序号</a:t>
                      </a:r>
                      <a:endParaRPr lang="en-US" altLang="en-US" sz="1400" b="0">
                        <a:solidFill>
                          <a:srgbClr val="000000"/>
                        </a:solidFill>
                        <a:latin typeface="宋体" pitchFamily="2" charset="-122"/>
                        <a:ea typeface="宋体" pitchFamily="2"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p>
                      <a:pPr indent="0" algn="ctr">
                        <a:buNone/>
                      </a:pPr>
                      <a:r>
                        <a:rPr lang="en-US" sz="1400" b="0">
                          <a:solidFill>
                            <a:srgbClr val="000000"/>
                          </a:solidFill>
                          <a:latin typeface="宋体" pitchFamily="2" charset="-122"/>
                          <a:ea typeface="宋体" pitchFamily="2" charset="-122"/>
                          <a:cs typeface="宋体" pitchFamily="2" charset="-122"/>
                        </a:rPr>
                        <a:t>码 字</a:t>
                      </a:r>
                      <a:endParaRPr lang="en-US" altLang="en-US" sz="1400" b="0">
                        <a:solidFill>
                          <a:srgbClr val="000000"/>
                        </a:solidFill>
                        <a:latin typeface="宋体" pitchFamily="2" charset="-122"/>
                        <a:ea typeface="宋体" pitchFamily="2"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64897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p>
                      <a:pPr indent="0" algn="ctr">
                        <a:buNone/>
                      </a:pPr>
                      <a:r>
                        <a:rPr lang="en-US" sz="1400" b="0">
                          <a:solidFill>
                            <a:srgbClr val="000000"/>
                          </a:solidFill>
                          <a:latin typeface="宋体" pitchFamily="2" charset="-122"/>
                          <a:ea typeface="宋体" pitchFamily="2" charset="-122"/>
                          <a:cs typeface="宋体" pitchFamily="2" charset="-122"/>
                        </a:rPr>
                        <a:t>信息码元</a:t>
                      </a:r>
                      <a:endParaRPr lang="en-US" altLang="en-US" sz="1400" b="0">
                        <a:solidFill>
                          <a:srgbClr val="000000"/>
                        </a:solidFill>
                        <a:latin typeface="宋体" pitchFamily="2" charset="-122"/>
                        <a:ea typeface="宋体" pitchFamily="2"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宋体" pitchFamily="2" charset="-122"/>
                          <a:ea typeface="宋体" pitchFamily="2" charset="-122"/>
                          <a:cs typeface="宋体" pitchFamily="2" charset="-122"/>
                        </a:rPr>
                        <a:t>校验码元</a:t>
                      </a:r>
                      <a:endParaRPr lang="en-US" altLang="en-US" sz="1400" b="0">
                        <a:solidFill>
                          <a:srgbClr val="000000"/>
                        </a:solidFill>
                        <a:latin typeface="宋体" pitchFamily="2" charset="-122"/>
                        <a:ea typeface="宋体" pitchFamily="2"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p>
                      <a:pPr indent="0" algn="ctr">
                        <a:buNone/>
                      </a:pPr>
                      <a:r>
                        <a:rPr lang="en-US" sz="1400" b="0">
                          <a:solidFill>
                            <a:srgbClr val="000000"/>
                          </a:solidFill>
                          <a:latin typeface="宋体" pitchFamily="2" charset="-122"/>
                          <a:ea typeface="宋体" pitchFamily="2" charset="-122"/>
                          <a:cs typeface="宋体" pitchFamily="2" charset="-122"/>
                        </a:rPr>
                        <a:t>信息码元</a:t>
                      </a:r>
                      <a:endParaRPr lang="en-US" altLang="en-US" sz="1400" b="0">
                        <a:solidFill>
                          <a:srgbClr val="000000"/>
                        </a:solidFill>
                        <a:latin typeface="宋体" pitchFamily="2" charset="-122"/>
                        <a:ea typeface="宋体" pitchFamily="2"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宋体" pitchFamily="2" charset="-122"/>
                          <a:ea typeface="宋体" pitchFamily="2" charset="-122"/>
                          <a:cs typeface="宋体" pitchFamily="2" charset="-122"/>
                        </a:rPr>
                        <a:t>校验码元</a:t>
                      </a:r>
                      <a:endParaRPr lang="en-US" altLang="en-US" sz="1400" b="0">
                        <a:solidFill>
                          <a:srgbClr val="000000"/>
                        </a:solidFill>
                        <a:latin typeface="宋体" pitchFamily="2" charset="-122"/>
                        <a:ea typeface="宋体" pitchFamily="2" charset="-122"/>
                        <a:cs typeface="宋体"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1630">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0</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0 0 0 1</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0 0 0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8</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1 0 0 0</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1 1 1</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2265">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1</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0 0 0 1</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0 1 1</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9</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1 0 0 1</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1 0 0</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1630">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2</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0 0 1 0</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1 0 1</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10</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1 0 1 0</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0 1 0</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0995">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3</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0 0 1 1</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1 1 0</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11</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1 0 1 1</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0 0 1</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1630">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4</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0 1 0 0</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1 1 0</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12</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1 1 0 0</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0 0 1</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1630">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5</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0 1 0 1</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1 0 1</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13</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1 1 0 1</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0 1 0</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0360">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6</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0 1 1 0</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0 1 1</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14</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1 1 1 0</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1 0 0</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1630">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7</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0 1 1 1</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0 0 0</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15</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a:solidFill>
                            <a:srgbClr val="000000"/>
                          </a:solidFill>
                          <a:latin typeface="Times New Roman" panose="02020603050405020304" pitchFamily="18" charset="0"/>
                          <a:ea typeface="宋体" pitchFamily="2" charset="-122"/>
                          <a:cs typeface="Times New Roman" panose="02020603050405020304" pitchFamily="18" charset="0"/>
                          <a:sym typeface="+mn-ea"/>
                        </a:rPr>
                        <a:t>1 1 1 1</a:t>
                      </a:r>
                      <a:r>
                        <a:rPr lang="en-US" sz="1400" b="0">
                          <a:solidFill>
                            <a:srgbClr val="000000"/>
                          </a:solidFill>
                          <a:latin typeface="Times New Roman" panose="02020603050405020304" pitchFamily="18" charset="0"/>
                          <a:ea typeface="宋体" pitchFamily="2" charset="-122"/>
                          <a:cs typeface="Times New Roman" panose="02020603050405020304" pitchFamily="18" charset="0"/>
                        </a:rPr>
                        <a:t> </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solidFill>
                            <a:srgbClr val="000000"/>
                          </a:solidFill>
                          <a:latin typeface="Times New Roman" panose="02020603050405020304" pitchFamily="18" charset="0"/>
                          <a:ea typeface="宋体" pitchFamily="2" charset="-122"/>
                          <a:cs typeface="Times New Roman" panose="02020603050405020304" pitchFamily="18" charset="0"/>
                        </a:rPr>
                        <a:t>1 1 1</a:t>
                      </a:r>
                      <a:endParaRPr lang="en-US" altLang="en-US" sz="1400" b="0">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2" name="内容占位符 1"/>
          <p:cNvSpPr>
            <a:spLocks noGrp="1"/>
          </p:cNvSpPr>
          <p:nvPr>
            <p:ph idx="1"/>
            <p:custDataLst>
              <p:tags r:id="rId10"/>
            </p:custDataLst>
          </p:nvPr>
        </p:nvSpPr>
        <p:spPr>
          <a:xfrm>
            <a:off x="4621530" y="908685"/>
            <a:ext cx="6722745" cy="584200"/>
          </a:xfrm>
        </p:spPr>
        <p:txBody>
          <a:bodyPr/>
          <a:p>
            <a:pPr marL="0" indent="0" latinLnBrk="0">
              <a:lnSpc>
                <a:spcPct val="150000"/>
              </a:lnSpc>
              <a:spcBef>
                <a:spcPts val="0"/>
              </a:spcBef>
              <a:buNone/>
            </a:pPr>
            <a:r>
              <a:rPr sz="2000" dirty="0">
                <a:ea typeface="宋体" pitchFamily="2" charset="-122"/>
                <a:sym typeface="+mn-ea"/>
              </a:rPr>
              <a:t>（7,4）线性分组码的全部码字，如</a:t>
            </a:r>
            <a:r>
              <a:rPr lang="zh-CN" sz="2000" dirty="0">
                <a:ea typeface="宋体" pitchFamily="2" charset="-122"/>
                <a:sym typeface="+mn-ea"/>
              </a:rPr>
              <a:t>下</a:t>
            </a:r>
            <a:r>
              <a:rPr sz="2000" dirty="0">
                <a:ea typeface="宋体" pitchFamily="2" charset="-122"/>
                <a:sym typeface="+mn-ea"/>
              </a:rPr>
              <a:t>表所示</a:t>
            </a:r>
            <a:r>
              <a:rPr lang="zh-CN" sz="2000" dirty="0">
                <a:ea typeface="宋体" pitchFamily="2" charset="-122"/>
                <a:sym typeface="+mn-ea"/>
              </a:rPr>
              <a:t>：</a:t>
            </a:r>
            <a:endParaRPr sz="2000" dirty="0">
              <a:ea typeface="宋体" pitchFamily="2" charset="-122"/>
            </a:endParaRPr>
          </a:p>
          <a:p>
            <a:pPr marL="0" indent="0" latinLnBrk="0">
              <a:lnSpc>
                <a:spcPct val="150000"/>
              </a:lnSpc>
              <a:spcBef>
                <a:spcPts val="0"/>
              </a:spcBef>
              <a:buNone/>
            </a:pPr>
            <a:r>
              <a:rPr lang="en-US" altLang="zh-CN" sz="2000" dirty="0">
                <a:latin typeface="宋体" pitchFamily="2" charset="-122"/>
                <a:ea typeface="宋体" pitchFamily="2" charset="-122"/>
                <a:cs typeface="宋体" pitchFamily="2" charset="-122"/>
              </a:rPr>
              <a:t>                            </a:t>
            </a:r>
            <a:endParaRPr lang="zh-CN" altLang="en-US" sz="2000" dirty="0">
              <a:latin typeface="宋体" pitchFamily="2" charset="-122"/>
              <a:ea typeface="宋体" pitchFamily="2" charset="-122"/>
              <a:cs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468"/>
                                        </p:tgtEl>
                                        <p:attrNameLst>
                                          <p:attrName>style.visibility</p:attrName>
                                        </p:attrNameLst>
                                      </p:cBhvr>
                                      <p:to>
                                        <p:strVal val="visible"/>
                                      </p:to>
                                    </p:set>
                                    <p:anim calcmode="lin" valueType="num">
                                      <p:cBhvr additive="base">
                                        <p:cTn id="7" dur="500" fill="hold"/>
                                        <p:tgtEl>
                                          <p:spTgt spid="62468"/>
                                        </p:tgtEl>
                                        <p:attrNameLst>
                                          <p:attrName>ppt_x</p:attrName>
                                        </p:attrNameLst>
                                      </p:cBhvr>
                                      <p:tavLst>
                                        <p:tav tm="0">
                                          <p:val>
                                            <p:strVal val="#ppt_x"/>
                                          </p:val>
                                        </p:tav>
                                        <p:tav tm="100000">
                                          <p:val>
                                            <p:strVal val="#ppt_x"/>
                                          </p:val>
                                        </p:tav>
                                      </p:tavLst>
                                    </p:anim>
                                    <p:anim calcmode="lin" valueType="num">
                                      <p:cBhvr additive="base">
                                        <p:cTn id="8"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up)">
                                      <p:cBhvr>
                                        <p:cTn id="13" dur="10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2470"/>
                                        </p:tgtEl>
                                        <p:attrNameLst>
                                          <p:attrName>style.visibility</p:attrName>
                                        </p:attrNameLst>
                                      </p:cBhvr>
                                      <p:to>
                                        <p:strVal val="visible"/>
                                      </p:to>
                                    </p:set>
                                    <p:anim calcmode="lin" valueType="num">
                                      <p:cBhvr additive="base">
                                        <p:cTn id="18" dur="500" fill="hold"/>
                                        <p:tgtEl>
                                          <p:spTgt spid="62470"/>
                                        </p:tgtEl>
                                        <p:attrNameLst>
                                          <p:attrName>ppt_x</p:attrName>
                                        </p:attrNameLst>
                                      </p:cBhvr>
                                      <p:tavLst>
                                        <p:tav tm="0">
                                          <p:val>
                                            <p:strVal val="#ppt_x"/>
                                          </p:val>
                                        </p:tav>
                                        <p:tav tm="100000">
                                          <p:val>
                                            <p:strVal val="#ppt_x"/>
                                          </p:val>
                                        </p:tav>
                                      </p:tavLst>
                                    </p:anim>
                                    <p:anim calcmode="lin" valueType="num">
                                      <p:cBhvr additive="base">
                                        <p:cTn id="19" dur="500" fill="hold"/>
                                        <p:tgtEl>
                                          <p:spTgt spid="624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graphicFrame>
        <p:nvGraphicFramePr>
          <p:cNvPr id="5" name="对象 -2147482605"/>
          <p:cNvGraphicFramePr>
            <a:graphicFrameLocks noChangeAspect="1"/>
          </p:cNvGraphicFramePr>
          <p:nvPr>
            <p:custDataLst>
              <p:tags r:id="rId2"/>
            </p:custDataLst>
          </p:nvPr>
        </p:nvGraphicFramePr>
        <p:xfrm>
          <a:off x="2207895" y="2564765"/>
          <a:ext cx="1804035" cy="1234440"/>
        </p:xfrm>
        <a:graphic>
          <a:graphicData uri="http://schemas.openxmlformats.org/presentationml/2006/ole">
            <mc:AlternateContent xmlns:mc="http://schemas.openxmlformats.org/markup-compatibility/2006">
              <mc:Choice xmlns:v="urn:schemas-microsoft-com:vml" Requires="v">
                <p:oleObj spid="_x0000_s14474" name="" r:id="rId3" imgW="1040765" imgH="711200" progId="Equation.DSMT4">
                  <p:embed/>
                </p:oleObj>
              </mc:Choice>
              <mc:Fallback>
                <p:oleObj name="" r:id="rId3" imgW="1040765" imgH="711200" progId="Equation.DSMT4">
                  <p:embed/>
                  <p:pic>
                    <p:nvPicPr>
                      <p:cNvPr id="0" name="图片 3075"/>
                      <p:cNvPicPr/>
                      <p:nvPr/>
                    </p:nvPicPr>
                    <p:blipFill>
                      <a:blip r:embed="rId4"/>
                      <a:stretch>
                        <a:fillRect/>
                      </a:stretch>
                    </p:blipFill>
                    <p:spPr>
                      <a:xfrm>
                        <a:off x="2207895" y="2564765"/>
                        <a:ext cx="1804035" cy="1234440"/>
                      </a:xfrm>
                      <a:prstGeom prst="rect">
                        <a:avLst/>
                      </a:prstGeom>
                      <a:noFill/>
                      <a:ln w="38100">
                        <a:noFill/>
                        <a:miter/>
                      </a:ln>
                    </p:spPr>
                  </p:pic>
                </p:oleObj>
              </mc:Fallback>
            </mc:AlternateContent>
          </a:graphicData>
        </a:graphic>
      </p:graphicFrame>
      <p:graphicFrame>
        <p:nvGraphicFramePr>
          <p:cNvPr id="1073743875" name="对象 69"/>
          <p:cNvGraphicFramePr>
            <a:graphicFrameLocks noChangeAspect="1"/>
          </p:cNvGraphicFramePr>
          <p:nvPr>
            <p:custDataLst>
              <p:tags r:id="rId5"/>
            </p:custDataLst>
          </p:nvPr>
        </p:nvGraphicFramePr>
        <p:xfrm>
          <a:off x="6240145" y="2560320"/>
          <a:ext cx="5133340" cy="1238885"/>
        </p:xfrm>
        <a:graphic>
          <a:graphicData uri="http://schemas.openxmlformats.org/presentationml/2006/ole">
            <mc:AlternateContent xmlns:mc="http://schemas.openxmlformats.org/markup-compatibility/2006">
              <mc:Choice xmlns:v="urn:schemas-microsoft-com:vml" Requires="v">
                <p:oleObj spid="_x0000_s14475" name="" r:id="rId6" imgW="2946400" imgH="711200" progId="Equation.DSMT4">
                  <p:embed/>
                </p:oleObj>
              </mc:Choice>
              <mc:Fallback>
                <p:oleObj name="" r:id="rId6" imgW="2946400" imgH="711200" progId="Equation.DSMT4">
                  <p:embed/>
                  <p:pic>
                    <p:nvPicPr>
                      <p:cNvPr id="0" name="图片 6"/>
                      <p:cNvPicPr/>
                      <p:nvPr/>
                    </p:nvPicPr>
                    <p:blipFill>
                      <a:blip r:embed="rId7"/>
                      <a:stretch>
                        <a:fillRect/>
                      </a:stretch>
                    </p:blipFill>
                    <p:spPr>
                      <a:xfrm>
                        <a:off x="6240145" y="2560320"/>
                        <a:ext cx="5133340" cy="1238885"/>
                      </a:xfrm>
                      <a:prstGeom prst="rect">
                        <a:avLst/>
                      </a:prstGeom>
                      <a:noFill/>
                      <a:ln w="38100">
                        <a:noFill/>
                        <a:miter/>
                      </a:ln>
                    </p:spPr>
                  </p:pic>
                </p:oleObj>
              </mc:Fallback>
            </mc:AlternateContent>
          </a:graphicData>
        </a:graphic>
      </p:graphicFrame>
      <p:cxnSp>
        <p:nvCxnSpPr>
          <p:cNvPr id="8" name="直接箭头连接符 7"/>
          <p:cNvCxnSpPr/>
          <p:nvPr>
            <p:custDataLst>
              <p:tags r:id="rId8"/>
            </p:custDataLst>
          </p:nvPr>
        </p:nvCxnSpPr>
        <p:spPr>
          <a:xfrm>
            <a:off x="4530725" y="3190240"/>
            <a:ext cx="1271905" cy="0"/>
          </a:xfrm>
          <a:prstGeom prst="straightConnector1">
            <a:avLst/>
          </a:prstGeom>
          <a:ln w="3810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6" name="对象 -2147482604"/>
          <p:cNvGraphicFramePr>
            <a:graphicFrameLocks noChangeAspect="1"/>
          </p:cNvGraphicFramePr>
          <p:nvPr>
            <p:custDataLst>
              <p:tags r:id="rId9"/>
            </p:custDataLst>
          </p:nvPr>
        </p:nvGraphicFramePr>
        <p:xfrm>
          <a:off x="2423795" y="1052513"/>
          <a:ext cx="6544310" cy="1372235"/>
        </p:xfrm>
        <a:graphic>
          <a:graphicData uri="http://schemas.openxmlformats.org/presentationml/2006/ole">
            <mc:AlternateContent xmlns:mc="http://schemas.openxmlformats.org/markup-compatibility/2006">
              <mc:Choice xmlns:v="urn:schemas-microsoft-com:vml" Requires="v">
                <p:oleObj spid="_x0000_s13451" name="" r:id="rId10" imgW="4279900" imgH="939800" progId="Equation.DSMT4">
                  <p:embed/>
                </p:oleObj>
              </mc:Choice>
              <mc:Fallback>
                <p:oleObj name="" r:id="rId10" imgW="4279900" imgH="939800" progId="Equation.DSMT4">
                  <p:embed/>
                  <p:pic>
                    <p:nvPicPr>
                      <p:cNvPr id="0" name="图片 4"/>
                      <p:cNvPicPr/>
                      <p:nvPr/>
                    </p:nvPicPr>
                    <p:blipFill>
                      <a:blip r:embed="rId11"/>
                      <a:stretch>
                        <a:fillRect/>
                      </a:stretch>
                    </p:blipFill>
                    <p:spPr>
                      <a:xfrm>
                        <a:off x="2423795" y="1052513"/>
                        <a:ext cx="6544310" cy="1372235"/>
                      </a:xfrm>
                      <a:prstGeom prst="rect">
                        <a:avLst/>
                      </a:prstGeom>
                      <a:noFill/>
                      <a:ln w="38100">
                        <a:noFill/>
                        <a:miter/>
                      </a:ln>
                    </p:spPr>
                  </p:pic>
                </p:oleObj>
              </mc:Fallback>
            </mc:AlternateContent>
          </a:graphicData>
        </a:graphic>
      </p:graphicFrame>
      <p:sp>
        <p:nvSpPr>
          <p:cNvPr id="2" name="文本框 1"/>
          <p:cNvSpPr txBox="1"/>
          <p:nvPr/>
        </p:nvSpPr>
        <p:spPr>
          <a:xfrm>
            <a:off x="489585" y="1485265"/>
            <a:ext cx="1546860" cy="1938020"/>
          </a:xfrm>
          <a:prstGeom prst="rect">
            <a:avLst/>
          </a:prstGeom>
          <a:noFill/>
        </p:spPr>
        <p:txBody>
          <a:bodyPr wrap="square" rtlCol="0" anchor="t">
            <a:spAutoFit/>
          </a:bodyPr>
          <a:p>
            <a:pPr marL="0" indent="0" latinLnBrk="0">
              <a:lnSpc>
                <a:spcPct val="150000"/>
              </a:lnSpc>
              <a:spcBef>
                <a:spcPts val="0"/>
              </a:spcBef>
              <a:buNone/>
            </a:pPr>
            <a:r>
              <a:rPr lang="zh-CN" altLang="en-US" sz="2000" dirty="0">
                <a:latin typeface="宋体" pitchFamily="2" charset="-122"/>
                <a:cs typeface="宋体" pitchFamily="2" charset="-122"/>
                <a:sym typeface="+mn-ea"/>
              </a:rPr>
              <a:t>生成矩阵：</a:t>
            </a:r>
            <a:endParaRPr lang="zh-CN" altLang="en-US" sz="2000" dirty="0">
              <a:latin typeface="宋体" pitchFamily="2" charset="-122"/>
              <a:ea typeface="宋体" pitchFamily="2" charset="-122"/>
              <a:cs typeface="宋体" pitchFamily="2" charset="-122"/>
            </a:endParaRPr>
          </a:p>
          <a:p>
            <a:pPr marL="0" indent="0" latinLnBrk="0">
              <a:lnSpc>
                <a:spcPct val="150000"/>
              </a:lnSpc>
              <a:spcBef>
                <a:spcPts val="0"/>
              </a:spcBef>
              <a:buNone/>
            </a:pPr>
            <a:endParaRPr lang="zh-CN" altLang="en-US" sz="2000" dirty="0">
              <a:latin typeface="宋体" pitchFamily="2" charset="-122"/>
              <a:ea typeface="宋体" pitchFamily="2" charset="-122"/>
              <a:cs typeface="宋体" pitchFamily="2" charset="-122"/>
            </a:endParaRPr>
          </a:p>
          <a:p>
            <a:pPr marL="0" indent="0" latinLnBrk="0">
              <a:lnSpc>
                <a:spcPct val="150000"/>
              </a:lnSpc>
              <a:spcBef>
                <a:spcPts val="0"/>
              </a:spcBef>
              <a:buNone/>
            </a:pPr>
            <a:endParaRPr lang="zh-CN" altLang="en-US" sz="2000" dirty="0">
              <a:latin typeface="宋体" pitchFamily="2" charset="-122"/>
              <a:ea typeface="宋体" pitchFamily="2" charset="-122"/>
              <a:cs typeface="宋体" pitchFamily="2" charset="-122"/>
            </a:endParaRPr>
          </a:p>
          <a:p>
            <a:pPr marL="0" indent="0" latinLnBrk="0">
              <a:lnSpc>
                <a:spcPct val="150000"/>
              </a:lnSpc>
              <a:spcBef>
                <a:spcPts val="0"/>
              </a:spcBef>
              <a:buNone/>
            </a:pPr>
            <a:r>
              <a:rPr lang="zh-CN" altLang="en-US" sz="2000" dirty="0">
                <a:latin typeface="宋体" pitchFamily="2" charset="-122"/>
                <a:cs typeface="宋体" pitchFamily="2" charset="-122"/>
                <a:sym typeface="+mn-ea"/>
              </a:rPr>
              <a:t>检验矩阵：</a:t>
            </a:r>
            <a:endParaRPr lang="zh-CN" altLang="en-US" sz="2000" dirty="0">
              <a:latin typeface="宋体" pitchFamily="2" charset="-122"/>
              <a:cs typeface="宋体" pitchFamily="2" charset="-122"/>
              <a:sym typeface="+mn-ea"/>
            </a:endParaRPr>
          </a:p>
        </p:txBody>
      </p:sp>
      <p:graphicFrame>
        <p:nvGraphicFramePr>
          <p:cNvPr id="66566" name="Object 6"/>
          <p:cNvGraphicFramePr>
            <a:graphicFrameLocks noChangeAspect="1"/>
          </p:cNvGraphicFramePr>
          <p:nvPr>
            <p:custDataLst>
              <p:tags r:id="rId12"/>
            </p:custDataLst>
          </p:nvPr>
        </p:nvGraphicFramePr>
        <p:xfrm>
          <a:off x="2495233" y="3799205"/>
          <a:ext cx="3835400" cy="2970213"/>
        </p:xfrm>
        <a:graphic>
          <a:graphicData uri="http://schemas.openxmlformats.org/presentationml/2006/ole">
            <mc:AlternateContent xmlns:mc="http://schemas.openxmlformats.org/markup-compatibility/2006">
              <mc:Choice xmlns:v="urn:schemas-microsoft-com:vml" Requires="v">
                <p:oleObj spid="_x0000_s3105" name="" r:id="rId13" imgW="2108200" imgH="1625600" progId="Equation.3">
                  <p:embed/>
                </p:oleObj>
              </mc:Choice>
              <mc:Fallback>
                <p:oleObj name="" r:id="rId13" imgW="2108200" imgH="1625600" progId="Equation.3">
                  <p:embed/>
                  <p:pic>
                    <p:nvPicPr>
                      <p:cNvPr id="0" name="图片 3104"/>
                      <p:cNvPicPr/>
                      <p:nvPr/>
                    </p:nvPicPr>
                    <p:blipFill>
                      <a:blip r:embed="rId14"/>
                      <a:stretch>
                        <a:fillRect/>
                      </a:stretch>
                    </p:blipFill>
                    <p:spPr>
                      <a:xfrm>
                        <a:off x="2495233" y="3799205"/>
                        <a:ext cx="3835400" cy="29702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66"/>
                                        </p:tgtEl>
                                        <p:attrNameLst>
                                          <p:attrName>style.visibility</p:attrName>
                                        </p:attrNameLst>
                                      </p:cBhvr>
                                      <p:to>
                                        <p:strVal val="visible"/>
                                      </p:to>
                                    </p:set>
                                    <p:anim calcmode="lin" valueType="num">
                                      <p:cBhvr additive="base">
                                        <p:cTn id="7" dur="500" fill="hold"/>
                                        <p:tgtEl>
                                          <p:spTgt spid="66566"/>
                                        </p:tgtEl>
                                        <p:attrNameLst>
                                          <p:attrName>ppt_x</p:attrName>
                                        </p:attrNameLst>
                                      </p:cBhvr>
                                      <p:tavLst>
                                        <p:tav tm="0">
                                          <p:val>
                                            <p:strVal val="#ppt_x"/>
                                          </p:val>
                                        </p:tav>
                                        <p:tav tm="100000">
                                          <p:val>
                                            <p:strVal val="#ppt_x"/>
                                          </p:val>
                                        </p:tav>
                                      </p:tavLst>
                                    </p:anim>
                                    <p:anim calcmode="lin" valueType="num">
                                      <p:cBhvr additive="base">
                                        <p:cTn id="8" dur="500" fill="hold"/>
                                        <p:tgtEl>
                                          <p:spTgt spid="665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sp>
        <p:nvSpPr>
          <p:cNvPr id="2" name="内容占位符 1"/>
          <p:cNvSpPr>
            <a:spLocks noGrp="1"/>
          </p:cNvSpPr>
          <p:nvPr>
            <p:ph idx="1"/>
            <p:custDataLst>
              <p:tags r:id="rId2"/>
            </p:custDataLst>
          </p:nvPr>
        </p:nvSpPr>
        <p:spPr>
          <a:xfrm>
            <a:off x="623782" y="981076"/>
            <a:ext cx="10972800" cy="4525963"/>
          </a:xfrm>
        </p:spPr>
        <p:txBody>
          <a:bodyPr/>
          <a:p>
            <a:pPr latinLnBrk="0">
              <a:lnSpc>
                <a:spcPct val="150000"/>
              </a:lnSpc>
              <a:spcBef>
                <a:spcPts val="0"/>
              </a:spcBef>
              <a:buFont typeface="Wingdings" panose="05000000000000000000" charset="0"/>
              <a:buChar char="p"/>
            </a:pPr>
            <a:r>
              <a:rPr lang="en-US" altLang="zh-CN" sz="2000" dirty="0">
                <a:latin typeface="宋体" pitchFamily="2" charset="-122"/>
                <a:ea typeface="宋体" pitchFamily="2" charset="-122"/>
                <a:cs typeface="宋体" pitchFamily="2" charset="-122"/>
              </a:rPr>
              <a:t> </a:t>
            </a:r>
            <a:r>
              <a:rPr lang="zh-CN" altLang="en-US" sz="2400" b="1" u="sng" dirty="0"/>
              <a:t>伴随式与错误图样</a:t>
            </a:r>
            <a:endParaRPr lang="en-US" altLang="zh-CN" sz="2000" dirty="0">
              <a:latin typeface="宋体" pitchFamily="2" charset="-122"/>
              <a:ea typeface="宋体" pitchFamily="2" charset="-122"/>
              <a:cs typeface="宋体" pitchFamily="2" charset="-122"/>
            </a:endParaRPr>
          </a:p>
          <a:p>
            <a:pPr marL="0" indent="0" latinLnBrk="0">
              <a:lnSpc>
                <a:spcPct val="150000"/>
              </a:lnSpc>
              <a:spcBef>
                <a:spcPts val="0"/>
              </a:spcBef>
              <a:buNone/>
            </a:pPr>
            <a:r>
              <a:rPr lang="en-US" altLang="zh-CN" sz="2000" dirty="0">
                <a:latin typeface="宋体" pitchFamily="2" charset="-122"/>
                <a:ea typeface="宋体" pitchFamily="2" charset="-122"/>
                <a:cs typeface="宋体" pitchFamily="2" charset="-122"/>
              </a:rPr>
              <a:t>   (</a:t>
            </a:r>
            <a:r>
              <a:rPr lang="en-US" altLang="zh-CN" sz="2000" dirty="0">
                <a:latin typeface="Times New Roman" panose="02020603050405020304" pitchFamily="18" charset="0"/>
                <a:ea typeface="宋体" pitchFamily="2" charset="-122"/>
                <a:cs typeface="Times New Roman" panose="02020603050405020304" pitchFamily="18" charset="0"/>
              </a:rPr>
              <a:t>7,4</a:t>
            </a:r>
            <a:r>
              <a:rPr lang="en-US" altLang="zh-CN" sz="2000" dirty="0">
                <a:latin typeface="宋体" pitchFamily="2" charset="-122"/>
                <a:ea typeface="宋体" pitchFamily="2" charset="-122"/>
                <a:cs typeface="宋体" pitchFamily="2" charset="-122"/>
              </a:rPr>
              <a:t>)</a:t>
            </a:r>
            <a:r>
              <a:rPr sz="2000" dirty="0">
                <a:ea typeface="宋体" pitchFamily="2" charset="-122"/>
              </a:rPr>
              <a:t>线性分组码的伴随式 </a:t>
            </a:r>
            <a:r>
              <a:rPr sz="2000" b="1" dirty="0">
                <a:latin typeface="Times New Roman" panose="02020603050405020304" pitchFamily="18" charset="0"/>
                <a:ea typeface="宋体" pitchFamily="2" charset="-122"/>
                <a:cs typeface="Times New Roman" panose="02020603050405020304" pitchFamily="18" charset="0"/>
              </a:rPr>
              <a:t>s</a:t>
            </a:r>
            <a:r>
              <a:rPr sz="2000" dirty="0">
                <a:ea typeface="宋体" pitchFamily="2" charset="-122"/>
              </a:rPr>
              <a:t> 与错误图样 </a:t>
            </a:r>
            <a:r>
              <a:rPr sz="2000" b="1" dirty="0">
                <a:latin typeface="Times New Roman" panose="02020603050405020304" pitchFamily="18" charset="0"/>
                <a:ea typeface="宋体" pitchFamily="2" charset="-122"/>
                <a:cs typeface="Times New Roman" panose="02020603050405020304" pitchFamily="18" charset="0"/>
              </a:rPr>
              <a:t>e</a:t>
            </a:r>
            <a:r>
              <a:rPr sz="2000" dirty="0">
                <a:ea typeface="宋体" pitchFamily="2" charset="-122"/>
              </a:rPr>
              <a:t> 的对应关系如</a:t>
            </a:r>
            <a:r>
              <a:rPr lang="zh-CN" sz="2000" dirty="0">
                <a:ea typeface="宋体" pitchFamily="2" charset="-122"/>
              </a:rPr>
              <a:t>下表</a:t>
            </a:r>
            <a:r>
              <a:rPr sz="2000" dirty="0">
                <a:ea typeface="宋体" pitchFamily="2" charset="-122"/>
              </a:rPr>
              <a:t>所示。从表和</a:t>
            </a:r>
            <a:r>
              <a:rPr lang="en-US" altLang="zh-CN" sz="2000" dirty="0">
                <a:latin typeface="宋体" pitchFamily="2" charset="-122"/>
                <a:ea typeface="宋体" pitchFamily="2" charset="-122"/>
                <a:cs typeface="宋体" pitchFamily="2" charset="-122"/>
                <a:sym typeface="+mn-ea"/>
              </a:rPr>
              <a:t>(</a:t>
            </a:r>
            <a:r>
              <a:rPr lang="en-US" altLang="zh-CN" sz="2000" dirty="0">
                <a:latin typeface="Times New Roman" panose="02020603050405020304" pitchFamily="18" charset="0"/>
                <a:ea typeface="宋体" pitchFamily="2" charset="-122"/>
                <a:cs typeface="Times New Roman" panose="02020603050405020304" pitchFamily="18" charset="0"/>
                <a:sym typeface="+mn-ea"/>
              </a:rPr>
              <a:t>7,4</a:t>
            </a:r>
            <a:r>
              <a:rPr lang="en-US" altLang="zh-CN" sz="2000" dirty="0">
                <a:latin typeface="宋体" pitchFamily="2" charset="-122"/>
                <a:ea typeface="宋体" pitchFamily="2" charset="-122"/>
                <a:cs typeface="宋体" pitchFamily="2" charset="-122"/>
                <a:sym typeface="+mn-ea"/>
              </a:rPr>
              <a:t>)</a:t>
            </a:r>
            <a:r>
              <a:rPr sz="2000" dirty="0">
                <a:ea typeface="宋体" pitchFamily="2" charset="-122"/>
              </a:rPr>
              <a:t>线性分组码的校验矩阵 </a:t>
            </a:r>
            <a:r>
              <a:rPr sz="2000" b="1" dirty="0">
                <a:latin typeface="Times New Roman" panose="02020603050405020304" pitchFamily="18" charset="0"/>
                <a:ea typeface="宋体" pitchFamily="2" charset="-122"/>
                <a:cs typeface="Times New Roman" panose="02020603050405020304" pitchFamily="18" charset="0"/>
              </a:rPr>
              <a:t>H</a:t>
            </a:r>
            <a:r>
              <a:rPr sz="2000" dirty="0">
                <a:ea typeface="宋体" pitchFamily="2" charset="-122"/>
              </a:rPr>
              <a:t> 可知，当 </a:t>
            </a:r>
            <a:r>
              <a:rPr sz="2000" b="1" dirty="0">
                <a:latin typeface="Times New Roman" panose="02020603050405020304" pitchFamily="18" charset="0"/>
                <a:ea typeface="宋体" pitchFamily="2" charset="-122"/>
                <a:cs typeface="Times New Roman" panose="02020603050405020304" pitchFamily="18" charset="0"/>
              </a:rPr>
              <a:t>s</a:t>
            </a:r>
            <a:r>
              <a:rPr sz="2000" dirty="0">
                <a:ea typeface="宋体" pitchFamily="2" charset="-122"/>
              </a:rPr>
              <a:t> 为非零向量时，校正子 </a:t>
            </a:r>
            <a:r>
              <a:rPr sz="2000" b="1" dirty="0">
                <a:latin typeface="Times New Roman" panose="02020603050405020304" pitchFamily="18" charset="0"/>
                <a:ea typeface="宋体" pitchFamily="2" charset="-122"/>
                <a:cs typeface="Times New Roman" panose="02020603050405020304" pitchFamily="18" charset="0"/>
              </a:rPr>
              <a:t>s </a:t>
            </a:r>
            <a:r>
              <a:rPr sz="2000" dirty="0">
                <a:ea typeface="宋体" pitchFamily="2" charset="-122"/>
              </a:rPr>
              <a:t>的转置与 </a:t>
            </a:r>
            <a:r>
              <a:rPr sz="2000" b="1" dirty="0">
                <a:latin typeface="Times New Roman" panose="02020603050405020304" pitchFamily="18" charset="0"/>
                <a:ea typeface="宋体" pitchFamily="2" charset="-122"/>
                <a:cs typeface="Times New Roman" panose="02020603050405020304" pitchFamily="18" charset="0"/>
              </a:rPr>
              <a:t>H</a:t>
            </a:r>
            <a:r>
              <a:rPr sz="2000" dirty="0">
                <a:ea typeface="宋体" pitchFamily="2" charset="-122"/>
              </a:rPr>
              <a:t> 的列向量一一对应。因此，当校正子 </a:t>
            </a:r>
            <a:r>
              <a:rPr sz="2000" b="1" dirty="0">
                <a:latin typeface="Times New Roman" panose="02020603050405020304" pitchFamily="18" charset="0"/>
                <a:ea typeface="宋体" pitchFamily="2" charset="-122"/>
                <a:cs typeface="Times New Roman" panose="02020603050405020304" pitchFamily="18" charset="0"/>
              </a:rPr>
              <a:t>s</a:t>
            </a:r>
            <a:r>
              <a:rPr sz="2000" dirty="0">
                <a:ea typeface="宋体" pitchFamily="2" charset="-122"/>
              </a:rPr>
              <a:t> 的转置等于 </a:t>
            </a:r>
            <a:r>
              <a:rPr sz="2000" b="1" dirty="0">
                <a:latin typeface="Times New Roman" panose="02020603050405020304" pitchFamily="18" charset="0"/>
                <a:ea typeface="宋体" pitchFamily="2" charset="-122"/>
                <a:cs typeface="Times New Roman" panose="02020603050405020304" pitchFamily="18" charset="0"/>
              </a:rPr>
              <a:t>H</a:t>
            </a:r>
            <a:r>
              <a:rPr sz="2000" dirty="0">
                <a:ea typeface="宋体" pitchFamily="2" charset="-122"/>
              </a:rPr>
              <a:t> 的第 </a:t>
            </a:r>
            <a:r>
              <a:rPr sz="2000" i="1" dirty="0">
                <a:latin typeface="Times New Roman" panose="02020603050405020304" pitchFamily="18" charset="0"/>
                <a:ea typeface="宋体" pitchFamily="2" charset="-122"/>
                <a:cs typeface="Times New Roman" panose="02020603050405020304" pitchFamily="18" charset="0"/>
              </a:rPr>
              <a:t>i</a:t>
            </a:r>
            <a:r>
              <a:rPr sz="2000" dirty="0">
                <a:ea typeface="宋体" pitchFamily="2" charset="-122"/>
              </a:rPr>
              <a:t> 列向量时，错码的位置为</a:t>
            </a:r>
            <a:r>
              <a:rPr lang="en-US" sz="2000" dirty="0">
                <a:ea typeface="宋体" pitchFamily="2" charset="-122"/>
              </a:rPr>
              <a:t> </a:t>
            </a:r>
            <a:r>
              <a:rPr lang="en-US" sz="2000" i="1" dirty="0">
                <a:latin typeface="Times New Roman" panose="02020603050405020304" pitchFamily="18" charset="0"/>
                <a:ea typeface="宋体" pitchFamily="2" charset="-122"/>
                <a:cs typeface="Times New Roman" panose="02020603050405020304" pitchFamily="18" charset="0"/>
              </a:rPr>
              <a:t>c</a:t>
            </a:r>
            <a:r>
              <a:rPr lang="en-US" sz="2000" i="1" baseline="-25000" dirty="0">
                <a:latin typeface="Times New Roman" panose="02020603050405020304" pitchFamily="18" charset="0"/>
                <a:ea typeface="宋体" pitchFamily="2" charset="-122"/>
                <a:cs typeface="Times New Roman" panose="02020603050405020304" pitchFamily="18" charset="0"/>
              </a:rPr>
              <a:t>i</a:t>
            </a:r>
            <a:r>
              <a:rPr sz="2000" dirty="0">
                <a:ea typeface="宋体" pitchFamily="2" charset="-122"/>
              </a:rPr>
              <a:t> 。</a:t>
            </a:r>
            <a:r>
              <a:rPr lang="en-US" altLang="zh-CN" sz="2000" dirty="0">
                <a:latin typeface="宋体" pitchFamily="2" charset="-122"/>
                <a:ea typeface="宋体" pitchFamily="2" charset="-122"/>
                <a:cs typeface="宋体" pitchFamily="2" charset="-122"/>
                <a:sym typeface="+mn-ea"/>
              </a:rPr>
              <a:t> </a:t>
            </a:r>
            <a:endParaRPr lang="en-US" altLang="zh-CN" sz="2000" dirty="0">
              <a:latin typeface="宋体" pitchFamily="2" charset="-122"/>
              <a:ea typeface="宋体" pitchFamily="2" charset="-122"/>
              <a:cs typeface="宋体" pitchFamily="2" charset="-122"/>
              <a:sym typeface="+mn-ea"/>
            </a:endParaRPr>
          </a:p>
        </p:txBody>
      </p:sp>
      <p:graphicFrame>
        <p:nvGraphicFramePr>
          <p:cNvPr id="8" name="表格 7"/>
          <p:cNvGraphicFramePr/>
          <p:nvPr>
            <p:custDataLst>
              <p:tags r:id="rId3"/>
            </p:custDataLst>
          </p:nvPr>
        </p:nvGraphicFramePr>
        <p:xfrm>
          <a:off x="3647440" y="3285490"/>
          <a:ext cx="4147820" cy="3231515"/>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583565"/>
                <a:gridCol w="668655"/>
                <a:gridCol w="1796415"/>
                <a:gridCol w="1099185"/>
              </a:tblGrid>
              <a:tr h="398780">
                <a:tc rowSpan="2">
                  <a:txBody>
                    <a:bodyPr/>
                    <a:p>
                      <a:pPr indent="0">
                        <a:buNone/>
                      </a:pPr>
                      <a:r>
                        <a:rPr lang="en-US" sz="1400" b="0">
                          <a:latin typeface="宋体" pitchFamily="2" charset="-122"/>
                          <a:ea typeface="宋体" pitchFamily="2" charset="-122"/>
                          <a:cs typeface="宋体" pitchFamily="2" charset="-122"/>
                        </a:rPr>
                        <a:t>序号</a:t>
                      </a:r>
                      <a:endParaRPr lang="en-US" altLang="en-US" sz="1400" b="0">
                        <a:latin typeface="宋体" pitchFamily="2" charset="-122"/>
                        <a:ea typeface="宋体" pitchFamily="2" charset="-122"/>
                        <a:cs typeface="宋体" pitchFamily="2" charset="-122"/>
                      </a:endParaRPr>
                    </a:p>
                  </a:txBody>
                  <a:tcPr marL="68580" marR="68580" marT="0" marB="0" anchor="ctr" anchorCtr="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p>
                      <a:pPr indent="0">
                        <a:buNone/>
                      </a:pPr>
                      <a:r>
                        <a:rPr lang="en-US" sz="1400" b="0">
                          <a:latin typeface="宋体" pitchFamily="2" charset="-122"/>
                          <a:ea typeface="宋体" pitchFamily="2" charset="-122"/>
                          <a:cs typeface="宋体" pitchFamily="2" charset="-122"/>
                        </a:rPr>
                        <a:t>错误位置</a:t>
                      </a:r>
                      <a:endParaRPr lang="en-US" altLang="en-US" sz="1400" b="0">
                        <a:latin typeface="宋体" pitchFamily="2" charset="-122"/>
                        <a:ea typeface="宋体" pitchFamily="2" charset="-122"/>
                        <a:cs typeface="宋体" pitchFamily="2" charset="-122"/>
                      </a:endParaRPr>
                    </a:p>
                  </a:txBody>
                  <a:tcPr marL="68580" marR="68580" marT="0" marB="0" anchor="ctr" anchorCtr="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1">
                          <a:solidFill>
                            <a:srgbClr val="000000"/>
                          </a:solidFill>
                          <a:latin typeface="Times New Roman" panose="02020603050405020304" pitchFamily="18" charset="0"/>
                          <a:cs typeface="Times New Roman" panose="02020603050405020304" pitchFamily="18" charset="0"/>
                        </a:rPr>
                        <a:t>e</a:t>
                      </a:r>
                      <a:endParaRPr lang="en-US" altLang="en-US" sz="2000" b="1">
                        <a:solidFill>
                          <a:srgbClr val="000000"/>
                        </a:solidFill>
                        <a:latin typeface="Times New Roman" panose="02020603050405020304" pitchFamily="18" charset="0"/>
                        <a:ea typeface="宋体" pitchFamily="2" charset="-122"/>
                        <a:cs typeface="Times New Roman" panose="02020603050405020304" pitchFamily="18" charset="0"/>
                      </a:endParaRPr>
                    </a:p>
                  </a:txBody>
                  <a:tcPr marL="68580" marR="68580" marT="0" marB="0" anchor="ctr" anchorCtr="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1">
                          <a:latin typeface="Times New Roman" panose="02020603050405020304" pitchFamily="18" charset="0"/>
                          <a:cs typeface="Times New Roman" panose="02020603050405020304" pitchFamily="18" charset="0"/>
                        </a:rPr>
                        <a:t>s</a:t>
                      </a:r>
                      <a:endParaRPr lang="en-US" altLang="en-US" sz="2000" b="1">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chorCtr="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8475">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p>
                      <a:pPr indent="0">
                        <a:buNone/>
                      </a:pPr>
                      <a:r>
                        <a:rPr lang="en-US" sz="2000" b="0" i="1">
                          <a:latin typeface="Times New Roman" panose="02020603050405020304" pitchFamily="18" charset="0"/>
                          <a:ea typeface="宋体" pitchFamily="2" charset="-122"/>
                          <a:cs typeface="Times New Roman" panose="02020603050405020304" pitchFamily="18" charset="0"/>
                        </a:rPr>
                        <a:t>e</a:t>
                      </a:r>
                      <a:r>
                        <a:rPr lang="en-US" sz="1800" b="0" baseline="-25000">
                          <a:latin typeface="Times New Roman" panose="02020603050405020304" pitchFamily="18" charset="0"/>
                          <a:ea typeface="宋体" pitchFamily="2" charset="-122"/>
                          <a:cs typeface="Times New Roman" panose="02020603050405020304" pitchFamily="18" charset="0"/>
                        </a:rPr>
                        <a:t>6</a:t>
                      </a:r>
                      <a:r>
                        <a:rPr lang="en-US" sz="2000" b="0" i="1">
                          <a:latin typeface="Times New Roman" panose="02020603050405020304" pitchFamily="18" charset="0"/>
                          <a:ea typeface="宋体" pitchFamily="2" charset="-122"/>
                          <a:cs typeface="Times New Roman" panose="02020603050405020304" pitchFamily="18" charset="0"/>
                        </a:rPr>
                        <a:t>e</a:t>
                      </a:r>
                      <a:r>
                        <a:rPr lang="en-US" sz="1800" b="0" baseline="-25000">
                          <a:latin typeface="Times New Roman" panose="02020603050405020304" pitchFamily="18" charset="0"/>
                          <a:ea typeface="宋体" pitchFamily="2" charset="-122"/>
                          <a:cs typeface="Times New Roman" panose="02020603050405020304" pitchFamily="18" charset="0"/>
                        </a:rPr>
                        <a:t>5</a:t>
                      </a:r>
                      <a:r>
                        <a:rPr lang="en-US" sz="2000" b="0" i="1">
                          <a:latin typeface="Times New Roman" panose="02020603050405020304" pitchFamily="18" charset="0"/>
                          <a:ea typeface="宋体" pitchFamily="2" charset="-122"/>
                          <a:cs typeface="Times New Roman" panose="02020603050405020304" pitchFamily="18" charset="0"/>
                        </a:rPr>
                        <a:t>e</a:t>
                      </a:r>
                      <a:r>
                        <a:rPr lang="en-US" sz="1800" b="0" baseline="-25000">
                          <a:latin typeface="Times New Roman" panose="02020603050405020304" pitchFamily="18" charset="0"/>
                          <a:ea typeface="宋体" pitchFamily="2" charset="-122"/>
                          <a:cs typeface="Times New Roman" panose="02020603050405020304" pitchFamily="18" charset="0"/>
                        </a:rPr>
                        <a:t>4</a:t>
                      </a:r>
                      <a:r>
                        <a:rPr lang="en-US" sz="2000" b="0" i="1">
                          <a:latin typeface="Times New Roman" panose="02020603050405020304" pitchFamily="18" charset="0"/>
                          <a:ea typeface="宋体" pitchFamily="2" charset="-122"/>
                          <a:cs typeface="Times New Roman" panose="02020603050405020304" pitchFamily="18" charset="0"/>
                        </a:rPr>
                        <a:t>e</a:t>
                      </a:r>
                      <a:r>
                        <a:rPr lang="en-US" sz="1800" b="0" baseline="-25000">
                          <a:latin typeface="Times New Roman" panose="02020603050405020304" pitchFamily="18" charset="0"/>
                          <a:ea typeface="宋体" pitchFamily="2" charset="-122"/>
                          <a:cs typeface="Times New Roman" panose="02020603050405020304" pitchFamily="18" charset="0"/>
                        </a:rPr>
                        <a:t>3</a:t>
                      </a:r>
                      <a:r>
                        <a:rPr lang="en-US" sz="2000" b="0" i="1">
                          <a:latin typeface="Times New Roman" panose="02020603050405020304" pitchFamily="18" charset="0"/>
                          <a:ea typeface="宋体" pitchFamily="2" charset="-122"/>
                          <a:cs typeface="Times New Roman" panose="02020603050405020304" pitchFamily="18" charset="0"/>
                        </a:rPr>
                        <a:t>e</a:t>
                      </a:r>
                      <a:r>
                        <a:rPr lang="en-US" sz="1800" b="0" baseline="-25000">
                          <a:latin typeface="Times New Roman" panose="02020603050405020304" pitchFamily="18" charset="0"/>
                          <a:ea typeface="宋体" pitchFamily="2" charset="-122"/>
                          <a:cs typeface="Times New Roman" panose="02020603050405020304" pitchFamily="18" charset="0"/>
                        </a:rPr>
                        <a:t>2</a:t>
                      </a:r>
                      <a:r>
                        <a:rPr lang="en-US" sz="2000" b="0" i="1">
                          <a:latin typeface="Times New Roman" panose="02020603050405020304" pitchFamily="18" charset="0"/>
                          <a:ea typeface="宋体" pitchFamily="2" charset="-122"/>
                          <a:cs typeface="Times New Roman" panose="02020603050405020304" pitchFamily="18" charset="0"/>
                        </a:rPr>
                        <a:t>e</a:t>
                      </a:r>
                      <a:r>
                        <a:rPr lang="en-US" sz="1800" b="0" baseline="-25000">
                          <a:latin typeface="Times New Roman" panose="02020603050405020304" pitchFamily="18" charset="0"/>
                          <a:ea typeface="宋体" pitchFamily="2" charset="-122"/>
                          <a:cs typeface="Times New Roman" panose="02020603050405020304" pitchFamily="18" charset="0"/>
                        </a:rPr>
                        <a:t>1</a:t>
                      </a:r>
                      <a:r>
                        <a:rPr lang="en-US" sz="2000" b="0" i="1">
                          <a:latin typeface="Times New Roman" panose="02020603050405020304" pitchFamily="18" charset="0"/>
                          <a:ea typeface="宋体" pitchFamily="2" charset="-122"/>
                          <a:cs typeface="Times New Roman" panose="02020603050405020304" pitchFamily="18" charset="0"/>
                        </a:rPr>
                        <a:t>e</a:t>
                      </a:r>
                      <a:r>
                        <a:rPr lang="en-US" sz="1800" b="0" baseline="-25000">
                          <a:latin typeface="Times New Roman" panose="02020603050405020304" pitchFamily="18" charset="0"/>
                          <a:ea typeface="宋体" pitchFamily="2" charset="-122"/>
                          <a:cs typeface="Times New Roman" panose="02020603050405020304" pitchFamily="18" charset="0"/>
                        </a:rPr>
                        <a:t>0</a:t>
                      </a:r>
                      <a:endParaRPr lang="en-US" altLang="en-US" sz="1800" b="0" baseline="-25000">
                        <a:latin typeface="Times New Roman" panose="02020603050405020304" pitchFamily="18" charset="0"/>
                        <a:ea typeface="宋体" pitchFamily="2" charset="-122"/>
                        <a:cs typeface="Times New Roman" panose="02020603050405020304" pitchFamily="18" charset="0"/>
                      </a:endParaRPr>
                    </a:p>
                  </a:txBody>
                  <a:tcPr marL="68580" marR="68580" marT="0" marB="0" anchor="ctr" anchorCtr="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i="1">
                          <a:latin typeface="Times New Roman" panose="02020603050405020304" pitchFamily="18" charset="0"/>
                          <a:ea typeface="宋体" pitchFamily="2" charset="-122"/>
                          <a:cs typeface="Times New Roman" panose="02020603050405020304" pitchFamily="18" charset="0"/>
                        </a:rPr>
                        <a:t>s</a:t>
                      </a:r>
                      <a:r>
                        <a:rPr lang="en-US" sz="1800" b="0" baseline="-25000">
                          <a:latin typeface="Times New Roman" panose="02020603050405020304" pitchFamily="18" charset="0"/>
                          <a:ea typeface="宋体" pitchFamily="2" charset="-122"/>
                          <a:cs typeface="Times New Roman" panose="02020603050405020304" pitchFamily="18" charset="0"/>
                        </a:rPr>
                        <a:t>2</a:t>
                      </a:r>
                      <a:r>
                        <a:rPr lang="en-US" sz="2000" b="0" i="1">
                          <a:latin typeface="Times New Roman" panose="02020603050405020304" pitchFamily="18" charset="0"/>
                          <a:ea typeface="宋体" pitchFamily="2" charset="-122"/>
                          <a:cs typeface="Times New Roman" panose="02020603050405020304" pitchFamily="18" charset="0"/>
                        </a:rPr>
                        <a:t>s</a:t>
                      </a:r>
                      <a:r>
                        <a:rPr lang="en-US" sz="1800" b="0" baseline="-25000">
                          <a:latin typeface="Times New Roman" panose="02020603050405020304" pitchFamily="18" charset="0"/>
                          <a:ea typeface="宋体" pitchFamily="2" charset="-122"/>
                          <a:cs typeface="Times New Roman" panose="02020603050405020304" pitchFamily="18" charset="0"/>
                        </a:rPr>
                        <a:t>1</a:t>
                      </a:r>
                      <a:r>
                        <a:rPr lang="en-US" sz="2000" b="0" i="1">
                          <a:latin typeface="Times New Roman" panose="02020603050405020304" pitchFamily="18" charset="0"/>
                          <a:ea typeface="宋体" pitchFamily="2" charset="-122"/>
                          <a:cs typeface="Times New Roman" panose="02020603050405020304" pitchFamily="18" charset="0"/>
                        </a:rPr>
                        <a:t>s</a:t>
                      </a:r>
                      <a:r>
                        <a:rPr lang="en-US" sz="1800" b="0" baseline="-25000">
                          <a:latin typeface="Times New Roman" panose="02020603050405020304" pitchFamily="18" charset="0"/>
                          <a:ea typeface="宋体" pitchFamily="2" charset="-122"/>
                          <a:cs typeface="Times New Roman" panose="02020603050405020304" pitchFamily="18" charset="0"/>
                        </a:rPr>
                        <a:t>0</a:t>
                      </a:r>
                      <a:endParaRPr lang="en-US" altLang="en-US" sz="1800" b="0" i="1" baseline="-25000">
                        <a:latin typeface="Times New Roman" panose="02020603050405020304" pitchFamily="18" charset="0"/>
                        <a:ea typeface="宋体" pitchFamily="2" charset="-122"/>
                        <a:cs typeface="Times New Roman" panose="02020603050405020304" pitchFamily="18" charset="0"/>
                      </a:endParaRPr>
                    </a:p>
                  </a:txBody>
                  <a:tcPr marL="68580" marR="68580" marT="0" marB="0" anchor="ctr" anchorCtr="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34260">
                <a:tc>
                  <a:txBody>
                    <a:bodyPr/>
                    <a:p>
                      <a:pPr indent="0">
                        <a:buNone/>
                      </a:pPr>
                      <a:r>
                        <a:rPr lang="en-US" sz="1800" b="0">
                          <a:latin typeface="Times New Roman" panose="02020603050405020304" pitchFamily="18" charset="0"/>
                          <a:ea typeface="宋体" pitchFamily="2" charset="-122"/>
                          <a:cs typeface="Times New Roman" panose="02020603050405020304" pitchFamily="18" charset="0"/>
                        </a:rPr>
                        <a:t>0</a:t>
                      </a:r>
                      <a:endParaRPr lang="en-US" sz="1800" b="0">
                        <a:latin typeface="Times New Roman" panose="02020603050405020304" pitchFamily="18" charset="0"/>
                        <a:ea typeface="宋体" pitchFamily="2" charset="-122"/>
                        <a:cs typeface="Times New Roman" panose="02020603050405020304" pitchFamily="18" charset="0"/>
                      </a:endParaRPr>
                    </a:p>
                    <a:p>
                      <a:pPr indent="0">
                        <a:buNone/>
                      </a:pPr>
                      <a:r>
                        <a:rPr lang="en-US" sz="1800" b="0">
                          <a:latin typeface="Times New Roman" panose="02020603050405020304" pitchFamily="18" charset="0"/>
                          <a:ea typeface="宋体" pitchFamily="2" charset="-122"/>
                          <a:cs typeface="Times New Roman" panose="02020603050405020304" pitchFamily="18" charset="0"/>
                        </a:rPr>
                        <a:t>1</a:t>
                      </a:r>
                      <a:endParaRPr lang="en-US" sz="1800" b="0">
                        <a:latin typeface="Times New Roman" panose="02020603050405020304" pitchFamily="18" charset="0"/>
                        <a:ea typeface="宋体" pitchFamily="2" charset="-122"/>
                        <a:cs typeface="Times New Roman" panose="02020603050405020304" pitchFamily="18" charset="0"/>
                      </a:endParaRPr>
                    </a:p>
                    <a:p>
                      <a:pPr indent="0">
                        <a:buNone/>
                      </a:pPr>
                      <a:r>
                        <a:rPr lang="en-US" sz="1800" b="0">
                          <a:latin typeface="Times New Roman" panose="02020603050405020304" pitchFamily="18" charset="0"/>
                          <a:ea typeface="宋体" pitchFamily="2" charset="-122"/>
                          <a:cs typeface="Times New Roman" panose="02020603050405020304" pitchFamily="18" charset="0"/>
                        </a:rPr>
                        <a:t>2</a:t>
                      </a:r>
                      <a:endParaRPr lang="en-US" sz="1800" b="0">
                        <a:latin typeface="Times New Roman" panose="02020603050405020304" pitchFamily="18" charset="0"/>
                        <a:ea typeface="宋体" pitchFamily="2" charset="-122"/>
                        <a:cs typeface="Times New Roman" panose="02020603050405020304" pitchFamily="18" charset="0"/>
                      </a:endParaRPr>
                    </a:p>
                    <a:p>
                      <a:pPr indent="0">
                        <a:buNone/>
                      </a:pPr>
                      <a:r>
                        <a:rPr lang="en-US" sz="1800" b="0">
                          <a:latin typeface="Times New Roman" panose="02020603050405020304" pitchFamily="18" charset="0"/>
                          <a:ea typeface="宋体" pitchFamily="2" charset="-122"/>
                          <a:cs typeface="Times New Roman" panose="02020603050405020304" pitchFamily="18" charset="0"/>
                        </a:rPr>
                        <a:t>3</a:t>
                      </a:r>
                      <a:endParaRPr lang="en-US" sz="1800" b="0">
                        <a:latin typeface="Times New Roman" panose="02020603050405020304" pitchFamily="18" charset="0"/>
                        <a:ea typeface="宋体" pitchFamily="2" charset="-122"/>
                        <a:cs typeface="Times New Roman" panose="02020603050405020304" pitchFamily="18" charset="0"/>
                      </a:endParaRPr>
                    </a:p>
                    <a:p>
                      <a:pPr indent="0">
                        <a:buNone/>
                      </a:pPr>
                      <a:r>
                        <a:rPr lang="en-US" sz="1800" b="0">
                          <a:latin typeface="Times New Roman" panose="02020603050405020304" pitchFamily="18" charset="0"/>
                          <a:ea typeface="宋体" pitchFamily="2" charset="-122"/>
                          <a:cs typeface="Times New Roman" panose="02020603050405020304" pitchFamily="18" charset="0"/>
                        </a:rPr>
                        <a:t>4</a:t>
                      </a:r>
                      <a:endParaRPr lang="en-US" sz="1800" b="0">
                        <a:latin typeface="Times New Roman" panose="02020603050405020304" pitchFamily="18" charset="0"/>
                        <a:ea typeface="宋体" pitchFamily="2" charset="-122"/>
                        <a:cs typeface="Times New Roman" panose="02020603050405020304" pitchFamily="18" charset="0"/>
                      </a:endParaRPr>
                    </a:p>
                    <a:p>
                      <a:pPr indent="0">
                        <a:buNone/>
                      </a:pPr>
                      <a:r>
                        <a:rPr lang="en-US" sz="1800" b="0">
                          <a:latin typeface="Times New Roman" panose="02020603050405020304" pitchFamily="18" charset="0"/>
                          <a:ea typeface="宋体" pitchFamily="2" charset="-122"/>
                          <a:cs typeface="Times New Roman" panose="02020603050405020304" pitchFamily="18" charset="0"/>
                        </a:rPr>
                        <a:t>5</a:t>
                      </a:r>
                      <a:endParaRPr lang="en-US" sz="1800" b="0">
                        <a:latin typeface="Times New Roman" panose="02020603050405020304" pitchFamily="18" charset="0"/>
                        <a:ea typeface="宋体" pitchFamily="2" charset="-122"/>
                        <a:cs typeface="Times New Roman" panose="02020603050405020304" pitchFamily="18" charset="0"/>
                      </a:endParaRPr>
                    </a:p>
                    <a:p>
                      <a:pPr indent="0">
                        <a:buNone/>
                      </a:pPr>
                      <a:r>
                        <a:rPr lang="en-US" sz="1800" b="0">
                          <a:latin typeface="Times New Roman" panose="02020603050405020304" pitchFamily="18" charset="0"/>
                          <a:ea typeface="宋体" pitchFamily="2" charset="-122"/>
                          <a:cs typeface="Times New Roman" panose="02020603050405020304" pitchFamily="18" charset="0"/>
                        </a:rPr>
                        <a:t>6</a:t>
                      </a:r>
                      <a:endParaRPr lang="en-US" sz="1800" b="0">
                        <a:latin typeface="Times New Roman" panose="02020603050405020304" pitchFamily="18" charset="0"/>
                        <a:ea typeface="宋体" pitchFamily="2" charset="-122"/>
                        <a:cs typeface="Times New Roman" panose="02020603050405020304" pitchFamily="18" charset="0"/>
                      </a:endParaRPr>
                    </a:p>
                    <a:p>
                      <a:pPr indent="0">
                        <a:buNone/>
                      </a:pPr>
                      <a:r>
                        <a:rPr lang="en-US" sz="1800" b="0">
                          <a:latin typeface="Times New Roman" panose="02020603050405020304" pitchFamily="18" charset="0"/>
                          <a:ea typeface="宋体" pitchFamily="2" charset="-122"/>
                          <a:cs typeface="Times New Roman" panose="02020603050405020304" pitchFamily="18" charset="0"/>
                        </a:rPr>
                        <a:t>7</a:t>
                      </a:r>
                      <a:endParaRPr lang="en-US" altLang="en-US" sz="1800" b="0">
                        <a:latin typeface="Times New Roman" panose="02020603050405020304" pitchFamily="18" charset="0"/>
                        <a:ea typeface="宋体" pitchFamily="2" charset="-122"/>
                        <a:cs typeface="Times New Roman" panose="02020603050405020304" pitchFamily="18" charset="0"/>
                      </a:endParaRPr>
                    </a:p>
                  </a:txBody>
                  <a:tcPr marL="68580" marR="68580" marT="0" marB="0" anchor="ctr" anchorCtr="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Times New Roman" panose="02020603050405020304" pitchFamily="18" charset="0"/>
                          <a:ea typeface="宋体" pitchFamily="2" charset="-122"/>
                          <a:cs typeface="Times New Roman" panose="02020603050405020304" pitchFamily="18" charset="0"/>
                        </a:rPr>
                        <a:t>无</a:t>
                      </a:r>
                      <a:endParaRPr lang="en-US" sz="1400" b="0">
                        <a:latin typeface="Times New Roman" panose="02020603050405020304" pitchFamily="18" charset="0"/>
                        <a:ea typeface="宋体" pitchFamily="2" charset="-122"/>
                        <a:cs typeface="Times New Roman" panose="02020603050405020304" pitchFamily="18" charset="0"/>
                      </a:endParaRPr>
                    </a:p>
                    <a:p>
                      <a:pPr indent="0">
                        <a:buNone/>
                      </a:pPr>
                      <a:r>
                        <a:rPr lang="en-US" sz="1800" b="0" i="1">
                          <a:latin typeface="Times New Roman" panose="02020603050405020304" pitchFamily="18" charset="0"/>
                          <a:cs typeface="Times New Roman" panose="02020603050405020304" pitchFamily="18" charset="0"/>
                        </a:rPr>
                        <a:t>y</a:t>
                      </a:r>
                      <a:r>
                        <a:rPr lang="en-US" sz="1800" b="0" baseline="-25000">
                          <a:latin typeface="Times New Roman" panose="02020603050405020304" pitchFamily="18" charset="0"/>
                          <a:ea typeface="宋体" pitchFamily="2" charset="-122"/>
                          <a:cs typeface="Times New Roman" panose="02020603050405020304" pitchFamily="18" charset="0"/>
                        </a:rPr>
                        <a:t>0</a:t>
                      </a:r>
                      <a:endParaRPr lang="en-US" sz="1800" b="0" baseline="-25000">
                        <a:latin typeface="Times New Roman" panose="02020603050405020304" pitchFamily="18" charset="0"/>
                        <a:ea typeface="宋体" pitchFamily="2" charset="-122"/>
                        <a:cs typeface="Times New Roman" panose="02020603050405020304" pitchFamily="18" charset="0"/>
                      </a:endParaRPr>
                    </a:p>
                    <a:p>
                      <a:pPr indent="0">
                        <a:buNone/>
                      </a:pPr>
                      <a:r>
                        <a:rPr lang="en-US" sz="1800" b="0" i="1">
                          <a:latin typeface="Times New Roman" panose="02020603050405020304" pitchFamily="18" charset="0"/>
                          <a:cs typeface="Times New Roman" panose="02020603050405020304" pitchFamily="18" charset="0"/>
                        </a:rPr>
                        <a:t>y</a:t>
                      </a:r>
                      <a:r>
                        <a:rPr lang="en-US" sz="1800" b="0" baseline="-25000">
                          <a:latin typeface="Times New Roman" panose="02020603050405020304" pitchFamily="18" charset="0"/>
                          <a:ea typeface="宋体" pitchFamily="2" charset="-122"/>
                          <a:cs typeface="Times New Roman" panose="02020603050405020304" pitchFamily="18" charset="0"/>
                        </a:rPr>
                        <a:t>1</a:t>
                      </a:r>
                      <a:endParaRPr lang="en-US" sz="1800" b="0" baseline="-25000">
                        <a:latin typeface="Times New Roman" panose="02020603050405020304" pitchFamily="18" charset="0"/>
                        <a:ea typeface="宋体" pitchFamily="2" charset="-122"/>
                        <a:cs typeface="Times New Roman" panose="02020603050405020304" pitchFamily="18" charset="0"/>
                      </a:endParaRPr>
                    </a:p>
                    <a:p>
                      <a:pPr indent="0">
                        <a:buNone/>
                      </a:pPr>
                      <a:r>
                        <a:rPr lang="en-US" sz="1800" b="0" i="1">
                          <a:latin typeface="Times New Roman" panose="02020603050405020304" pitchFamily="18" charset="0"/>
                          <a:cs typeface="Times New Roman" panose="02020603050405020304" pitchFamily="18" charset="0"/>
                        </a:rPr>
                        <a:t>y</a:t>
                      </a:r>
                      <a:r>
                        <a:rPr lang="en-US" sz="1800" b="0" baseline="-25000">
                          <a:latin typeface="Times New Roman" panose="02020603050405020304" pitchFamily="18" charset="0"/>
                          <a:ea typeface="宋体" pitchFamily="2" charset="-122"/>
                          <a:cs typeface="Times New Roman" panose="02020603050405020304" pitchFamily="18" charset="0"/>
                        </a:rPr>
                        <a:t>2</a:t>
                      </a:r>
                      <a:endParaRPr lang="en-US" sz="1800" b="0" baseline="-25000">
                        <a:latin typeface="Times New Roman" panose="02020603050405020304" pitchFamily="18" charset="0"/>
                        <a:ea typeface="宋体" pitchFamily="2" charset="-122"/>
                        <a:cs typeface="Times New Roman" panose="02020603050405020304" pitchFamily="18" charset="0"/>
                      </a:endParaRPr>
                    </a:p>
                    <a:p>
                      <a:pPr indent="0">
                        <a:buNone/>
                      </a:pPr>
                      <a:r>
                        <a:rPr lang="en-US" sz="1800" b="0" i="1">
                          <a:latin typeface="Times New Roman" panose="02020603050405020304" pitchFamily="18" charset="0"/>
                          <a:cs typeface="Times New Roman" panose="02020603050405020304" pitchFamily="18" charset="0"/>
                        </a:rPr>
                        <a:t>y</a:t>
                      </a:r>
                      <a:r>
                        <a:rPr lang="en-US" sz="1800" b="0" baseline="-25000">
                          <a:latin typeface="Times New Roman" panose="02020603050405020304" pitchFamily="18" charset="0"/>
                          <a:ea typeface="宋体" pitchFamily="2" charset="-122"/>
                          <a:cs typeface="Times New Roman" panose="02020603050405020304" pitchFamily="18" charset="0"/>
                        </a:rPr>
                        <a:t>3</a:t>
                      </a:r>
                      <a:endParaRPr lang="en-US" sz="1800" b="0" baseline="-25000">
                        <a:latin typeface="Times New Roman" panose="02020603050405020304" pitchFamily="18" charset="0"/>
                        <a:ea typeface="宋体" pitchFamily="2" charset="-122"/>
                        <a:cs typeface="Times New Roman" panose="02020603050405020304" pitchFamily="18" charset="0"/>
                      </a:endParaRPr>
                    </a:p>
                    <a:p>
                      <a:pPr indent="0">
                        <a:buNone/>
                      </a:pPr>
                      <a:r>
                        <a:rPr lang="en-US" sz="1800" b="0" i="1">
                          <a:latin typeface="Times New Roman" panose="02020603050405020304" pitchFamily="18" charset="0"/>
                          <a:cs typeface="Times New Roman" panose="02020603050405020304" pitchFamily="18" charset="0"/>
                        </a:rPr>
                        <a:t>y</a:t>
                      </a:r>
                      <a:r>
                        <a:rPr lang="en-US" sz="1800" b="0" baseline="-25000">
                          <a:latin typeface="Times New Roman" panose="02020603050405020304" pitchFamily="18" charset="0"/>
                          <a:ea typeface="宋体" pitchFamily="2" charset="-122"/>
                          <a:cs typeface="Times New Roman" panose="02020603050405020304" pitchFamily="18" charset="0"/>
                        </a:rPr>
                        <a:t>4</a:t>
                      </a:r>
                      <a:endParaRPr lang="en-US" sz="1800" b="0" baseline="-25000">
                        <a:latin typeface="Times New Roman" panose="02020603050405020304" pitchFamily="18" charset="0"/>
                        <a:ea typeface="宋体" pitchFamily="2" charset="-122"/>
                        <a:cs typeface="Times New Roman" panose="02020603050405020304" pitchFamily="18" charset="0"/>
                      </a:endParaRPr>
                    </a:p>
                    <a:p>
                      <a:pPr indent="0">
                        <a:buNone/>
                      </a:pPr>
                      <a:r>
                        <a:rPr lang="en-US" sz="1800" b="0" i="1">
                          <a:latin typeface="Times New Roman" panose="02020603050405020304" pitchFamily="18" charset="0"/>
                          <a:cs typeface="Times New Roman" panose="02020603050405020304" pitchFamily="18" charset="0"/>
                        </a:rPr>
                        <a:t>y</a:t>
                      </a:r>
                      <a:r>
                        <a:rPr lang="en-US" sz="1800" b="0" baseline="-25000">
                          <a:latin typeface="Times New Roman" panose="02020603050405020304" pitchFamily="18" charset="0"/>
                          <a:ea typeface="宋体" pitchFamily="2" charset="-122"/>
                          <a:cs typeface="Times New Roman" panose="02020603050405020304" pitchFamily="18" charset="0"/>
                        </a:rPr>
                        <a:t>5</a:t>
                      </a:r>
                      <a:endParaRPr lang="en-US" sz="1800" b="0" baseline="-25000">
                        <a:latin typeface="Times New Roman" panose="02020603050405020304" pitchFamily="18" charset="0"/>
                        <a:ea typeface="宋体" pitchFamily="2" charset="-122"/>
                        <a:cs typeface="Times New Roman" panose="02020603050405020304" pitchFamily="18" charset="0"/>
                      </a:endParaRPr>
                    </a:p>
                    <a:p>
                      <a:pPr indent="0">
                        <a:buNone/>
                      </a:pPr>
                      <a:r>
                        <a:rPr lang="en-US" sz="1800" b="0" i="1">
                          <a:latin typeface="Times New Roman" panose="02020603050405020304" pitchFamily="18" charset="0"/>
                          <a:cs typeface="Times New Roman" panose="02020603050405020304" pitchFamily="18" charset="0"/>
                        </a:rPr>
                        <a:t>y</a:t>
                      </a:r>
                      <a:r>
                        <a:rPr lang="en-US" sz="1800" b="0" baseline="-25000">
                          <a:latin typeface="Times New Roman" panose="02020603050405020304" pitchFamily="18" charset="0"/>
                          <a:ea typeface="宋体" pitchFamily="2" charset="-122"/>
                          <a:cs typeface="Times New Roman" panose="02020603050405020304" pitchFamily="18" charset="0"/>
                        </a:rPr>
                        <a:t>6</a:t>
                      </a:r>
                      <a:endParaRPr lang="en-US" altLang="en-US" sz="1800" b="0" baseline="-25000">
                        <a:latin typeface="Times New Roman" panose="02020603050405020304" pitchFamily="18" charset="0"/>
                        <a:ea typeface="宋体" pitchFamily="2" charset="-122"/>
                        <a:cs typeface="Times New Roman" panose="02020603050405020304" pitchFamily="18" charset="0"/>
                      </a:endParaRPr>
                    </a:p>
                  </a:txBody>
                  <a:tcPr marL="68580" marR="68580" marT="0" marB="0" anchor="ctr" anchorCtr="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Times New Roman" panose="02020603050405020304" pitchFamily="18" charset="0"/>
                          <a:ea typeface="宋体" pitchFamily="2" charset="-122"/>
                          <a:cs typeface="Times New Roman" panose="02020603050405020304" pitchFamily="18" charset="0"/>
                        </a:rPr>
                        <a:t> 0 0 0 0 0 0 0 </a:t>
                      </a:r>
                      <a:endParaRPr lang="en-US" sz="1800" b="0">
                        <a:latin typeface="Times New Roman" panose="02020603050405020304" pitchFamily="18" charset="0"/>
                        <a:ea typeface="宋体" pitchFamily="2" charset="-122"/>
                        <a:cs typeface="Times New Roman" panose="02020603050405020304" pitchFamily="18" charset="0"/>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 0 0 0 0 0 0 1 </a:t>
                      </a:r>
                      <a:endParaRPr lang="en-US" sz="1800" b="0">
                        <a:latin typeface="Times New Roman" panose="02020603050405020304" pitchFamily="18" charset="0"/>
                        <a:ea typeface="宋体" pitchFamily="2" charset="-122"/>
                        <a:cs typeface="Times New Roman" panose="02020603050405020304" pitchFamily="18" charset="0"/>
                        <a:sym typeface="+mn-ea"/>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 0 0 0 0 0 1 0</a:t>
                      </a:r>
                      <a:r>
                        <a:rPr lang="en-US" sz="1800">
                          <a:solidFill>
                            <a:schemeClr val="tx1"/>
                          </a:solidFill>
                          <a:latin typeface="Times New Roman" panose="02020603050405020304" pitchFamily="18" charset="0"/>
                          <a:ea typeface="宋体" pitchFamily="2" charset="-122"/>
                          <a:cs typeface="Times New Roman" panose="02020603050405020304" pitchFamily="18" charset="0"/>
                          <a:sym typeface="+mn-ea"/>
                        </a:rPr>
                        <a:t>  </a:t>
                      </a:r>
                      <a:endParaRPr lang="en-US" sz="1800" b="0">
                        <a:solidFill>
                          <a:schemeClr val="tx1"/>
                        </a:solidFill>
                        <a:latin typeface="Times New Roman" panose="02020603050405020304" pitchFamily="18" charset="0"/>
                        <a:ea typeface="宋体" pitchFamily="2" charset="-122"/>
                        <a:cs typeface="Times New Roman" panose="02020603050405020304" pitchFamily="18" charset="0"/>
                        <a:sym typeface="+mn-ea"/>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 0 0 0 0 1 0 0 </a:t>
                      </a:r>
                      <a:endParaRPr lang="en-US" sz="1800" b="0">
                        <a:latin typeface="Times New Roman" panose="02020603050405020304" pitchFamily="18" charset="0"/>
                        <a:ea typeface="宋体" pitchFamily="2" charset="-122"/>
                        <a:cs typeface="Times New Roman" panose="02020603050405020304" pitchFamily="18" charset="0"/>
                        <a:sym typeface="+mn-ea"/>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 0 0 0 1 0 0 0 </a:t>
                      </a:r>
                      <a:endParaRPr lang="en-US" sz="1800" b="0">
                        <a:latin typeface="Times New Roman" panose="02020603050405020304" pitchFamily="18" charset="0"/>
                        <a:ea typeface="宋体" pitchFamily="2" charset="-122"/>
                        <a:cs typeface="Times New Roman" panose="02020603050405020304" pitchFamily="18" charset="0"/>
                        <a:sym typeface="+mn-ea"/>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 0 0 1 0 0 0 0 </a:t>
                      </a:r>
                      <a:endParaRPr lang="en-US" sz="1800" b="0">
                        <a:latin typeface="Times New Roman" panose="02020603050405020304" pitchFamily="18" charset="0"/>
                        <a:ea typeface="宋体" pitchFamily="2" charset="-122"/>
                        <a:cs typeface="Times New Roman" panose="02020603050405020304" pitchFamily="18" charset="0"/>
                        <a:sym typeface="+mn-ea"/>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 0 1 0 0 0 0 0 </a:t>
                      </a:r>
                      <a:endParaRPr lang="en-US" sz="1800" b="0">
                        <a:latin typeface="Times New Roman" panose="02020603050405020304" pitchFamily="18" charset="0"/>
                        <a:ea typeface="宋体" pitchFamily="2" charset="-122"/>
                        <a:cs typeface="Times New Roman" panose="02020603050405020304" pitchFamily="18" charset="0"/>
                        <a:sym typeface="+mn-ea"/>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 1 0 0 0 0 0 0 </a:t>
                      </a:r>
                      <a:endParaRPr lang="en-US" altLang="en-US" sz="1800" b="0">
                        <a:latin typeface="Times New Roman" panose="02020603050405020304" pitchFamily="18" charset="0"/>
                        <a:ea typeface="宋体" pitchFamily="2" charset="-122"/>
                        <a:cs typeface="Times New Roman" panose="02020603050405020304" pitchFamily="18" charset="0"/>
                        <a:sym typeface="+mn-ea"/>
                      </a:endParaRPr>
                    </a:p>
                  </a:txBody>
                  <a:tcPr marL="68580" marR="68580" marT="0" marB="0" anchor="ctr" anchorCtr="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Times New Roman" panose="02020603050405020304" pitchFamily="18" charset="0"/>
                          <a:ea typeface="宋体" pitchFamily="2" charset="-122"/>
                          <a:cs typeface="Times New Roman" panose="02020603050405020304" pitchFamily="18" charset="0"/>
                        </a:rPr>
                        <a:t>0 0 0 </a:t>
                      </a:r>
                      <a:endParaRPr lang="en-US" sz="1800" b="0">
                        <a:latin typeface="Times New Roman" panose="02020603050405020304" pitchFamily="18" charset="0"/>
                        <a:ea typeface="宋体" pitchFamily="2" charset="-122"/>
                        <a:cs typeface="Times New Roman" panose="02020603050405020304" pitchFamily="18" charset="0"/>
                      </a:endParaRPr>
                    </a:p>
                    <a:p>
                      <a:pPr indent="0">
                        <a:buNone/>
                      </a:pPr>
                      <a:r>
                        <a:rPr lang="en-US" sz="1800" b="0">
                          <a:latin typeface="Times New Roman" panose="02020603050405020304" pitchFamily="18" charset="0"/>
                          <a:ea typeface="宋体" pitchFamily="2" charset="-122"/>
                          <a:cs typeface="Times New Roman" panose="02020603050405020304" pitchFamily="18" charset="0"/>
                        </a:rPr>
                        <a:t>0 0 1 </a:t>
                      </a:r>
                      <a:endParaRPr lang="en-US" sz="1800" b="0">
                        <a:latin typeface="Times New Roman" panose="02020603050405020304" pitchFamily="18" charset="0"/>
                        <a:ea typeface="宋体" pitchFamily="2" charset="-122"/>
                        <a:cs typeface="Times New Roman" panose="02020603050405020304" pitchFamily="18" charset="0"/>
                      </a:endParaRPr>
                    </a:p>
                    <a:p>
                      <a:pPr indent="0">
                        <a:buNone/>
                      </a:pPr>
                      <a:r>
                        <a:rPr lang="en-US" sz="1800" b="0">
                          <a:latin typeface="Times New Roman" panose="02020603050405020304" pitchFamily="18" charset="0"/>
                          <a:ea typeface="宋体" pitchFamily="2" charset="-122"/>
                          <a:cs typeface="Times New Roman" panose="02020603050405020304" pitchFamily="18" charset="0"/>
                        </a:rPr>
                        <a:t>0 1 0</a:t>
                      </a:r>
                      <a:endParaRPr lang="en-US" sz="1800" b="0">
                        <a:latin typeface="Times New Roman" panose="02020603050405020304" pitchFamily="18" charset="0"/>
                        <a:ea typeface="宋体" pitchFamily="2" charset="-122"/>
                        <a:cs typeface="Times New Roman" panose="02020603050405020304" pitchFamily="18" charset="0"/>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1 0 0</a:t>
                      </a:r>
                      <a:endParaRPr lang="en-US" sz="1800" b="0">
                        <a:latin typeface="Times New Roman" panose="02020603050405020304" pitchFamily="18" charset="0"/>
                        <a:ea typeface="宋体" pitchFamily="2" charset="-122"/>
                        <a:cs typeface="Times New Roman" panose="02020603050405020304" pitchFamily="18" charset="0"/>
                        <a:sym typeface="+mn-ea"/>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0 1 1</a:t>
                      </a:r>
                      <a:endParaRPr lang="en-US" sz="1800" b="0">
                        <a:latin typeface="Times New Roman" panose="02020603050405020304" pitchFamily="18" charset="0"/>
                        <a:ea typeface="宋体" pitchFamily="2" charset="-122"/>
                        <a:cs typeface="Times New Roman" panose="02020603050405020304" pitchFamily="18" charset="0"/>
                        <a:sym typeface="+mn-ea"/>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1 0 1</a:t>
                      </a:r>
                      <a:endParaRPr lang="en-US" sz="1800" b="0">
                        <a:latin typeface="Times New Roman" panose="02020603050405020304" pitchFamily="18" charset="0"/>
                        <a:ea typeface="宋体" pitchFamily="2" charset="-122"/>
                        <a:cs typeface="Times New Roman" panose="02020603050405020304" pitchFamily="18" charset="0"/>
                        <a:sym typeface="+mn-ea"/>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1 1 0</a:t>
                      </a:r>
                      <a:endParaRPr lang="en-US" sz="1800" b="0">
                        <a:latin typeface="Times New Roman" panose="02020603050405020304" pitchFamily="18" charset="0"/>
                        <a:ea typeface="宋体" pitchFamily="2" charset="-122"/>
                        <a:cs typeface="Times New Roman" panose="02020603050405020304" pitchFamily="18" charset="0"/>
                        <a:sym typeface="+mn-ea"/>
                      </a:endParaRPr>
                    </a:p>
                    <a:p>
                      <a:pPr indent="0">
                        <a:buNone/>
                      </a:pPr>
                      <a:r>
                        <a:rPr lang="en-US" sz="1800">
                          <a:latin typeface="Times New Roman" panose="02020603050405020304" pitchFamily="18" charset="0"/>
                          <a:ea typeface="宋体" pitchFamily="2" charset="-122"/>
                          <a:cs typeface="Times New Roman" panose="02020603050405020304" pitchFamily="18" charset="0"/>
                          <a:sym typeface="+mn-ea"/>
                        </a:rPr>
                        <a:t>1 1 1</a:t>
                      </a:r>
                      <a:r>
                        <a:rPr lang="en-US" sz="1800" b="0">
                          <a:latin typeface="Times New Roman" panose="02020603050405020304" pitchFamily="18" charset="0"/>
                          <a:ea typeface="宋体" pitchFamily="2" charset="-122"/>
                          <a:cs typeface="Times New Roman" panose="02020603050405020304" pitchFamily="18" charset="0"/>
                        </a:rPr>
                        <a:t> </a:t>
                      </a:r>
                      <a:endParaRPr lang="en-US" altLang="en-US" sz="1800" b="0">
                        <a:latin typeface="Times New Roman" panose="02020603050405020304" pitchFamily="18" charset="0"/>
                        <a:ea typeface="宋体" pitchFamily="2" charset="-122"/>
                        <a:cs typeface="Times New Roman" panose="02020603050405020304" pitchFamily="18" charset="0"/>
                      </a:endParaRPr>
                    </a:p>
                  </a:txBody>
                  <a:tcPr marL="68580" marR="68580" marT="0" marB="0" anchor="ctr" anchorCtr="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6000" y="36000"/>
            <a:ext cx="2584928" cy="536494"/>
          </a:xfrm>
          <a:prstGeom prst="rect">
            <a:avLst/>
          </a:prstGeom>
        </p:spPr>
      </p:pic>
      <p:pic>
        <p:nvPicPr>
          <p:cNvPr id="2" name="图片 1"/>
          <p:cNvPicPr>
            <a:picLocks noChangeAspect="1"/>
          </p:cNvPicPr>
          <p:nvPr>
            <p:custDataLst>
              <p:tags r:id="rId2"/>
            </p:custDataLst>
          </p:nvPr>
        </p:nvPicPr>
        <p:blipFill>
          <a:blip r:embed="rId3"/>
          <a:stretch>
            <a:fillRect/>
          </a:stretch>
        </p:blipFill>
        <p:spPr>
          <a:xfrm>
            <a:off x="1487488" y="1203325"/>
            <a:ext cx="7915275" cy="50403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BEAUTIFY_FLAG" val=""/>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M_BEAUTIFY_FLAG" val=""/>
</p:tagLst>
</file>

<file path=ppt/tags/tag615.xml><?xml version="1.0" encoding="utf-8"?>
<p:tagLst xmlns:p="http://schemas.openxmlformats.org/presentationml/2006/main">
  <p:tag name="KSO_WM_BEAUTIFY_FLAG" val=""/>
</p:tagLst>
</file>

<file path=ppt/tags/tag616.xml><?xml version="1.0" encoding="utf-8"?>
<p:tagLst xmlns:p="http://schemas.openxmlformats.org/presentationml/2006/main">
  <p:tag name="KSO_WM_BEAUTIFY_FLAG" val=""/>
</p:tagLst>
</file>

<file path=ppt/tags/tag617.xml><?xml version="1.0" encoding="utf-8"?>
<p:tagLst xmlns:p="http://schemas.openxmlformats.org/presentationml/2006/main">
  <p:tag name="KSO_WM_BEAUTIFY_FLAG" val=""/>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BEAUTIFY_FLAG" val=""/>
</p:tagLst>
</file>

<file path=ppt/tags/tag620.xml><?xml version="1.0" encoding="utf-8"?>
<p:tagLst xmlns:p="http://schemas.openxmlformats.org/presentationml/2006/main">
  <p:tag name="KSO_WM_BEAUTIFY_FLAG" val=""/>
</p:tagLst>
</file>

<file path=ppt/tags/tag621.xml><?xml version="1.0" encoding="utf-8"?>
<p:tagLst xmlns:p="http://schemas.openxmlformats.org/presentationml/2006/main">
  <p:tag name="KSO_WM_BEAUTIFY_FLAG" val=""/>
</p:tagLst>
</file>

<file path=ppt/tags/tag622.xml><?xml version="1.0" encoding="utf-8"?>
<p:tagLst xmlns:p="http://schemas.openxmlformats.org/presentationml/2006/main">
  <p:tag name="KSO_WM_BEAUTIFY_FLAG" val=""/>
</p:tagLst>
</file>

<file path=ppt/tags/tag623.xml><?xml version="1.0" encoding="utf-8"?>
<p:tagLst xmlns:p="http://schemas.openxmlformats.org/presentationml/2006/main">
  <p:tag name="KSO_WM_BEAUTIFY_FLAG" val=""/>
</p:tagLst>
</file>

<file path=ppt/tags/tag624.xml><?xml version="1.0" encoding="utf-8"?>
<p:tagLst xmlns:p="http://schemas.openxmlformats.org/presentationml/2006/main">
  <p:tag name="KSO_WM_BEAUTIFY_FLAG" val=""/>
</p:tagLst>
</file>

<file path=ppt/tags/tag625.xml><?xml version="1.0" encoding="utf-8"?>
<p:tagLst xmlns:p="http://schemas.openxmlformats.org/presentationml/2006/main">
  <p:tag name="KSO_WM_BEAUTIFY_FLAG" val=""/>
</p:tagLst>
</file>

<file path=ppt/tags/tag626.xml><?xml version="1.0" encoding="utf-8"?>
<p:tagLst xmlns:p="http://schemas.openxmlformats.org/presentationml/2006/main">
  <p:tag name="KSO_WM_BEAUTIFY_FLAG" val=""/>
</p:tagLst>
</file>

<file path=ppt/tags/tag627.xml><?xml version="1.0" encoding="utf-8"?>
<p:tagLst xmlns:p="http://schemas.openxmlformats.org/presentationml/2006/main">
  <p:tag name="KSO_WM_BEAUTIFY_FLAG" val=""/>
</p:tagLst>
</file>

<file path=ppt/tags/tag628.xml><?xml version="1.0" encoding="utf-8"?>
<p:tagLst xmlns:p="http://schemas.openxmlformats.org/presentationml/2006/main">
  <p:tag name="KSO_WM_BEAUTIFY_FLAG" val=""/>
</p:tagLst>
</file>

<file path=ppt/tags/tag629.xml><?xml version="1.0" encoding="utf-8"?>
<p:tagLst xmlns:p="http://schemas.openxmlformats.org/presentationml/2006/main">
  <p:tag name="KSO_WM_BEAUTIFY_FLAG" val=""/>
</p:tagLst>
</file>

<file path=ppt/tags/tag630.xml><?xml version="1.0" encoding="utf-8"?>
<p:tagLst xmlns:p="http://schemas.openxmlformats.org/presentationml/2006/main">
  <p:tag name="KSO_WM_BEAUTIFY_FLAG" val=""/>
</p:tagLst>
</file>

<file path=ppt/tags/tag631.xml><?xml version="1.0" encoding="utf-8"?>
<p:tagLst xmlns:p="http://schemas.openxmlformats.org/presentationml/2006/main">
  <p:tag name="KSO_WM_BEAUTIFY_FLAG" val=""/>
</p:tagLst>
</file>

<file path=ppt/tags/tag632.xml><?xml version="1.0" encoding="utf-8"?>
<p:tagLst xmlns:p="http://schemas.openxmlformats.org/presentationml/2006/main">
  <p:tag name="KSO_WM_BEAUTIFY_FLAG" val=""/>
</p:tagLst>
</file>

<file path=ppt/tags/tag633.xml><?xml version="1.0" encoding="utf-8"?>
<p:tagLst xmlns:p="http://schemas.openxmlformats.org/presentationml/2006/main">
  <p:tag name="KSO_WM_BEAUTIFY_FLAG" val=""/>
</p:tagLst>
</file>

<file path=ppt/tags/tag634.xml><?xml version="1.0" encoding="utf-8"?>
<p:tagLst xmlns:p="http://schemas.openxmlformats.org/presentationml/2006/main">
  <p:tag name="KSO_WM_BEAUTIFY_FLAG" val=""/>
</p:tagLst>
</file>

<file path=ppt/tags/tag635.xml><?xml version="1.0" encoding="utf-8"?>
<p:tagLst xmlns:p="http://schemas.openxmlformats.org/presentationml/2006/main">
  <p:tag name="KSO_WM_BEAUTIFY_FLAG" val=""/>
</p:tagLst>
</file>

<file path=ppt/tags/tag636.xml><?xml version="1.0" encoding="utf-8"?>
<p:tagLst xmlns:p="http://schemas.openxmlformats.org/presentationml/2006/main">
  <p:tag name="KSO_WM_BEAUTIFY_FLAG" val=""/>
</p:tagLst>
</file>

<file path=ppt/tags/tag637.xml><?xml version="1.0" encoding="utf-8"?>
<p:tagLst xmlns:p="http://schemas.openxmlformats.org/presentationml/2006/main">
  <p:tag name="KSO_WM_BEAUTIFY_FLAG" val=""/>
</p:tagLst>
</file>

<file path=ppt/tags/tag638.xml><?xml version="1.0" encoding="utf-8"?>
<p:tagLst xmlns:p="http://schemas.openxmlformats.org/presentationml/2006/main">
  <p:tag name="KSO_WM_BEAUTIFY_FLAG" val=""/>
</p:tagLst>
</file>

<file path=ppt/tags/tag639.xml><?xml version="1.0" encoding="utf-8"?>
<p:tagLst xmlns:p="http://schemas.openxmlformats.org/presentationml/2006/main">
  <p:tag name="KSO_WM_BEAUTIFY_FLAG" val=""/>
</p:tagLst>
</file>

<file path=ppt/tags/tag640.xml><?xml version="1.0" encoding="utf-8"?>
<p:tagLst xmlns:p="http://schemas.openxmlformats.org/presentationml/2006/main">
  <p:tag name="KSO_WM_BEAUTIFY_FLAG" val=""/>
</p:tagLst>
</file>

<file path=ppt/tags/tag641.xml><?xml version="1.0" encoding="utf-8"?>
<p:tagLst xmlns:p="http://schemas.openxmlformats.org/presentationml/2006/main">
  <p:tag name="KSO_WM_BEAUTIFY_FLAG" val=""/>
</p:tagLst>
</file>

<file path=ppt/tags/tag642.xml><?xml version="1.0" encoding="utf-8"?>
<p:tagLst xmlns:p="http://schemas.openxmlformats.org/presentationml/2006/main">
  <p:tag name="KSO_WM_BEAUTIFY_FLAG" val=""/>
</p:tagLst>
</file>

<file path=ppt/tags/tag643.xml><?xml version="1.0" encoding="utf-8"?>
<p:tagLst xmlns:p="http://schemas.openxmlformats.org/presentationml/2006/main">
  <p:tag name="KSO_WM_BEAUTIFY_FLAG" val=""/>
</p:tagLst>
</file>

<file path=ppt/tags/tag644.xml><?xml version="1.0" encoding="utf-8"?>
<p:tagLst xmlns:p="http://schemas.openxmlformats.org/presentationml/2006/main">
  <p:tag name="KSO_WM_BEAUTIFY_FLAG" val=""/>
</p:tagLst>
</file>

<file path=ppt/tags/tag645.xml><?xml version="1.0" encoding="utf-8"?>
<p:tagLst xmlns:p="http://schemas.openxmlformats.org/presentationml/2006/main">
  <p:tag name="KSO_WM_BEAUTIFY_FLAG" val=""/>
</p:tagLst>
</file>

<file path=ppt/tags/tag646.xml><?xml version="1.0" encoding="utf-8"?>
<p:tagLst xmlns:p="http://schemas.openxmlformats.org/presentationml/2006/main">
  <p:tag name="KSO_WM_BEAUTIFY_FLAG" val=""/>
</p:tagLst>
</file>

<file path=ppt/tags/tag647.xml><?xml version="1.0" encoding="utf-8"?>
<p:tagLst xmlns:p="http://schemas.openxmlformats.org/presentationml/2006/main">
  <p:tag name="KSO_WM_BEAUTIFY_FLAG" val=""/>
</p:tagLst>
</file>

<file path=ppt/tags/tag648.xml><?xml version="1.0" encoding="utf-8"?>
<p:tagLst xmlns:p="http://schemas.openxmlformats.org/presentationml/2006/main">
  <p:tag name="KSO_WM_BEAUTIFY_FLAG" val=""/>
</p:tagLst>
</file>

<file path=ppt/tags/tag649.xml><?xml version="1.0" encoding="utf-8"?>
<p:tagLst xmlns:p="http://schemas.openxmlformats.org/presentationml/2006/main">
  <p:tag name="KSO_WM_BEAUTIFY_FLAG" val=""/>
</p:tagLst>
</file>

<file path=ppt/tags/tag650.xml><?xml version="1.0" encoding="utf-8"?>
<p:tagLst xmlns:p="http://schemas.openxmlformats.org/presentationml/2006/main">
  <p:tag name="KSO_WM_BEAUTIFY_FLAG" val=""/>
</p:tagLst>
</file>

<file path=ppt/tags/tag651.xml><?xml version="1.0" encoding="utf-8"?>
<p:tagLst xmlns:p="http://schemas.openxmlformats.org/presentationml/2006/main">
  <p:tag name="KSO_WM_BEAUTIFY_FLAG" val=""/>
</p:tagLst>
</file>

<file path=ppt/tags/tag652.xml><?xml version="1.0" encoding="utf-8"?>
<p:tagLst xmlns:p="http://schemas.openxmlformats.org/presentationml/2006/main">
  <p:tag name="KSO_WM_BEAUTIFY_FLAG" val=""/>
</p:tagLst>
</file>

<file path=ppt/tags/tag653.xml><?xml version="1.0" encoding="utf-8"?>
<p:tagLst xmlns:p="http://schemas.openxmlformats.org/presentationml/2006/main">
  <p:tag name="KSO_WM_BEAUTIFY_FLAG" val=""/>
</p:tagLst>
</file>

<file path=ppt/tags/tag654.xml><?xml version="1.0" encoding="utf-8"?>
<p:tagLst xmlns:p="http://schemas.openxmlformats.org/presentationml/2006/main">
  <p:tag name="KSO_WM_BEAUTIFY_FLAG" val=""/>
</p:tagLst>
</file>

<file path=ppt/tags/tag655.xml><?xml version="1.0" encoding="utf-8"?>
<p:tagLst xmlns:p="http://schemas.openxmlformats.org/presentationml/2006/main">
  <p:tag name="KSO_WM_BEAUTIFY_FLAG" val=""/>
</p:tagLst>
</file>

<file path=ppt/tags/tag656.xml><?xml version="1.0" encoding="utf-8"?>
<p:tagLst xmlns:p="http://schemas.openxmlformats.org/presentationml/2006/main">
  <p:tag name="KSO_WM_BEAUTIFY_FLAG" val=""/>
</p:tagLst>
</file>

<file path=ppt/tags/tag657.xml><?xml version="1.0" encoding="utf-8"?>
<p:tagLst xmlns:p="http://schemas.openxmlformats.org/presentationml/2006/main">
  <p:tag name="KSO_WM_BEAUTIFY_FLAG" val=""/>
</p:tagLst>
</file>

<file path=ppt/tags/tag658.xml><?xml version="1.0" encoding="utf-8"?>
<p:tagLst xmlns:p="http://schemas.openxmlformats.org/presentationml/2006/main">
  <p:tag name="KSO_WM_BEAUTIFY_FLAG" val=""/>
</p:tagLst>
</file>

<file path=ppt/tags/tag659.xml><?xml version="1.0" encoding="utf-8"?>
<p:tagLst xmlns:p="http://schemas.openxmlformats.org/presentationml/2006/main">
  <p:tag name="KSO_WM_BEAUTIFY_FLAG" val=""/>
</p:tagLst>
</file>

<file path=ppt/tags/tag660.xml><?xml version="1.0" encoding="utf-8"?>
<p:tagLst xmlns:p="http://schemas.openxmlformats.org/presentationml/2006/main">
  <p:tag name="KSO_WM_BEAUTIFY_FLAG" val=""/>
</p:tagLst>
</file>

<file path=ppt/tags/tag661.xml><?xml version="1.0" encoding="utf-8"?>
<p:tagLst xmlns:p="http://schemas.openxmlformats.org/presentationml/2006/main">
  <p:tag name="KSO_WM_BEAUTIFY_FLAG" val=""/>
</p:tagLst>
</file>

<file path=ppt/tags/tag662.xml><?xml version="1.0" encoding="utf-8"?>
<p:tagLst xmlns:p="http://schemas.openxmlformats.org/presentationml/2006/main">
  <p:tag name="KSO_WM_BEAUTIFY_FLAG" val=""/>
</p:tagLst>
</file>

<file path=ppt/tags/tag663.xml><?xml version="1.0" encoding="utf-8"?>
<p:tagLst xmlns:p="http://schemas.openxmlformats.org/presentationml/2006/main">
  <p:tag name="KSO_WM_BEAUTIFY_FLAG" val=""/>
</p:tagLst>
</file>

<file path=ppt/tags/tag664.xml><?xml version="1.0" encoding="utf-8"?>
<p:tagLst xmlns:p="http://schemas.openxmlformats.org/presentationml/2006/main">
  <p:tag name="KSO_WM_BEAUTIFY_FLAG" val=""/>
</p:tagLst>
</file>

<file path=ppt/tags/tag665.xml><?xml version="1.0" encoding="utf-8"?>
<p:tagLst xmlns:p="http://schemas.openxmlformats.org/presentationml/2006/main">
  <p:tag name="KSO_WM_BEAUTIFY_FLAG" val=""/>
</p:tagLst>
</file>

<file path=ppt/tags/tag666.xml><?xml version="1.0" encoding="utf-8"?>
<p:tagLst xmlns:p="http://schemas.openxmlformats.org/presentationml/2006/main">
  <p:tag name="KSO_WM_BEAUTIFY_FLAG" val=""/>
</p:tagLst>
</file>

<file path=ppt/tags/tag667.xml><?xml version="1.0" encoding="utf-8"?>
<p:tagLst xmlns:p="http://schemas.openxmlformats.org/presentationml/2006/main">
  <p:tag name="KSO_WM_BEAUTIFY_FLAG" val=""/>
</p:tagLst>
</file>

<file path=ppt/tags/tag668.xml><?xml version="1.0" encoding="utf-8"?>
<p:tagLst xmlns:p="http://schemas.openxmlformats.org/presentationml/2006/main">
  <p:tag name="KSO_WM_BEAUTIFY_FLAG" val=""/>
</p:tagLst>
</file>

<file path=ppt/tags/tag669.xml><?xml version="1.0" encoding="utf-8"?>
<p:tagLst xmlns:p="http://schemas.openxmlformats.org/presentationml/2006/main">
  <p:tag name="KSO_WM_BEAUTIFY_FLAG" val=""/>
</p:tagLst>
</file>

<file path=ppt/tags/tag670.xml><?xml version="1.0" encoding="utf-8"?>
<p:tagLst xmlns:p="http://schemas.openxmlformats.org/presentationml/2006/main">
  <p:tag name="KSO_WM_BEAUTIFY_FLAG" val=""/>
</p:tagLst>
</file>

<file path=ppt/tags/tag671.xml><?xml version="1.0" encoding="utf-8"?>
<p:tagLst xmlns:p="http://schemas.openxmlformats.org/presentationml/2006/main">
  <p:tag name="KSO_WM_BEAUTIFY_FLAG" val=""/>
</p:tagLst>
</file>

<file path=ppt/tags/tag672.xml><?xml version="1.0" encoding="utf-8"?>
<p:tagLst xmlns:p="http://schemas.openxmlformats.org/presentationml/2006/main">
  <p:tag name="KSO_WM_BEAUTIFY_FLAG" val=""/>
</p:tagLst>
</file>

<file path=ppt/tags/tag673.xml><?xml version="1.0" encoding="utf-8"?>
<p:tagLst xmlns:p="http://schemas.openxmlformats.org/presentationml/2006/main">
  <p:tag name="KSO_WM_BEAUTIFY_FLAG" val=""/>
</p:tagLst>
</file>

<file path=ppt/tags/tag674.xml><?xml version="1.0" encoding="utf-8"?>
<p:tagLst xmlns:p="http://schemas.openxmlformats.org/presentationml/2006/main">
  <p:tag name="KSO_WM_BEAUTIFY_FLAG" val=""/>
</p:tagLst>
</file>

<file path=ppt/tags/tag675.xml><?xml version="1.0" encoding="utf-8"?>
<p:tagLst xmlns:p="http://schemas.openxmlformats.org/presentationml/2006/main">
  <p:tag name="KSO_WM_BEAUTIFY_FLAG" val=""/>
</p:tagLst>
</file>

<file path=ppt/tags/tag676.xml><?xml version="1.0" encoding="utf-8"?>
<p:tagLst xmlns:p="http://schemas.openxmlformats.org/presentationml/2006/main">
  <p:tag name="KSO_WM_BEAUTIFY_FLAG" val=""/>
</p:tagLst>
</file>

<file path=ppt/tags/tag677.xml><?xml version="1.0" encoding="utf-8"?>
<p:tagLst xmlns:p="http://schemas.openxmlformats.org/presentationml/2006/main">
  <p:tag name="KSO_WM_BEAUTIFY_FLAG" val=""/>
</p:tagLst>
</file>

<file path=ppt/tags/tag678.xml><?xml version="1.0" encoding="utf-8"?>
<p:tagLst xmlns:p="http://schemas.openxmlformats.org/presentationml/2006/main">
  <p:tag name="KSO_WM_BEAUTIFY_FLAG" val=""/>
</p:tagLst>
</file>

<file path=ppt/tags/tag679.xml><?xml version="1.0" encoding="utf-8"?>
<p:tagLst xmlns:p="http://schemas.openxmlformats.org/presentationml/2006/main">
  <p:tag name="KSO_WM_BEAUTIFY_FLAG" val=""/>
</p:tagLst>
</file>

<file path=ppt/tags/tag680.xml><?xml version="1.0" encoding="utf-8"?>
<p:tagLst xmlns:p="http://schemas.openxmlformats.org/presentationml/2006/main">
  <p:tag name="KSO_WM_BEAUTIFY_FLAG" val=""/>
</p:tagLst>
</file>

<file path=ppt/tags/tag681.xml><?xml version="1.0" encoding="utf-8"?>
<p:tagLst xmlns:p="http://schemas.openxmlformats.org/presentationml/2006/main">
  <p:tag name="KSO_WM_BEAUTIFY_FLAG" val=""/>
</p:tagLst>
</file>

<file path=ppt/tags/tag682.xml><?xml version="1.0" encoding="utf-8"?>
<p:tagLst xmlns:p="http://schemas.openxmlformats.org/presentationml/2006/main">
  <p:tag name="KSO_WM_BEAUTIFY_FLAG" val=""/>
</p:tagLst>
</file>

<file path=ppt/tags/tag683.xml><?xml version="1.0" encoding="utf-8"?>
<p:tagLst xmlns:p="http://schemas.openxmlformats.org/presentationml/2006/main">
  <p:tag name="KSO_WM_BEAUTIFY_FLAG" val=""/>
</p:tagLst>
</file>

<file path=ppt/tags/tag684.xml><?xml version="1.0" encoding="utf-8"?>
<p:tagLst xmlns:p="http://schemas.openxmlformats.org/presentationml/2006/main">
  <p:tag name="KSO_WM_BEAUTIFY_FLAG" val=""/>
</p:tagLst>
</file>

<file path=ppt/tags/tag685.xml><?xml version="1.0" encoding="utf-8"?>
<p:tagLst xmlns:p="http://schemas.openxmlformats.org/presentationml/2006/main">
  <p:tag name="KSO_WM_BEAUTIFY_FLAG" val=""/>
</p:tagLst>
</file>

<file path=ppt/tags/tag686.xml><?xml version="1.0" encoding="utf-8"?>
<p:tagLst xmlns:p="http://schemas.openxmlformats.org/presentationml/2006/main">
  <p:tag name="KSO_WM_BEAUTIFY_FLAG" val=""/>
</p:tagLst>
</file>

<file path=ppt/tags/tag687.xml><?xml version="1.0" encoding="utf-8"?>
<p:tagLst xmlns:p="http://schemas.openxmlformats.org/presentationml/2006/main">
  <p:tag name="KSO_WM_BEAUTIFY_FLAG" val=""/>
</p:tagLst>
</file>

<file path=ppt/tags/tag688.xml><?xml version="1.0" encoding="utf-8"?>
<p:tagLst xmlns:p="http://schemas.openxmlformats.org/presentationml/2006/main">
  <p:tag name="KSO_WM_BEAUTIFY_FLAG" val=""/>
</p:tagLst>
</file>

<file path=ppt/tags/tag689.xml><?xml version="1.0" encoding="utf-8"?>
<p:tagLst xmlns:p="http://schemas.openxmlformats.org/presentationml/2006/main">
  <p:tag name="KSO_WM_BEAUTIFY_FLAG" val=""/>
</p:tagLst>
</file>

<file path=ppt/tags/tag690.xml><?xml version="1.0" encoding="utf-8"?>
<p:tagLst xmlns:p="http://schemas.openxmlformats.org/presentationml/2006/main">
  <p:tag name="KSO_WM_BEAUTIFY_FLAG" val=""/>
</p:tagLst>
</file>

<file path=ppt/tags/tag691.xml><?xml version="1.0" encoding="utf-8"?>
<p:tagLst xmlns:p="http://schemas.openxmlformats.org/presentationml/2006/main">
  <p:tag name="KSO_WM_BEAUTIFY_FLAG" val=""/>
</p:tagLst>
</file>

<file path=ppt/tags/tag692.xml><?xml version="1.0" encoding="utf-8"?>
<p:tagLst xmlns:p="http://schemas.openxmlformats.org/presentationml/2006/main">
  <p:tag name="KSO_WM_BEAUTIFY_FLAG" val=""/>
</p:tagLst>
</file>

<file path=ppt/tags/tag693.xml><?xml version="1.0" encoding="utf-8"?>
<p:tagLst xmlns:p="http://schemas.openxmlformats.org/presentationml/2006/main">
  <p:tag name="KSO_WM_BEAUTIFY_FLAG" val=""/>
</p:tagLst>
</file>

<file path=ppt/tags/tag694.xml><?xml version="1.0" encoding="utf-8"?>
<p:tagLst xmlns:p="http://schemas.openxmlformats.org/presentationml/2006/main">
  <p:tag name="KSO_WM_BEAUTIFY_FLAG" val=""/>
</p:tagLst>
</file>

<file path=ppt/tags/tag695.xml><?xml version="1.0" encoding="utf-8"?>
<p:tagLst xmlns:p="http://schemas.openxmlformats.org/presentationml/2006/main">
  <p:tag name="KSO_WM_BEAUTIFY_FLAG" val=""/>
</p:tagLst>
</file>

<file path=ppt/tags/tag696.xml><?xml version="1.0" encoding="utf-8"?>
<p:tagLst xmlns:p="http://schemas.openxmlformats.org/presentationml/2006/main">
  <p:tag name="KSO_WM_BEAUTIFY_FLAG" val=""/>
</p:tagLst>
</file>

<file path=ppt/tags/tag697.xml><?xml version="1.0" encoding="utf-8"?>
<p:tagLst xmlns:p="http://schemas.openxmlformats.org/presentationml/2006/main">
  <p:tag name="KSO_WM_BEAUTIFY_FLAG" val=""/>
</p:tagLst>
</file>

<file path=ppt/tags/tag698.xml><?xml version="1.0" encoding="utf-8"?>
<p:tagLst xmlns:p="http://schemas.openxmlformats.org/presentationml/2006/main">
  <p:tag name="KSO_WM_BEAUTIFY_FLAG" val=""/>
</p:tagLst>
</file>

<file path=ppt/tags/tag699.xml><?xml version="1.0" encoding="utf-8"?>
<p:tagLst xmlns:p="http://schemas.openxmlformats.org/presentationml/2006/main">
  <p:tag name="KSO_WM_BEAUTIFY_FLAG" val=""/>
</p:tagLst>
</file>

<file path=ppt/tags/tag700.xml><?xml version="1.0" encoding="utf-8"?>
<p:tagLst xmlns:p="http://schemas.openxmlformats.org/presentationml/2006/main">
  <p:tag name="KSO_WM_BEAUTIFY_FLAG" val=""/>
</p:tagLst>
</file>

<file path=ppt/tags/tag701.xml><?xml version="1.0" encoding="utf-8"?>
<p:tagLst xmlns:p="http://schemas.openxmlformats.org/presentationml/2006/main">
  <p:tag name="KSO_WM_BEAUTIFY_FLAG" val=""/>
</p:tagLst>
</file>

<file path=ppt/tags/tag702.xml><?xml version="1.0" encoding="utf-8"?>
<p:tagLst xmlns:p="http://schemas.openxmlformats.org/presentationml/2006/main">
  <p:tag name="KSO_WM_BEAUTIFY_FLAG" val=""/>
</p:tagLst>
</file>

<file path=ppt/tags/tag703.xml><?xml version="1.0" encoding="utf-8"?>
<p:tagLst xmlns:p="http://schemas.openxmlformats.org/presentationml/2006/main">
  <p:tag name="KSO_WM_BEAUTIFY_FLAG" val=""/>
</p:tagLst>
</file>

<file path=ppt/tags/tag704.xml><?xml version="1.0" encoding="utf-8"?>
<p:tagLst xmlns:p="http://schemas.openxmlformats.org/presentationml/2006/main">
  <p:tag name="KSO_WM_BEAUTIFY_FLAG" val=""/>
</p:tagLst>
</file>

<file path=ppt/tags/tag705.xml><?xml version="1.0" encoding="utf-8"?>
<p:tagLst xmlns:p="http://schemas.openxmlformats.org/presentationml/2006/main">
  <p:tag name="KSO_WM_BEAUTIFY_FLAG" val=""/>
</p:tagLst>
</file>

<file path=ppt/tags/tag706.xml><?xml version="1.0" encoding="utf-8"?>
<p:tagLst xmlns:p="http://schemas.openxmlformats.org/presentationml/2006/main">
  <p:tag name="KSO_WM_BEAUTIFY_FLAG" val=""/>
</p:tagLst>
</file>

<file path=ppt/tags/tag707.xml><?xml version="1.0" encoding="utf-8"?>
<p:tagLst xmlns:p="http://schemas.openxmlformats.org/presentationml/2006/main">
  <p:tag name="KSO_WM_BEAUTIFY_FLAG" val=""/>
</p:tagLst>
</file>

<file path=ppt/tags/tag708.xml><?xml version="1.0" encoding="utf-8"?>
<p:tagLst xmlns:p="http://schemas.openxmlformats.org/presentationml/2006/main">
  <p:tag name="KSO_WM_BEAUTIFY_FLAG" val=""/>
</p:tagLst>
</file>

<file path=ppt/tags/tag709.xml><?xml version="1.0" encoding="utf-8"?>
<p:tagLst xmlns:p="http://schemas.openxmlformats.org/presentationml/2006/main">
  <p:tag name="KSO_WM_BEAUTIFY_FLAG" val=""/>
</p:tagLst>
</file>

<file path=ppt/tags/tag710.xml><?xml version="1.0" encoding="utf-8"?>
<p:tagLst xmlns:p="http://schemas.openxmlformats.org/presentationml/2006/main">
  <p:tag name="KSO_WM_BEAUTIFY_FLAG" val=""/>
</p:tagLst>
</file>

<file path=ppt/tags/tag711.xml><?xml version="1.0" encoding="utf-8"?>
<p:tagLst xmlns:p="http://schemas.openxmlformats.org/presentationml/2006/main">
  <p:tag name="KSO_WM_BEAUTIFY_FLAG" val=""/>
</p:tagLst>
</file>

<file path=ppt/tags/tag712.xml><?xml version="1.0" encoding="utf-8"?>
<p:tagLst xmlns:p="http://schemas.openxmlformats.org/presentationml/2006/main">
  <p:tag name="KSO_WM_BEAUTIFY_FLAG" val=""/>
</p:tagLst>
</file>

<file path=ppt/tags/tag713.xml><?xml version="1.0" encoding="utf-8"?>
<p:tagLst xmlns:p="http://schemas.openxmlformats.org/presentationml/2006/main">
  <p:tag name="KSO_WM_BEAUTIFY_FLAG" val=""/>
</p:tagLst>
</file>

<file path=ppt/tags/tag714.xml><?xml version="1.0" encoding="utf-8"?>
<p:tagLst xmlns:p="http://schemas.openxmlformats.org/presentationml/2006/main">
  <p:tag name="KSO_WM_BEAUTIFY_FLAG" val=""/>
</p:tagLst>
</file>

<file path=ppt/tags/tag715.xml><?xml version="1.0" encoding="utf-8"?>
<p:tagLst xmlns:p="http://schemas.openxmlformats.org/presentationml/2006/main">
  <p:tag name="KSO_WM_BEAUTIFY_FLAG" val=""/>
</p:tagLst>
</file>

<file path=ppt/tags/tag716.xml><?xml version="1.0" encoding="utf-8"?>
<p:tagLst xmlns:p="http://schemas.openxmlformats.org/presentationml/2006/main">
  <p:tag name="KSO_WM_BEAUTIFY_FLAG" val=""/>
</p:tagLst>
</file>

<file path=ppt/tags/tag717.xml><?xml version="1.0" encoding="utf-8"?>
<p:tagLst xmlns:p="http://schemas.openxmlformats.org/presentationml/2006/main">
  <p:tag name="KSO_WM_BEAUTIFY_FLAG" val=""/>
</p:tagLst>
</file>

<file path=ppt/tags/tag718.xml><?xml version="1.0" encoding="utf-8"?>
<p:tagLst xmlns:p="http://schemas.openxmlformats.org/presentationml/2006/main">
  <p:tag name="KSO_WM_BEAUTIFY_FLAG" val=""/>
</p:tagLst>
</file>

<file path=ppt/tags/tag719.xml><?xml version="1.0" encoding="utf-8"?>
<p:tagLst xmlns:p="http://schemas.openxmlformats.org/presentationml/2006/main">
  <p:tag name="KSO_WM_BEAUTIFY_FLAG" val=""/>
</p:tagLst>
</file>

<file path=ppt/tags/tag720.xml><?xml version="1.0" encoding="utf-8"?>
<p:tagLst xmlns:p="http://schemas.openxmlformats.org/presentationml/2006/main">
  <p:tag name="KSO_WM_BEAUTIFY_FLAG" val=""/>
</p:tagLst>
</file>

<file path=ppt/tags/tag721.xml><?xml version="1.0" encoding="utf-8"?>
<p:tagLst xmlns:p="http://schemas.openxmlformats.org/presentationml/2006/main">
  <p:tag name="KSO_WM_BEAUTIFY_FLAG" val=""/>
</p:tagLst>
</file>

<file path=ppt/tags/tag722.xml><?xml version="1.0" encoding="utf-8"?>
<p:tagLst xmlns:p="http://schemas.openxmlformats.org/presentationml/2006/main">
  <p:tag name="KSO_WM_BEAUTIFY_FLAG" val=""/>
</p:tagLst>
</file>

<file path=ppt/tags/tag723.xml><?xml version="1.0" encoding="utf-8"?>
<p:tagLst xmlns:p="http://schemas.openxmlformats.org/presentationml/2006/main">
  <p:tag name="KSO_WM_BEAUTIFY_FLAG" val=""/>
</p:tagLst>
</file>

<file path=ppt/tags/tag724.xml><?xml version="1.0" encoding="utf-8"?>
<p:tagLst xmlns:p="http://schemas.openxmlformats.org/presentationml/2006/main">
  <p:tag name="KSO_WM_BEAUTIFY_FLAG" val=""/>
</p:tagLst>
</file>

<file path=ppt/tags/tag725.xml><?xml version="1.0" encoding="utf-8"?>
<p:tagLst xmlns:p="http://schemas.openxmlformats.org/presentationml/2006/main">
  <p:tag name="KSO_WM_BEAUTIFY_FLAG" val=""/>
</p:tagLst>
</file>

<file path=ppt/tags/tag726.xml><?xml version="1.0" encoding="utf-8"?>
<p:tagLst xmlns:p="http://schemas.openxmlformats.org/presentationml/2006/main">
  <p:tag name="KSO_WM_BEAUTIFY_FLAG" val=""/>
</p:tagLst>
</file>

<file path=ppt/tags/tag727.xml><?xml version="1.0" encoding="utf-8"?>
<p:tagLst xmlns:p="http://schemas.openxmlformats.org/presentationml/2006/main">
  <p:tag name="KSO_WM_BEAUTIFY_FLAG" val=""/>
</p:tagLst>
</file>

<file path=ppt/tags/tag728.xml><?xml version="1.0" encoding="utf-8"?>
<p:tagLst xmlns:p="http://schemas.openxmlformats.org/presentationml/2006/main">
  <p:tag name="KSO_WM_BEAUTIFY_FLAG" val=""/>
</p:tagLst>
</file>

<file path=ppt/tags/tag729.xml><?xml version="1.0" encoding="utf-8"?>
<p:tagLst xmlns:p="http://schemas.openxmlformats.org/presentationml/2006/main">
  <p:tag name="KSO_WM_BEAUTIFY_FLAG" val=""/>
</p:tagLst>
</file>

<file path=ppt/tags/tag730.xml><?xml version="1.0" encoding="utf-8"?>
<p:tagLst xmlns:p="http://schemas.openxmlformats.org/presentationml/2006/main">
  <p:tag name="KSO_WM_BEAUTIFY_FLAG" val=""/>
</p:tagLst>
</file>

<file path=ppt/tags/tag731.xml><?xml version="1.0" encoding="utf-8"?>
<p:tagLst xmlns:p="http://schemas.openxmlformats.org/presentationml/2006/main">
  <p:tag name="KSO_WM_BEAUTIFY_FLAG" val=""/>
</p:tagLst>
</file>

<file path=ppt/tags/tag732.xml><?xml version="1.0" encoding="utf-8"?>
<p:tagLst xmlns:p="http://schemas.openxmlformats.org/presentationml/2006/main">
  <p:tag name="KSO_WM_BEAUTIFY_FLAG" val=""/>
</p:tagLst>
</file>

<file path=ppt/tags/tag733.xml><?xml version="1.0" encoding="utf-8"?>
<p:tagLst xmlns:p="http://schemas.openxmlformats.org/presentationml/2006/main">
  <p:tag name="KSO_WM_BEAUTIFY_FLAG" val=""/>
</p:tagLst>
</file>

<file path=ppt/tags/tag734.xml><?xml version="1.0" encoding="utf-8"?>
<p:tagLst xmlns:p="http://schemas.openxmlformats.org/presentationml/2006/main">
  <p:tag name="KSO_WM_BEAUTIFY_FLAG" val=""/>
</p:tagLst>
</file>

<file path=ppt/tags/tag735.xml><?xml version="1.0" encoding="utf-8"?>
<p:tagLst xmlns:p="http://schemas.openxmlformats.org/presentationml/2006/main">
  <p:tag name="KSO_WM_BEAUTIFY_FLAG" val=""/>
</p:tagLst>
</file>

<file path=ppt/tags/tag736.xml><?xml version="1.0" encoding="utf-8"?>
<p:tagLst xmlns:p="http://schemas.openxmlformats.org/presentationml/2006/main">
  <p:tag name="KSO_WM_BEAUTIFY_FLAG" val=""/>
</p:tagLst>
</file>

<file path=ppt/tags/tag737.xml><?xml version="1.0" encoding="utf-8"?>
<p:tagLst xmlns:p="http://schemas.openxmlformats.org/presentationml/2006/main">
  <p:tag name="KSO_WM_BEAUTIFY_FLAG" val=""/>
</p:tagLst>
</file>

<file path=ppt/tags/tag738.xml><?xml version="1.0" encoding="utf-8"?>
<p:tagLst xmlns:p="http://schemas.openxmlformats.org/presentationml/2006/main">
  <p:tag name="KSO_WM_BEAUTIFY_FLAG" val=""/>
</p:tagLst>
</file>

<file path=ppt/tags/tag739.xml><?xml version="1.0" encoding="utf-8"?>
<p:tagLst xmlns:p="http://schemas.openxmlformats.org/presentationml/2006/main">
  <p:tag name="KSO_WM_BEAUTIFY_FLAG" val=""/>
</p:tagLst>
</file>

<file path=ppt/tags/tag740.xml><?xml version="1.0" encoding="utf-8"?>
<p:tagLst xmlns:p="http://schemas.openxmlformats.org/presentationml/2006/main">
  <p:tag name="KSO_WM_BEAUTIFY_FLAG" val=""/>
</p:tagLst>
</file>

<file path=ppt/tags/tag741.xml><?xml version="1.0" encoding="utf-8"?>
<p:tagLst xmlns:p="http://schemas.openxmlformats.org/presentationml/2006/main">
  <p:tag name="KSO_WM_BEAUTIFY_FLAG" val=""/>
</p:tagLst>
</file>

<file path=ppt/tags/tag742.xml><?xml version="1.0" encoding="utf-8"?>
<p:tagLst xmlns:p="http://schemas.openxmlformats.org/presentationml/2006/main">
  <p:tag name="KSO_WM_BEAUTIFY_FLAG" val=""/>
</p:tagLst>
</file>

<file path=ppt/tags/tag743.xml><?xml version="1.0" encoding="utf-8"?>
<p:tagLst xmlns:p="http://schemas.openxmlformats.org/presentationml/2006/main">
  <p:tag name="KSO_WM_BEAUTIFY_FLAG" val=""/>
</p:tagLst>
</file>

<file path=ppt/tags/tag744.xml><?xml version="1.0" encoding="utf-8"?>
<p:tagLst xmlns:p="http://schemas.openxmlformats.org/presentationml/2006/main">
  <p:tag name="KSO_WM_BEAUTIFY_FLAG" val=""/>
</p:tagLst>
</file>

<file path=ppt/tags/tag745.xml><?xml version="1.0" encoding="utf-8"?>
<p:tagLst xmlns:p="http://schemas.openxmlformats.org/presentationml/2006/main">
  <p:tag name="KSO_WM_BEAUTIFY_FLAG" val=""/>
</p:tagLst>
</file>

<file path=ppt/tags/tag746.xml><?xml version="1.0" encoding="utf-8"?>
<p:tagLst xmlns:p="http://schemas.openxmlformats.org/presentationml/2006/main">
  <p:tag name="KSO_WM_BEAUTIFY_FLAG" val=""/>
</p:tagLst>
</file>

<file path=ppt/tags/tag747.xml><?xml version="1.0" encoding="utf-8"?>
<p:tagLst xmlns:p="http://schemas.openxmlformats.org/presentationml/2006/main">
  <p:tag name="KSO_WM_BEAUTIFY_FLAG" val=""/>
</p:tagLst>
</file>

<file path=ppt/tags/tag748.xml><?xml version="1.0" encoding="utf-8"?>
<p:tagLst xmlns:p="http://schemas.openxmlformats.org/presentationml/2006/main">
  <p:tag name="KSO_WM_BEAUTIFY_FLAG" val=""/>
</p:tagLst>
</file>

<file path=ppt/tags/tag749.xml><?xml version="1.0" encoding="utf-8"?>
<p:tagLst xmlns:p="http://schemas.openxmlformats.org/presentationml/2006/main">
  <p:tag name="KSO_WM_BEAUTIFY_FLAG" val=""/>
</p:tagLst>
</file>

<file path=ppt/tags/tag750.xml><?xml version="1.0" encoding="utf-8"?>
<p:tagLst xmlns:p="http://schemas.openxmlformats.org/presentationml/2006/main">
  <p:tag name="KSO_WM_BEAUTIFY_FLAG" val=""/>
</p:tagLst>
</file>

<file path=ppt/tags/tag751.xml><?xml version="1.0" encoding="utf-8"?>
<p:tagLst xmlns:p="http://schemas.openxmlformats.org/presentationml/2006/main">
  <p:tag name="KSO_WM_BEAUTIFY_FLAG" val=""/>
</p:tagLst>
</file>

<file path=ppt/tags/tag752.xml><?xml version="1.0" encoding="utf-8"?>
<p:tagLst xmlns:p="http://schemas.openxmlformats.org/presentationml/2006/main">
  <p:tag name="KSO_WM_BEAUTIFY_FLAG" val=""/>
</p:tagLst>
</file>

<file path=ppt/tags/tag753.xml><?xml version="1.0" encoding="utf-8"?>
<p:tagLst xmlns:p="http://schemas.openxmlformats.org/presentationml/2006/main">
  <p:tag name="KSO_WM_BEAUTIFY_FLAG" val=""/>
</p:tagLst>
</file>

<file path=ppt/tags/tag754.xml><?xml version="1.0" encoding="utf-8"?>
<p:tagLst xmlns:p="http://schemas.openxmlformats.org/presentationml/2006/main">
  <p:tag name="KSO_WM_BEAUTIFY_FLAG" val=""/>
</p:tagLst>
</file>

<file path=ppt/tags/tag755.xml><?xml version="1.0" encoding="utf-8"?>
<p:tagLst xmlns:p="http://schemas.openxmlformats.org/presentationml/2006/main">
  <p:tag name="KSO_WM_BEAUTIFY_FLAG" val=""/>
</p:tagLst>
</file>

<file path=ppt/tags/tag756.xml><?xml version="1.0" encoding="utf-8"?>
<p:tagLst xmlns:p="http://schemas.openxmlformats.org/presentationml/2006/main">
  <p:tag name="KSO_WM_BEAUTIFY_FLAG" val=""/>
</p:tagLst>
</file>

<file path=ppt/tags/tag757.xml><?xml version="1.0" encoding="utf-8"?>
<p:tagLst xmlns:p="http://schemas.openxmlformats.org/presentationml/2006/main">
  <p:tag name="KSO_WM_BEAUTIFY_FLAG" val=""/>
</p:tagLst>
</file>

<file path=ppt/tags/tag758.xml><?xml version="1.0" encoding="utf-8"?>
<p:tagLst xmlns:p="http://schemas.openxmlformats.org/presentationml/2006/main">
  <p:tag name="KSO_WM_BEAUTIFY_FLAG" val=""/>
</p:tagLst>
</file>

<file path=ppt/tags/tag759.xml><?xml version="1.0" encoding="utf-8"?>
<p:tagLst xmlns:p="http://schemas.openxmlformats.org/presentationml/2006/main">
  <p:tag name="KSO_WM_BEAUTIFY_FLAG" val=""/>
</p:tagLst>
</file>

<file path=ppt/tags/tag760.xml><?xml version="1.0" encoding="utf-8"?>
<p:tagLst xmlns:p="http://schemas.openxmlformats.org/presentationml/2006/main">
  <p:tag name="KSO_WM_BEAUTIFY_FLAG" val=""/>
</p:tagLst>
</file>

<file path=ppt/tags/tag761.xml><?xml version="1.0" encoding="utf-8"?>
<p:tagLst xmlns:p="http://schemas.openxmlformats.org/presentationml/2006/main">
  <p:tag name="KSO_WM_UNIT_TABLE_BEAUTIFY" val="smartTable{db2122e3-ec5d-475a-98e7-df0c1d18c01d}"/>
  <p:tag name="TABLE_ENDDRAG_ORIGIN_RECT" val="512*293"/>
  <p:tag name="TABLE_ENDDRAG_RECT" val="208*137*512*293"/>
  <p:tag name="KSO_WM_BEAUTIFY_FLAG" val=""/>
</p:tagLst>
</file>

<file path=ppt/tags/tag762.xml><?xml version="1.0" encoding="utf-8"?>
<p:tagLst xmlns:p="http://schemas.openxmlformats.org/presentationml/2006/main">
  <p:tag name="KSO_WM_BEAUTIFY_FLAG" val=""/>
</p:tagLst>
</file>

<file path=ppt/tags/tag763.xml><?xml version="1.0" encoding="utf-8"?>
<p:tagLst xmlns:p="http://schemas.openxmlformats.org/presentationml/2006/main">
  <p:tag name="KSO_WM_BEAUTIFY_FLAG" val=""/>
</p:tagLst>
</file>

<file path=ppt/tags/tag764.xml><?xml version="1.0" encoding="utf-8"?>
<p:tagLst xmlns:p="http://schemas.openxmlformats.org/presentationml/2006/main">
  <p:tag name="KSO_WM_BEAUTIFY_FLAG" val=""/>
</p:tagLst>
</file>

<file path=ppt/tags/tag765.xml><?xml version="1.0" encoding="utf-8"?>
<p:tagLst xmlns:p="http://schemas.openxmlformats.org/presentationml/2006/main">
  <p:tag name="KSO_WM_BEAUTIFY_FLAG" val=""/>
</p:tagLst>
</file>

<file path=ppt/tags/tag766.xml><?xml version="1.0" encoding="utf-8"?>
<p:tagLst xmlns:p="http://schemas.openxmlformats.org/presentationml/2006/main">
  <p:tag name="KSO_WM_BEAUTIFY_FLAG" val=""/>
</p:tagLst>
</file>

<file path=ppt/tags/tag767.xml><?xml version="1.0" encoding="utf-8"?>
<p:tagLst xmlns:p="http://schemas.openxmlformats.org/presentationml/2006/main">
  <p:tag name="KSO_WM_BEAUTIFY_FLAG" val=""/>
</p:tagLst>
</file>

<file path=ppt/tags/tag768.xml><?xml version="1.0" encoding="utf-8"?>
<p:tagLst xmlns:p="http://schemas.openxmlformats.org/presentationml/2006/main">
  <p:tag name="KSO_WM_BEAUTIFY_FLAG" val=""/>
</p:tagLst>
</file>

<file path=ppt/tags/tag769.xml><?xml version="1.0" encoding="utf-8"?>
<p:tagLst xmlns:p="http://schemas.openxmlformats.org/presentationml/2006/main">
  <p:tag name="KSO_WM_UNIT_TABLE_BEAUTIFY" val="smartTable{c31a03af-e4ca-4033-a431-5e1c3e1ff082}"/>
  <p:tag name="TABLE_ENDDRAG_ORIGIN_RECT" val="326*268"/>
  <p:tag name="TABLE_ENDDRAG_RECT" val="128*218*326*268"/>
  <p:tag name="KSO_WM_BEAUTIFY_FLAG" val=""/>
</p:tagLst>
</file>

<file path=ppt/tags/tag770.xml><?xml version="1.0" encoding="utf-8"?>
<p:tagLst xmlns:p="http://schemas.openxmlformats.org/presentationml/2006/main">
  <p:tag name="KSO_WM_BEAUTIFY_FLAG" val=""/>
</p:tagLst>
</file>

<file path=ppt/tags/tag771.xml><?xml version="1.0" encoding="utf-8"?>
<p:tagLst xmlns:p="http://schemas.openxmlformats.org/presentationml/2006/main">
  <p:tag name="KSO_WPP_MARK_KEY" val="250f2bec-b4ec-4ddc-8228-feae18dd7b15"/>
  <p:tag name="COMMONDATA" val="eyJoZGlkIjoiZTE5N2VjY2NlODRkYjU5ZTZkZTI2NGYzYzkyNzY5YzgifQ=="/>
  <p:tag name="commondata" val="eyJoZGlkIjoiODdjYzFmNzUyNDRjZmVjODI5NjEzZmY4ODlmZjM5ZDAifQ=="/>
</p:tagLst>
</file>

<file path=ppt/theme/theme1.xml><?xml version="1.0" encoding="utf-8"?>
<a:theme xmlns:a="http://schemas.openxmlformats.org/drawingml/2006/main" name="宽带无线通信实验室PPT模板">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宽带无线通信实验室PPT模板">
  <a:themeElements>
    <a:clrScheme name="1_宽带无线通信实验室PPT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宽带无线通信实验室PPT模板">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宽带无线通信实验室PPT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宽带无线通信实验室PPT模板</Template>
  <TotalTime>0</TotalTime>
  <Words>12166</Words>
  <Application>WPS 演示</Application>
  <PresentationFormat>宽屏</PresentationFormat>
  <Paragraphs>1407</Paragraphs>
  <Slides>83</Slides>
  <Notes>20</Notes>
  <HiddenSlides>0</HiddenSlides>
  <MMClips>0</MMClips>
  <ScaleCrop>false</ScaleCrop>
  <HeadingPairs>
    <vt:vector size="8" baseType="variant">
      <vt:variant>
        <vt:lpstr>已用的字体</vt:lpstr>
      </vt:variant>
      <vt:variant>
        <vt:i4>43</vt:i4>
      </vt:variant>
      <vt:variant>
        <vt:lpstr>主题</vt:lpstr>
      </vt:variant>
      <vt:variant>
        <vt:i4>2</vt:i4>
      </vt:variant>
      <vt:variant>
        <vt:lpstr>嵌入 OLE 服务器</vt:lpstr>
      </vt:variant>
      <vt:variant>
        <vt:i4>96</vt:i4>
      </vt:variant>
      <vt:variant>
        <vt:lpstr>幻灯片标题</vt:lpstr>
      </vt:variant>
      <vt:variant>
        <vt:i4>83</vt:i4>
      </vt:variant>
    </vt:vector>
  </HeadingPairs>
  <TitlesOfParts>
    <vt:vector size="224" baseType="lpstr">
      <vt:lpstr>Arial</vt:lpstr>
      <vt:lpstr>宋体</vt:lpstr>
      <vt:lpstr>Wingdings</vt:lpstr>
      <vt:lpstr>汉仪书宋二KW</vt:lpstr>
      <vt:lpstr>Calibri</vt:lpstr>
      <vt:lpstr>Helvetica Neue</vt:lpstr>
      <vt:lpstr>Times New Roman</vt:lpstr>
      <vt:lpstr>楷体_GB2312</vt:lpstr>
      <vt:lpstr>汉仪楷体简</vt:lpstr>
      <vt:lpstr>华文楷体</vt:lpstr>
      <vt:lpstr>Wingdings</vt:lpstr>
      <vt:lpstr>Wingdings</vt:lpstr>
      <vt:lpstr>微软雅黑</vt:lpstr>
      <vt:lpstr>汉仪旗黑</vt:lpstr>
      <vt:lpstr>华文中宋</vt:lpstr>
      <vt:lpstr>隶书</vt:lpstr>
      <vt:lpstr>宋体</vt:lpstr>
      <vt:lpstr>Arial Unicode MS</vt:lpstr>
      <vt:lpstr>报隶-简</vt:lpstr>
      <vt:lpstr>黑体</vt:lpstr>
      <vt:lpstr>楷体</vt:lpstr>
      <vt:lpstr>DejaVu Math TeX Gyre</vt:lpstr>
      <vt:lpstr>汉仪中黑KW</vt:lpstr>
      <vt:lpstr>MS Mincho</vt:lpstr>
      <vt:lpstr>汉仪楷体KW</vt:lpstr>
      <vt:lpstr>Cambria Math</vt:lpstr>
      <vt:lpstr>Kingsoft Math</vt:lpstr>
      <vt:lpstr>Tahoma</vt:lpstr>
      <vt:lpstr>Symbol</vt:lpstr>
      <vt:lpstr>Kingsoft Sign</vt:lpstr>
      <vt:lpstr>BatangChe</vt:lpstr>
      <vt:lpstr>Apple SD Gothic Neo</vt:lpstr>
      <vt:lpstr>DejaVuMathTeXGyre</vt:lpstr>
      <vt:lpstr>Hiragino Sans</vt:lpstr>
      <vt:lpstr>Symbol</vt:lpstr>
      <vt:lpstr>华文中宋</vt:lpstr>
      <vt:lpstr>微软雅黑</vt:lpstr>
      <vt:lpstr>楷体</vt:lpstr>
      <vt:lpstr>隶书</vt:lpstr>
      <vt:lpstr>黑体</vt:lpstr>
      <vt:lpstr>华文新魏</vt:lpstr>
      <vt:lpstr>宋体-简</vt:lpstr>
      <vt:lpstr>Verdana</vt:lpstr>
      <vt:lpstr>宽带无线通信实验室PPT模板</vt:lpstr>
      <vt:lpstr>2_宽带无线通信实验室PPT模板</vt:lpstr>
      <vt:lpstr>Word.Picture.8</vt:lpstr>
      <vt:lpstr>Word.Picture.8</vt:lpstr>
      <vt:lpstr>Word.Document.8</vt:lpstr>
      <vt:lpstr>Equation.3</vt:lpstr>
      <vt:lpstr>Equation.DSMT4</vt:lpstr>
      <vt:lpstr>Equation.DSMT4</vt:lpstr>
      <vt:lpstr>Equation.3</vt:lpstr>
      <vt:lpstr>Equation.3</vt:lpstr>
      <vt:lpstr>Equation.3</vt:lpstr>
      <vt:lpstr>Equation.3</vt:lpstr>
      <vt:lpstr>Equation.3</vt:lpstr>
      <vt:lpstr>Visio.Drawing.11</vt:lpstr>
      <vt:lpstr>Visio.Drawing.11</vt:lpstr>
      <vt:lpstr>Equation.3</vt:lpstr>
      <vt:lpstr>Equation.DSMT4</vt:lpstr>
      <vt:lpstr>Paint.Picture</vt:lpstr>
      <vt:lpstr>Word.Picture.8</vt:lpstr>
      <vt:lpstr>Equation.3</vt:lpstr>
      <vt:lpstr>Equation.3</vt:lpstr>
      <vt:lpstr>Equation.3</vt:lpstr>
      <vt:lpstr>Equation.3</vt:lpstr>
      <vt:lpstr>Equation.3</vt:lpstr>
      <vt:lpstr>Word.Picture.8</vt:lpstr>
      <vt:lpstr>Equation.3</vt:lpstr>
      <vt:lpstr>Equation.3</vt:lpstr>
      <vt:lpstr>Equation.3</vt:lpstr>
      <vt:lpstr>Equation.DSMT4</vt:lpstr>
      <vt:lpstr>Equation.DSMT4</vt:lpstr>
      <vt:lpstr>Visio.Drawing.11</vt:lpstr>
      <vt:lpstr>Equation.DSMT4</vt:lpstr>
      <vt:lpstr>Equation.DSMT4</vt:lpstr>
      <vt:lpstr>Equation.3</vt:lpstr>
      <vt:lpstr>Equation.DSMT4</vt:lpstr>
      <vt:lpstr>Equation.DSMT4</vt:lpstr>
      <vt:lpstr>Equation.3</vt:lpstr>
      <vt:lpstr>Equation.3</vt:lpstr>
      <vt:lpstr>Equation.3</vt:lpstr>
      <vt:lpstr>Equation.DSMT4</vt:lpstr>
      <vt:lpstr>Equation.DSMT4</vt:lpstr>
      <vt:lpstr>Equation.DSMT4</vt:lpstr>
      <vt:lpstr>Equation.DSMT4</vt:lpstr>
      <vt:lpstr>Equation.DSMT4</vt:lpstr>
      <vt:lpstr>Equation.DSMT4</vt:lpstr>
      <vt:lpstr>Word.Picture.8</vt:lpstr>
      <vt:lpstr>Visio.Drawing.11</vt:lpstr>
      <vt:lpstr>Visio.Drawing.11</vt:lpstr>
      <vt:lpstr>Equation.3</vt:lpstr>
      <vt:lpstr>Equation.DSMT4</vt:lpstr>
      <vt:lpstr>Visio.Drawing.11</vt:lpstr>
      <vt:lpstr>Equation.DSMT4</vt:lpstr>
      <vt:lpstr>Equation.DSMT4</vt:lpstr>
      <vt:lpstr>Equation.DSMT4</vt:lpstr>
      <vt:lpstr>Equation.DSMT4</vt:lpstr>
      <vt:lpstr>Equation.3</vt:lpstr>
      <vt:lpstr>Visio.Drawing.11</vt:lpstr>
      <vt:lpstr>Visio.Drawing.11</vt:lpstr>
      <vt:lpstr>Visio.Drawing.11</vt:lpstr>
      <vt:lpstr>Equation.3</vt:lpstr>
      <vt:lpstr>Visio.Drawing.11</vt:lpstr>
      <vt:lpstr>Visio.Drawing.11</vt:lpstr>
      <vt:lpstr>Visio.Drawing.11</vt:lpstr>
      <vt:lpstr>Visio.Drawing.11</vt:lpstr>
      <vt:lpstr>Visio.Drawing.11</vt:lpstr>
      <vt:lpstr>Word.Document.8</vt:lpstr>
      <vt:lpstr>Word.Document.8</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Word.Picture.8</vt:lpstr>
      <vt:lpstr>Visio.Drawing.15</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Equation.3</vt:lpstr>
      <vt:lpstr>第一章 概述</vt:lpstr>
      <vt:lpstr>第一章 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第二章 随机过程</vt:lpstr>
      <vt:lpstr>第二章 随机过程</vt:lpstr>
      <vt:lpstr>第二章 随机过程</vt:lpstr>
      <vt:lpstr>PowerPoint 演示文稿</vt:lpstr>
      <vt:lpstr>PowerPoint 演示文稿</vt:lpstr>
      <vt:lpstr>PowerPoint 演示文稿</vt:lpstr>
      <vt:lpstr>PowerPoint 演示文稿</vt:lpstr>
      <vt:lpstr>PowerPoint 演示文稿</vt:lpstr>
      <vt:lpstr>PowerPoint 演示文稿</vt:lpstr>
      <vt:lpstr>第三章 模拟信号的数字化传输</vt:lpstr>
      <vt:lpstr>第三章 模拟信号的数字化传输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A律13折线编码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A律13折线译码</vt:lpstr>
      <vt:lpstr>PowerPoint 演示文稿</vt:lpstr>
      <vt:lpstr>PowerPoint 演示文稿</vt:lpstr>
      <vt:lpstr>PCM30/32路制式基群</vt:lpstr>
      <vt:lpstr>PowerPoint 演示文稿</vt:lpstr>
      <vt:lpstr>第四章 数字信号的基带传输</vt:lpstr>
      <vt:lpstr>第四章 数字信号的基带传输</vt:lpstr>
      <vt:lpstr>第四章 数字信号的基带传输</vt:lpstr>
      <vt:lpstr>PowerPoint 演示文稿</vt:lpstr>
      <vt:lpstr>基带传输的常用码型</vt:lpstr>
      <vt:lpstr>基带信号的功率谱</vt:lpstr>
      <vt:lpstr>基带信号的功率谱  （1）单极性不归零信号、等概率P=1/2、矩形脉冲波形：     （2）占空比为1/2 ()的等概率单极性归零码： </vt:lpstr>
      <vt:lpstr>（3）双极性不归零信号、等概率P=1/2、矩形脉冲波形：       （4）占空比为1/2 ()的等概率双极性归零码：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均衡技术</vt:lpstr>
      <vt:lpstr>第五章 数字信号的频带传输</vt:lpstr>
      <vt:lpstr>第五章 数字信号的频带传输</vt:lpstr>
      <vt:lpstr>二进制数字调制</vt:lpstr>
      <vt:lpstr>PowerPoint 演示文稿</vt:lpstr>
      <vt:lpstr>PowerPoint 演示文稿</vt:lpstr>
      <vt:lpstr>PowerPoint 演示文稿</vt:lpstr>
      <vt:lpstr>二进制数字调制</vt:lpstr>
      <vt:lpstr>PowerPoint 演示文稿</vt:lpstr>
      <vt:lpstr>多进制数字调制</vt:lpstr>
      <vt:lpstr>第六章 差错控制编码</vt:lpstr>
      <vt:lpstr>第六章 差错控制编码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xuzhexin</dc:creator>
  <cp:lastModifiedBy>Pengchao Han</cp:lastModifiedBy>
  <cp:revision>4333</cp:revision>
  <cp:lastPrinted>2024-06-26T13:25:53Z</cp:lastPrinted>
  <dcterms:created xsi:type="dcterms:W3CDTF">2024-06-26T13:25:53Z</dcterms:created>
  <dcterms:modified xsi:type="dcterms:W3CDTF">2024-06-26T13:25:53Z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6D7FA7E40F3B47D2952B04DED4B2308F_13</vt:lpwstr>
  </property>
  <property fmtid="{D5CDD505-2E9C-101B-9397-08002B2CF9AE}" pid="3" name="KSOProductBuildVer">
    <vt:lpwstr>2052-6.7.0.8823</vt:lpwstr>
  </property>
</Properties>
</file>